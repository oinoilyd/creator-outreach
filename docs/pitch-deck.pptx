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Lst>
  <p:notesMasterIdLst>
    <p:notesMasterId r:id="rId12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notesMaster" Target="notesMasters/notesMaster1.xml"/><Relationship Id="rId129" Type="http://schemas.openxmlformats.org/officeDocument/2006/relationships/presProps" Target="presProps.xml"/><Relationship Id="rId130" Type="http://schemas.openxmlformats.org/officeDocument/2006/relationships/viewProps" Target="viewProps.xml"/><Relationship Id="rId131" Type="http://schemas.openxmlformats.org/officeDocument/2006/relationships/theme" Target="theme/theme1.xml"/><Relationship Id="rId1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 — Cover
Variation A (hero layout)
Slide 1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 — Cover
Variation B (split layout)
Slide 2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 — Cover
Variation C (grid3 layout)
Slide 3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 — Cover
Variation D (bigStat layout)
Slide 4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 — Cover
Variation E (quote layout)
Slide 5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 — Cover
Variation F (diagonal layout)
Slide 6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 — Cover
Variation G (bento layout)
Slide 7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2 — Problem
Variation A (hero layout)
Slide 8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2 — Problem
Variation B (split layout)
Slide 9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2 — Problem
Variation C (grid3 layout)
Slide 10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2 — Problem
Variation D (bigStat layout)
Slide 11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2 — Problem
Variation E (quote layout)
Slide 12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2 — Problem
Variation F (diagonal layout)
Slide 13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2 — Problem
Variation G (bento layout)
Slide 14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3 — Pain at scale
Variation A (hero layout)
Slide 15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3 — Pain at scale
Variation B (split layout)
Slide 16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3 — Pain at scale
Variation C (grid3 layout)
Slide 17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3 — Pain at scale
Variation D (bigStat layout)
Slide 18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3 — Pain at scale
Variation E (quote layout)
Slide 19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3 — Pain at scale
Variation F (diagonal layout)
Slide 20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3 — Pain at scale
Variation G (bento layout)
Slide 21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4 — Why existing tools fail
Variation A (hero layout)
Slide 22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4 — Why existing tools fail
Variation B (split layout)
Slide 23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4 — Why existing tools fail
Variation C (grid3 layout)
Slide 24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4 — Why existing tools fail
Variation D (bigStat layout)
Slide 25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4 — Why existing tools fail
Variation E (quote layout)
Slide 26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4 — Why existing tools fail
Variation F (diagonal layout)
Slide 27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4 — Why existing tools fail
Variation G (bento layout)
Slide 28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5 — Introducing Creator Outreach
Variation A (hero layout)
Slide 29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5 — Introducing Creator Outreach
Variation B (split layout)
Slide 30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5 — Introducing Creator Outreach
Variation C (grid3 layout)
Slide 31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5 — Introducing Creator Outreach
Variation D (bigStat layout)
Slide 32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5 — Introducing Creator Outreach
Variation E (quote layout)
Slide 33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5 — Introducing Creator Outreach
Variation F (diagonal layout)
Slide 34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5 — Introducing Creator Outreach
Variation G (bento layout)
Slide 35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6 — How it works
Variation A (hero layout)
Slide 36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6 — How it works
Variation B (split layout)
Slide 37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6 — How it works
Variation C (grid3 layout)
Slide 38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6 — How it works
Variation D (bigStat layout)
Slide 39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6 — How it works
Variation E (quote layout)
Slide 40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6 — How it works
Variation F (diagonal layout)
Slide 41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6 — How it works
Variation G (bento layout)
Slide 42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7 — 5-platform search
Variation A (hero layout)
Slide 43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7 — 5-platform search
Variation B (split layout)
Slide 44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7 — 5-platform search
Variation C (grid3 layout)
Slide 45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7 — 5-platform search
Variation D (bigStat layout)
Slide 46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7 — 5-platform search
Variation E (quote layout)
Slide 47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7 — 5-platform search
Variation F (diagonal layout)
Slide 48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7 — 5-platform search
Variation G (bento layout)
Slide 49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8 — AI fit score
Variation A (hero layout)
Slide 50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8 — AI fit score
Variation B (split layout)
Slide 51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8 — AI fit score
Variation C (grid3 layout)
Slide 52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8 — AI fit score
Variation D (bigStat layout)
Slide 53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8 — AI fit score
Variation E (quote layout)
Slide 54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8 — AI fit score
Variation F (diagonal layout)
Slide 55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8 — AI fit score
Variation G (bento layout)
Slide 56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9 — Native outreach + CRM
Variation A (hero layout)
Slide 57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9 — Native outreach + CRM
Variation B (split layout)
Slide 58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9 — Native outreach + CRM
Variation C (grid3 layout)
Slide 59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9 — Native outreach + CRM
Variation D (bigStat layout)
Slide 60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9 — Native outreach + CRM
Variation E (quote layout)
Slide 61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9 — Native outreach + CRM
Variation F (diagonal layout)
Slide 62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9 — Native outreach + CRM
Variation G (bento layout)
Slide 63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10 — Custom analytics
Variation A (hero layout)
Slide 64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10 — Custom analytics
Variation B (split layout)
Slide 65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10 — Custom analytics
Variation C (grid3 layout)
Slide 66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10 — Custom analytics
Variation D (bigStat layout)
Slide 67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10 — Custom analytics
Variation E (quote layout)
Slide 68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10 — Custom analytics
Variation F (diagonal layout)
Slide 69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10 — Custom analytics
Variation G (bento layout)
Slide 70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11 — Competitive landscape
Variation A (hero layout)
Slide 71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11 — Competitive landscape
Variation B (split layout)
Slide 72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11 — Competitive landscape
Variation C (grid3 layout)
Slide 73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11 — Competitive landscape
Variation D (bigStat layout)
Slide 74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11 — Competitive landscape
Variation E (quote layout)
Slide 75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11 — Competitive landscape
Variation F (diagonal layout)
Slide 76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11 — Competitive landscape
Variation G (bento layout)
Slide 77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12 — Pricing
Variation A (hero layout)
Slide 78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12 — Pricing
Variation B (split layout)
Slide 79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12 — Pricing
Variation C (grid3 layout)
Slide 80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12 — Pricing
Variation D (bigStat layout)
Slide 81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12 — Pricing
Variation E (quote layout)
Slide 82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12 — Pricing
Variation F (diagonal layout)
Slide 83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12 — Pricing
Variation G (bento layout)
Slide 84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13 — Who it's for
Variation A (hero layout)
Slide 85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13 — Who it's for
Variation B (split layout)
Slide 86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13 — Who it's for
Variation C (grid3 layout)
Slide 87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13 — Who it's for
Variation D (bigStat layout)
Slide 88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13 — Who it's for
Variation E (quote layout)
Slide 89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13 — Who it's for
Variation F (diagonal layout)
Slide 90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13 — Who it's for
Variation G (bento layout)
Slide 91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14 — Why we win
Variation A (hero layout)
Slide 92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14 — Why we win
Variation B (split layout)
Slide 93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14 — Why we win
Variation C (grid3 layout)
Slide 94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14 — Why we win
Variation D (bigStat layout)
Slide 95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14 — Why we win
Variation E (quote layout)
Slide 96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14 — Why we win
Variation F (diagonal layout)
Slide 97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14 — Why we win
Variation G (bento layout)
Slide 98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15 — The Team
Variation A (hero layout)
Slide 99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15 — The Team
Variation B (split layout)
Slide 100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15 — The Team
Variation C (grid3 layout)
Slide 101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15 — The Team
Variation D (bigStat layout)
Slide 102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15 — The Team
Variation E (quote layout)
Slide 103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15 — The Team
Variation F (diagonal layout)
Slide 104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15 — The Team
Variation G (bento layout)
Slide 105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16 — Roadmap preview
Variation A (hero layout)
Slide 106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16 — Roadmap preview
Variation B (split layout)
Slide 107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16 — Roadmap preview
Variation C (grid3 layout)
Slide 108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16 — Roadmap preview
Variation D (bigStat layout)
Slide 109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16 — Roadmap preview
Variation E (quote layout)
Slide 110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16 — Roadmap preview
Variation F (diagonal layout)
Slide 111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16 — Roadmap preview
Variation G (bento layout)
Slide 112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17 — Get started
Variation A (hero layout)
Slide 113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17 — Get started
Variation B (split layout)
Slide 114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17 — Get started
Variation C (grid3 layout)
Slide 115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17 — Get started
Variation D (bigStat layout)
Slide 116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17 — Get started
Variation E (quote layout)
Slide 117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17 — Get started
Variation F (diagonal layout)
Slide 118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17 — Get started
Variation G (bento layout)
Slide 119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18 — Trust &amp; compliance
Variation A (hero layout)
Slide 120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18 — Trust &amp; compliance
Variation B (split layout)
Slide 121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18 — Trust &amp; compliance
Variation C (grid3 layout)
Slide 122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18 — Trust &amp; compliance
Variation D (bigStat layout)
Slide 123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18 — Trust &amp; compliance
Variation E (quote layout)
Slide 124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18 — Trust &amp; compliance
Variation F (diagonal layout)
Slide 125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18 — Trust &amp; compliance
Variation G (bento layout)
Slide 126 of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80015" y="-914400"/>
            <a:ext cx="3200400" cy="3200400"/>
          </a:xfrm>
          <a:prstGeom prst="ellipse">
            <a:avLst/>
          </a:prstGeom>
          <a:solidFill>
            <a:srgbClr val="F1ECFF"/>
          </a:solidFill>
          <a:ln/>
        </p:spPr>
      </p:sp>
      <p:sp>
        <p:nvSpPr>
          <p:cNvPr id="3" name="Shape 1"/>
          <p:cNvSpPr/>
          <p:nvPr/>
        </p:nvSpPr>
        <p:spPr>
          <a:xfrm>
            <a:off x="10820095" y="-548640"/>
            <a:ext cx="2194560" cy="2194560"/>
          </a:xfrm>
          <a:prstGeom prst="ellipse">
            <a:avLst/>
          </a:prstGeom>
          <a:solidFill>
            <a:srgbClr val="E8F1FB">
              <a:alpha val="60000"/>
            </a:srgbClr>
          </a:solidFill>
          <a:ln/>
        </p:spPr>
      </p:sp>
      <p:sp>
        <p:nvSpPr>
          <p:cNvPr id="4" name="Shape 2"/>
          <p:cNvSpPr/>
          <p:nvPr/>
        </p:nvSpPr>
        <p:spPr>
          <a:xfrm>
            <a:off x="548640" y="5486400"/>
            <a:ext cx="54864" cy="54864"/>
          </a:xfrm>
          <a:prstGeom prst="ellipse">
            <a:avLst/>
          </a:prstGeom>
          <a:solidFill>
            <a:srgbClr val="5028C2">
              <a:alpha val="30000"/>
            </a:srgbClr>
          </a:solidFill>
          <a:ln/>
        </p:spPr>
      </p:sp>
      <p:sp>
        <p:nvSpPr>
          <p:cNvPr id="5" name="Shape 3"/>
          <p:cNvSpPr/>
          <p:nvPr/>
        </p:nvSpPr>
        <p:spPr>
          <a:xfrm>
            <a:off x="548640" y="5650992"/>
            <a:ext cx="54864" cy="54864"/>
          </a:xfrm>
          <a:prstGeom prst="ellipse">
            <a:avLst/>
          </a:prstGeom>
          <a:solidFill>
            <a:srgbClr val="5028C2">
              <a:alpha val="30000"/>
            </a:srgbClr>
          </a:solidFill>
          <a:ln/>
        </p:spPr>
      </p:sp>
      <p:sp>
        <p:nvSpPr>
          <p:cNvPr id="6" name="Shape 4"/>
          <p:cNvSpPr/>
          <p:nvPr/>
        </p:nvSpPr>
        <p:spPr>
          <a:xfrm>
            <a:off x="548640" y="5815584"/>
            <a:ext cx="54864" cy="54864"/>
          </a:xfrm>
          <a:prstGeom prst="ellipse">
            <a:avLst/>
          </a:prstGeom>
          <a:solidFill>
            <a:srgbClr val="5028C2">
              <a:alpha val="30000"/>
            </a:srgbClr>
          </a:solidFill>
          <a:ln/>
        </p:spPr>
      </p:sp>
      <p:sp>
        <p:nvSpPr>
          <p:cNvPr id="7" name="Shape 5"/>
          <p:cNvSpPr/>
          <p:nvPr/>
        </p:nvSpPr>
        <p:spPr>
          <a:xfrm>
            <a:off x="713232" y="5486400"/>
            <a:ext cx="54864" cy="54864"/>
          </a:xfrm>
          <a:prstGeom prst="ellipse">
            <a:avLst/>
          </a:prstGeom>
          <a:solidFill>
            <a:srgbClr val="5028C2">
              <a:alpha val="30000"/>
            </a:srgbClr>
          </a:solidFill>
          <a:ln/>
        </p:spPr>
      </p:sp>
      <p:sp>
        <p:nvSpPr>
          <p:cNvPr id="8" name="Shape 6"/>
          <p:cNvSpPr/>
          <p:nvPr/>
        </p:nvSpPr>
        <p:spPr>
          <a:xfrm>
            <a:off x="713232" y="5650992"/>
            <a:ext cx="54864" cy="54864"/>
          </a:xfrm>
          <a:prstGeom prst="ellipse">
            <a:avLst/>
          </a:prstGeom>
          <a:solidFill>
            <a:srgbClr val="5028C2">
              <a:alpha val="30000"/>
            </a:srgbClr>
          </a:solidFill>
          <a:ln/>
        </p:spPr>
      </p:sp>
      <p:sp>
        <p:nvSpPr>
          <p:cNvPr id="9" name="Shape 7"/>
          <p:cNvSpPr/>
          <p:nvPr/>
        </p:nvSpPr>
        <p:spPr>
          <a:xfrm>
            <a:off x="713232" y="5815584"/>
            <a:ext cx="54864" cy="54864"/>
          </a:xfrm>
          <a:prstGeom prst="ellipse">
            <a:avLst/>
          </a:prstGeom>
          <a:solidFill>
            <a:srgbClr val="5028C2">
              <a:alpha val="30000"/>
            </a:srgbClr>
          </a:solidFill>
          <a:ln/>
        </p:spPr>
      </p:sp>
      <p:sp>
        <p:nvSpPr>
          <p:cNvPr id="10" name="Shape 8"/>
          <p:cNvSpPr/>
          <p:nvPr/>
        </p:nvSpPr>
        <p:spPr>
          <a:xfrm>
            <a:off x="877824" y="5486400"/>
            <a:ext cx="54864" cy="54864"/>
          </a:xfrm>
          <a:prstGeom prst="ellipse">
            <a:avLst/>
          </a:prstGeom>
          <a:solidFill>
            <a:srgbClr val="5028C2">
              <a:alpha val="30000"/>
            </a:srgbClr>
          </a:solidFill>
          <a:ln/>
        </p:spPr>
      </p:sp>
      <p:sp>
        <p:nvSpPr>
          <p:cNvPr id="11" name="Shape 9"/>
          <p:cNvSpPr/>
          <p:nvPr/>
        </p:nvSpPr>
        <p:spPr>
          <a:xfrm>
            <a:off x="877824" y="5650992"/>
            <a:ext cx="54864" cy="54864"/>
          </a:xfrm>
          <a:prstGeom prst="ellipse">
            <a:avLst/>
          </a:prstGeom>
          <a:solidFill>
            <a:srgbClr val="5028C2">
              <a:alpha val="30000"/>
            </a:srgbClr>
          </a:solidFill>
          <a:ln/>
        </p:spPr>
      </p:sp>
      <p:sp>
        <p:nvSpPr>
          <p:cNvPr id="12" name="Shape 10"/>
          <p:cNvSpPr/>
          <p:nvPr/>
        </p:nvSpPr>
        <p:spPr>
          <a:xfrm>
            <a:off x="877824" y="5815584"/>
            <a:ext cx="54864" cy="54864"/>
          </a:xfrm>
          <a:prstGeom prst="ellipse">
            <a:avLst/>
          </a:prstGeom>
          <a:solidFill>
            <a:srgbClr val="5028C2">
              <a:alpha val="30000"/>
            </a:srgbClr>
          </a:solidFill>
          <a:ln/>
        </p:spPr>
      </p:sp>
      <p:sp>
        <p:nvSpPr>
          <p:cNvPr id="13" name="Shape 11"/>
          <p:cNvSpPr/>
          <p:nvPr/>
        </p:nvSpPr>
        <p:spPr>
          <a:xfrm>
            <a:off x="1042416" y="5486400"/>
            <a:ext cx="54864" cy="54864"/>
          </a:xfrm>
          <a:prstGeom prst="ellipse">
            <a:avLst/>
          </a:prstGeom>
          <a:solidFill>
            <a:srgbClr val="5028C2">
              <a:alpha val="30000"/>
            </a:srgbClr>
          </a:solidFill>
          <a:ln/>
        </p:spPr>
      </p:sp>
      <p:sp>
        <p:nvSpPr>
          <p:cNvPr id="14" name="Shape 12"/>
          <p:cNvSpPr/>
          <p:nvPr/>
        </p:nvSpPr>
        <p:spPr>
          <a:xfrm>
            <a:off x="1042416" y="5650992"/>
            <a:ext cx="54864" cy="54864"/>
          </a:xfrm>
          <a:prstGeom prst="ellipse">
            <a:avLst/>
          </a:prstGeom>
          <a:solidFill>
            <a:srgbClr val="5028C2">
              <a:alpha val="30000"/>
            </a:srgbClr>
          </a:solidFill>
          <a:ln/>
        </p:spPr>
      </p:sp>
      <p:sp>
        <p:nvSpPr>
          <p:cNvPr id="15" name="Shape 13"/>
          <p:cNvSpPr/>
          <p:nvPr/>
        </p:nvSpPr>
        <p:spPr>
          <a:xfrm>
            <a:off x="1042416" y="5815584"/>
            <a:ext cx="54864" cy="54864"/>
          </a:xfrm>
          <a:prstGeom prst="ellipse">
            <a:avLst/>
          </a:prstGeom>
          <a:solidFill>
            <a:srgbClr val="5028C2">
              <a:alpha val="30000"/>
            </a:srgbClr>
          </a:solidFill>
          <a:ln/>
        </p:spPr>
      </p:sp>
      <p:sp>
        <p:nvSpPr>
          <p:cNvPr id="16" name="Shape 14"/>
          <p:cNvSpPr/>
          <p:nvPr/>
        </p:nvSpPr>
        <p:spPr>
          <a:xfrm>
            <a:off x="1207008" y="5486400"/>
            <a:ext cx="54864" cy="54864"/>
          </a:xfrm>
          <a:prstGeom prst="ellipse">
            <a:avLst/>
          </a:prstGeom>
          <a:solidFill>
            <a:srgbClr val="5028C2">
              <a:alpha val="30000"/>
            </a:srgbClr>
          </a:solidFill>
          <a:ln/>
        </p:spPr>
      </p:sp>
      <p:sp>
        <p:nvSpPr>
          <p:cNvPr id="17" name="Shape 15"/>
          <p:cNvSpPr/>
          <p:nvPr/>
        </p:nvSpPr>
        <p:spPr>
          <a:xfrm>
            <a:off x="1207008" y="5650992"/>
            <a:ext cx="54864" cy="54864"/>
          </a:xfrm>
          <a:prstGeom prst="ellipse">
            <a:avLst/>
          </a:prstGeom>
          <a:solidFill>
            <a:srgbClr val="5028C2">
              <a:alpha val="30000"/>
            </a:srgbClr>
          </a:solidFill>
          <a:ln/>
        </p:spPr>
      </p:sp>
      <p:sp>
        <p:nvSpPr>
          <p:cNvPr id="18" name="Shape 16"/>
          <p:cNvSpPr/>
          <p:nvPr/>
        </p:nvSpPr>
        <p:spPr>
          <a:xfrm>
            <a:off x="1207008" y="5815584"/>
            <a:ext cx="54864" cy="54864"/>
          </a:xfrm>
          <a:prstGeom prst="ellipse">
            <a:avLst/>
          </a:prstGeom>
          <a:solidFill>
            <a:srgbClr val="5028C2">
              <a:alpha val="30000"/>
            </a:srgbClr>
          </a:solidFill>
          <a:ln/>
        </p:spPr>
      </p:sp>
      <p:sp>
        <p:nvSpPr>
          <p:cNvPr id="19" name="Shape 17"/>
          <p:cNvSpPr/>
          <p:nvPr/>
        </p:nvSpPr>
        <p:spPr>
          <a:xfrm>
            <a:off x="1371600" y="5486400"/>
            <a:ext cx="54864" cy="54864"/>
          </a:xfrm>
          <a:prstGeom prst="ellipse">
            <a:avLst/>
          </a:prstGeom>
          <a:solidFill>
            <a:srgbClr val="5028C2">
              <a:alpha val="30000"/>
            </a:srgbClr>
          </a:solidFill>
          <a:ln/>
        </p:spPr>
      </p:sp>
      <p:sp>
        <p:nvSpPr>
          <p:cNvPr id="20" name="Shape 18"/>
          <p:cNvSpPr/>
          <p:nvPr/>
        </p:nvSpPr>
        <p:spPr>
          <a:xfrm>
            <a:off x="1371600" y="5650992"/>
            <a:ext cx="54864" cy="54864"/>
          </a:xfrm>
          <a:prstGeom prst="ellipse">
            <a:avLst/>
          </a:prstGeom>
          <a:solidFill>
            <a:srgbClr val="5028C2">
              <a:alpha val="30000"/>
            </a:srgbClr>
          </a:solidFill>
          <a:ln/>
        </p:spPr>
      </p:sp>
      <p:sp>
        <p:nvSpPr>
          <p:cNvPr id="21" name="Shape 19"/>
          <p:cNvSpPr/>
          <p:nvPr/>
        </p:nvSpPr>
        <p:spPr>
          <a:xfrm>
            <a:off x="1371600" y="5815584"/>
            <a:ext cx="54864" cy="54864"/>
          </a:xfrm>
          <a:prstGeom prst="ellipse">
            <a:avLst/>
          </a:prstGeom>
          <a:solidFill>
            <a:srgbClr val="5028C2">
              <a:alpha val="30000"/>
            </a:srgbClr>
          </a:solidFill>
          <a:ln/>
        </p:spPr>
      </p:sp>
      <p:sp>
        <p:nvSpPr>
          <p:cNvPr id="22" name="Text 20"/>
          <p:cNvSpPr/>
          <p:nvPr/>
        </p:nvSpPr>
        <p:spPr>
          <a:xfrm>
            <a:off x="548640" y="1097280"/>
            <a:ext cx="11094415"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PITCH DECK · MAY 2026</a:t>
            </a:r>
            <a:endParaRPr lang="en-US" sz="1100" dirty="0"/>
          </a:p>
        </p:txBody>
      </p:sp>
      <p:sp>
        <p:nvSpPr>
          <p:cNvPr id="23" name="Text 21"/>
          <p:cNvSpPr/>
          <p:nvPr/>
        </p:nvSpPr>
        <p:spPr>
          <a:xfrm>
            <a:off x="548640" y="1554480"/>
            <a:ext cx="11094415" cy="3108960"/>
          </a:xfrm>
          <a:prstGeom prst="rect">
            <a:avLst/>
          </a:prstGeom>
          <a:noFill/>
          <a:ln/>
        </p:spPr>
        <p:txBody>
          <a:bodyPr wrap="square" lIns="0" tIns="0" rIns="0" bIns="0" rtlCol="0" anchor="t"/>
          <a:lstStyle/>
          <a:p>
            <a:pPr algn="l" indent="0" marL="0">
              <a:buNone/>
            </a:pPr>
            <a:r>
              <a:rPr lang="en-US" sz="9200" b="1" spc="-100" kern="0" dirty="0">
                <a:solidFill>
                  <a:srgbClr val="0F1733"/>
                </a:solidFill>
                <a:latin typeface="Calibri" pitchFamily="34" charset="0"/>
                <a:ea typeface="Calibri" pitchFamily="34" charset="-122"/>
                <a:cs typeface="Calibri" pitchFamily="34" charset="-120"/>
              </a:rPr>
              <a:t>Creator Outreach</a:t>
            </a:r>
            <a:endParaRPr lang="en-US" sz="9200" dirty="0"/>
          </a:p>
        </p:txBody>
      </p:sp>
      <p:sp>
        <p:nvSpPr>
          <p:cNvPr id="24" name="Text 22"/>
          <p:cNvSpPr/>
          <p:nvPr/>
        </p:nvSpPr>
        <p:spPr>
          <a:xfrm>
            <a:off x="548640" y="4754880"/>
            <a:ext cx="9265615" cy="1097280"/>
          </a:xfrm>
          <a:prstGeom prst="rect">
            <a:avLst/>
          </a:prstGeom>
          <a:noFill/>
          <a:ln/>
        </p:spPr>
        <p:txBody>
          <a:bodyPr wrap="square" lIns="0" tIns="0" rIns="0" bIns="0" rtlCol="0" anchor="t"/>
          <a:lstStyle/>
          <a:p>
            <a:pPr algn="l" indent="0" marL="0">
              <a:buNone/>
            </a:pPr>
            <a:r>
              <a:rPr lang="en-US" sz="1800" dirty="0">
                <a:solidFill>
                  <a:srgbClr val="2A3358"/>
                </a:solidFill>
                <a:latin typeface="Calibri" pitchFamily="34" charset="0"/>
                <a:ea typeface="Calibri" pitchFamily="34" charset="-122"/>
                <a:cs typeface="Calibri" pitchFamily="34" charset="-120"/>
              </a:rPr>
              <a:t>Find every creator who fits your brand. Reach them in one workflow. Across five platforms.</a:t>
            </a:r>
            <a:endParaRPr lang="en-US" sz="1800" dirty="0"/>
          </a:p>
        </p:txBody>
      </p:sp>
      <p:sp>
        <p:nvSpPr>
          <p:cNvPr id="25" name="Text 23"/>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01 · Cover  ·  vA</a:t>
            </a:r>
            <a:endParaRPr lang="en-US" sz="900" dirty="0"/>
          </a:p>
        </p:txBody>
      </p:sp>
      <p:sp>
        <p:nvSpPr>
          <p:cNvPr id="26" name="Text 24"/>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27" name="Text 25"/>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001 / 126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071183" y="0"/>
            <a:ext cx="5120512" cy="116300"/>
          </a:xfrm>
          <a:prstGeom prst="rect">
            <a:avLst/>
          </a:prstGeom>
          <a:solidFill>
            <a:srgbClr val="5028C2"/>
          </a:solidFill>
          <a:ln/>
        </p:spPr>
      </p:sp>
      <p:sp>
        <p:nvSpPr>
          <p:cNvPr id="3" name="Shape 1"/>
          <p:cNvSpPr/>
          <p:nvPr/>
        </p:nvSpPr>
        <p:spPr>
          <a:xfrm>
            <a:off x="7071183" y="107156"/>
            <a:ext cx="5120512" cy="116300"/>
          </a:xfrm>
          <a:prstGeom prst="rect">
            <a:avLst/>
          </a:prstGeom>
          <a:solidFill>
            <a:srgbClr val="4F29C2"/>
          </a:solidFill>
          <a:ln/>
        </p:spPr>
      </p:sp>
      <p:sp>
        <p:nvSpPr>
          <p:cNvPr id="4" name="Shape 2"/>
          <p:cNvSpPr/>
          <p:nvPr/>
        </p:nvSpPr>
        <p:spPr>
          <a:xfrm>
            <a:off x="7071183" y="214313"/>
            <a:ext cx="5120512" cy="116300"/>
          </a:xfrm>
          <a:prstGeom prst="rect">
            <a:avLst/>
          </a:prstGeom>
          <a:solidFill>
            <a:srgbClr val="4E2AC3"/>
          </a:solidFill>
          <a:ln/>
        </p:spPr>
      </p:sp>
      <p:sp>
        <p:nvSpPr>
          <p:cNvPr id="5" name="Shape 3"/>
          <p:cNvSpPr/>
          <p:nvPr/>
        </p:nvSpPr>
        <p:spPr>
          <a:xfrm>
            <a:off x="7071183" y="321469"/>
            <a:ext cx="5120512" cy="116300"/>
          </a:xfrm>
          <a:prstGeom prst="rect">
            <a:avLst/>
          </a:prstGeom>
          <a:solidFill>
            <a:srgbClr val="4D2BC3"/>
          </a:solidFill>
          <a:ln/>
        </p:spPr>
      </p:sp>
      <p:sp>
        <p:nvSpPr>
          <p:cNvPr id="6" name="Shape 4"/>
          <p:cNvSpPr/>
          <p:nvPr/>
        </p:nvSpPr>
        <p:spPr>
          <a:xfrm>
            <a:off x="7071183" y="428625"/>
            <a:ext cx="5120512" cy="116300"/>
          </a:xfrm>
          <a:prstGeom prst="rect">
            <a:avLst/>
          </a:prstGeom>
          <a:solidFill>
            <a:srgbClr val="4D2CC4"/>
          </a:solidFill>
          <a:ln/>
        </p:spPr>
      </p:sp>
      <p:sp>
        <p:nvSpPr>
          <p:cNvPr id="7" name="Shape 5"/>
          <p:cNvSpPr/>
          <p:nvPr/>
        </p:nvSpPr>
        <p:spPr>
          <a:xfrm>
            <a:off x="7071183" y="535781"/>
            <a:ext cx="5120512" cy="116300"/>
          </a:xfrm>
          <a:prstGeom prst="rect">
            <a:avLst/>
          </a:prstGeom>
          <a:solidFill>
            <a:srgbClr val="4C2DC4"/>
          </a:solidFill>
          <a:ln/>
        </p:spPr>
      </p:sp>
      <p:sp>
        <p:nvSpPr>
          <p:cNvPr id="8" name="Shape 6"/>
          <p:cNvSpPr/>
          <p:nvPr/>
        </p:nvSpPr>
        <p:spPr>
          <a:xfrm>
            <a:off x="7071183" y="642938"/>
            <a:ext cx="5120512" cy="116300"/>
          </a:xfrm>
          <a:prstGeom prst="rect">
            <a:avLst/>
          </a:prstGeom>
          <a:solidFill>
            <a:srgbClr val="4B2EC5"/>
          </a:solidFill>
          <a:ln/>
        </p:spPr>
      </p:sp>
      <p:sp>
        <p:nvSpPr>
          <p:cNvPr id="9" name="Shape 7"/>
          <p:cNvSpPr/>
          <p:nvPr/>
        </p:nvSpPr>
        <p:spPr>
          <a:xfrm>
            <a:off x="7071183" y="750094"/>
            <a:ext cx="5120512" cy="116300"/>
          </a:xfrm>
          <a:prstGeom prst="rect">
            <a:avLst/>
          </a:prstGeom>
          <a:solidFill>
            <a:srgbClr val="4A2FC5"/>
          </a:solidFill>
          <a:ln/>
        </p:spPr>
      </p:sp>
      <p:sp>
        <p:nvSpPr>
          <p:cNvPr id="10" name="Shape 8"/>
          <p:cNvSpPr/>
          <p:nvPr/>
        </p:nvSpPr>
        <p:spPr>
          <a:xfrm>
            <a:off x="7071183" y="857250"/>
            <a:ext cx="5120512" cy="116300"/>
          </a:xfrm>
          <a:prstGeom prst="rect">
            <a:avLst/>
          </a:prstGeom>
          <a:solidFill>
            <a:srgbClr val="4930C6"/>
          </a:solidFill>
          <a:ln/>
        </p:spPr>
      </p:sp>
      <p:sp>
        <p:nvSpPr>
          <p:cNvPr id="11" name="Shape 9"/>
          <p:cNvSpPr/>
          <p:nvPr/>
        </p:nvSpPr>
        <p:spPr>
          <a:xfrm>
            <a:off x="7071183" y="964406"/>
            <a:ext cx="5120512" cy="116300"/>
          </a:xfrm>
          <a:prstGeom prst="rect">
            <a:avLst/>
          </a:prstGeom>
          <a:solidFill>
            <a:srgbClr val="4831C6"/>
          </a:solidFill>
          <a:ln/>
        </p:spPr>
      </p:sp>
      <p:sp>
        <p:nvSpPr>
          <p:cNvPr id="12" name="Shape 10"/>
          <p:cNvSpPr/>
          <p:nvPr/>
        </p:nvSpPr>
        <p:spPr>
          <a:xfrm>
            <a:off x="7071183" y="1071563"/>
            <a:ext cx="5120512" cy="116300"/>
          </a:xfrm>
          <a:prstGeom prst="rect">
            <a:avLst/>
          </a:prstGeom>
          <a:solidFill>
            <a:srgbClr val="4732C6"/>
          </a:solidFill>
          <a:ln/>
        </p:spPr>
      </p:sp>
      <p:sp>
        <p:nvSpPr>
          <p:cNvPr id="13" name="Shape 11"/>
          <p:cNvSpPr/>
          <p:nvPr/>
        </p:nvSpPr>
        <p:spPr>
          <a:xfrm>
            <a:off x="7071183" y="1178719"/>
            <a:ext cx="5120512" cy="116300"/>
          </a:xfrm>
          <a:prstGeom prst="rect">
            <a:avLst/>
          </a:prstGeom>
          <a:solidFill>
            <a:srgbClr val="4733C7"/>
          </a:solidFill>
          <a:ln/>
        </p:spPr>
      </p:sp>
      <p:sp>
        <p:nvSpPr>
          <p:cNvPr id="14" name="Shape 12"/>
          <p:cNvSpPr/>
          <p:nvPr/>
        </p:nvSpPr>
        <p:spPr>
          <a:xfrm>
            <a:off x="7071183" y="1285875"/>
            <a:ext cx="5120512" cy="116300"/>
          </a:xfrm>
          <a:prstGeom prst="rect">
            <a:avLst/>
          </a:prstGeom>
          <a:solidFill>
            <a:srgbClr val="4634C7"/>
          </a:solidFill>
          <a:ln/>
        </p:spPr>
      </p:sp>
      <p:sp>
        <p:nvSpPr>
          <p:cNvPr id="15" name="Shape 13"/>
          <p:cNvSpPr/>
          <p:nvPr/>
        </p:nvSpPr>
        <p:spPr>
          <a:xfrm>
            <a:off x="7071183" y="1393031"/>
            <a:ext cx="5120512" cy="116300"/>
          </a:xfrm>
          <a:prstGeom prst="rect">
            <a:avLst/>
          </a:prstGeom>
          <a:solidFill>
            <a:srgbClr val="4535C8"/>
          </a:solidFill>
          <a:ln/>
        </p:spPr>
      </p:sp>
      <p:sp>
        <p:nvSpPr>
          <p:cNvPr id="16" name="Shape 14"/>
          <p:cNvSpPr/>
          <p:nvPr/>
        </p:nvSpPr>
        <p:spPr>
          <a:xfrm>
            <a:off x="7071183" y="1500188"/>
            <a:ext cx="5120512" cy="116300"/>
          </a:xfrm>
          <a:prstGeom prst="rect">
            <a:avLst/>
          </a:prstGeom>
          <a:solidFill>
            <a:srgbClr val="4436C8"/>
          </a:solidFill>
          <a:ln/>
        </p:spPr>
      </p:sp>
      <p:sp>
        <p:nvSpPr>
          <p:cNvPr id="17" name="Shape 15"/>
          <p:cNvSpPr/>
          <p:nvPr/>
        </p:nvSpPr>
        <p:spPr>
          <a:xfrm>
            <a:off x="7071183" y="1607344"/>
            <a:ext cx="5120512" cy="116300"/>
          </a:xfrm>
          <a:prstGeom prst="rect">
            <a:avLst/>
          </a:prstGeom>
          <a:solidFill>
            <a:srgbClr val="4337C9"/>
          </a:solidFill>
          <a:ln/>
        </p:spPr>
      </p:sp>
      <p:sp>
        <p:nvSpPr>
          <p:cNvPr id="18" name="Shape 16"/>
          <p:cNvSpPr/>
          <p:nvPr/>
        </p:nvSpPr>
        <p:spPr>
          <a:xfrm>
            <a:off x="7071183" y="1714500"/>
            <a:ext cx="5120512" cy="116300"/>
          </a:xfrm>
          <a:prstGeom prst="rect">
            <a:avLst/>
          </a:prstGeom>
          <a:solidFill>
            <a:srgbClr val="4238C9"/>
          </a:solidFill>
          <a:ln/>
        </p:spPr>
      </p:sp>
      <p:sp>
        <p:nvSpPr>
          <p:cNvPr id="19" name="Shape 17"/>
          <p:cNvSpPr/>
          <p:nvPr/>
        </p:nvSpPr>
        <p:spPr>
          <a:xfrm>
            <a:off x="7071183" y="1821656"/>
            <a:ext cx="5120512" cy="116300"/>
          </a:xfrm>
          <a:prstGeom prst="rect">
            <a:avLst/>
          </a:prstGeom>
          <a:solidFill>
            <a:srgbClr val="4139CA"/>
          </a:solidFill>
          <a:ln/>
        </p:spPr>
      </p:sp>
      <p:sp>
        <p:nvSpPr>
          <p:cNvPr id="20" name="Shape 18"/>
          <p:cNvSpPr/>
          <p:nvPr/>
        </p:nvSpPr>
        <p:spPr>
          <a:xfrm>
            <a:off x="7071183" y="1928813"/>
            <a:ext cx="5120512" cy="116300"/>
          </a:xfrm>
          <a:prstGeom prst="rect">
            <a:avLst/>
          </a:prstGeom>
          <a:solidFill>
            <a:srgbClr val="413ACA"/>
          </a:solidFill>
          <a:ln/>
        </p:spPr>
      </p:sp>
      <p:sp>
        <p:nvSpPr>
          <p:cNvPr id="21" name="Shape 19"/>
          <p:cNvSpPr/>
          <p:nvPr/>
        </p:nvSpPr>
        <p:spPr>
          <a:xfrm>
            <a:off x="7071183" y="2035969"/>
            <a:ext cx="5120512" cy="116300"/>
          </a:xfrm>
          <a:prstGeom prst="rect">
            <a:avLst/>
          </a:prstGeom>
          <a:solidFill>
            <a:srgbClr val="403BCA"/>
          </a:solidFill>
          <a:ln/>
        </p:spPr>
      </p:sp>
      <p:sp>
        <p:nvSpPr>
          <p:cNvPr id="22" name="Shape 20"/>
          <p:cNvSpPr/>
          <p:nvPr/>
        </p:nvSpPr>
        <p:spPr>
          <a:xfrm>
            <a:off x="7071183" y="2143125"/>
            <a:ext cx="5120512" cy="116300"/>
          </a:xfrm>
          <a:prstGeom prst="rect">
            <a:avLst/>
          </a:prstGeom>
          <a:solidFill>
            <a:srgbClr val="3F3CCB"/>
          </a:solidFill>
          <a:ln/>
        </p:spPr>
      </p:sp>
      <p:sp>
        <p:nvSpPr>
          <p:cNvPr id="23" name="Shape 21"/>
          <p:cNvSpPr/>
          <p:nvPr/>
        </p:nvSpPr>
        <p:spPr>
          <a:xfrm>
            <a:off x="7071183" y="2250281"/>
            <a:ext cx="5120512" cy="116300"/>
          </a:xfrm>
          <a:prstGeom prst="rect">
            <a:avLst/>
          </a:prstGeom>
          <a:solidFill>
            <a:srgbClr val="3E3DCB"/>
          </a:solidFill>
          <a:ln/>
        </p:spPr>
      </p:sp>
      <p:sp>
        <p:nvSpPr>
          <p:cNvPr id="24" name="Shape 22"/>
          <p:cNvSpPr/>
          <p:nvPr/>
        </p:nvSpPr>
        <p:spPr>
          <a:xfrm>
            <a:off x="7071183" y="2357438"/>
            <a:ext cx="5120512" cy="116300"/>
          </a:xfrm>
          <a:prstGeom prst="rect">
            <a:avLst/>
          </a:prstGeom>
          <a:solidFill>
            <a:srgbClr val="3D3ECC"/>
          </a:solidFill>
          <a:ln/>
        </p:spPr>
      </p:sp>
      <p:sp>
        <p:nvSpPr>
          <p:cNvPr id="25" name="Shape 23"/>
          <p:cNvSpPr/>
          <p:nvPr/>
        </p:nvSpPr>
        <p:spPr>
          <a:xfrm>
            <a:off x="7071183" y="2464594"/>
            <a:ext cx="5120512" cy="116300"/>
          </a:xfrm>
          <a:prstGeom prst="rect">
            <a:avLst/>
          </a:prstGeom>
          <a:solidFill>
            <a:srgbClr val="3C3FCC"/>
          </a:solidFill>
          <a:ln/>
        </p:spPr>
      </p:sp>
      <p:sp>
        <p:nvSpPr>
          <p:cNvPr id="26" name="Shape 24"/>
          <p:cNvSpPr/>
          <p:nvPr/>
        </p:nvSpPr>
        <p:spPr>
          <a:xfrm>
            <a:off x="7071183" y="2571750"/>
            <a:ext cx="5120512" cy="116300"/>
          </a:xfrm>
          <a:prstGeom prst="rect">
            <a:avLst/>
          </a:prstGeom>
          <a:solidFill>
            <a:srgbClr val="3B40CD"/>
          </a:solidFill>
          <a:ln/>
        </p:spPr>
      </p:sp>
      <p:sp>
        <p:nvSpPr>
          <p:cNvPr id="27" name="Shape 25"/>
          <p:cNvSpPr/>
          <p:nvPr/>
        </p:nvSpPr>
        <p:spPr>
          <a:xfrm>
            <a:off x="7071183" y="2678906"/>
            <a:ext cx="5120512" cy="116300"/>
          </a:xfrm>
          <a:prstGeom prst="rect">
            <a:avLst/>
          </a:prstGeom>
          <a:solidFill>
            <a:srgbClr val="3B41CD"/>
          </a:solidFill>
          <a:ln/>
        </p:spPr>
      </p:sp>
      <p:sp>
        <p:nvSpPr>
          <p:cNvPr id="28" name="Shape 26"/>
          <p:cNvSpPr/>
          <p:nvPr/>
        </p:nvSpPr>
        <p:spPr>
          <a:xfrm>
            <a:off x="7071183" y="2786063"/>
            <a:ext cx="5120512" cy="116300"/>
          </a:xfrm>
          <a:prstGeom prst="rect">
            <a:avLst/>
          </a:prstGeom>
          <a:solidFill>
            <a:srgbClr val="3A42CE"/>
          </a:solidFill>
          <a:ln/>
        </p:spPr>
      </p:sp>
      <p:sp>
        <p:nvSpPr>
          <p:cNvPr id="29" name="Shape 27"/>
          <p:cNvSpPr/>
          <p:nvPr/>
        </p:nvSpPr>
        <p:spPr>
          <a:xfrm>
            <a:off x="7071183" y="2893219"/>
            <a:ext cx="5120512" cy="116300"/>
          </a:xfrm>
          <a:prstGeom prst="rect">
            <a:avLst/>
          </a:prstGeom>
          <a:solidFill>
            <a:srgbClr val="3943CE"/>
          </a:solidFill>
          <a:ln/>
        </p:spPr>
      </p:sp>
      <p:sp>
        <p:nvSpPr>
          <p:cNvPr id="30" name="Shape 28"/>
          <p:cNvSpPr/>
          <p:nvPr/>
        </p:nvSpPr>
        <p:spPr>
          <a:xfrm>
            <a:off x="7071183" y="3000375"/>
            <a:ext cx="5120512" cy="116300"/>
          </a:xfrm>
          <a:prstGeom prst="rect">
            <a:avLst/>
          </a:prstGeom>
          <a:solidFill>
            <a:srgbClr val="3844CE"/>
          </a:solidFill>
          <a:ln/>
        </p:spPr>
      </p:sp>
      <p:sp>
        <p:nvSpPr>
          <p:cNvPr id="31" name="Shape 29"/>
          <p:cNvSpPr/>
          <p:nvPr/>
        </p:nvSpPr>
        <p:spPr>
          <a:xfrm>
            <a:off x="7071183" y="3107531"/>
            <a:ext cx="5120512" cy="116300"/>
          </a:xfrm>
          <a:prstGeom prst="rect">
            <a:avLst/>
          </a:prstGeom>
          <a:solidFill>
            <a:srgbClr val="3745CF"/>
          </a:solidFill>
          <a:ln/>
        </p:spPr>
      </p:sp>
      <p:sp>
        <p:nvSpPr>
          <p:cNvPr id="32" name="Shape 30"/>
          <p:cNvSpPr/>
          <p:nvPr/>
        </p:nvSpPr>
        <p:spPr>
          <a:xfrm>
            <a:off x="7071183" y="3214688"/>
            <a:ext cx="5120512" cy="116300"/>
          </a:xfrm>
          <a:prstGeom prst="rect">
            <a:avLst/>
          </a:prstGeom>
          <a:solidFill>
            <a:srgbClr val="3646CF"/>
          </a:solidFill>
          <a:ln/>
        </p:spPr>
      </p:sp>
      <p:sp>
        <p:nvSpPr>
          <p:cNvPr id="33" name="Shape 31"/>
          <p:cNvSpPr/>
          <p:nvPr/>
        </p:nvSpPr>
        <p:spPr>
          <a:xfrm>
            <a:off x="7071183" y="3321844"/>
            <a:ext cx="5120512" cy="116300"/>
          </a:xfrm>
          <a:prstGeom prst="rect">
            <a:avLst/>
          </a:prstGeom>
          <a:solidFill>
            <a:srgbClr val="3547D0"/>
          </a:solidFill>
          <a:ln/>
        </p:spPr>
      </p:sp>
      <p:sp>
        <p:nvSpPr>
          <p:cNvPr id="34" name="Shape 32"/>
          <p:cNvSpPr/>
          <p:nvPr/>
        </p:nvSpPr>
        <p:spPr>
          <a:xfrm>
            <a:off x="7071183" y="3429000"/>
            <a:ext cx="5120512" cy="116300"/>
          </a:xfrm>
          <a:prstGeom prst="rect">
            <a:avLst/>
          </a:prstGeom>
          <a:solidFill>
            <a:srgbClr val="3549D0"/>
          </a:solidFill>
          <a:ln/>
        </p:spPr>
      </p:sp>
      <p:sp>
        <p:nvSpPr>
          <p:cNvPr id="35" name="Shape 33"/>
          <p:cNvSpPr/>
          <p:nvPr/>
        </p:nvSpPr>
        <p:spPr>
          <a:xfrm>
            <a:off x="7071183" y="3536156"/>
            <a:ext cx="5120512" cy="116300"/>
          </a:xfrm>
          <a:prstGeom prst="rect">
            <a:avLst/>
          </a:prstGeom>
          <a:solidFill>
            <a:srgbClr val="344ACF"/>
          </a:solidFill>
          <a:ln/>
        </p:spPr>
      </p:sp>
      <p:sp>
        <p:nvSpPr>
          <p:cNvPr id="36" name="Shape 34"/>
          <p:cNvSpPr/>
          <p:nvPr/>
        </p:nvSpPr>
        <p:spPr>
          <a:xfrm>
            <a:off x="7071183" y="3643313"/>
            <a:ext cx="5120512" cy="116300"/>
          </a:xfrm>
          <a:prstGeom prst="rect">
            <a:avLst/>
          </a:prstGeom>
          <a:solidFill>
            <a:srgbClr val="334BCF"/>
          </a:solidFill>
          <a:ln/>
        </p:spPr>
      </p:sp>
      <p:sp>
        <p:nvSpPr>
          <p:cNvPr id="37" name="Shape 35"/>
          <p:cNvSpPr/>
          <p:nvPr/>
        </p:nvSpPr>
        <p:spPr>
          <a:xfrm>
            <a:off x="7071183" y="3750469"/>
            <a:ext cx="5120512" cy="116300"/>
          </a:xfrm>
          <a:prstGeom prst="rect">
            <a:avLst/>
          </a:prstGeom>
          <a:solidFill>
            <a:srgbClr val="324CCE"/>
          </a:solidFill>
          <a:ln/>
        </p:spPr>
      </p:sp>
      <p:sp>
        <p:nvSpPr>
          <p:cNvPr id="38" name="Shape 36"/>
          <p:cNvSpPr/>
          <p:nvPr/>
        </p:nvSpPr>
        <p:spPr>
          <a:xfrm>
            <a:off x="7071183" y="3857625"/>
            <a:ext cx="5120512" cy="116300"/>
          </a:xfrm>
          <a:prstGeom prst="rect">
            <a:avLst/>
          </a:prstGeom>
          <a:solidFill>
            <a:srgbClr val="314ECD"/>
          </a:solidFill>
          <a:ln/>
        </p:spPr>
      </p:sp>
      <p:sp>
        <p:nvSpPr>
          <p:cNvPr id="39" name="Shape 37"/>
          <p:cNvSpPr/>
          <p:nvPr/>
        </p:nvSpPr>
        <p:spPr>
          <a:xfrm>
            <a:off x="7071183" y="3964781"/>
            <a:ext cx="5120512" cy="116300"/>
          </a:xfrm>
          <a:prstGeom prst="rect">
            <a:avLst/>
          </a:prstGeom>
          <a:solidFill>
            <a:srgbClr val="304FCD"/>
          </a:solidFill>
          <a:ln/>
        </p:spPr>
      </p:sp>
      <p:sp>
        <p:nvSpPr>
          <p:cNvPr id="40" name="Shape 38"/>
          <p:cNvSpPr/>
          <p:nvPr/>
        </p:nvSpPr>
        <p:spPr>
          <a:xfrm>
            <a:off x="7071183" y="4071938"/>
            <a:ext cx="5120512" cy="116300"/>
          </a:xfrm>
          <a:prstGeom prst="rect">
            <a:avLst/>
          </a:prstGeom>
          <a:solidFill>
            <a:srgbClr val="2F50CC"/>
          </a:solidFill>
          <a:ln/>
        </p:spPr>
      </p:sp>
      <p:sp>
        <p:nvSpPr>
          <p:cNvPr id="41" name="Shape 39"/>
          <p:cNvSpPr/>
          <p:nvPr/>
        </p:nvSpPr>
        <p:spPr>
          <a:xfrm>
            <a:off x="7071183" y="4179094"/>
            <a:ext cx="5120512" cy="116300"/>
          </a:xfrm>
          <a:prstGeom prst="rect">
            <a:avLst/>
          </a:prstGeom>
          <a:solidFill>
            <a:srgbClr val="2F51CC"/>
          </a:solidFill>
          <a:ln/>
        </p:spPr>
      </p:sp>
      <p:sp>
        <p:nvSpPr>
          <p:cNvPr id="42" name="Shape 40"/>
          <p:cNvSpPr/>
          <p:nvPr/>
        </p:nvSpPr>
        <p:spPr>
          <a:xfrm>
            <a:off x="7071183" y="4286250"/>
            <a:ext cx="5120512" cy="116300"/>
          </a:xfrm>
          <a:prstGeom prst="rect">
            <a:avLst/>
          </a:prstGeom>
          <a:solidFill>
            <a:srgbClr val="2E53CB"/>
          </a:solidFill>
          <a:ln/>
        </p:spPr>
      </p:sp>
      <p:sp>
        <p:nvSpPr>
          <p:cNvPr id="43" name="Shape 41"/>
          <p:cNvSpPr/>
          <p:nvPr/>
        </p:nvSpPr>
        <p:spPr>
          <a:xfrm>
            <a:off x="7071183" y="4393406"/>
            <a:ext cx="5120512" cy="116300"/>
          </a:xfrm>
          <a:prstGeom prst="rect">
            <a:avLst/>
          </a:prstGeom>
          <a:solidFill>
            <a:srgbClr val="2D54CB"/>
          </a:solidFill>
          <a:ln/>
        </p:spPr>
      </p:sp>
      <p:sp>
        <p:nvSpPr>
          <p:cNvPr id="44" name="Shape 42"/>
          <p:cNvSpPr/>
          <p:nvPr/>
        </p:nvSpPr>
        <p:spPr>
          <a:xfrm>
            <a:off x="7071183" y="4500563"/>
            <a:ext cx="5120512" cy="116300"/>
          </a:xfrm>
          <a:prstGeom prst="rect">
            <a:avLst/>
          </a:prstGeom>
          <a:solidFill>
            <a:srgbClr val="2C55CA"/>
          </a:solidFill>
          <a:ln/>
        </p:spPr>
      </p:sp>
      <p:sp>
        <p:nvSpPr>
          <p:cNvPr id="45" name="Shape 43"/>
          <p:cNvSpPr/>
          <p:nvPr/>
        </p:nvSpPr>
        <p:spPr>
          <a:xfrm>
            <a:off x="7071183" y="4607719"/>
            <a:ext cx="5120512" cy="116300"/>
          </a:xfrm>
          <a:prstGeom prst="rect">
            <a:avLst/>
          </a:prstGeom>
          <a:solidFill>
            <a:srgbClr val="2B56C9"/>
          </a:solidFill>
          <a:ln/>
        </p:spPr>
      </p:sp>
      <p:sp>
        <p:nvSpPr>
          <p:cNvPr id="46" name="Shape 44"/>
          <p:cNvSpPr/>
          <p:nvPr/>
        </p:nvSpPr>
        <p:spPr>
          <a:xfrm>
            <a:off x="7071183" y="4714875"/>
            <a:ext cx="5120512" cy="116300"/>
          </a:xfrm>
          <a:prstGeom prst="rect">
            <a:avLst/>
          </a:prstGeom>
          <a:solidFill>
            <a:srgbClr val="2A57C9"/>
          </a:solidFill>
          <a:ln/>
        </p:spPr>
      </p:sp>
      <p:sp>
        <p:nvSpPr>
          <p:cNvPr id="47" name="Shape 45"/>
          <p:cNvSpPr/>
          <p:nvPr/>
        </p:nvSpPr>
        <p:spPr>
          <a:xfrm>
            <a:off x="7071183" y="4822031"/>
            <a:ext cx="5120512" cy="116300"/>
          </a:xfrm>
          <a:prstGeom prst="rect">
            <a:avLst/>
          </a:prstGeom>
          <a:solidFill>
            <a:srgbClr val="2959C8"/>
          </a:solidFill>
          <a:ln/>
        </p:spPr>
      </p:sp>
      <p:sp>
        <p:nvSpPr>
          <p:cNvPr id="48" name="Shape 46"/>
          <p:cNvSpPr/>
          <p:nvPr/>
        </p:nvSpPr>
        <p:spPr>
          <a:xfrm>
            <a:off x="7071183" y="4929188"/>
            <a:ext cx="5120512" cy="116300"/>
          </a:xfrm>
          <a:prstGeom prst="rect">
            <a:avLst/>
          </a:prstGeom>
          <a:solidFill>
            <a:srgbClr val="295AC8"/>
          </a:solidFill>
          <a:ln/>
        </p:spPr>
      </p:sp>
      <p:sp>
        <p:nvSpPr>
          <p:cNvPr id="49" name="Shape 47"/>
          <p:cNvSpPr/>
          <p:nvPr/>
        </p:nvSpPr>
        <p:spPr>
          <a:xfrm>
            <a:off x="7071183" y="5036344"/>
            <a:ext cx="5120512" cy="116300"/>
          </a:xfrm>
          <a:prstGeom prst="rect">
            <a:avLst/>
          </a:prstGeom>
          <a:solidFill>
            <a:srgbClr val="285BC7"/>
          </a:solidFill>
          <a:ln/>
        </p:spPr>
      </p:sp>
      <p:sp>
        <p:nvSpPr>
          <p:cNvPr id="50" name="Shape 48"/>
          <p:cNvSpPr/>
          <p:nvPr/>
        </p:nvSpPr>
        <p:spPr>
          <a:xfrm>
            <a:off x="7071183" y="5143500"/>
            <a:ext cx="5120512" cy="116300"/>
          </a:xfrm>
          <a:prstGeom prst="rect">
            <a:avLst/>
          </a:prstGeom>
          <a:solidFill>
            <a:srgbClr val="275CC7"/>
          </a:solidFill>
          <a:ln/>
        </p:spPr>
      </p:sp>
      <p:sp>
        <p:nvSpPr>
          <p:cNvPr id="51" name="Shape 49"/>
          <p:cNvSpPr/>
          <p:nvPr/>
        </p:nvSpPr>
        <p:spPr>
          <a:xfrm>
            <a:off x="7071183" y="5250656"/>
            <a:ext cx="5120512" cy="116300"/>
          </a:xfrm>
          <a:prstGeom prst="rect">
            <a:avLst/>
          </a:prstGeom>
          <a:solidFill>
            <a:srgbClr val="265EC6"/>
          </a:solidFill>
          <a:ln/>
        </p:spPr>
      </p:sp>
      <p:sp>
        <p:nvSpPr>
          <p:cNvPr id="52" name="Shape 50"/>
          <p:cNvSpPr/>
          <p:nvPr/>
        </p:nvSpPr>
        <p:spPr>
          <a:xfrm>
            <a:off x="7071183" y="5357813"/>
            <a:ext cx="5120512" cy="116300"/>
          </a:xfrm>
          <a:prstGeom prst="rect">
            <a:avLst/>
          </a:prstGeom>
          <a:solidFill>
            <a:srgbClr val="255FC5"/>
          </a:solidFill>
          <a:ln/>
        </p:spPr>
      </p:sp>
      <p:sp>
        <p:nvSpPr>
          <p:cNvPr id="53" name="Shape 51"/>
          <p:cNvSpPr/>
          <p:nvPr/>
        </p:nvSpPr>
        <p:spPr>
          <a:xfrm>
            <a:off x="7071183" y="5464969"/>
            <a:ext cx="5120512" cy="116300"/>
          </a:xfrm>
          <a:prstGeom prst="rect">
            <a:avLst/>
          </a:prstGeom>
          <a:solidFill>
            <a:srgbClr val="2460C5"/>
          </a:solidFill>
          <a:ln/>
        </p:spPr>
      </p:sp>
      <p:sp>
        <p:nvSpPr>
          <p:cNvPr id="54" name="Shape 52"/>
          <p:cNvSpPr/>
          <p:nvPr/>
        </p:nvSpPr>
        <p:spPr>
          <a:xfrm>
            <a:off x="7071183" y="5572125"/>
            <a:ext cx="5120512" cy="116300"/>
          </a:xfrm>
          <a:prstGeom prst="rect">
            <a:avLst/>
          </a:prstGeom>
          <a:solidFill>
            <a:srgbClr val="2361C4"/>
          </a:solidFill>
          <a:ln/>
        </p:spPr>
      </p:sp>
      <p:sp>
        <p:nvSpPr>
          <p:cNvPr id="55" name="Shape 53"/>
          <p:cNvSpPr/>
          <p:nvPr/>
        </p:nvSpPr>
        <p:spPr>
          <a:xfrm>
            <a:off x="7071183" y="5679281"/>
            <a:ext cx="5120512" cy="116300"/>
          </a:xfrm>
          <a:prstGeom prst="rect">
            <a:avLst/>
          </a:prstGeom>
          <a:solidFill>
            <a:srgbClr val="2363C4"/>
          </a:solidFill>
          <a:ln/>
        </p:spPr>
      </p:sp>
      <p:sp>
        <p:nvSpPr>
          <p:cNvPr id="56" name="Shape 54"/>
          <p:cNvSpPr/>
          <p:nvPr/>
        </p:nvSpPr>
        <p:spPr>
          <a:xfrm>
            <a:off x="7071183" y="5786438"/>
            <a:ext cx="5120512" cy="116300"/>
          </a:xfrm>
          <a:prstGeom prst="rect">
            <a:avLst/>
          </a:prstGeom>
          <a:solidFill>
            <a:srgbClr val="2264C3"/>
          </a:solidFill>
          <a:ln/>
        </p:spPr>
      </p:sp>
      <p:sp>
        <p:nvSpPr>
          <p:cNvPr id="57" name="Shape 55"/>
          <p:cNvSpPr/>
          <p:nvPr/>
        </p:nvSpPr>
        <p:spPr>
          <a:xfrm>
            <a:off x="7071183" y="5893594"/>
            <a:ext cx="5120512" cy="116300"/>
          </a:xfrm>
          <a:prstGeom prst="rect">
            <a:avLst/>
          </a:prstGeom>
          <a:solidFill>
            <a:srgbClr val="2165C3"/>
          </a:solidFill>
          <a:ln/>
        </p:spPr>
      </p:sp>
      <p:sp>
        <p:nvSpPr>
          <p:cNvPr id="58" name="Shape 56"/>
          <p:cNvSpPr/>
          <p:nvPr/>
        </p:nvSpPr>
        <p:spPr>
          <a:xfrm>
            <a:off x="7071183" y="6000750"/>
            <a:ext cx="5120512" cy="116300"/>
          </a:xfrm>
          <a:prstGeom prst="rect">
            <a:avLst/>
          </a:prstGeom>
          <a:solidFill>
            <a:srgbClr val="2066C2"/>
          </a:solidFill>
          <a:ln/>
        </p:spPr>
      </p:sp>
      <p:sp>
        <p:nvSpPr>
          <p:cNvPr id="59" name="Shape 57"/>
          <p:cNvSpPr/>
          <p:nvPr/>
        </p:nvSpPr>
        <p:spPr>
          <a:xfrm>
            <a:off x="7071183" y="6107906"/>
            <a:ext cx="5120512" cy="116300"/>
          </a:xfrm>
          <a:prstGeom prst="rect">
            <a:avLst/>
          </a:prstGeom>
          <a:solidFill>
            <a:srgbClr val="1F68C1"/>
          </a:solidFill>
          <a:ln/>
        </p:spPr>
      </p:sp>
      <p:sp>
        <p:nvSpPr>
          <p:cNvPr id="60" name="Shape 58"/>
          <p:cNvSpPr/>
          <p:nvPr/>
        </p:nvSpPr>
        <p:spPr>
          <a:xfrm>
            <a:off x="7071183" y="6215063"/>
            <a:ext cx="5120512" cy="116300"/>
          </a:xfrm>
          <a:prstGeom prst="rect">
            <a:avLst/>
          </a:prstGeom>
          <a:solidFill>
            <a:srgbClr val="1E69C1"/>
          </a:solidFill>
          <a:ln/>
        </p:spPr>
      </p:sp>
      <p:sp>
        <p:nvSpPr>
          <p:cNvPr id="61" name="Shape 59"/>
          <p:cNvSpPr/>
          <p:nvPr/>
        </p:nvSpPr>
        <p:spPr>
          <a:xfrm>
            <a:off x="7071183" y="6322219"/>
            <a:ext cx="5120512" cy="116300"/>
          </a:xfrm>
          <a:prstGeom prst="rect">
            <a:avLst/>
          </a:prstGeom>
          <a:solidFill>
            <a:srgbClr val="1D6AC0"/>
          </a:solidFill>
          <a:ln/>
        </p:spPr>
      </p:sp>
      <p:sp>
        <p:nvSpPr>
          <p:cNvPr id="62" name="Shape 60"/>
          <p:cNvSpPr/>
          <p:nvPr/>
        </p:nvSpPr>
        <p:spPr>
          <a:xfrm>
            <a:off x="7071183" y="6429375"/>
            <a:ext cx="5120512" cy="116300"/>
          </a:xfrm>
          <a:prstGeom prst="rect">
            <a:avLst/>
          </a:prstGeom>
          <a:solidFill>
            <a:srgbClr val="1D6BC0"/>
          </a:solidFill>
          <a:ln/>
        </p:spPr>
      </p:sp>
      <p:sp>
        <p:nvSpPr>
          <p:cNvPr id="63" name="Shape 61"/>
          <p:cNvSpPr/>
          <p:nvPr/>
        </p:nvSpPr>
        <p:spPr>
          <a:xfrm>
            <a:off x="7071183" y="6536531"/>
            <a:ext cx="5120512" cy="116300"/>
          </a:xfrm>
          <a:prstGeom prst="rect">
            <a:avLst/>
          </a:prstGeom>
          <a:solidFill>
            <a:srgbClr val="1C6DBF"/>
          </a:solidFill>
          <a:ln/>
        </p:spPr>
      </p:sp>
      <p:sp>
        <p:nvSpPr>
          <p:cNvPr id="64" name="Shape 62"/>
          <p:cNvSpPr/>
          <p:nvPr/>
        </p:nvSpPr>
        <p:spPr>
          <a:xfrm>
            <a:off x="7071183" y="6643688"/>
            <a:ext cx="5120512" cy="116300"/>
          </a:xfrm>
          <a:prstGeom prst="rect">
            <a:avLst/>
          </a:prstGeom>
          <a:solidFill>
            <a:srgbClr val="1B6EBF"/>
          </a:solidFill>
          <a:ln/>
        </p:spPr>
      </p:sp>
      <p:sp>
        <p:nvSpPr>
          <p:cNvPr id="65" name="Shape 63"/>
          <p:cNvSpPr/>
          <p:nvPr/>
        </p:nvSpPr>
        <p:spPr>
          <a:xfrm>
            <a:off x="7071183" y="6750844"/>
            <a:ext cx="5120512" cy="116300"/>
          </a:xfrm>
          <a:prstGeom prst="rect">
            <a:avLst/>
          </a:prstGeom>
          <a:solidFill>
            <a:srgbClr val="1A6FBE"/>
          </a:solidFill>
          <a:ln/>
        </p:spPr>
      </p:sp>
      <p:sp>
        <p:nvSpPr>
          <p:cNvPr id="66" name="Text 64"/>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INVESTOR PREVIEW</a:t>
            </a:r>
            <a:endParaRPr lang="en-US" sz="1100" dirty="0"/>
          </a:p>
        </p:txBody>
      </p:sp>
      <p:sp>
        <p:nvSpPr>
          <p:cNvPr id="67" name="Text 65"/>
          <p:cNvSpPr/>
          <p:nvPr/>
        </p:nvSpPr>
        <p:spPr>
          <a:xfrm>
            <a:off x="548640" y="1417320"/>
            <a:ext cx="6156783" cy="2194560"/>
          </a:xfrm>
          <a:prstGeom prst="rect">
            <a:avLst/>
          </a:prstGeom>
          <a:noFill/>
          <a:ln/>
        </p:spPr>
        <p:txBody>
          <a:bodyPr wrap="square" lIns="0" tIns="0" rIns="0" bIns="0" rtlCol="0" anchor="t"/>
          <a:lstStyle/>
          <a:p>
            <a:pPr algn="l" indent="0" marL="0">
              <a:buNone/>
            </a:pPr>
            <a:r>
              <a:rPr lang="en-US" sz="4200" b="1" spc="-50" kern="0" dirty="0">
                <a:solidFill>
                  <a:srgbClr val="0F1733"/>
                </a:solidFill>
                <a:latin typeface="Calibri" pitchFamily="34" charset="0"/>
                <a:ea typeface="Calibri" pitchFamily="34" charset="-122"/>
                <a:cs typeface="Calibri" pitchFamily="34" charset="-120"/>
              </a:rPr>
              <a:t>Outreach, finally built for the people doing it.</a:t>
            </a:r>
            <a:endParaRPr lang="en-US" sz="4200" dirty="0"/>
          </a:p>
        </p:txBody>
      </p:sp>
      <p:sp>
        <p:nvSpPr>
          <p:cNvPr id="68" name="Text 66"/>
          <p:cNvSpPr/>
          <p:nvPr/>
        </p:nvSpPr>
        <p:spPr>
          <a:xfrm>
            <a:off x="548640" y="3657600"/>
            <a:ext cx="6156783" cy="2377440"/>
          </a:xfrm>
          <a:prstGeom prst="rect">
            <a:avLst/>
          </a:prstGeom>
          <a:noFill/>
          <a:ln/>
        </p:spPr>
        <p:txBody>
          <a:bodyPr wrap="square" lIns="0" tIns="0" rIns="0" bIns="0" rtlCol="0" anchor="t"/>
          <a:lstStyle/>
          <a:p>
            <a:pPr algn="l" indent="0" marL="0">
              <a:spcAft>
                <a:spcPts val="800"/>
              </a:spcAft>
              <a:buNone/>
            </a:pPr>
            <a:r>
              <a:rPr lang="en-US" sz="1500" dirty="0">
                <a:solidFill>
                  <a:srgbClr val="2A3358"/>
                </a:solidFill>
                <a:latin typeface="Calibri" pitchFamily="34" charset="0"/>
                <a:ea typeface="Calibri" pitchFamily="34" charset="-122"/>
                <a:cs typeface="Calibri" pitchFamily="34" charset="-120"/>
              </a:rPr>
              <a:t>Creator Outreach is the operator-grade tool for finding, scoring, and contacting creators across YouTube, Instagram, TikTok, X, and LinkedIn — without juggling six tabs.</a:t>
            </a:r>
            <a:endParaRPr lang="en-US" sz="1500" dirty="0"/>
          </a:p>
        </p:txBody>
      </p:sp>
      <p:sp>
        <p:nvSpPr>
          <p:cNvPr id="69" name="Text 67"/>
          <p:cNvSpPr/>
          <p:nvPr/>
        </p:nvSpPr>
        <p:spPr>
          <a:xfrm>
            <a:off x="7436943" y="1371600"/>
            <a:ext cx="4388992" cy="4114800"/>
          </a:xfrm>
          <a:prstGeom prst="rect">
            <a:avLst/>
          </a:prstGeom>
          <a:noFill/>
          <a:ln/>
        </p:spPr>
        <p:txBody>
          <a:bodyPr wrap="square" lIns="0" tIns="0" rIns="0" bIns="0" rtlCol="0" anchor="t"/>
          <a:lstStyle/>
          <a:p>
            <a:pPr algn="l" indent="0" marL="0">
              <a:buNone/>
            </a:pPr>
            <a:r>
              <a:rPr lang="en-US" sz="2800" i="1" dirty="0">
                <a:solidFill>
                  <a:srgbClr val="FFFFFF"/>
                </a:solidFill>
                <a:latin typeface="Calibri" pitchFamily="34" charset="0"/>
                <a:ea typeface="Calibri" pitchFamily="34" charset="-122"/>
                <a:cs typeface="Calibri" pitchFamily="34" charset="-120"/>
              </a:rPr>
              <a:t>"Creator Outreach"</a:t>
            </a:r>
            <a:endParaRPr lang="en-US" sz="2800" dirty="0"/>
          </a:p>
          <a:p>
            <a:pPr algn="l" indent="0" marL="0">
              <a:buNone/>
            </a:pPr>
            <a:endParaRPr lang="en-US" sz="2800" dirty="0"/>
          </a:p>
          <a:p>
            <a:pPr algn="l" indent="0" marL="0">
              <a:buNone/>
            </a:pPr>
            <a:r>
              <a:rPr lang="en-US" sz="2800" i="1" dirty="0">
                <a:solidFill>
                  <a:srgbClr val="FFFFFF"/>
                </a:solidFill>
                <a:latin typeface="Calibri" pitchFamily="34" charset="0"/>
                <a:ea typeface="Calibri" pitchFamily="34" charset="-122"/>
                <a:cs typeface="Calibri" pitchFamily="34" charset="-120"/>
              </a:rPr>
              <a:t>v1.0 · 2026</a:t>
            </a:r>
            <a:endParaRPr lang="en-US" sz="28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01 · Cover  ·  vB</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002 / 126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WHAT WE BUILT</a:t>
            </a:r>
            <a:endParaRPr lang="en-US" sz="1100" dirty="0"/>
          </a:p>
        </p:txBody>
      </p:sp>
      <p:sp>
        <p:nvSpPr>
          <p:cNvPr id="3" name="Text 1"/>
          <p:cNvSpPr/>
          <p:nvPr/>
        </p:nvSpPr>
        <p:spPr>
          <a:xfrm>
            <a:off x="548640" y="1417320"/>
            <a:ext cx="11094415" cy="1188720"/>
          </a:xfrm>
          <a:prstGeom prst="rect">
            <a:avLst/>
          </a:prstGeom>
          <a:noFill/>
          <a:ln/>
        </p:spPr>
        <p:txBody>
          <a:bodyPr wrap="square" lIns="0" tIns="0" rIns="0" bIns="0" rtlCol="0" anchor="t"/>
          <a:lstStyle/>
          <a:p>
            <a:pPr algn="l" indent="0" marL="0">
              <a:buNone/>
            </a:pPr>
            <a:r>
              <a:rPr lang="en-US" sz="3800" b="1" spc="-50" kern="0" dirty="0">
                <a:solidFill>
                  <a:srgbClr val="0F1733"/>
                </a:solidFill>
                <a:latin typeface="Calibri" pitchFamily="34" charset="0"/>
                <a:ea typeface="Calibri" pitchFamily="34" charset="-122"/>
                <a:cs typeface="Calibri" pitchFamily="34" charset="-120"/>
              </a:rPr>
              <a:t>One workflow. Five platforms. Built by an operator.</a:t>
            </a:r>
            <a:endParaRPr lang="en-US" sz="3800" dirty="0"/>
          </a:p>
        </p:txBody>
      </p:sp>
      <p:sp>
        <p:nvSpPr>
          <p:cNvPr id="4" name="Text 2"/>
          <p:cNvSpPr/>
          <p:nvPr/>
        </p:nvSpPr>
        <p:spPr>
          <a:xfrm>
            <a:off x="548640" y="2606040"/>
            <a:ext cx="8534187" cy="457200"/>
          </a:xfrm>
          <a:prstGeom prst="rect">
            <a:avLst/>
          </a:prstGeom>
          <a:noFill/>
          <a:ln/>
        </p:spPr>
        <p:txBody>
          <a:bodyPr wrap="square" lIns="0" tIns="0" rIns="0" bIns="0" rtlCol="0" anchor="t"/>
          <a:lstStyle/>
          <a:p>
            <a:pPr algn="l" indent="0" marL="0">
              <a:buNone/>
            </a:pPr>
            <a:r>
              <a:rPr lang="en-US" sz="1600" dirty="0">
                <a:solidFill>
                  <a:srgbClr val="2A3358"/>
                </a:solidFill>
                <a:latin typeface="Calibri" pitchFamily="34" charset="0"/>
                <a:ea typeface="Calibri" pitchFamily="34" charset="-122"/>
                <a:cs typeface="Calibri" pitchFamily="34" charset="-120"/>
              </a:rPr>
              <a:t>Discovery, qualification, and outreach in a single tool — designed around how founders actually run this work.</a:t>
            </a:r>
            <a:endParaRPr lang="en-US" sz="1600" dirty="0"/>
          </a:p>
        </p:txBody>
      </p:sp>
      <p:sp>
        <p:nvSpPr>
          <p:cNvPr id="5" name="Shape 3"/>
          <p:cNvSpPr/>
          <p:nvPr/>
        </p:nvSpPr>
        <p:spPr>
          <a:xfrm>
            <a:off x="548640" y="3108960"/>
            <a:ext cx="3545738" cy="3017520"/>
          </a:xfrm>
          <a:prstGeom prst="roundRect">
            <a:avLst>
              <a:gd name="adj" fmla="val 3636"/>
            </a:avLst>
          </a:prstGeom>
          <a:solidFill>
            <a:srgbClr val="FFFFFF"/>
          </a:solidFill>
          <a:ln w="9525">
            <a:solidFill>
              <a:srgbClr val="E5E7F0"/>
            </a:solidFill>
            <a:prstDash val="solid"/>
          </a:ln>
        </p:spPr>
      </p:sp>
      <p:sp>
        <p:nvSpPr>
          <p:cNvPr id="6" name="Shape 4"/>
          <p:cNvSpPr/>
          <p:nvPr/>
        </p:nvSpPr>
        <p:spPr>
          <a:xfrm>
            <a:off x="548640" y="3108960"/>
            <a:ext cx="3545738" cy="73152"/>
          </a:xfrm>
          <a:prstGeom prst="rect">
            <a:avLst/>
          </a:prstGeom>
          <a:solidFill>
            <a:srgbClr val="5028C2"/>
          </a:solidFill>
          <a:ln/>
        </p:spPr>
      </p:sp>
      <p:sp>
        <p:nvSpPr>
          <p:cNvPr id="7" name="Shape 5"/>
          <p:cNvSpPr/>
          <p:nvPr/>
        </p:nvSpPr>
        <p:spPr>
          <a:xfrm>
            <a:off x="868680" y="3474720"/>
            <a:ext cx="457200" cy="457200"/>
          </a:xfrm>
          <a:prstGeom prst="ellipse">
            <a:avLst/>
          </a:prstGeom>
          <a:solidFill>
            <a:srgbClr val="5028C2"/>
          </a:solidFill>
          <a:ln/>
        </p:spPr>
      </p:sp>
      <p:sp>
        <p:nvSpPr>
          <p:cNvPr id="8" name="Text 6"/>
          <p:cNvSpPr/>
          <p:nvPr/>
        </p:nvSpPr>
        <p:spPr>
          <a:xfrm>
            <a:off x="868680"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9" name="Text 7"/>
          <p:cNvSpPr/>
          <p:nvPr/>
        </p:nvSpPr>
        <p:spPr>
          <a:xfrm>
            <a:off x="868680"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Discover</a:t>
            </a:r>
            <a:endParaRPr lang="en-US" sz="1800" dirty="0"/>
          </a:p>
        </p:txBody>
      </p:sp>
      <p:sp>
        <p:nvSpPr>
          <p:cNvPr id="10" name="Text 8"/>
          <p:cNvSpPr/>
          <p:nvPr/>
        </p:nvSpPr>
        <p:spPr>
          <a:xfrm>
            <a:off x="868680"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Search YouTube, Instagram, TikTok, X, and LinkedIn from one query bar. Public data, structured.</a:t>
            </a:r>
            <a:endParaRPr lang="en-US" sz="1300" dirty="0"/>
          </a:p>
        </p:txBody>
      </p:sp>
      <p:sp>
        <p:nvSpPr>
          <p:cNvPr id="11" name="Shape 9"/>
          <p:cNvSpPr/>
          <p:nvPr/>
        </p:nvSpPr>
        <p:spPr>
          <a:xfrm>
            <a:off x="4322978" y="3108960"/>
            <a:ext cx="3545738" cy="3017520"/>
          </a:xfrm>
          <a:prstGeom prst="roundRect">
            <a:avLst>
              <a:gd name="adj" fmla="val 3636"/>
            </a:avLst>
          </a:prstGeom>
          <a:solidFill>
            <a:srgbClr val="FFFFFF"/>
          </a:solidFill>
          <a:ln w="9525">
            <a:solidFill>
              <a:srgbClr val="E5E7F0"/>
            </a:solidFill>
            <a:prstDash val="solid"/>
          </a:ln>
        </p:spPr>
      </p:sp>
      <p:sp>
        <p:nvSpPr>
          <p:cNvPr id="12" name="Shape 10"/>
          <p:cNvSpPr/>
          <p:nvPr/>
        </p:nvSpPr>
        <p:spPr>
          <a:xfrm>
            <a:off x="4322978" y="3108960"/>
            <a:ext cx="3545738" cy="73152"/>
          </a:xfrm>
          <a:prstGeom prst="rect">
            <a:avLst/>
          </a:prstGeom>
          <a:solidFill>
            <a:srgbClr val="3548D0"/>
          </a:solidFill>
          <a:ln/>
        </p:spPr>
      </p:sp>
      <p:sp>
        <p:nvSpPr>
          <p:cNvPr id="13" name="Shape 11"/>
          <p:cNvSpPr/>
          <p:nvPr/>
        </p:nvSpPr>
        <p:spPr>
          <a:xfrm>
            <a:off x="4643018" y="3474720"/>
            <a:ext cx="457200" cy="457200"/>
          </a:xfrm>
          <a:prstGeom prst="ellipse">
            <a:avLst/>
          </a:prstGeom>
          <a:solidFill>
            <a:srgbClr val="3548D0"/>
          </a:solidFill>
          <a:ln/>
        </p:spPr>
      </p:sp>
      <p:sp>
        <p:nvSpPr>
          <p:cNvPr id="14" name="Text 12"/>
          <p:cNvSpPr/>
          <p:nvPr/>
        </p:nvSpPr>
        <p:spPr>
          <a:xfrm>
            <a:off x="4643018"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5" name="Text 13"/>
          <p:cNvSpPr/>
          <p:nvPr/>
        </p:nvSpPr>
        <p:spPr>
          <a:xfrm>
            <a:off x="4643018"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Qualify</a:t>
            </a:r>
            <a:endParaRPr lang="en-US" sz="1800" dirty="0"/>
          </a:p>
        </p:txBody>
      </p:sp>
      <p:sp>
        <p:nvSpPr>
          <p:cNvPr id="16" name="Text 14"/>
          <p:cNvSpPr/>
          <p:nvPr/>
        </p:nvSpPr>
        <p:spPr>
          <a:xfrm>
            <a:off x="4643018"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AI fit score against your criteria. Stop reading 80 bios to find the one that maps to your ICP.</a:t>
            </a:r>
            <a:endParaRPr lang="en-US" sz="1300" dirty="0"/>
          </a:p>
        </p:txBody>
      </p:sp>
      <p:sp>
        <p:nvSpPr>
          <p:cNvPr id="17" name="Shape 15"/>
          <p:cNvSpPr/>
          <p:nvPr/>
        </p:nvSpPr>
        <p:spPr>
          <a:xfrm>
            <a:off x="8097317" y="3108960"/>
            <a:ext cx="3545738" cy="3017520"/>
          </a:xfrm>
          <a:prstGeom prst="roundRect">
            <a:avLst>
              <a:gd name="adj" fmla="val 3636"/>
            </a:avLst>
          </a:prstGeom>
          <a:solidFill>
            <a:srgbClr val="FFFFFF"/>
          </a:solidFill>
          <a:ln w="9525">
            <a:solidFill>
              <a:srgbClr val="E5E7F0"/>
            </a:solidFill>
            <a:prstDash val="solid"/>
          </a:ln>
        </p:spPr>
      </p:sp>
      <p:sp>
        <p:nvSpPr>
          <p:cNvPr id="18" name="Shape 16"/>
          <p:cNvSpPr/>
          <p:nvPr/>
        </p:nvSpPr>
        <p:spPr>
          <a:xfrm>
            <a:off x="8097317" y="3108960"/>
            <a:ext cx="3545738" cy="73152"/>
          </a:xfrm>
          <a:prstGeom prst="rect">
            <a:avLst/>
          </a:prstGeom>
          <a:solidFill>
            <a:srgbClr val="1A6FBE"/>
          </a:solidFill>
          <a:ln/>
        </p:spPr>
      </p:sp>
      <p:sp>
        <p:nvSpPr>
          <p:cNvPr id="19" name="Shape 17"/>
          <p:cNvSpPr/>
          <p:nvPr/>
        </p:nvSpPr>
        <p:spPr>
          <a:xfrm>
            <a:off x="8417357" y="3474720"/>
            <a:ext cx="457200" cy="457200"/>
          </a:xfrm>
          <a:prstGeom prst="ellipse">
            <a:avLst/>
          </a:prstGeom>
          <a:solidFill>
            <a:srgbClr val="1A6FBE"/>
          </a:solidFill>
          <a:ln/>
        </p:spPr>
      </p:sp>
      <p:sp>
        <p:nvSpPr>
          <p:cNvPr id="20" name="Text 18"/>
          <p:cNvSpPr/>
          <p:nvPr/>
        </p:nvSpPr>
        <p:spPr>
          <a:xfrm>
            <a:off x="8417357"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9"/>
          <p:cNvSpPr/>
          <p:nvPr/>
        </p:nvSpPr>
        <p:spPr>
          <a:xfrm>
            <a:off x="8417357"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Reach</a:t>
            </a:r>
            <a:endParaRPr lang="en-US" sz="1800" dirty="0"/>
          </a:p>
        </p:txBody>
      </p:sp>
      <p:sp>
        <p:nvSpPr>
          <p:cNvPr id="22" name="Text 20"/>
          <p:cNvSpPr/>
          <p:nvPr/>
        </p:nvSpPr>
        <p:spPr>
          <a:xfrm>
            <a:off x="8417357"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Native Gmail compose, IG DM, LinkedIn message — with a CRM that tracks every reply.</a:t>
            </a:r>
            <a:endParaRPr lang="en-US" sz="1300" dirty="0"/>
          </a:p>
        </p:txBody>
      </p:sp>
      <p:sp>
        <p:nvSpPr>
          <p:cNvPr id="23" name="Shape 21"/>
          <p:cNvSpPr/>
          <p:nvPr/>
        </p:nvSpPr>
        <p:spPr>
          <a:xfrm>
            <a:off x="548640" y="502920"/>
            <a:ext cx="292608" cy="292608"/>
          </a:xfrm>
          <a:prstGeom prst="roundRect">
            <a:avLst>
              <a:gd name="adj" fmla="val 25000"/>
            </a:avLst>
          </a:prstGeom>
          <a:solidFill>
            <a:srgbClr val="5028C2"/>
          </a:solidFill>
          <a:ln/>
        </p:spPr>
      </p:sp>
      <p:sp>
        <p:nvSpPr>
          <p:cNvPr id="24" name="Shape 22"/>
          <p:cNvSpPr/>
          <p:nvPr/>
        </p:nvSpPr>
        <p:spPr>
          <a:xfrm>
            <a:off x="548640" y="502920"/>
            <a:ext cx="292608" cy="292608"/>
          </a:xfrm>
          <a:prstGeom prst="roundRect">
            <a:avLst>
              <a:gd name="adj" fmla="val 25000"/>
            </a:avLst>
          </a:prstGeom>
          <a:solidFill>
            <a:srgbClr val="1A6FBE">
              <a:alpha val="50000"/>
            </a:srgbClr>
          </a:solidFill>
          <a:ln/>
        </p:spPr>
      </p:sp>
      <p:sp>
        <p:nvSpPr>
          <p:cNvPr id="25" name="Text 23"/>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6" name="Text 24"/>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7" name="Text 25"/>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01 · Cover  ·  vC</a:t>
            </a:r>
            <a:endParaRPr lang="en-US" sz="900" dirty="0"/>
          </a:p>
        </p:txBody>
      </p:sp>
      <p:sp>
        <p:nvSpPr>
          <p:cNvPr id="28" name="Text 26"/>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29" name="Text 27"/>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003 / 126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320040" cy="116300"/>
          </a:xfrm>
          <a:prstGeom prst="rect">
            <a:avLst/>
          </a:prstGeom>
          <a:solidFill>
            <a:srgbClr val="5028C2"/>
          </a:solidFill>
          <a:ln/>
        </p:spPr>
      </p:sp>
      <p:sp>
        <p:nvSpPr>
          <p:cNvPr id="3" name="Shape 1"/>
          <p:cNvSpPr/>
          <p:nvPr/>
        </p:nvSpPr>
        <p:spPr>
          <a:xfrm>
            <a:off x="0" y="107156"/>
            <a:ext cx="320040" cy="116300"/>
          </a:xfrm>
          <a:prstGeom prst="rect">
            <a:avLst/>
          </a:prstGeom>
          <a:solidFill>
            <a:srgbClr val="4F29C2"/>
          </a:solidFill>
          <a:ln/>
        </p:spPr>
      </p:sp>
      <p:sp>
        <p:nvSpPr>
          <p:cNvPr id="4" name="Shape 2"/>
          <p:cNvSpPr/>
          <p:nvPr/>
        </p:nvSpPr>
        <p:spPr>
          <a:xfrm>
            <a:off x="0" y="214313"/>
            <a:ext cx="320040" cy="116300"/>
          </a:xfrm>
          <a:prstGeom prst="rect">
            <a:avLst/>
          </a:prstGeom>
          <a:solidFill>
            <a:srgbClr val="4E2AC3"/>
          </a:solidFill>
          <a:ln/>
        </p:spPr>
      </p:sp>
      <p:sp>
        <p:nvSpPr>
          <p:cNvPr id="5" name="Shape 3"/>
          <p:cNvSpPr/>
          <p:nvPr/>
        </p:nvSpPr>
        <p:spPr>
          <a:xfrm>
            <a:off x="0" y="321469"/>
            <a:ext cx="320040" cy="116300"/>
          </a:xfrm>
          <a:prstGeom prst="rect">
            <a:avLst/>
          </a:prstGeom>
          <a:solidFill>
            <a:srgbClr val="4D2BC3"/>
          </a:solidFill>
          <a:ln/>
        </p:spPr>
      </p:sp>
      <p:sp>
        <p:nvSpPr>
          <p:cNvPr id="6" name="Shape 4"/>
          <p:cNvSpPr/>
          <p:nvPr/>
        </p:nvSpPr>
        <p:spPr>
          <a:xfrm>
            <a:off x="0" y="428625"/>
            <a:ext cx="320040" cy="116300"/>
          </a:xfrm>
          <a:prstGeom prst="rect">
            <a:avLst/>
          </a:prstGeom>
          <a:solidFill>
            <a:srgbClr val="4D2CC4"/>
          </a:solidFill>
          <a:ln/>
        </p:spPr>
      </p:sp>
      <p:sp>
        <p:nvSpPr>
          <p:cNvPr id="7" name="Shape 5"/>
          <p:cNvSpPr/>
          <p:nvPr/>
        </p:nvSpPr>
        <p:spPr>
          <a:xfrm>
            <a:off x="0" y="535781"/>
            <a:ext cx="320040" cy="116300"/>
          </a:xfrm>
          <a:prstGeom prst="rect">
            <a:avLst/>
          </a:prstGeom>
          <a:solidFill>
            <a:srgbClr val="4C2DC4"/>
          </a:solidFill>
          <a:ln/>
        </p:spPr>
      </p:sp>
      <p:sp>
        <p:nvSpPr>
          <p:cNvPr id="8" name="Shape 6"/>
          <p:cNvSpPr/>
          <p:nvPr/>
        </p:nvSpPr>
        <p:spPr>
          <a:xfrm>
            <a:off x="0" y="642938"/>
            <a:ext cx="320040" cy="116300"/>
          </a:xfrm>
          <a:prstGeom prst="rect">
            <a:avLst/>
          </a:prstGeom>
          <a:solidFill>
            <a:srgbClr val="4B2EC5"/>
          </a:solidFill>
          <a:ln/>
        </p:spPr>
      </p:sp>
      <p:sp>
        <p:nvSpPr>
          <p:cNvPr id="9" name="Shape 7"/>
          <p:cNvSpPr/>
          <p:nvPr/>
        </p:nvSpPr>
        <p:spPr>
          <a:xfrm>
            <a:off x="0" y="750094"/>
            <a:ext cx="320040" cy="116300"/>
          </a:xfrm>
          <a:prstGeom prst="rect">
            <a:avLst/>
          </a:prstGeom>
          <a:solidFill>
            <a:srgbClr val="4A2FC5"/>
          </a:solidFill>
          <a:ln/>
        </p:spPr>
      </p:sp>
      <p:sp>
        <p:nvSpPr>
          <p:cNvPr id="10" name="Shape 8"/>
          <p:cNvSpPr/>
          <p:nvPr/>
        </p:nvSpPr>
        <p:spPr>
          <a:xfrm>
            <a:off x="0" y="857250"/>
            <a:ext cx="320040" cy="116300"/>
          </a:xfrm>
          <a:prstGeom prst="rect">
            <a:avLst/>
          </a:prstGeom>
          <a:solidFill>
            <a:srgbClr val="4930C6"/>
          </a:solidFill>
          <a:ln/>
        </p:spPr>
      </p:sp>
      <p:sp>
        <p:nvSpPr>
          <p:cNvPr id="11" name="Shape 9"/>
          <p:cNvSpPr/>
          <p:nvPr/>
        </p:nvSpPr>
        <p:spPr>
          <a:xfrm>
            <a:off x="0" y="964406"/>
            <a:ext cx="320040" cy="116300"/>
          </a:xfrm>
          <a:prstGeom prst="rect">
            <a:avLst/>
          </a:prstGeom>
          <a:solidFill>
            <a:srgbClr val="4831C6"/>
          </a:solidFill>
          <a:ln/>
        </p:spPr>
      </p:sp>
      <p:sp>
        <p:nvSpPr>
          <p:cNvPr id="12" name="Shape 10"/>
          <p:cNvSpPr/>
          <p:nvPr/>
        </p:nvSpPr>
        <p:spPr>
          <a:xfrm>
            <a:off x="0" y="1071563"/>
            <a:ext cx="320040" cy="116300"/>
          </a:xfrm>
          <a:prstGeom prst="rect">
            <a:avLst/>
          </a:prstGeom>
          <a:solidFill>
            <a:srgbClr val="4732C6"/>
          </a:solidFill>
          <a:ln/>
        </p:spPr>
      </p:sp>
      <p:sp>
        <p:nvSpPr>
          <p:cNvPr id="13" name="Shape 11"/>
          <p:cNvSpPr/>
          <p:nvPr/>
        </p:nvSpPr>
        <p:spPr>
          <a:xfrm>
            <a:off x="0" y="1178719"/>
            <a:ext cx="320040" cy="116300"/>
          </a:xfrm>
          <a:prstGeom prst="rect">
            <a:avLst/>
          </a:prstGeom>
          <a:solidFill>
            <a:srgbClr val="4733C7"/>
          </a:solidFill>
          <a:ln/>
        </p:spPr>
      </p:sp>
      <p:sp>
        <p:nvSpPr>
          <p:cNvPr id="14" name="Shape 12"/>
          <p:cNvSpPr/>
          <p:nvPr/>
        </p:nvSpPr>
        <p:spPr>
          <a:xfrm>
            <a:off x="0" y="1285875"/>
            <a:ext cx="320040" cy="116300"/>
          </a:xfrm>
          <a:prstGeom prst="rect">
            <a:avLst/>
          </a:prstGeom>
          <a:solidFill>
            <a:srgbClr val="4634C7"/>
          </a:solidFill>
          <a:ln/>
        </p:spPr>
      </p:sp>
      <p:sp>
        <p:nvSpPr>
          <p:cNvPr id="15" name="Shape 13"/>
          <p:cNvSpPr/>
          <p:nvPr/>
        </p:nvSpPr>
        <p:spPr>
          <a:xfrm>
            <a:off x="0" y="1393031"/>
            <a:ext cx="320040" cy="116300"/>
          </a:xfrm>
          <a:prstGeom prst="rect">
            <a:avLst/>
          </a:prstGeom>
          <a:solidFill>
            <a:srgbClr val="4535C8"/>
          </a:solidFill>
          <a:ln/>
        </p:spPr>
      </p:sp>
      <p:sp>
        <p:nvSpPr>
          <p:cNvPr id="16" name="Shape 14"/>
          <p:cNvSpPr/>
          <p:nvPr/>
        </p:nvSpPr>
        <p:spPr>
          <a:xfrm>
            <a:off x="0" y="1500188"/>
            <a:ext cx="320040" cy="116300"/>
          </a:xfrm>
          <a:prstGeom prst="rect">
            <a:avLst/>
          </a:prstGeom>
          <a:solidFill>
            <a:srgbClr val="4436C8"/>
          </a:solidFill>
          <a:ln/>
        </p:spPr>
      </p:sp>
      <p:sp>
        <p:nvSpPr>
          <p:cNvPr id="17" name="Shape 15"/>
          <p:cNvSpPr/>
          <p:nvPr/>
        </p:nvSpPr>
        <p:spPr>
          <a:xfrm>
            <a:off x="0" y="1607344"/>
            <a:ext cx="320040" cy="116300"/>
          </a:xfrm>
          <a:prstGeom prst="rect">
            <a:avLst/>
          </a:prstGeom>
          <a:solidFill>
            <a:srgbClr val="4337C9"/>
          </a:solidFill>
          <a:ln/>
        </p:spPr>
      </p:sp>
      <p:sp>
        <p:nvSpPr>
          <p:cNvPr id="18" name="Shape 16"/>
          <p:cNvSpPr/>
          <p:nvPr/>
        </p:nvSpPr>
        <p:spPr>
          <a:xfrm>
            <a:off x="0" y="1714500"/>
            <a:ext cx="320040" cy="116300"/>
          </a:xfrm>
          <a:prstGeom prst="rect">
            <a:avLst/>
          </a:prstGeom>
          <a:solidFill>
            <a:srgbClr val="4238C9"/>
          </a:solidFill>
          <a:ln/>
        </p:spPr>
      </p:sp>
      <p:sp>
        <p:nvSpPr>
          <p:cNvPr id="19" name="Shape 17"/>
          <p:cNvSpPr/>
          <p:nvPr/>
        </p:nvSpPr>
        <p:spPr>
          <a:xfrm>
            <a:off x="0" y="1821656"/>
            <a:ext cx="320040" cy="116300"/>
          </a:xfrm>
          <a:prstGeom prst="rect">
            <a:avLst/>
          </a:prstGeom>
          <a:solidFill>
            <a:srgbClr val="4139CA"/>
          </a:solidFill>
          <a:ln/>
        </p:spPr>
      </p:sp>
      <p:sp>
        <p:nvSpPr>
          <p:cNvPr id="20" name="Shape 18"/>
          <p:cNvSpPr/>
          <p:nvPr/>
        </p:nvSpPr>
        <p:spPr>
          <a:xfrm>
            <a:off x="0" y="1928813"/>
            <a:ext cx="320040" cy="116300"/>
          </a:xfrm>
          <a:prstGeom prst="rect">
            <a:avLst/>
          </a:prstGeom>
          <a:solidFill>
            <a:srgbClr val="413ACA"/>
          </a:solidFill>
          <a:ln/>
        </p:spPr>
      </p:sp>
      <p:sp>
        <p:nvSpPr>
          <p:cNvPr id="21" name="Shape 19"/>
          <p:cNvSpPr/>
          <p:nvPr/>
        </p:nvSpPr>
        <p:spPr>
          <a:xfrm>
            <a:off x="0" y="2035969"/>
            <a:ext cx="320040" cy="116300"/>
          </a:xfrm>
          <a:prstGeom prst="rect">
            <a:avLst/>
          </a:prstGeom>
          <a:solidFill>
            <a:srgbClr val="403BCA"/>
          </a:solidFill>
          <a:ln/>
        </p:spPr>
      </p:sp>
      <p:sp>
        <p:nvSpPr>
          <p:cNvPr id="22" name="Shape 20"/>
          <p:cNvSpPr/>
          <p:nvPr/>
        </p:nvSpPr>
        <p:spPr>
          <a:xfrm>
            <a:off x="0" y="2143125"/>
            <a:ext cx="320040" cy="116300"/>
          </a:xfrm>
          <a:prstGeom prst="rect">
            <a:avLst/>
          </a:prstGeom>
          <a:solidFill>
            <a:srgbClr val="3F3CCB"/>
          </a:solidFill>
          <a:ln/>
        </p:spPr>
      </p:sp>
      <p:sp>
        <p:nvSpPr>
          <p:cNvPr id="23" name="Shape 21"/>
          <p:cNvSpPr/>
          <p:nvPr/>
        </p:nvSpPr>
        <p:spPr>
          <a:xfrm>
            <a:off x="0" y="2250281"/>
            <a:ext cx="320040" cy="116300"/>
          </a:xfrm>
          <a:prstGeom prst="rect">
            <a:avLst/>
          </a:prstGeom>
          <a:solidFill>
            <a:srgbClr val="3E3DCB"/>
          </a:solidFill>
          <a:ln/>
        </p:spPr>
      </p:sp>
      <p:sp>
        <p:nvSpPr>
          <p:cNvPr id="24" name="Shape 22"/>
          <p:cNvSpPr/>
          <p:nvPr/>
        </p:nvSpPr>
        <p:spPr>
          <a:xfrm>
            <a:off x="0" y="2357438"/>
            <a:ext cx="320040" cy="116300"/>
          </a:xfrm>
          <a:prstGeom prst="rect">
            <a:avLst/>
          </a:prstGeom>
          <a:solidFill>
            <a:srgbClr val="3D3ECC"/>
          </a:solidFill>
          <a:ln/>
        </p:spPr>
      </p:sp>
      <p:sp>
        <p:nvSpPr>
          <p:cNvPr id="25" name="Shape 23"/>
          <p:cNvSpPr/>
          <p:nvPr/>
        </p:nvSpPr>
        <p:spPr>
          <a:xfrm>
            <a:off x="0" y="2464594"/>
            <a:ext cx="320040" cy="116300"/>
          </a:xfrm>
          <a:prstGeom prst="rect">
            <a:avLst/>
          </a:prstGeom>
          <a:solidFill>
            <a:srgbClr val="3C3FCC"/>
          </a:solidFill>
          <a:ln/>
        </p:spPr>
      </p:sp>
      <p:sp>
        <p:nvSpPr>
          <p:cNvPr id="26" name="Shape 24"/>
          <p:cNvSpPr/>
          <p:nvPr/>
        </p:nvSpPr>
        <p:spPr>
          <a:xfrm>
            <a:off x="0" y="2571750"/>
            <a:ext cx="320040" cy="116300"/>
          </a:xfrm>
          <a:prstGeom prst="rect">
            <a:avLst/>
          </a:prstGeom>
          <a:solidFill>
            <a:srgbClr val="3B40CD"/>
          </a:solidFill>
          <a:ln/>
        </p:spPr>
      </p:sp>
      <p:sp>
        <p:nvSpPr>
          <p:cNvPr id="27" name="Shape 25"/>
          <p:cNvSpPr/>
          <p:nvPr/>
        </p:nvSpPr>
        <p:spPr>
          <a:xfrm>
            <a:off x="0" y="2678906"/>
            <a:ext cx="320040" cy="116300"/>
          </a:xfrm>
          <a:prstGeom prst="rect">
            <a:avLst/>
          </a:prstGeom>
          <a:solidFill>
            <a:srgbClr val="3B41CD"/>
          </a:solidFill>
          <a:ln/>
        </p:spPr>
      </p:sp>
      <p:sp>
        <p:nvSpPr>
          <p:cNvPr id="28" name="Shape 26"/>
          <p:cNvSpPr/>
          <p:nvPr/>
        </p:nvSpPr>
        <p:spPr>
          <a:xfrm>
            <a:off x="0" y="2786063"/>
            <a:ext cx="320040" cy="116300"/>
          </a:xfrm>
          <a:prstGeom prst="rect">
            <a:avLst/>
          </a:prstGeom>
          <a:solidFill>
            <a:srgbClr val="3A42CE"/>
          </a:solidFill>
          <a:ln/>
        </p:spPr>
      </p:sp>
      <p:sp>
        <p:nvSpPr>
          <p:cNvPr id="29" name="Shape 27"/>
          <p:cNvSpPr/>
          <p:nvPr/>
        </p:nvSpPr>
        <p:spPr>
          <a:xfrm>
            <a:off x="0" y="2893219"/>
            <a:ext cx="320040" cy="116300"/>
          </a:xfrm>
          <a:prstGeom prst="rect">
            <a:avLst/>
          </a:prstGeom>
          <a:solidFill>
            <a:srgbClr val="3943CE"/>
          </a:solidFill>
          <a:ln/>
        </p:spPr>
      </p:sp>
      <p:sp>
        <p:nvSpPr>
          <p:cNvPr id="30" name="Shape 28"/>
          <p:cNvSpPr/>
          <p:nvPr/>
        </p:nvSpPr>
        <p:spPr>
          <a:xfrm>
            <a:off x="0" y="3000375"/>
            <a:ext cx="320040" cy="116300"/>
          </a:xfrm>
          <a:prstGeom prst="rect">
            <a:avLst/>
          </a:prstGeom>
          <a:solidFill>
            <a:srgbClr val="3844CE"/>
          </a:solidFill>
          <a:ln/>
        </p:spPr>
      </p:sp>
      <p:sp>
        <p:nvSpPr>
          <p:cNvPr id="31" name="Shape 29"/>
          <p:cNvSpPr/>
          <p:nvPr/>
        </p:nvSpPr>
        <p:spPr>
          <a:xfrm>
            <a:off x="0" y="3107531"/>
            <a:ext cx="320040" cy="116300"/>
          </a:xfrm>
          <a:prstGeom prst="rect">
            <a:avLst/>
          </a:prstGeom>
          <a:solidFill>
            <a:srgbClr val="3745CF"/>
          </a:solidFill>
          <a:ln/>
        </p:spPr>
      </p:sp>
      <p:sp>
        <p:nvSpPr>
          <p:cNvPr id="32" name="Shape 30"/>
          <p:cNvSpPr/>
          <p:nvPr/>
        </p:nvSpPr>
        <p:spPr>
          <a:xfrm>
            <a:off x="0" y="3214688"/>
            <a:ext cx="320040" cy="116300"/>
          </a:xfrm>
          <a:prstGeom prst="rect">
            <a:avLst/>
          </a:prstGeom>
          <a:solidFill>
            <a:srgbClr val="3646CF"/>
          </a:solidFill>
          <a:ln/>
        </p:spPr>
      </p:sp>
      <p:sp>
        <p:nvSpPr>
          <p:cNvPr id="33" name="Shape 31"/>
          <p:cNvSpPr/>
          <p:nvPr/>
        </p:nvSpPr>
        <p:spPr>
          <a:xfrm>
            <a:off x="0" y="3321844"/>
            <a:ext cx="320040" cy="116300"/>
          </a:xfrm>
          <a:prstGeom prst="rect">
            <a:avLst/>
          </a:prstGeom>
          <a:solidFill>
            <a:srgbClr val="3547D0"/>
          </a:solidFill>
          <a:ln/>
        </p:spPr>
      </p:sp>
      <p:sp>
        <p:nvSpPr>
          <p:cNvPr id="34" name="Shape 32"/>
          <p:cNvSpPr/>
          <p:nvPr/>
        </p:nvSpPr>
        <p:spPr>
          <a:xfrm>
            <a:off x="0" y="3429000"/>
            <a:ext cx="320040" cy="116300"/>
          </a:xfrm>
          <a:prstGeom prst="rect">
            <a:avLst/>
          </a:prstGeom>
          <a:solidFill>
            <a:srgbClr val="3549D0"/>
          </a:solidFill>
          <a:ln/>
        </p:spPr>
      </p:sp>
      <p:sp>
        <p:nvSpPr>
          <p:cNvPr id="35" name="Shape 33"/>
          <p:cNvSpPr/>
          <p:nvPr/>
        </p:nvSpPr>
        <p:spPr>
          <a:xfrm>
            <a:off x="0" y="3536156"/>
            <a:ext cx="320040" cy="116300"/>
          </a:xfrm>
          <a:prstGeom prst="rect">
            <a:avLst/>
          </a:prstGeom>
          <a:solidFill>
            <a:srgbClr val="344ACF"/>
          </a:solidFill>
          <a:ln/>
        </p:spPr>
      </p:sp>
      <p:sp>
        <p:nvSpPr>
          <p:cNvPr id="36" name="Shape 34"/>
          <p:cNvSpPr/>
          <p:nvPr/>
        </p:nvSpPr>
        <p:spPr>
          <a:xfrm>
            <a:off x="0" y="3643313"/>
            <a:ext cx="320040" cy="116300"/>
          </a:xfrm>
          <a:prstGeom prst="rect">
            <a:avLst/>
          </a:prstGeom>
          <a:solidFill>
            <a:srgbClr val="334BCF"/>
          </a:solidFill>
          <a:ln/>
        </p:spPr>
      </p:sp>
      <p:sp>
        <p:nvSpPr>
          <p:cNvPr id="37" name="Shape 35"/>
          <p:cNvSpPr/>
          <p:nvPr/>
        </p:nvSpPr>
        <p:spPr>
          <a:xfrm>
            <a:off x="0" y="3750469"/>
            <a:ext cx="320040" cy="116300"/>
          </a:xfrm>
          <a:prstGeom prst="rect">
            <a:avLst/>
          </a:prstGeom>
          <a:solidFill>
            <a:srgbClr val="324CCE"/>
          </a:solidFill>
          <a:ln/>
        </p:spPr>
      </p:sp>
      <p:sp>
        <p:nvSpPr>
          <p:cNvPr id="38" name="Shape 36"/>
          <p:cNvSpPr/>
          <p:nvPr/>
        </p:nvSpPr>
        <p:spPr>
          <a:xfrm>
            <a:off x="0" y="3857625"/>
            <a:ext cx="320040" cy="116300"/>
          </a:xfrm>
          <a:prstGeom prst="rect">
            <a:avLst/>
          </a:prstGeom>
          <a:solidFill>
            <a:srgbClr val="314ECD"/>
          </a:solidFill>
          <a:ln/>
        </p:spPr>
      </p:sp>
      <p:sp>
        <p:nvSpPr>
          <p:cNvPr id="39" name="Shape 37"/>
          <p:cNvSpPr/>
          <p:nvPr/>
        </p:nvSpPr>
        <p:spPr>
          <a:xfrm>
            <a:off x="0" y="3964781"/>
            <a:ext cx="320040" cy="116300"/>
          </a:xfrm>
          <a:prstGeom prst="rect">
            <a:avLst/>
          </a:prstGeom>
          <a:solidFill>
            <a:srgbClr val="304FCD"/>
          </a:solidFill>
          <a:ln/>
        </p:spPr>
      </p:sp>
      <p:sp>
        <p:nvSpPr>
          <p:cNvPr id="40" name="Shape 38"/>
          <p:cNvSpPr/>
          <p:nvPr/>
        </p:nvSpPr>
        <p:spPr>
          <a:xfrm>
            <a:off x="0" y="4071938"/>
            <a:ext cx="320040" cy="116300"/>
          </a:xfrm>
          <a:prstGeom prst="rect">
            <a:avLst/>
          </a:prstGeom>
          <a:solidFill>
            <a:srgbClr val="2F50CC"/>
          </a:solidFill>
          <a:ln/>
        </p:spPr>
      </p:sp>
      <p:sp>
        <p:nvSpPr>
          <p:cNvPr id="41" name="Shape 39"/>
          <p:cNvSpPr/>
          <p:nvPr/>
        </p:nvSpPr>
        <p:spPr>
          <a:xfrm>
            <a:off x="0" y="4179094"/>
            <a:ext cx="320040" cy="116300"/>
          </a:xfrm>
          <a:prstGeom prst="rect">
            <a:avLst/>
          </a:prstGeom>
          <a:solidFill>
            <a:srgbClr val="2F51CC"/>
          </a:solidFill>
          <a:ln/>
        </p:spPr>
      </p:sp>
      <p:sp>
        <p:nvSpPr>
          <p:cNvPr id="42" name="Shape 40"/>
          <p:cNvSpPr/>
          <p:nvPr/>
        </p:nvSpPr>
        <p:spPr>
          <a:xfrm>
            <a:off x="0" y="4286250"/>
            <a:ext cx="320040" cy="116300"/>
          </a:xfrm>
          <a:prstGeom prst="rect">
            <a:avLst/>
          </a:prstGeom>
          <a:solidFill>
            <a:srgbClr val="2E53CB"/>
          </a:solidFill>
          <a:ln/>
        </p:spPr>
      </p:sp>
      <p:sp>
        <p:nvSpPr>
          <p:cNvPr id="43" name="Shape 41"/>
          <p:cNvSpPr/>
          <p:nvPr/>
        </p:nvSpPr>
        <p:spPr>
          <a:xfrm>
            <a:off x="0" y="4393406"/>
            <a:ext cx="320040" cy="116300"/>
          </a:xfrm>
          <a:prstGeom prst="rect">
            <a:avLst/>
          </a:prstGeom>
          <a:solidFill>
            <a:srgbClr val="2D54CB"/>
          </a:solidFill>
          <a:ln/>
        </p:spPr>
      </p:sp>
      <p:sp>
        <p:nvSpPr>
          <p:cNvPr id="44" name="Shape 42"/>
          <p:cNvSpPr/>
          <p:nvPr/>
        </p:nvSpPr>
        <p:spPr>
          <a:xfrm>
            <a:off x="0" y="4500563"/>
            <a:ext cx="320040" cy="116300"/>
          </a:xfrm>
          <a:prstGeom prst="rect">
            <a:avLst/>
          </a:prstGeom>
          <a:solidFill>
            <a:srgbClr val="2C55CA"/>
          </a:solidFill>
          <a:ln/>
        </p:spPr>
      </p:sp>
      <p:sp>
        <p:nvSpPr>
          <p:cNvPr id="45" name="Shape 43"/>
          <p:cNvSpPr/>
          <p:nvPr/>
        </p:nvSpPr>
        <p:spPr>
          <a:xfrm>
            <a:off x="0" y="4607719"/>
            <a:ext cx="320040" cy="116300"/>
          </a:xfrm>
          <a:prstGeom prst="rect">
            <a:avLst/>
          </a:prstGeom>
          <a:solidFill>
            <a:srgbClr val="2B56C9"/>
          </a:solidFill>
          <a:ln/>
        </p:spPr>
      </p:sp>
      <p:sp>
        <p:nvSpPr>
          <p:cNvPr id="46" name="Shape 44"/>
          <p:cNvSpPr/>
          <p:nvPr/>
        </p:nvSpPr>
        <p:spPr>
          <a:xfrm>
            <a:off x="0" y="4714875"/>
            <a:ext cx="320040" cy="116300"/>
          </a:xfrm>
          <a:prstGeom prst="rect">
            <a:avLst/>
          </a:prstGeom>
          <a:solidFill>
            <a:srgbClr val="2A57C9"/>
          </a:solidFill>
          <a:ln/>
        </p:spPr>
      </p:sp>
      <p:sp>
        <p:nvSpPr>
          <p:cNvPr id="47" name="Shape 45"/>
          <p:cNvSpPr/>
          <p:nvPr/>
        </p:nvSpPr>
        <p:spPr>
          <a:xfrm>
            <a:off x="0" y="4822031"/>
            <a:ext cx="320040" cy="116300"/>
          </a:xfrm>
          <a:prstGeom prst="rect">
            <a:avLst/>
          </a:prstGeom>
          <a:solidFill>
            <a:srgbClr val="2959C8"/>
          </a:solidFill>
          <a:ln/>
        </p:spPr>
      </p:sp>
      <p:sp>
        <p:nvSpPr>
          <p:cNvPr id="48" name="Shape 46"/>
          <p:cNvSpPr/>
          <p:nvPr/>
        </p:nvSpPr>
        <p:spPr>
          <a:xfrm>
            <a:off x="0" y="4929188"/>
            <a:ext cx="320040" cy="116300"/>
          </a:xfrm>
          <a:prstGeom prst="rect">
            <a:avLst/>
          </a:prstGeom>
          <a:solidFill>
            <a:srgbClr val="295AC8"/>
          </a:solidFill>
          <a:ln/>
        </p:spPr>
      </p:sp>
      <p:sp>
        <p:nvSpPr>
          <p:cNvPr id="49" name="Shape 47"/>
          <p:cNvSpPr/>
          <p:nvPr/>
        </p:nvSpPr>
        <p:spPr>
          <a:xfrm>
            <a:off x="0" y="5036344"/>
            <a:ext cx="320040" cy="116300"/>
          </a:xfrm>
          <a:prstGeom prst="rect">
            <a:avLst/>
          </a:prstGeom>
          <a:solidFill>
            <a:srgbClr val="285BC7"/>
          </a:solidFill>
          <a:ln/>
        </p:spPr>
      </p:sp>
      <p:sp>
        <p:nvSpPr>
          <p:cNvPr id="50" name="Shape 48"/>
          <p:cNvSpPr/>
          <p:nvPr/>
        </p:nvSpPr>
        <p:spPr>
          <a:xfrm>
            <a:off x="0" y="5143500"/>
            <a:ext cx="320040" cy="116300"/>
          </a:xfrm>
          <a:prstGeom prst="rect">
            <a:avLst/>
          </a:prstGeom>
          <a:solidFill>
            <a:srgbClr val="275CC7"/>
          </a:solidFill>
          <a:ln/>
        </p:spPr>
      </p:sp>
      <p:sp>
        <p:nvSpPr>
          <p:cNvPr id="51" name="Shape 49"/>
          <p:cNvSpPr/>
          <p:nvPr/>
        </p:nvSpPr>
        <p:spPr>
          <a:xfrm>
            <a:off x="0" y="5250656"/>
            <a:ext cx="320040" cy="116300"/>
          </a:xfrm>
          <a:prstGeom prst="rect">
            <a:avLst/>
          </a:prstGeom>
          <a:solidFill>
            <a:srgbClr val="265EC6"/>
          </a:solidFill>
          <a:ln/>
        </p:spPr>
      </p:sp>
      <p:sp>
        <p:nvSpPr>
          <p:cNvPr id="52" name="Shape 50"/>
          <p:cNvSpPr/>
          <p:nvPr/>
        </p:nvSpPr>
        <p:spPr>
          <a:xfrm>
            <a:off x="0" y="5357813"/>
            <a:ext cx="320040" cy="116300"/>
          </a:xfrm>
          <a:prstGeom prst="rect">
            <a:avLst/>
          </a:prstGeom>
          <a:solidFill>
            <a:srgbClr val="255FC5"/>
          </a:solidFill>
          <a:ln/>
        </p:spPr>
      </p:sp>
      <p:sp>
        <p:nvSpPr>
          <p:cNvPr id="53" name="Shape 51"/>
          <p:cNvSpPr/>
          <p:nvPr/>
        </p:nvSpPr>
        <p:spPr>
          <a:xfrm>
            <a:off x="0" y="5464969"/>
            <a:ext cx="320040" cy="116300"/>
          </a:xfrm>
          <a:prstGeom prst="rect">
            <a:avLst/>
          </a:prstGeom>
          <a:solidFill>
            <a:srgbClr val="2460C5"/>
          </a:solidFill>
          <a:ln/>
        </p:spPr>
      </p:sp>
      <p:sp>
        <p:nvSpPr>
          <p:cNvPr id="54" name="Shape 52"/>
          <p:cNvSpPr/>
          <p:nvPr/>
        </p:nvSpPr>
        <p:spPr>
          <a:xfrm>
            <a:off x="0" y="5572125"/>
            <a:ext cx="320040" cy="116300"/>
          </a:xfrm>
          <a:prstGeom prst="rect">
            <a:avLst/>
          </a:prstGeom>
          <a:solidFill>
            <a:srgbClr val="2361C4"/>
          </a:solidFill>
          <a:ln/>
        </p:spPr>
      </p:sp>
      <p:sp>
        <p:nvSpPr>
          <p:cNvPr id="55" name="Shape 53"/>
          <p:cNvSpPr/>
          <p:nvPr/>
        </p:nvSpPr>
        <p:spPr>
          <a:xfrm>
            <a:off x="0" y="5679281"/>
            <a:ext cx="320040" cy="116300"/>
          </a:xfrm>
          <a:prstGeom prst="rect">
            <a:avLst/>
          </a:prstGeom>
          <a:solidFill>
            <a:srgbClr val="2363C4"/>
          </a:solidFill>
          <a:ln/>
        </p:spPr>
      </p:sp>
      <p:sp>
        <p:nvSpPr>
          <p:cNvPr id="56" name="Shape 54"/>
          <p:cNvSpPr/>
          <p:nvPr/>
        </p:nvSpPr>
        <p:spPr>
          <a:xfrm>
            <a:off x="0" y="5786438"/>
            <a:ext cx="320040" cy="116300"/>
          </a:xfrm>
          <a:prstGeom prst="rect">
            <a:avLst/>
          </a:prstGeom>
          <a:solidFill>
            <a:srgbClr val="2264C3"/>
          </a:solidFill>
          <a:ln/>
        </p:spPr>
      </p:sp>
      <p:sp>
        <p:nvSpPr>
          <p:cNvPr id="57" name="Shape 55"/>
          <p:cNvSpPr/>
          <p:nvPr/>
        </p:nvSpPr>
        <p:spPr>
          <a:xfrm>
            <a:off x="0" y="5893594"/>
            <a:ext cx="320040" cy="116300"/>
          </a:xfrm>
          <a:prstGeom prst="rect">
            <a:avLst/>
          </a:prstGeom>
          <a:solidFill>
            <a:srgbClr val="2165C3"/>
          </a:solidFill>
          <a:ln/>
        </p:spPr>
      </p:sp>
      <p:sp>
        <p:nvSpPr>
          <p:cNvPr id="58" name="Shape 56"/>
          <p:cNvSpPr/>
          <p:nvPr/>
        </p:nvSpPr>
        <p:spPr>
          <a:xfrm>
            <a:off x="0" y="6000750"/>
            <a:ext cx="320040" cy="116300"/>
          </a:xfrm>
          <a:prstGeom prst="rect">
            <a:avLst/>
          </a:prstGeom>
          <a:solidFill>
            <a:srgbClr val="2066C2"/>
          </a:solidFill>
          <a:ln/>
        </p:spPr>
      </p:sp>
      <p:sp>
        <p:nvSpPr>
          <p:cNvPr id="59" name="Shape 57"/>
          <p:cNvSpPr/>
          <p:nvPr/>
        </p:nvSpPr>
        <p:spPr>
          <a:xfrm>
            <a:off x="0" y="6107906"/>
            <a:ext cx="320040" cy="116300"/>
          </a:xfrm>
          <a:prstGeom prst="rect">
            <a:avLst/>
          </a:prstGeom>
          <a:solidFill>
            <a:srgbClr val="1F68C1"/>
          </a:solidFill>
          <a:ln/>
        </p:spPr>
      </p:sp>
      <p:sp>
        <p:nvSpPr>
          <p:cNvPr id="60" name="Shape 58"/>
          <p:cNvSpPr/>
          <p:nvPr/>
        </p:nvSpPr>
        <p:spPr>
          <a:xfrm>
            <a:off x="0" y="6215063"/>
            <a:ext cx="320040" cy="116300"/>
          </a:xfrm>
          <a:prstGeom prst="rect">
            <a:avLst/>
          </a:prstGeom>
          <a:solidFill>
            <a:srgbClr val="1E69C1"/>
          </a:solidFill>
          <a:ln/>
        </p:spPr>
      </p:sp>
      <p:sp>
        <p:nvSpPr>
          <p:cNvPr id="61" name="Shape 59"/>
          <p:cNvSpPr/>
          <p:nvPr/>
        </p:nvSpPr>
        <p:spPr>
          <a:xfrm>
            <a:off x="0" y="6322219"/>
            <a:ext cx="320040" cy="116300"/>
          </a:xfrm>
          <a:prstGeom prst="rect">
            <a:avLst/>
          </a:prstGeom>
          <a:solidFill>
            <a:srgbClr val="1D6AC0"/>
          </a:solidFill>
          <a:ln/>
        </p:spPr>
      </p:sp>
      <p:sp>
        <p:nvSpPr>
          <p:cNvPr id="62" name="Shape 60"/>
          <p:cNvSpPr/>
          <p:nvPr/>
        </p:nvSpPr>
        <p:spPr>
          <a:xfrm>
            <a:off x="0" y="6429375"/>
            <a:ext cx="320040" cy="116300"/>
          </a:xfrm>
          <a:prstGeom prst="rect">
            <a:avLst/>
          </a:prstGeom>
          <a:solidFill>
            <a:srgbClr val="1D6BC0"/>
          </a:solidFill>
          <a:ln/>
        </p:spPr>
      </p:sp>
      <p:sp>
        <p:nvSpPr>
          <p:cNvPr id="63" name="Shape 61"/>
          <p:cNvSpPr/>
          <p:nvPr/>
        </p:nvSpPr>
        <p:spPr>
          <a:xfrm>
            <a:off x="0" y="6536531"/>
            <a:ext cx="320040" cy="116300"/>
          </a:xfrm>
          <a:prstGeom prst="rect">
            <a:avLst/>
          </a:prstGeom>
          <a:solidFill>
            <a:srgbClr val="1C6DBF"/>
          </a:solidFill>
          <a:ln/>
        </p:spPr>
      </p:sp>
      <p:sp>
        <p:nvSpPr>
          <p:cNvPr id="64" name="Shape 62"/>
          <p:cNvSpPr/>
          <p:nvPr/>
        </p:nvSpPr>
        <p:spPr>
          <a:xfrm>
            <a:off x="0" y="6643688"/>
            <a:ext cx="320040" cy="116300"/>
          </a:xfrm>
          <a:prstGeom prst="rect">
            <a:avLst/>
          </a:prstGeom>
          <a:solidFill>
            <a:srgbClr val="1B6EBF"/>
          </a:solidFill>
          <a:ln/>
        </p:spPr>
      </p:sp>
      <p:sp>
        <p:nvSpPr>
          <p:cNvPr id="65" name="Shape 63"/>
          <p:cNvSpPr/>
          <p:nvPr/>
        </p:nvSpPr>
        <p:spPr>
          <a:xfrm>
            <a:off x="0" y="6750844"/>
            <a:ext cx="320040" cy="116300"/>
          </a:xfrm>
          <a:prstGeom prst="rect">
            <a:avLst/>
          </a:prstGeom>
          <a:solidFill>
            <a:srgbClr val="1A6FBE"/>
          </a:solidFill>
          <a:ln/>
        </p:spPr>
      </p:sp>
      <p:sp>
        <p:nvSpPr>
          <p:cNvPr id="66" name="Text 64"/>
          <p:cNvSpPr/>
          <p:nvPr/>
        </p:nvSpPr>
        <p:spPr>
          <a:xfrm>
            <a:off x="73152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COVER · PITCH DECK</a:t>
            </a:r>
            <a:endParaRPr lang="en-US" sz="1100" dirty="0"/>
          </a:p>
        </p:txBody>
      </p:sp>
      <p:sp>
        <p:nvSpPr>
          <p:cNvPr id="67" name="Text 65"/>
          <p:cNvSpPr/>
          <p:nvPr/>
        </p:nvSpPr>
        <p:spPr>
          <a:xfrm>
            <a:off x="548640" y="1554480"/>
            <a:ext cx="11094415" cy="3200400"/>
          </a:xfrm>
          <a:prstGeom prst="rect">
            <a:avLst/>
          </a:prstGeom>
          <a:noFill/>
          <a:ln/>
        </p:spPr>
        <p:txBody>
          <a:bodyPr wrap="square" lIns="0" tIns="0" rIns="0" bIns="0" rtlCol="0" anchor="ctr"/>
          <a:lstStyle/>
          <a:p>
            <a:pPr algn="l" indent="0" marL="0">
              <a:buNone/>
            </a:pPr>
            <a:r>
              <a:rPr lang="en-US" sz="22000" b="1" spc="-600" kern="0" dirty="0">
                <a:solidFill>
                  <a:srgbClr val="5028C2"/>
                </a:solidFill>
                <a:latin typeface="Calibri" pitchFamily="34" charset="0"/>
                <a:ea typeface="Calibri" pitchFamily="34" charset="-122"/>
                <a:cs typeface="Calibri" pitchFamily="34" charset="-120"/>
              </a:rPr>
              <a:t>5x</a:t>
            </a:r>
            <a:endParaRPr lang="en-US" sz="22000" dirty="0"/>
          </a:p>
        </p:txBody>
      </p:sp>
      <p:sp>
        <p:nvSpPr>
          <p:cNvPr id="68" name="Text 66"/>
          <p:cNvSpPr/>
          <p:nvPr/>
        </p:nvSpPr>
        <p:spPr>
          <a:xfrm>
            <a:off x="548640" y="4983480"/>
            <a:ext cx="11094415" cy="457200"/>
          </a:xfrm>
          <a:prstGeom prst="rect">
            <a:avLst/>
          </a:prstGeom>
          <a:noFill/>
          <a:ln/>
        </p:spPr>
        <p:txBody>
          <a:bodyPr wrap="square" lIns="0" tIns="0" rIns="0" bIns="0" rtlCol="0" anchor="t"/>
          <a:lstStyle/>
          <a:p>
            <a:pPr algn="l" indent="0" marL="0">
              <a:buNone/>
            </a:pPr>
            <a:r>
              <a:rPr lang="en-US" sz="2200" b="1" dirty="0">
                <a:solidFill>
                  <a:srgbClr val="0F1733"/>
                </a:solidFill>
                <a:latin typeface="Calibri" pitchFamily="34" charset="0"/>
                <a:ea typeface="Calibri" pitchFamily="34" charset="-122"/>
                <a:cs typeface="Calibri" pitchFamily="34" charset="-120"/>
              </a:rPr>
              <a:t>Faster creator discovery vs. spreadsheet-and-tabs workflows.</a:t>
            </a:r>
            <a:endParaRPr lang="en-US" sz="2200" dirty="0"/>
          </a:p>
        </p:txBody>
      </p:sp>
      <p:sp>
        <p:nvSpPr>
          <p:cNvPr id="69" name="Text 67"/>
          <p:cNvSpPr/>
          <p:nvPr/>
        </p:nvSpPr>
        <p:spPr>
          <a:xfrm>
            <a:off x="548640" y="5486400"/>
            <a:ext cx="10637215" cy="640080"/>
          </a:xfrm>
          <a:prstGeom prst="rect">
            <a:avLst/>
          </a:prstGeom>
          <a:noFill/>
          <a:ln/>
        </p:spPr>
        <p:txBody>
          <a:bodyPr wrap="square" lIns="0" tIns="0" rIns="0" bIns="0" rtlCol="0" anchor="t"/>
          <a:lstStyle/>
          <a:p>
            <a:pPr algn="l" indent="0" marL="0">
              <a:buNone/>
            </a:pPr>
            <a:r>
              <a:rPr lang="en-US" sz="1300" dirty="0">
                <a:solidFill>
                  <a:srgbClr val="2A3358"/>
                </a:solidFill>
                <a:latin typeface="Calibri" pitchFamily="34" charset="0"/>
                <a:ea typeface="Calibri" pitchFamily="34" charset="-122"/>
                <a:cs typeface="Calibri" pitchFamily="34" charset="-120"/>
              </a:rPr>
              <a:t>Built by an operator who burned out doing this manually. Now the product runs the work.</a:t>
            </a:r>
            <a:endParaRPr lang="en-US" sz="1300" dirty="0"/>
          </a:p>
        </p:txBody>
      </p:sp>
      <p:sp>
        <p:nvSpPr>
          <p:cNvPr id="70" name="Text 68"/>
          <p:cNvSpPr/>
          <p:nvPr/>
        </p:nvSpPr>
        <p:spPr>
          <a:xfrm>
            <a:off x="548640" y="6172200"/>
            <a:ext cx="7315200" cy="228600"/>
          </a:xfrm>
          <a:prstGeom prst="rect">
            <a:avLst/>
          </a:prstGeom>
          <a:noFill/>
          <a:ln/>
        </p:spPr>
        <p:txBody>
          <a:bodyPr wrap="square" lIns="0" tIns="0" rIns="0" bIns="0" rtlCol="0" anchor="t"/>
          <a:lstStyle/>
          <a:p>
            <a:pPr algn="l" indent="0" marL="0">
              <a:buNone/>
            </a:pPr>
            <a:r>
              <a:rPr lang="en-US" sz="1000" i="1" dirty="0">
                <a:solidFill>
                  <a:srgbClr val="6B7493"/>
                </a:solidFill>
                <a:latin typeface="Calibri" pitchFamily="34" charset="0"/>
                <a:ea typeface="Calibri" pitchFamily="34" charset="-122"/>
                <a:cs typeface="Calibri" pitchFamily="34" charset="-120"/>
              </a:rPr>
              <a:t>Internal benchmarking, May 2026</a:t>
            </a:r>
            <a:endParaRPr lang="en-US" sz="1000" dirty="0"/>
          </a:p>
        </p:txBody>
      </p:sp>
      <p:sp>
        <p:nvSpPr>
          <p:cNvPr id="71" name="Shape 69"/>
          <p:cNvSpPr/>
          <p:nvPr/>
        </p:nvSpPr>
        <p:spPr>
          <a:xfrm>
            <a:off x="548640" y="502920"/>
            <a:ext cx="292608" cy="292608"/>
          </a:xfrm>
          <a:prstGeom prst="roundRect">
            <a:avLst>
              <a:gd name="adj" fmla="val 25000"/>
            </a:avLst>
          </a:prstGeom>
          <a:solidFill>
            <a:srgbClr val="5028C2"/>
          </a:solidFill>
          <a:ln/>
        </p:spPr>
      </p:sp>
      <p:sp>
        <p:nvSpPr>
          <p:cNvPr id="72" name="Shape 70"/>
          <p:cNvSpPr/>
          <p:nvPr/>
        </p:nvSpPr>
        <p:spPr>
          <a:xfrm>
            <a:off x="548640" y="502920"/>
            <a:ext cx="292608" cy="292608"/>
          </a:xfrm>
          <a:prstGeom prst="roundRect">
            <a:avLst>
              <a:gd name="adj" fmla="val 25000"/>
            </a:avLst>
          </a:prstGeom>
          <a:solidFill>
            <a:srgbClr val="1A6FBE">
              <a:alpha val="50000"/>
            </a:srgbClr>
          </a:solidFill>
          <a:ln/>
        </p:spPr>
      </p:sp>
      <p:sp>
        <p:nvSpPr>
          <p:cNvPr id="73" name="Text 71"/>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4" name="Text 72"/>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5" name="Text 73"/>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01 · Cover  ·  vD</a:t>
            </a:r>
            <a:endParaRPr lang="en-US" sz="900" dirty="0"/>
          </a:p>
        </p:txBody>
      </p:sp>
      <p:sp>
        <p:nvSpPr>
          <p:cNvPr id="76" name="Text 74"/>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7" name="Text 75"/>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004 / 126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ECFF"/>
        </a:solidFill>
      </p:bgPr>
    </p:bg>
    <p:spTree>
      <p:nvGrpSpPr>
        <p:cNvPr id="1" name=""/>
        <p:cNvGrpSpPr/>
        <p:nvPr/>
      </p:nvGrpSpPr>
      <p:grpSpPr>
        <a:xfrm>
          <a:off x="0" y="0"/>
          <a:ext cx="0" cy="0"/>
          <a:chOff x="0" y="0"/>
          <a:chExt cx="0" cy="0"/>
        </a:xfrm>
      </p:grpSpPr>
      <p:sp>
        <p:nvSpPr>
          <p:cNvPr id="2" name="Text 0"/>
          <p:cNvSpPr/>
          <p:nvPr/>
        </p:nvSpPr>
        <p:spPr>
          <a:xfrm>
            <a:off x="457200" y="365760"/>
            <a:ext cx="2286000" cy="2286000"/>
          </a:xfrm>
          <a:prstGeom prst="rect">
            <a:avLst/>
          </a:prstGeom>
          <a:noFill/>
          <a:ln/>
        </p:spPr>
        <p:txBody>
          <a:bodyPr wrap="square" lIns="0" tIns="0" rIns="0" bIns="0" rtlCol="0" anchor="t"/>
          <a:lstStyle/>
          <a:p>
            <a:pPr algn="l" indent="0" marL="0">
              <a:buNone/>
            </a:pPr>
            <a:r>
              <a:rPr lang="en-US" sz="24000" b="1" dirty="0">
                <a:solidFill>
                  <a:srgbClr val="5028C2"/>
                </a:solidFill>
                <a:latin typeface="Georgia" pitchFamily="34" charset="0"/>
                <a:ea typeface="Georgia" pitchFamily="34" charset="-122"/>
                <a:cs typeface="Georgia" pitchFamily="34" charset="-120"/>
              </a:rPr>
              <a:t>"</a:t>
            </a:r>
            <a:endParaRPr lang="en-US" sz="24000" dirty="0"/>
          </a:p>
        </p:txBody>
      </p:sp>
      <p:sp>
        <p:nvSpPr>
          <p:cNvPr id="3" name="Text 1"/>
          <p:cNvSpPr/>
          <p:nvPr/>
        </p:nvSpPr>
        <p:spPr>
          <a:xfrm>
            <a:off x="1920240" y="1737360"/>
            <a:ext cx="9722815" cy="3108960"/>
          </a:xfrm>
          <a:prstGeom prst="rect">
            <a:avLst/>
          </a:prstGeom>
          <a:noFill/>
          <a:ln/>
        </p:spPr>
        <p:txBody>
          <a:bodyPr wrap="square" lIns="0" tIns="0" rIns="0" bIns="0" rtlCol="0" anchor="t"/>
          <a:lstStyle/>
          <a:p>
            <a:pPr algn="l" indent="0" marL="0">
              <a:buNone/>
            </a:pPr>
            <a:r>
              <a:rPr lang="en-US" sz="3600" i="1" dirty="0">
                <a:solidFill>
                  <a:srgbClr val="0F1733"/>
                </a:solidFill>
                <a:latin typeface="Georgia" pitchFamily="34" charset="0"/>
                <a:ea typeface="Georgia" pitchFamily="34" charset="-122"/>
                <a:cs typeface="Georgia" pitchFamily="34" charset="-120"/>
              </a:rPr>
              <a:t>The tool I needed when I was running creator partnerships, and the one I would have paid anything for.</a:t>
            </a:r>
            <a:endParaRPr lang="en-US" sz="3600" dirty="0"/>
          </a:p>
        </p:txBody>
      </p:sp>
      <p:sp>
        <p:nvSpPr>
          <p:cNvPr id="4" name="Shape 2"/>
          <p:cNvSpPr/>
          <p:nvPr/>
        </p:nvSpPr>
        <p:spPr>
          <a:xfrm>
            <a:off x="1920240" y="5120640"/>
            <a:ext cx="640080" cy="0"/>
          </a:xfrm>
          <a:prstGeom prst="line">
            <a:avLst/>
          </a:prstGeom>
          <a:noFill/>
          <a:ln w="25400">
            <a:solidFill>
              <a:srgbClr val="5028C2"/>
            </a:solidFill>
            <a:prstDash val="solid"/>
          </a:ln>
        </p:spPr>
      </p:sp>
      <p:sp>
        <p:nvSpPr>
          <p:cNvPr id="5" name="Text 3"/>
          <p:cNvSpPr/>
          <p:nvPr/>
        </p:nvSpPr>
        <p:spPr>
          <a:xfrm>
            <a:off x="1920240" y="5212080"/>
            <a:ext cx="9722815" cy="457200"/>
          </a:xfrm>
          <a:prstGeom prst="rect">
            <a:avLst/>
          </a:prstGeom>
          <a:noFill/>
          <a:ln/>
        </p:spPr>
        <p:txBody>
          <a:bodyPr wrap="square" lIns="0" tIns="0" rIns="0" bIns="0" rtlCol="0" anchor="t"/>
          <a:lstStyle/>
          <a:p>
            <a:pPr algn="l" indent="0" marL="0">
              <a:buNone/>
            </a:pPr>
            <a:r>
              <a:rPr lang="en-US" sz="1400" b="1" spc="100" kern="0" dirty="0">
                <a:solidFill>
                  <a:srgbClr val="3D1E96"/>
                </a:solidFill>
                <a:latin typeface="Calibri" pitchFamily="34" charset="0"/>
                <a:ea typeface="Calibri" pitchFamily="34" charset="-122"/>
                <a:cs typeface="Calibri" pitchFamily="34" charset="-120"/>
              </a:rPr>
              <a:t>Dylan Meehan</a:t>
            </a:r>
            <a:endParaRPr lang="en-US" sz="1400" dirty="0"/>
          </a:p>
        </p:txBody>
      </p:sp>
      <p:sp>
        <p:nvSpPr>
          <p:cNvPr id="6" name="Text 4"/>
          <p:cNvSpPr/>
          <p:nvPr/>
        </p:nvSpPr>
        <p:spPr>
          <a:xfrm>
            <a:off x="1920240" y="5532120"/>
            <a:ext cx="9722815" cy="365760"/>
          </a:xfrm>
          <a:prstGeom prst="rect">
            <a:avLst/>
          </a:prstGeom>
          <a:noFill/>
          <a:ln/>
        </p:spPr>
        <p:txBody>
          <a:bodyPr wrap="square" lIns="0" tIns="0" rIns="0" bIns="0" rtlCol="0" anchor="t"/>
          <a:lstStyle/>
          <a:p>
            <a:pPr algn="l" indent="0" marL="0">
              <a:buNone/>
            </a:pPr>
            <a:r>
              <a:rPr lang="en-US" sz="1200" dirty="0">
                <a:solidFill>
                  <a:srgbClr val="6B7493"/>
                </a:solidFill>
                <a:latin typeface="Calibri" pitchFamily="34" charset="0"/>
                <a:ea typeface="Calibri" pitchFamily="34" charset="-122"/>
                <a:cs typeface="Calibri" pitchFamily="34" charset="-120"/>
              </a:rPr>
              <a:t>Founder, Creator Outreach</a:t>
            </a:r>
            <a:endParaRPr lang="en-US" sz="1200" dirty="0"/>
          </a:p>
        </p:txBody>
      </p:sp>
      <p:sp>
        <p:nvSpPr>
          <p:cNvPr id="7" name="Shape 5"/>
          <p:cNvSpPr/>
          <p:nvPr/>
        </p:nvSpPr>
        <p:spPr>
          <a:xfrm>
            <a:off x="548640" y="502920"/>
            <a:ext cx="292608" cy="292608"/>
          </a:xfrm>
          <a:prstGeom prst="roundRect">
            <a:avLst>
              <a:gd name="adj" fmla="val 25000"/>
            </a:avLst>
          </a:prstGeom>
          <a:solidFill>
            <a:srgbClr val="5028C2"/>
          </a:solidFill>
          <a:ln/>
        </p:spPr>
      </p:sp>
      <p:sp>
        <p:nvSpPr>
          <p:cNvPr id="8" name="Shape 6"/>
          <p:cNvSpPr/>
          <p:nvPr/>
        </p:nvSpPr>
        <p:spPr>
          <a:xfrm>
            <a:off x="548640" y="502920"/>
            <a:ext cx="292608" cy="292608"/>
          </a:xfrm>
          <a:prstGeom prst="roundRect">
            <a:avLst>
              <a:gd name="adj" fmla="val 25000"/>
            </a:avLst>
          </a:prstGeom>
          <a:solidFill>
            <a:srgbClr val="1A6FBE">
              <a:alpha val="50000"/>
            </a:srgbClr>
          </a:solidFill>
          <a:ln/>
        </p:spPr>
      </p:sp>
      <p:sp>
        <p:nvSpPr>
          <p:cNvPr id="9" name="Text 7"/>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0" name="Text 8"/>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1" name="Text 9"/>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01 · Cover  ·  vE</a:t>
            </a:r>
            <a:endParaRPr lang="en-US" sz="900" dirty="0"/>
          </a:p>
        </p:txBody>
      </p:sp>
      <p:sp>
        <p:nvSpPr>
          <p:cNvPr id="12" name="Text 10"/>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3" name="Text 11"/>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005 / 126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a:off x="3047924" y="0"/>
            <a:ext cx="9143771" cy="6858000"/>
          </a:xfrm>
          <a:prstGeom prst="rtTriangle">
            <a:avLst/>
          </a:prstGeom>
          <a:solidFill>
            <a:srgbClr val="5028C2"/>
          </a:solidFill>
          <a:ln/>
        </p:spPr>
      </p:sp>
      <p:sp>
        <p:nvSpPr>
          <p:cNvPr id="3" name="Shape 1"/>
          <p:cNvSpPr/>
          <p:nvPr/>
        </p:nvSpPr>
        <p:spPr>
          <a:xfrm flipH="1">
            <a:off x="4876678" y="1028700"/>
            <a:ext cx="7924602" cy="6515100"/>
          </a:xfrm>
          <a:prstGeom prst="rtTriangle">
            <a:avLst/>
          </a:prstGeom>
          <a:solidFill>
            <a:srgbClr val="1A6FBE">
              <a:alpha val="75000"/>
            </a:srgbClr>
          </a:solidFill>
          <a:ln/>
        </p:spPr>
      </p:sp>
      <p:sp>
        <p:nvSpPr>
          <p:cNvPr id="4" name="Text 2"/>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THE PITCH</a:t>
            </a:r>
            <a:endParaRPr lang="en-US" sz="1100" dirty="0"/>
          </a:p>
        </p:txBody>
      </p:sp>
      <p:sp>
        <p:nvSpPr>
          <p:cNvPr id="5" name="Text 3"/>
          <p:cNvSpPr/>
          <p:nvPr/>
        </p:nvSpPr>
        <p:spPr>
          <a:xfrm>
            <a:off x="548640" y="1417320"/>
            <a:ext cx="6095848" cy="2286000"/>
          </a:xfrm>
          <a:prstGeom prst="rect">
            <a:avLst/>
          </a:prstGeom>
          <a:noFill/>
          <a:ln/>
        </p:spPr>
        <p:txBody>
          <a:bodyPr wrap="square" lIns="0" tIns="0" rIns="0" bIns="0" rtlCol="0" anchor="t"/>
          <a:lstStyle/>
          <a:p>
            <a:pPr algn="l" indent="0" marL="0">
              <a:buNone/>
            </a:pPr>
            <a:r>
              <a:rPr lang="en-US" sz="4000" b="1" spc="-50" kern="0" dirty="0">
                <a:solidFill>
                  <a:srgbClr val="0F1733"/>
                </a:solidFill>
                <a:latin typeface="Calibri" pitchFamily="34" charset="0"/>
                <a:ea typeface="Calibri" pitchFamily="34" charset="-122"/>
                <a:cs typeface="Calibri" pitchFamily="34" charset="-120"/>
              </a:rPr>
              <a:t>B2B creator outreach, in one place.</a:t>
            </a:r>
            <a:endParaRPr lang="en-US" sz="4000" dirty="0"/>
          </a:p>
        </p:txBody>
      </p:sp>
      <p:sp>
        <p:nvSpPr>
          <p:cNvPr id="6" name="Text 4"/>
          <p:cNvSpPr/>
          <p:nvPr/>
        </p:nvSpPr>
        <p:spPr>
          <a:xfrm>
            <a:off x="548640" y="3840480"/>
            <a:ext cx="5821528" cy="2103120"/>
          </a:xfrm>
          <a:prstGeom prst="rect">
            <a:avLst/>
          </a:prstGeom>
          <a:noFill/>
          <a:ln/>
        </p:spPr>
        <p:txBody>
          <a:bodyPr wrap="square" lIns="0" tIns="0" rIns="0" bIns="0" rtlCol="0" anchor="t"/>
          <a:lstStyle/>
          <a:p>
            <a:pPr algn="l" indent="0" marL="0">
              <a:spcAft>
                <a:spcPts val="600"/>
              </a:spcAft>
              <a:buNone/>
            </a:pPr>
            <a:r>
              <a:rPr lang="en-US" sz="1400" dirty="0">
                <a:solidFill>
                  <a:srgbClr val="2A3358"/>
                </a:solidFill>
                <a:latin typeface="Calibri" pitchFamily="34" charset="0"/>
                <a:ea typeface="Calibri" pitchFamily="34" charset="-122"/>
                <a:cs typeface="Calibri" pitchFamily="34" charset="-120"/>
              </a:rPr>
              <a:t>Built for founders, partnerships teams, and growth operators who already do creator outreach manually — and know how broken that workflow is.</a:t>
            </a:r>
            <a:endParaRPr lang="en-US" sz="1400" dirty="0"/>
          </a:p>
        </p:txBody>
      </p:sp>
      <p:sp>
        <p:nvSpPr>
          <p:cNvPr id="7" name="Text 5"/>
          <p:cNvSpPr/>
          <p:nvPr/>
        </p:nvSpPr>
        <p:spPr>
          <a:xfrm>
            <a:off x="6705432" y="2926080"/>
            <a:ext cx="4876678" cy="3291840"/>
          </a:xfrm>
          <a:prstGeom prst="rect">
            <a:avLst/>
          </a:prstGeom>
          <a:noFill/>
          <a:ln/>
        </p:spPr>
        <p:txBody>
          <a:bodyPr wrap="square" lIns="0" tIns="0" rIns="0" bIns="0" rtlCol="0" anchor="ctr"/>
          <a:lstStyle/>
          <a:p>
            <a:pPr algn="r" indent="0" marL="0">
              <a:buNone/>
            </a:pPr>
            <a:r>
              <a:rPr lang="en-US" sz="3200" b="1" spc="-50" kern="0" dirty="0">
                <a:solidFill>
                  <a:srgbClr val="FFFFFF"/>
                </a:solidFill>
                <a:latin typeface="Calibri" pitchFamily="34" charset="0"/>
                <a:ea typeface="Calibri" pitchFamily="34" charset="-122"/>
                <a:cs typeface="Calibri" pitchFamily="34" charset="-120"/>
              </a:rPr>
              <a:t>Pitch</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Deck</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2026</a:t>
            </a:r>
            <a:endParaRPr lang="en-US" sz="3200" dirty="0"/>
          </a:p>
        </p:txBody>
      </p:sp>
      <p:sp>
        <p:nvSpPr>
          <p:cNvPr id="8" name="Shape 6"/>
          <p:cNvSpPr/>
          <p:nvPr/>
        </p:nvSpPr>
        <p:spPr>
          <a:xfrm>
            <a:off x="548640" y="502920"/>
            <a:ext cx="292608" cy="292608"/>
          </a:xfrm>
          <a:prstGeom prst="roundRect">
            <a:avLst>
              <a:gd name="adj" fmla="val 25000"/>
            </a:avLst>
          </a:prstGeom>
          <a:solidFill>
            <a:srgbClr val="5028C2"/>
          </a:solidFill>
          <a:ln/>
        </p:spPr>
      </p:sp>
      <p:sp>
        <p:nvSpPr>
          <p:cNvPr id="9" name="Shape 7"/>
          <p:cNvSpPr/>
          <p:nvPr/>
        </p:nvSpPr>
        <p:spPr>
          <a:xfrm>
            <a:off x="548640" y="502920"/>
            <a:ext cx="292608" cy="292608"/>
          </a:xfrm>
          <a:prstGeom prst="roundRect">
            <a:avLst>
              <a:gd name="adj" fmla="val 25000"/>
            </a:avLst>
          </a:prstGeom>
          <a:solidFill>
            <a:srgbClr val="1A6FBE">
              <a:alpha val="50000"/>
            </a:srgbClr>
          </a:solidFill>
          <a:ln/>
        </p:spPr>
      </p:sp>
      <p:sp>
        <p:nvSpPr>
          <p:cNvPr id="10" name="Text 8"/>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1" name="Text 9"/>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2" name="Text 10"/>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01 · Cover  ·  vF</a:t>
            </a:r>
            <a:endParaRPr lang="en-US" sz="900" dirty="0"/>
          </a:p>
        </p:txBody>
      </p:sp>
      <p:sp>
        <p:nvSpPr>
          <p:cNvPr id="13" name="Text 11"/>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4" name="Text 12"/>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006 / 126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AF6"/>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IN ONE WORKSPACE</a:t>
            </a:r>
            <a:endParaRPr lang="en-US" sz="1100" dirty="0"/>
          </a:p>
        </p:txBody>
      </p:sp>
      <p:sp>
        <p:nvSpPr>
          <p:cNvPr id="3" name="Text 1"/>
          <p:cNvSpPr/>
          <p:nvPr/>
        </p:nvSpPr>
        <p:spPr>
          <a:xfrm>
            <a:off x="548640" y="1417320"/>
            <a:ext cx="11094415" cy="914400"/>
          </a:xfrm>
          <a:prstGeom prst="rect">
            <a:avLst/>
          </a:prstGeom>
          <a:noFill/>
          <a:ln/>
        </p:spPr>
        <p:txBody>
          <a:bodyPr wrap="square" lIns="0" tIns="0" rIns="0" bIns="0" rtlCol="0" anchor="t"/>
          <a:lstStyle/>
          <a:p>
            <a:pPr algn="l" indent="0" marL="0">
              <a:buNone/>
            </a:pPr>
            <a:r>
              <a:rPr lang="en-US" sz="3400" b="1" spc="-50" kern="0" dirty="0">
                <a:solidFill>
                  <a:srgbClr val="0F1733"/>
                </a:solidFill>
                <a:latin typeface="Calibri" pitchFamily="34" charset="0"/>
                <a:ea typeface="Calibri" pitchFamily="34" charset="-122"/>
                <a:cs typeface="Calibri" pitchFamily="34" charset="-120"/>
              </a:rPr>
              <a:t>A purpose-built workflow for the work you already do.</a:t>
            </a:r>
            <a:endParaRPr lang="en-US" sz="3400" dirty="0"/>
          </a:p>
        </p:txBody>
      </p:sp>
      <p:sp>
        <p:nvSpPr>
          <p:cNvPr id="4" name="Shape 2"/>
          <p:cNvSpPr/>
          <p:nvPr/>
        </p:nvSpPr>
        <p:spPr>
          <a:xfrm>
            <a:off x="548640" y="2514600"/>
            <a:ext cx="5464912" cy="67008"/>
          </a:xfrm>
          <a:prstGeom prst="rect">
            <a:avLst/>
          </a:prstGeom>
          <a:solidFill>
            <a:srgbClr val="5028C2"/>
          </a:solidFill>
          <a:ln/>
        </p:spPr>
      </p:sp>
      <p:sp>
        <p:nvSpPr>
          <p:cNvPr id="5" name="Shape 3"/>
          <p:cNvSpPr/>
          <p:nvPr/>
        </p:nvSpPr>
        <p:spPr>
          <a:xfrm>
            <a:off x="548640" y="2572464"/>
            <a:ext cx="5464912" cy="67008"/>
          </a:xfrm>
          <a:prstGeom prst="rect">
            <a:avLst/>
          </a:prstGeom>
          <a:solidFill>
            <a:srgbClr val="4F29C2"/>
          </a:solidFill>
          <a:ln/>
        </p:spPr>
      </p:sp>
      <p:sp>
        <p:nvSpPr>
          <p:cNvPr id="6" name="Shape 4"/>
          <p:cNvSpPr/>
          <p:nvPr/>
        </p:nvSpPr>
        <p:spPr>
          <a:xfrm>
            <a:off x="548640" y="2630329"/>
            <a:ext cx="5464912" cy="67008"/>
          </a:xfrm>
          <a:prstGeom prst="rect">
            <a:avLst/>
          </a:prstGeom>
          <a:solidFill>
            <a:srgbClr val="4E2AC3"/>
          </a:solidFill>
          <a:ln/>
        </p:spPr>
      </p:sp>
      <p:sp>
        <p:nvSpPr>
          <p:cNvPr id="7" name="Shape 5"/>
          <p:cNvSpPr/>
          <p:nvPr/>
        </p:nvSpPr>
        <p:spPr>
          <a:xfrm>
            <a:off x="548640" y="2688193"/>
            <a:ext cx="5464912" cy="67008"/>
          </a:xfrm>
          <a:prstGeom prst="rect">
            <a:avLst/>
          </a:prstGeom>
          <a:solidFill>
            <a:srgbClr val="4D2BC3"/>
          </a:solidFill>
          <a:ln/>
        </p:spPr>
      </p:sp>
      <p:sp>
        <p:nvSpPr>
          <p:cNvPr id="8" name="Shape 6"/>
          <p:cNvSpPr/>
          <p:nvPr/>
        </p:nvSpPr>
        <p:spPr>
          <a:xfrm>
            <a:off x="548640" y="2746058"/>
            <a:ext cx="5464912" cy="67008"/>
          </a:xfrm>
          <a:prstGeom prst="rect">
            <a:avLst/>
          </a:prstGeom>
          <a:solidFill>
            <a:srgbClr val="4D2CC4"/>
          </a:solidFill>
          <a:ln/>
        </p:spPr>
      </p:sp>
      <p:sp>
        <p:nvSpPr>
          <p:cNvPr id="9" name="Shape 7"/>
          <p:cNvSpPr/>
          <p:nvPr/>
        </p:nvSpPr>
        <p:spPr>
          <a:xfrm>
            <a:off x="548640" y="2803922"/>
            <a:ext cx="5464912" cy="67008"/>
          </a:xfrm>
          <a:prstGeom prst="rect">
            <a:avLst/>
          </a:prstGeom>
          <a:solidFill>
            <a:srgbClr val="4C2DC4"/>
          </a:solidFill>
          <a:ln/>
        </p:spPr>
      </p:sp>
      <p:sp>
        <p:nvSpPr>
          <p:cNvPr id="10" name="Shape 8"/>
          <p:cNvSpPr/>
          <p:nvPr/>
        </p:nvSpPr>
        <p:spPr>
          <a:xfrm>
            <a:off x="548640" y="2861786"/>
            <a:ext cx="5464912" cy="67008"/>
          </a:xfrm>
          <a:prstGeom prst="rect">
            <a:avLst/>
          </a:prstGeom>
          <a:solidFill>
            <a:srgbClr val="4B2EC5"/>
          </a:solidFill>
          <a:ln/>
        </p:spPr>
      </p:sp>
      <p:sp>
        <p:nvSpPr>
          <p:cNvPr id="11" name="Shape 9"/>
          <p:cNvSpPr/>
          <p:nvPr/>
        </p:nvSpPr>
        <p:spPr>
          <a:xfrm>
            <a:off x="548640" y="2919651"/>
            <a:ext cx="5464912" cy="67008"/>
          </a:xfrm>
          <a:prstGeom prst="rect">
            <a:avLst/>
          </a:prstGeom>
          <a:solidFill>
            <a:srgbClr val="4A2FC5"/>
          </a:solidFill>
          <a:ln/>
        </p:spPr>
      </p:sp>
      <p:sp>
        <p:nvSpPr>
          <p:cNvPr id="12" name="Shape 10"/>
          <p:cNvSpPr/>
          <p:nvPr/>
        </p:nvSpPr>
        <p:spPr>
          <a:xfrm>
            <a:off x="548640" y="2977515"/>
            <a:ext cx="5464912" cy="67008"/>
          </a:xfrm>
          <a:prstGeom prst="rect">
            <a:avLst/>
          </a:prstGeom>
          <a:solidFill>
            <a:srgbClr val="4930C6"/>
          </a:solidFill>
          <a:ln/>
        </p:spPr>
      </p:sp>
      <p:sp>
        <p:nvSpPr>
          <p:cNvPr id="13" name="Shape 11"/>
          <p:cNvSpPr/>
          <p:nvPr/>
        </p:nvSpPr>
        <p:spPr>
          <a:xfrm>
            <a:off x="548640" y="3035379"/>
            <a:ext cx="5464912" cy="67008"/>
          </a:xfrm>
          <a:prstGeom prst="rect">
            <a:avLst/>
          </a:prstGeom>
          <a:solidFill>
            <a:srgbClr val="4831C6"/>
          </a:solidFill>
          <a:ln/>
        </p:spPr>
      </p:sp>
      <p:sp>
        <p:nvSpPr>
          <p:cNvPr id="14" name="Shape 12"/>
          <p:cNvSpPr/>
          <p:nvPr/>
        </p:nvSpPr>
        <p:spPr>
          <a:xfrm>
            <a:off x="548640" y="3093244"/>
            <a:ext cx="5464912" cy="67008"/>
          </a:xfrm>
          <a:prstGeom prst="rect">
            <a:avLst/>
          </a:prstGeom>
          <a:solidFill>
            <a:srgbClr val="4732C6"/>
          </a:solidFill>
          <a:ln/>
        </p:spPr>
      </p:sp>
      <p:sp>
        <p:nvSpPr>
          <p:cNvPr id="15" name="Shape 13"/>
          <p:cNvSpPr/>
          <p:nvPr/>
        </p:nvSpPr>
        <p:spPr>
          <a:xfrm>
            <a:off x="548640" y="3151108"/>
            <a:ext cx="5464912" cy="67008"/>
          </a:xfrm>
          <a:prstGeom prst="rect">
            <a:avLst/>
          </a:prstGeom>
          <a:solidFill>
            <a:srgbClr val="4733C7"/>
          </a:solidFill>
          <a:ln/>
        </p:spPr>
      </p:sp>
      <p:sp>
        <p:nvSpPr>
          <p:cNvPr id="16" name="Shape 14"/>
          <p:cNvSpPr/>
          <p:nvPr/>
        </p:nvSpPr>
        <p:spPr>
          <a:xfrm>
            <a:off x="548640" y="3208973"/>
            <a:ext cx="5464912" cy="67008"/>
          </a:xfrm>
          <a:prstGeom prst="rect">
            <a:avLst/>
          </a:prstGeom>
          <a:solidFill>
            <a:srgbClr val="4634C7"/>
          </a:solidFill>
          <a:ln/>
        </p:spPr>
      </p:sp>
      <p:sp>
        <p:nvSpPr>
          <p:cNvPr id="17" name="Shape 15"/>
          <p:cNvSpPr/>
          <p:nvPr/>
        </p:nvSpPr>
        <p:spPr>
          <a:xfrm>
            <a:off x="548640" y="3266837"/>
            <a:ext cx="5464912" cy="67008"/>
          </a:xfrm>
          <a:prstGeom prst="rect">
            <a:avLst/>
          </a:prstGeom>
          <a:solidFill>
            <a:srgbClr val="4535C8"/>
          </a:solidFill>
          <a:ln/>
        </p:spPr>
      </p:sp>
      <p:sp>
        <p:nvSpPr>
          <p:cNvPr id="18" name="Shape 16"/>
          <p:cNvSpPr/>
          <p:nvPr/>
        </p:nvSpPr>
        <p:spPr>
          <a:xfrm>
            <a:off x="548640" y="3324701"/>
            <a:ext cx="5464912" cy="67008"/>
          </a:xfrm>
          <a:prstGeom prst="rect">
            <a:avLst/>
          </a:prstGeom>
          <a:solidFill>
            <a:srgbClr val="4436C8"/>
          </a:solidFill>
          <a:ln/>
        </p:spPr>
      </p:sp>
      <p:sp>
        <p:nvSpPr>
          <p:cNvPr id="19" name="Shape 17"/>
          <p:cNvSpPr/>
          <p:nvPr/>
        </p:nvSpPr>
        <p:spPr>
          <a:xfrm>
            <a:off x="548640" y="3382566"/>
            <a:ext cx="5464912" cy="67008"/>
          </a:xfrm>
          <a:prstGeom prst="rect">
            <a:avLst/>
          </a:prstGeom>
          <a:solidFill>
            <a:srgbClr val="4337C9"/>
          </a:solidFill>
          <a:ln/>
        </p:spPr>
      </p:sp>
      <p:sp>
        <p:nvSpPr>
          <p:cNvPr id="20" name="Shape 18"/>
          <p:cNvSpPr/>
          <p:nvPr/>
        </p:nvSpPr>
        <p:spPr>
          <a:xfrm>
            <a:off x="548640" y="3440430"/>
            <a:ext cx="5464912" cy="67008"/>
          </a:xfrm>
          <a:prstGeom prst="rect">
            <a:avLst/>
          </a:prstGeom>
          <a:solidFill>
            <a:srgbClr val="4238C9"/>
          </a:solidFill>
          <a:ln/>
        </p:spPr>
      </p:sp>
      <p:sp>
        <p:nvSpPr>
          <p:cNvPr id="21" name="Shape 19"/>
          <p:cNvSpPr/>
          <p:nvPr/>
        </p:nvSpPr>
        <p:spPr>
          <a:xfrm>
            <a:off x="548640" y="3498294"/>
            <a:ext cx="5464912" cy="67008"/>
          </a:xfrm>
          <a:prstGeom prst="rect">
            <a:avLst/>
          </a:prstGeom>
          <a:solidFill>
            <a:srgbClr val="4139CA"/>
          </a:solidFill>
          <a:ln/>
        </p:spPr>
      </p:sp>
      <p:sp>
        <p:nvSpPr>
          <p:cNvPr id="22" name="Shape 20"/>
          <p:cNvSpPr/>
          <p:nvPr/>
        </p:nvSpPr>
        <p:spPr>
          <a:xfrm>
            <a:off x="548640" y="3556159"/>
            <a:ext cx="5464912" cy="67008"/>
          </a:xfrm>
          <a:prstGeom prst="rect">
            <a:avLst/>
          </a:prstGeom>
          <a:solidFill>
            <a:srgbClr val="413ACA"/>
          </a:solidFill>
          <a:ln/>
        </p:spPr>
      </p:sp>
      <p:sp>
        <p:nvSpPr>
          <p:cNvPr id="23" name="Shape 21"/>
          <p:cNvSpPr/>
          <p:nvPr/>
        </p:nvSpPr>
        <p:spPr>
          <a:xfrm>
            <a:off x="548640" y="3614023"/>
            <a:ext cx="5464912" cy="67008"/>
          </a:xfrm>
          <a:prstGeom prst="rect">
            <a:avLst/>
          </a:prstGeom>
          <a:solidFill>
            <a:srgbClr val="403BCA"/>
          </a:solidFill>
          <a:ln/>
        </p:spPr>
      </p:sp>
      <p:sp>
        <p:nvSpPr>
          <p:cNvPr id="24" name="Shape 22"/>
          <p:cNvSpPr/>
          <p:nvPr/>
        </p:nvSpPr>
        <p:spPr>
          <a:xfrm>
            <a:off x="548640" y="3671888"/>
            <a:ext cx="5464912" cy="67008"/>
          </a:xfrm>
          <a:prstGeom prst="rect">
            <a:avLst/>
          </a:prstGeom>
          <a:solidFill>
            <a:srgbClr val="3F3CCB"/>
          </a:solidFill>
          <a:ln/>
        </p:spPr>
      </p:sp>
      <p:sp>
        <p:nvSpPr>
          <p:cNvPr id="25" name="Shape 23"/>
          <p:cNvSpPr/>
          <p:nvPr/>
        </p:nvSpPr>
        <p:spPr>
          <a:xfrm>
            <a:off x="548640" y="3729752"/>
            <a:ext cx="5464912" cy="67008"/>
          </a:xfrm>
          <a:prstGeom prst="rect">
            <a:avLst/>
          </a:prstGeom>
          <a:solidFill>
            <a:srgbClr val="3E3DCB"/>
          </a:solidFill>
          <a:ln/>
        </p:spPr>
      </p:sp>
      <p:sp>
        <p:nvSpPr>
          <p:cNvPr id="26" name="Shape 24"/>
          <p:cNvSpPr/>
          <p:nvPr/>
        </p:nvSpPr>
        <p:spPr>
          <a:xfrm>
            <a:off x="548640" y="3787616"/>
            <a:ext cx="5464912" cy="67008"/>
          </a:xfrm>
          <a:prstGeom prst="rect">
            <a:avLst/>
          </a:prstGeom>
          <a:solidFill>
            <a:srgbClr val="3D3ECC"/>
          </a:solidFill>
          <a:ln/>
        </p:spPr>
      </p:sp>
      <p:sp>
        <p:nvSpPr>
          <p:cNvPr id="27" name="Shape 25"/>
          <p:cNvSpPr/>
          <p:nvPr/>
        </p:nvSpPr>
        <p:spPr>
          <a:xfrm>
            <a:off x="548640" y="3845481"/>
            <a:ext cx="5464912" cy="67008"/>
          </a:xfrm>
          <a:prstGeom prst="rect">
            <a:avLst/>
          </a:prstGeom>
          <a:solidFill>
            <a:srgbClr val="3C3FCC"/>
          </a:solidFill>
          <a:ln/>
        </p:spPr>
      </p:sp>
      <p:sp>
        <p:nvSpPr>
          <p:cNvPr id="28" name="Shape 26"/>
          <p:cNvSpPr/>
          <p:nvPr/>
        </p:nvSpPr>
        <p:spPr>
          <a:xfrm>
            <a:off x="548640" y="3903345"/>
            <a:ext cx="5464912" cy="67008"/>
          </a:xfrm>
          <a:prstGeom prst="rect">
            <a:avLst/>
          </a:prstGeom>
          <a:solidFill>
            <a:srgbClr val="3B40CD"/>
          </a:solidFill>
          <a:ln/>
        </p:spPr>
      </p:sp>
      <p:sp>
        <p:nvSpPr>
          <p:cNvPr id="29" name="Shape 27"/>
          <p:cNvSpPr/>
          <p:nvPr/>
        </p:nvSpPr>
        <p:spPr>
          <a:xfrm>
            <a:off x="548640" y="3961209"/>
            <a:ext cx="5464912" cy="67008"/>
          </a:xfrm>
          <a:prstGeom prst="rect">
            <a:avLst/>
          </a:prstGeom>
          <a:solidFill>
            <a:srgbClr val="3B41CD"/>
          </a:solidFill>
          <a:ln/>
        </p:spPr>
      </p:sp>
      <p:sp>
        <p:nvSpPr>
          <p:cNvPr id="30" name="Shape 28"/>
          <p:cNvSpPr/>
          <p:nvPr/>
        </p:nvSpPr>
        <p:spPr>
          <a:xfrm>
            <a:off x="548640" y="4019074"/>
            <a:ext cx="5464912" cy="67008"/>
          </a:xfrm>
          <a:prstGeom prst="rect">
            <a:avLst/>
          </a:prstGeom>
          <a:solidFill>
            <a:srgbClr val="3A42CE"/>
          </a:solidFill>
          <a:ln/>
        </p:spPr>
      </p:sp>
      <p:sp>
        <p:nvSpPr>
          <p:cNvPr id="31" name="Shape 29"/>
          <p:cNvSpPr/>
          <p:nvPr/>
        </p:nvSpPr>
        <p:spPr>
          <a:xfrm>
            <a:off x="548640" y="4076938"/>
            <a:ext cx="5464912" cy="67008"/>
          </a:xfrm>
          <a:prstGeom prst="rect">
            <a:avLst/>
          </a:prstGeom>
          <a:solidFill>
            <a:srgbClr val="3943CE"/>
          </a:solidFill>
          <a:ln/>
        </p:spPr>
      </p:sp>
      <p:sp>
        <p:nvSpPr>
          <p:cNvPr id="32" name="Shape 30"/>
          <p:cNvSpPr/>
          <p:nvPr/>
        </p:nvSpPr>
        <p:spPr>
          <a:xfrm>
            <a:off x="548640" y="4134802"/>
            <a:ext cx="5464912" cy="67008"/>
          </a:xfrm>
          <a:prstGeom prst="rect">
            <a:avLst/>
          </a:prstGeom>
          <a:solidFill>
            <a:srgbClr val="3844CE"/>
          </a:solidFill>
          <a:ln/>
        </p:spPr>
      </p:sp>
      <p:sp>
        <p:nvSpPr>
          <p:cNvPr id="33" name="Shape 31"/>
          <p:cNvSpPr/>
          <p:nvPr/>
        </p:nvSpPr>
        <p:spPr>
          <a:xfrm>
            <a:off x="548640" y="4192667"/>
            <a:ext cx="5464912" cy="67008"/>
          </a:xfrm>
          <a:prstGeom prst="rect">
            <a:avLst/>
          </a:prstGeom>
          <a:solidFill>
            <a:srgbClr val="3745CF"/>
          </a:solidFill>
          <a:ln/>
        </p:spPr>
      </p:sp>
      <p:sp>
        <p:nvSpPr>
          <p:cNvPr id="34" name="Shape 32"/>
          <p:cNvSpPr/>
          <p:nvPr/>
        </p:nvSpPr>
        <p:spPr>
          <a:xfrm>
            <a:off x="548640" y="4250531"/>
            <a:ext cx="5464912" cy="67008"/>
          </a:xfrm>
          <a:prstGeom prst="rect">
            <a:avLst/>
          </a:prstGeom>
          <a:solidFill>
            <a:srgbClr val="3646CF"/>
          </a:solidFill>
          <a:ln/>
        </p:spPr>
      </p:sp>
      <p:sp>
        <p:nvSpPr>
          <p:cNvPr id="35" name="Shape 33"/>
          <p:cNvSpPr/>
          <p:nvPr/>
        </p:nvSpPr>
        <p:spPr>
          <a:xfrm>
            <a:off x="548640" y="4308396"/>
            <a:ext cx="5464912" cy="67008"/>
          </a:xfrm>
          <a:prstGeom prst="rect">
            <a:avLst/>
          </a:prstGeom>
          <a:solidFill>
            <a:srgbClr val="3547D0"/>
          </a:solidFill>
          <a:ln/>
        </p:spPr>
      </p:sp>
      <p:sp>
        <p:nvSpPr>
          <p:cNvPr id="36" name="Shape 34"/>
          <p:cNvSpPr/>
          <p:nvPr/>
        </p:nvSpPr>
        <p:spPr>
          <a:xfrm>
            <a:off x="548640" y="4366260"/>
            <a:ext cx="5464912" cy="67008"/>
          </a:xfrm>
          <a:prstGeom prst="rect">
            <a:avLst/>
          </a:prstGeom>
          <a:solidFill>
            <a:srgbClr val="3549D0"/>
          </a:solidFill>
          <a:ln/>
        </p:spPr>
      </p:sp>
      <p:sp>
        <p:nvSpPr>
          <p:cNvPr id="37" name="Shape 35"/>
          <p:cNvSpPr/>
          <p:nvPr/>
        </p:nvSpPr>
        <p:spPr>
          <a:xfrm>
            <a:off x="548640" y="4424124"/>
            <a:ext cx="5464912" cy="67008"/>
          </a:xfrm>
          <a:prstGeom prst="rect">
            <a:avLst/>
          </a:prstGeom>
          <a:solidFill>
            <a:srgbClr val="344ACF"/>
          </a:solidFill>
          <a:ln/>
        </p:spPr>
      </p:sp>
      <p:sp>
        <p:nvSpPr>
          <p:cNvPr id="38" name="Shape 36"/>
          <p:cNvSpPr/>
          <p:nvPr/>
        </p:nvSpPr>
        <p:spPr>
          <a:xfrm>
            <a:off x="548640" y="4481989"/>
            <a:ext cx="5464912" cy="67008"/>
          </a:xfrm>
          <a:prstGeom prst="rect">
            <a:avLst/>
          </a:prstGeom>
          <a:solidFill>
            <a:srgbClr val="334BCF"/>
          </a:solidFill>
          <a:ln/>
        </p:spPr>
      </p:sp>
      <p:sp>
        <p:nvSpPr>
          <p:cNvPr id="39" name="Shape 37"/>
          <p:cNvSpPr/>
          <p:nvPr/>
        </p:nvSpPr>
        <p:spPr>
          <a:xfrm>
            <a:off x="548640" y="4539853"/>
            <a:ext cx="5464912" cy="67008"/>
          </a:xfrm>
          <a:prstGeom prst="rect">
            <a:avLst/>
          </a:prstGeom>
          <a:solidFill>
            <a:srgbClr val="324CCE"/>
          </a:solidFill>
          <a:ln/>
        </p:spPr>
      </p:sp>
      <p:sp>
        <p:nvSpPr>
          <p:cNvPr id="40" name="Shape 38"/>
          <p:cNvSpPr/>
          <p:nvPr/>
        </p:nvSpPr>
        <p:spPr>
          <a:xfrm>
            <a:off x="548640" y="4597717"/>
            <a:ext cx="5464912" cy="67008"/>
          </a:xfrm>
          <a:prstGeom prst="rect">
            <a:avLst/>
          </a:prstGeom>
          <a:solidFill>
            <a:srgbClr val="314ECD"/>
          </a:solidFill>
          <a:ln/>
        </p:spPr>
      </p:sp>
      <p:sp>
        <p:nvSpPr>
          <p:cNvPr id="41" name="Shape 39"/>
          <p:cNvSpPr/>
          <p:nvPr/>
        </p:nvSpPr>
        <p:spPr>
          <a:xfrm>
            <a:off x="548640" y="4655582"/>
            <a:ext cx="5464912" cy="67008"/>
          </a:xfrm>
          <a:prstGeom prst="rect">
            <a:avLst/>
          </a:prstGeom>
          <a:solidFill>
            <a:srgbClr val="304FCD"/>
          </a:solidFill>
          <a:ln/>
        </p:spPr>
      </p:sp>
      <p:sp>
        <p:nvSpPr>
          <p:cNvPr id="42" name="Shape 40"/>
          <p:cNvSpPr/>
          <p:nvPr/>
        </p:nvSpPr>
        <p:spPr>
          <a:xfrm>
            <a:off x="548640" y="4713446"/>
            <a:ext cx="5464912" cy="67008"/>
          </a:xfrm>
          <a:prstGeom prst="rect">
            <a:avLst/>
          </a:prstGeom>
          <a:solidFill>
            <a:srgbClr val="2F50CC"/>
          </a:solidFill>
          <a:ln/>
        </p:spPr>
      </p:sp>
      <p:sp>
        <p:nvSpPr>
          <p:cNvPr id="43" name="Shape 41"/>
          <p:cNvSpPr/>
          <p:nvPr/>
        </p:nvSpPr>
        <p:spPr>
          <a:xfrm>
            <a:off x="548640" y="4771311"/>
            <a:ext cx="5464912" cy="67008"/>
          </a:xfrm>
          <a:prstGeom prst="rect">
            <a:avLst/>
          </a:prstGeom>
          <a:solidFill>
            <a:srgbClr val="2F51CC"/>
          </a:solidFill>
          <a:ln/>
        </p:spPr>
      </p:sp>
      <p:sp>
        <p:nvSpPr>
          <p:cNvPr id="44" name="Shape 42"/>
          <p:cNvSpPr/>
          <p:nvPr/>
        </p:nvSpPr>
        <p:spPr>
          <a:xfrm>
            <a:off x="548640" y="4829175"/>
            <a:ext cx="5464912" cy="67008"/>
          </a:xfrm>
          <a:prstGeom prst="rect">
            <a:avLst/>
          </a:prstGeom>
          <a:solidFill>
            <a:srgbClr val="2E53CB"/>
          </a:solidFill>
          <a:ln/>
        </p:spPr>
      </p:sp>
      <p:sp>
        <p:nvSpPr>
          <p:cNvPr id="45" name="Shape 43"/>
          <p:cNvSpPr/>
          <p:nvPr/>
        </p:nvSpPr>
        <p:spPr>
          <a:xfrm>
            <a:off x="548640" y="4887039"/>
            <a:ext cx="5464912" cy="67008"/>
          </a:xfrm>
          <a:prstGeom prst="rect">
            <a:avLst/>
          </a:prstGeom>
          <a:solidFill>
            <a:srgbClr val="2D54CB"/>
          </a:solidFill>
          <a:ln/>
        </p:spPr>
      </p:sp>
      <p:sp>
        <p:nvSpPr>
          <p:cNvPr id="46" name="Shape 44"/>
          <p:cNvSpPr/>
          <p:nvPr/>
        </p:nvSpPr>
        <p:spPr>
          <a:xfrm>
            <a:off x="548640" y="4944904"/>
            <a:ext cx="5464912" cy="67008"/>
          </a:xfrm>
          <a:prstGeom prst="rect">
            <a:avLst/>
          </a:prstGeom>
          <a:solidFill>
            <a:srgbClr val="2C55CA"/>
          </a:solidFill>
          <a:ln/>
        </p:spPr>
      </p:sp>
      <p:sp>
        <p:nvSpPr>
          <p:cNvPr id="47" name="Shape 45"/>
          <p:cNvSpPr/>
          <p:nvPr/>
        </p:nvSpPr>
        <p:spPr>
          <a:xfrm>
            <a:off x="548640" y="5002768"/>
            <a:ext cx="5464912" cy="67008"/>
          </a:xfrm>
          <a:prstGeom prst="rect">
            <a:avLst/>
          </a:prstGeom>
          <a:solidFill>
            <a:srgbClr val="2B56C9"/>
          </a:solidFill>
          <a:ln/>
        </p:spPr>
      </p:sp>
      <p:sp>
        <p:nvSpPr>
          <p:cNvPr id="48" name="Shape 46"/>
          <p:cNvSpPr/>
          <p:nvPr/>
        </p:nvSpPr>
        <p:spPr>
          <a:xfrm>
            <a:off x="548640" y="5060633"/>
            <a:ext cx="5464912" cy="67008"/>
          </a:xfrm>
          <a:prstGeom prst="rect">
            <a:avLst/>
          </a:prstGeom>
          <a:solidFill>
            <a:srgbClr val="2A57C9"/>
          </a:solidFill>
          <a:ln/>
        </p:spPr>
      </p:sp>
      <p:sp>
        <p:nvSpPr>
          <p:cNvPr id="49" name="Shape 47"/>
          <p:cNvSpPr/>
          <p:nvPr/>
        </p:nvSpPr>
        <p:spPr>
          <a:xfrm>
            <a:off x="548640" y="5118497"/>
            <a:ext cx="5464912" cy="67008"/>
          </a:xfrm>
          <a:prstGeom prst="rect">
            <a:avLst/>
          </a:prstGeom>
          <a:solidFill>
            <a:srgbClr val="2959C8"/>
          </a:solidFill>
          <a:ln/>
        </p:spPr>
      </p:sp>
      <p:sp>
        <p:nvSpPr>
          <p:cNvPr id="50" name="Shape 48"/>
          <p:cNvSpPr/>
          <p:nvPr/>
        </p:nvSpPr>
        <p:spPr>
          <a:xfrm>
            <a:off x="548640" y="5176361"/>
            <a:ext cx="5464912" cy="67008"/>
          </a:xfrm>
          <a:prstGeom prst="rect">
            <a:avLst/>
          </a:prstGeom>
          <a:solidFill>
            <a:srgbClr val="295AC8"/>
          </a:solidFill>
          <a:ln/>
        </p:spPr>
      </p:sp>
      <p:sp>
        <p:nvSpPr>
          <p:cNvPr id="51" name="Shape 49"/>
          <p:cNvSpPr/>
          <p:nvPr/>
        </p:nvSpPr>
        <p:spPr>
          <a:xfrm>
            <a:off x="548640" y="5234226"/>
            <a:ext cx="5464912" cy="67008"/>
          </a:xfrm>
          <a:prstGeom prst="rect">
            <a:avLst/>
          </a:prstGeom>
          <a:solidFill>
            <a:srgbClr val="285BC7"/>
          </a:solidFill>
          <a:ln/>
        </p:spPr>
      </p:sp>
      <p:sp>
        <p:nvSpPr>
          <p:cNvPr id="52" name="Shape 50"/>
          <p:cNvSpPr/>
          <p:nvPr/>
        </p:nvSpPr>
        <p:spPr>
          <a:xfrm>
            <a:off x="548640" y="5292090"/>
            <a:ext cx="5464912" cy="67008"/>
          </a:xfrm>
          <a:prstGeom prst="rect">
            <a:avLst/>
          </a:prstGeom>
          <a:solidFill>
            <a:srgbClr val="275CC7"/>
          </a:solidFill>
          <a:ln/>
        </p:spPr>
      </p:sp>
      <p:sp>
        <p:nvSpPr>
          <p:cNvPr id="53" name="Shape 51"/>
          <p:cNvSpPr/>
          <p:nvPr/>
        </p:nvSpPr>
        <p:spPr>
          <a:xfrm>
            <a:off x="548640" y="5349954"/>
            <a:ext cx="5464912" cy="67008"/>
          </a:xfrm>
          <a:prstGeom prst="rect">
            <a:avLst/>
          </a:prstGeom>
          <a:solidFill>
            <a:srgbClr val="265EC6"/>
          </a:solidFill>
          <a:ln/>
        </p:spPr>
      </p:sp>
      <p:sp>
        <p:nvSpPr>
          <p:cNvPr id="54" name="Shape 52"/>
          <p:cNvSpPr/>
          <p:nvPr/>
        </p:nvSpPr>
        <p:spPr>
          <a:xfrm>
            <a:off x="548640" y="5407819"/>
            <a:ext cx="5464912" cy="67008"/>
          </a:xfrm>
          <a:prstGeom prst="rect">
            <a:avLst/>
          </a:prstGeom>
          <a:solidFill>
            <a:srgbClr val="255FC5"/>
          </a:solidFill>
          <a:ln/>
        </p:spPr>
      </p:sp>
      <p:sp>
        <p:nvSpPr>
          <p:cNvPr id="55" name="Shape 53"/>
          <p:cNvSpPr/>
          <p:nvPr/>
        </p:nvSpPr>
        <p:spPr>
          <a:xfrm>
            <a:off x="548640" y="5465683"/>
            <a:ext cx="5464912" cy="67008"/>
          </a:xfrm>
          <a:prstGeom prst="rect">
            <a:avLst/>
          </a:prstGeom>
          <a:solidFill>
            <a:srgbClr val="2460C5"/>
          </a:solidFill>
          <a:ln/>
        </p:spPr>
      </p:sp>
      <p:sp>
        <p:nvSpPr>
          <p:cNvPr id="56" name="Shape 54"/>
          <p:cNvSpPr/>
          <p:nvPr/>
        </p:nvSpPr>
        <p:spPr>
          <a:xfrm>
            <a:off x="548640" y="5523548"/>
            <a:ext cx="5464912" cy="67008"/>
          </a:xfrm>
          <a:prstGeom prst="rect">
            <a:avLst/>
          </a:prstGeom>
          <a:solidFill>
            <a:srgbClr val="2361C4"/>
          </a:solidFill>
          <a:ln/>
        </p:spPr>
      </p:sp>
      <p:sp>
        <p:nvSpPr>
          <p:cNvPr id="57" name="Shape 55"/>
          <p:cNvSpPr/>
          <p:nvPr/>
        </p:nvSpPr>
        <p:spPr>
          <a:xfrm>
            <a:off x="548640" y="5581412"/>
            <a:ext cx="5464912" cy="67008"/>
          </a:xfrm>
          <a:prstGeom prst="rect">
            <a:avLst/>
          </a:prstGeom>
          <a:solidFill>
            <a:srgbClr val="2363C4"/>
          </a:solidFill>
          <a:ln/>
        </p:spPr>
      </p:sp>
      <p:sp>
        <p:nvSpPr>
          <p:cNvPr id="58" name="Shape 56"/>
          <p:cNvSpPr/>
          <p:nvPr/>
        </p:nvSpPr>
        <p:spPr>
          <a:xfrm>
            <a:off x="548640" y="5639276"/>
            <a:ext cx="5464912" cy="67008"/>
          </a:xfrm>
          <a:prstGeom prst="rect">
            <a:avLst/>
          </a:prstGeom>
          <a:solidFill>
            <a:srgbClr val="2264C3"/>
          </a:solidFill>
          <a:ln/>
        </p:spPr>
      </p:sp>
      <p:sp>
        <p:nvSpPr>
          <p:cNvPr id="59" name="Shape 57"/>
          <p:cNvSpPr/>
          <p:nvPr/>
        </p:nvSpPr>
        <p:spPr>
          <a:xfrm>
            <a:off x="548640" y="5697141"/>
            <a:ext cx="5464912" cy="67008"/>
          </a:xfrm>
          <a:prstGeom prst="rect">
            <a:avLst/>
          </a:prstGeom>
          <a:solidFill>
            <a:srgbClr val="2165C3"/>
          </a:solidFill>
          <a:ln/>
        </p:spPr>
      </p:sp>
      <p:sp>
        <p:nvSpPr>
          <p:cNvPr id="60" name="Shape 58"/>
          <p:cNvSpPr/>
          <p:nvPr/>
        </p:nvSpPr>
        <p:spPr>
          <a:xfrm>
            <a:off x="548640" y="5755005"/>
            <a:ext cx="5464912" cy="67008"/>
          </a:xfrm>
          <a:prstGeom prst="rect">
            <a:avLst/>
          </a:prstGeom>
          <a:solidFill>
            <a:srgbClr val="2066C2"/>
          </a:solidFill>
          <a:ln/>
        </p:spPr>
      </p:sp>
      <p:sp>
        <p:nvSpPr>
          <p:cNvPr id="61" name="Shape 59"/>
          <p:cNvSpPr/>
          <p:nvPr/>
        </p:nvSpPr>
        <p:spPr>
          <a:xfrm>
            <a:off x="548640" y="5812869"/>
            <a:ext cx="5464912" cy="67008"/>
          </a:xfrm>
          <a:prstGeom prst="rect">
            <a:avLst/>
          </a:prstGeom>
          <a:solidFill>
            <a:srgbClr val="1F68C1"/>
          </a:solidFill>
          <a:ln/>
        </p:spPr>
      </p:sp>
      <p:sp>
        <p:nvSpPr>
          <p:cNvPr id="62" name="Shape 60"/>
          <p:cNvSpPr/>
          <p:nvPr/>
        </p:nvSpPr>
        <p:spPr>
          <a:xfrm>
            <a:off x="548640" y="5870734"/>
            <a:ext cx="5464912" cy="67008"/>
          </a:xfrm>
          <a:prstGeom prst="rect">
            <a:avLst/>
          </a:prstGeom>
          <a:solidFill>
            <a:srgbClr val="1E69C1"/>
          </a:solidFill>
          <a:ln/>
        </p:spPr>
      </p:sp>
      <p:sp>
        <p:nvSpPr>
          <p:cNvPr id="63" name="Shape 61"/>
          <p:cNvSpPr/>
          <p:nvPr/>
        </p:nvSpPr>
        <p:spPr>
          <a:xfrm>
            <a:off x="548640" y="5928598"/>
            <a:ext cx="5464912" cy="67008"/>
          </a:xfrm>
          <a:prstGeom prst="rect">
            <a:avLst/>
          </a:prstGeom>
          <a:solidFill>
            <a:srgbClr val="1D6AC0"/>
          </a:solidFill>
          <a:ln/>
        </p:spPr>
      </p:sp>
      <p:sp>
        <p:nvSpPr>
          <p:cNvPr id="64" name="Shape 62"/>
          <p:cNvSpPr/>
          <p:nvPr/>
        </p:nvSpPr>
        <p:spPr>
          <a:xfrm>
            <a:off x="548640" y="5986463"/>
            <a:ext cx="5464912" cy="67008"/>
          </a:xfrm>
          <a:prstGeom prst="rect">
            <a:avLst/>
          </a:prstGeom>
          <a:solidFill>
            <a:srgbClr val="1D6BC0"/>
          </a:solidFill>
          <a:ln/>
        </p:spPr>
      </p:sp>
      <p:sp>
        <p:nvSpPr>
          <p:cNvPr id="65" name="Shape 63"/>
          <p:cNvSpPr/>
          <p:nvPr/>
        </p:nvSpPr>
        <p:spPr>
          <a:xfrm>
            <a:off x="548640" y="6044327"/>
            <a:ext cx="5464912" cy="67008"/>
          </a:xfrm>
          <a:prstGeom prst="rect">
            <a:avLst/>
          </a:prstGeom>
          <a:solidFill>
            <a:srgbClr val="1C6DBF"/>
          </a:solidFill>
          <a:ln/>
        </p:spPr>
      </p:sp>
      <p:sp>
        <p:nvSpPr>
          <p:cNvPr id="66" name="Shape 64"/>
          <p:cNvSpPr/>
          <p:nvPr/>
        </p:nvSpPr>
        <p:spPr>
          <a:xfrm>
            <a:off x="548640" y="6102191"/>
            <a:ext cx="5464912" cy="67008"/>
          </a:xfrm>
          <a:prstGeom prst="rect">
            <a:avLst/>
          </a:prstGeom>
          <a:solidFill>
            <a:srgbClr val="1B6EBF"/>
          </a:solidFill>
          <a:ln/>
        </p:spPr>
      </p:sp>
      <p:sp>
        <p:nvSpPr>
          <p:cNvPr id="67" name="Shape 65"/>
          <p:cNvSpPr/>
          <p:nvPr/>
        </p:nvSpPr>
        <p:spPr>
          <a:xfrm>
            <a:off x="548640" y="6160056"/>
            <a:ext cx="5464912" cy="67008"/>
          </a:xfrm>
          <a:prstGeom prst="rect">
            <a:avLst/>
          </a:prstGeom>
          <a:solidFill>
            <a:srgbClr val="1A6FBE"/>
          </a:solidFill>
          <a:ln/>
        </p:spPr>
      </p:sp>
      <p:sp>
        <p:nvSpPr>
          <p:cNvPr id="68" name="Text 66"/>
          <p:cNvSpPr/>
          <p:nvPr/>
        </p:nvSpPr>
        <p:spPr>
          <a:xfrm>
            <a:off x="914400" y="2880360"/>
            <a:ext cx="4733392" cy="914400"/>
          </a:xfrm>
          <a:prstGeom prst="rect">
            <a:avLst/>
          </a:prstGeom>
          <a:noFill/>
          <a:ln/>
        </p:spPr>
        <p:txBody>
          <a:bodyPr wrap="square" lIns="0" tIns="0" rIns="0" bIns="0" rtlCol="0" anchor="t"/>
          <a:lstStyle/>
          <a:p>
            <a:pPr algn="l" indent="0" marL="0">
              <a:buNone/>
            </a:pPr>
            <a:r>
              <a:rPr lang="en-US" sz="1100" b="1" spc="300" kern="0" dirty="0">
                <a:solidFill>
                  <a:srgbClr val="FFFFFF"/>
                </a:solidFill>
                <a:latin typeface="Calibri" pitchFamily="34" charset="0"/>
                <a:ea typeface="Calibri" pitchFamily="34" charset="-122"/>
                <a:cs typeface="Calibri" pitchFamily="34" charset="-120"/>
              </a:rPr>
              <a:t>CREATOR OUTREACH</a:t>
            </a:r>
            <a:endParaRPr lang="en-US" sz="1100" dirty="0"/>
          </a:p>
        </p:txBody>
      </p:sp>
      <p:sp>
        <p:nvSpPr>
          <p:cNvPr id="69" name="Text 67"/>
          <p:cNvSpPr/>
          <p:nvPr/>
        </p:nvSpPr>
        <p:spPr>
          <a:xfrm>
            <a:off x="914400" y="3383280"/>
            <a:ext cx="4733392" cy="2011680"/>
          </a:xfrm>
          <a:prstGeom prst="rect">
            <a:avLst/>
          </a:prstGeom>
          <a:noFill/>
          <a:ln/>
        </p:spPr>
        <p:txBody>
          <a:bodyPr wrap="square" lIns="0" tIns="0" rIns="0" bIns="0" rtlCol="0" anchor="t"/>
          <a:lstStyle/>
          <a:p>
            <a:pPr algn="l" indent="0" marL="0">
              <a:buNone/>
            </a:pPr>
            <a:r>
              <a:rPr lang="en-US" sz="3200" b="1" spc="-50" kern="0" dirty="0">
                <a:solidFill>
                  <a:srgbClr val="FFFFFF"/>
                </a:solidFill>
                <a:latin typeface="Calibri" pitchFamily="34" charset="0"/>
                <a:ea typeface="Calibri" pitchFamily="34" charset="-122"/>
                <a:cs typeface="Calibri" pitchFamily="34" charset="-120"/>
              </a:rPr>
              <a:t>One tool. Five platforms. Zero tab-juggling.</a:t>
            </a:r>
            <a:endParaRPr lang="en-US" sz="3200" dirty="0"/>
          </a:p>
        </p:txBody>
      </p:sp>
      <p:sp>
        <p:nvSpPr>
          <p:cNvPr id="70" name="Text 68"/>
          <p:cNvSpPr/>
          <p:nvPr/>
        </p:nvSpPr>
        <p:spPr>
          <a:xfrm>
            <a:off x="914400" y="5166360"/>
            <a:ext cx="4733392" cy="10972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Discovery, AI scoring, native send, and CRM in a single workspace — built around real partnership workflows.</a:t>
            </a:r>
            <a:endParaRPr lang="en-US" sz="1300" dirty="0"/>
          </a:p>
        </p:txBody>
      </p:sp>
      <p:sp>
        <p:nvSpPr>
          <p:cNvPr id="71" name="Shape 69"/>
          <p:cNvSpPr/>
          <p:nvPr/>
        </p:nvSpPr>
        <p:spPr>
          <a:xfrm>
            <a:off x="6178144" y="2514600"/>
            <a:ext cx="5464912" cy="1124712"/>
          </a:xfrm>
          <a:prstGeom prst="roundRect">
            <a:avLst>
              <a:gd name="adj" fmla="val 9756"/>
            </a:avLst>
          </a:prstGeom>
          <a:solidFill>
            <a:srgbClr val="FFFFFF"/>
          </a:solidFill>
          <a:ln w="9525">
            <a:solidFill>
              <a:srgbClr val="E5E7F0"/>
            </a:solidFill>
            <a:prstDash val="solid"/>
          </a:ln>
        </p:spPr>
      </p:sp>
      <p:sp>
        <p:nvSpPr>
          <p:cNvPr id="72" name="Shape 70"/>
          <p:cNvSpPr/>
          <p:nvPr/>
        </p:nvSpPr>
        <p:spPr>
          <a:xfrm>
            <a:off x="6178144" y="2514600"/>
            <a:ext cx="73152" cy="1124712"/>
          </a:xfrm>
          <a:prstGeom prst="rect">
            <a:avLst/>
          </a:prstGeom>
          <a:solidFill>
            <a:srgbClr val="5028C2"/>
          </a:solidFill>
          <a:ln/>
        </p:spPr>
      </p:sp>
      <p:sp>
        <p:nvSpPr>
          <p:cNvPr id="73" name="Text 71"/>
          <p:cNvSpPr/>
          <p:nvPr/>
        </p:nvSpPr>
        <p:spPr>
          <a:xfrm>
            <a:off x="6434176" y="2697480"/>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Built by</a:t>
            </a:r>
            <a:endParaRPr lang="en-US" sz="1600" dirty="0"/>
          </a:p>
        </p:txBody>
      </p:sp>
      <p:sp>
        <p:nvSpPr>
          <p:cNvPr id="74" name="Text 72"/>
          <p:cNvSpPr/>
          <p:nvPr/>
        </p:nvSpPr>
        <p:spPr>
          <a:xfrm>
            <a:off x="6434176" y="3081528"/>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A founder who ran creator partnerships and rebuilt the workflow as software.</a:t>
            </a:r>
            <a:endParaRPr lang="en-US" sz="1200" dirty="0"/>
          </a:p>
        </p:txBody>
      </p:sp>
      <p:sp>
        <p:nvSpPr>
          <p:cNvPr id="75" name="Shape 73"/>
          <p:cNvSpPr/>
          <p:nvPr/>
        </p:nvSpPr>
        <p:spPr>
          <a:xfrm>
            <a:off x="6178144" y="3803904"/>
            <a:ext cx="5464912" cy="1124712"/>
          </a:xfrm>
          <a:prstGeom prst="roundRect">
            <a:avLst>
              <a:gd name="adj" fmla="val 9756"/>
            </a:avLst>
          </a:prstGeom>
          <a:solidFill>
            <a:srgbClr val="FFFFFF"/>
          </a:solidFill>
          <a:ln w="9525">
            <a:solidFill>
              <a:srgbClr val="E5E7F0"/>
            </a:solidFill>
            <a:prstDash val="solid"/>
          </a:ln>
        </p:spPr>
      </p:sp>
      <p:sp>
        <p:nvSpPr>
          <p:cNvPr id="76" name="Shape 74"/>
          <p:cNvSpPr/>
          <p:nvPr/>
        </p:nvSpPr>
        <p:spPr>
          <a:xfrm>
            <a:off x="6178144" y="3803904"/>
            <a:ext cx="73152" cy="1124712"/>
          </a:xfrm>
          <a:prstGeom prst="rect">
            <a:avLst/>
          </a:prstGeom>
          <a:solidFill>
            <a:srgbClr val="3548D0"/>
          </a:solidFill>
          <a:ln/>
        </p:spPr>
      </p:sp>
      <p:sp>
        <p:nvSpPr>
          <p:cNvPr id="77" name="Text 75"/>
          <p:cNvSpPr/>
          <p:nvPr/>
        </p:nvSpPr>
        <p:spPr>
          <a:xfrm>
            <a:off x="6434176" y="3986784"/>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For</a:t>
            </a:r>
            <a:endParaRPr lang="en-US" sz="1600" dirty="0"/>
          </a:p>
        </p:txBody>
      </p:sp>
      <p:sp>
        <p:nvSpPr>
          <p:cNvPr id="78" name="Text 76"/>
          <p:cNvSpPr/>
          <p:nvPr/>
        </p:nvSpPr>
        <p:spPr>
          <a:xfrm>
            <a:off x="6434176" y="4370832"/>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Founders, BD, partnerships, and growth teams running outbound to creators.</a:t>
            </a:r>
            <a:endParaRPr lang="en-US" sz="1200" dirty="0"/>
          </a:p>
        </p:txBody>
      </p:sp>
      <p:sp>
        <p:nvSpPr>
          <p:cNvPr id="79" name="Shape 77"/>
          <p:cNvSpPr/>
          <p:nvPr/>
        </p:nvSpPr>
        <p:spPr>
          <a:xfrm>
            <a:off x="6178144" y="5093208"/>
            <a:ext cx="5464912" cy="1124712"/>
          </a:xfrm>
          <a:prstGeom prst="roundRect">
            <a:avLst>
              <a:gd name="adj" fmla="val 9756"/>
            </a:avLst>
          </a:prstGeom>
          <a:solidFill>
            <a:srgbClr val="FFFFFF"/>
          </a:solidFill>
          <a:ln w="9525">
            <a:solidFill>
              <a:srgbClr val="E5E7F0"/>
            </a:solidFill>
            <a:prstDash val="solid"/>
          </a:ln>
        </p:spPr>
      </p:sp>
      <p:sp>
        <p:nvSpPr>
          <p:cNvPr id="80" name="Shape 78"/>
          <p:cNvSpPr/>
          <p:nvPr/>
        </p:nvSpPr>
        <p:spPr>
          <a:xfrm>
            <a:off x="6178144" y="5093208"/>
            <a:ext cx="73152" cy="1124712"/>
          </a:xfrm>
          <a:prstGeom prst="rect">
            <a:avLst/>
          </a:prstGeom>
          <a:solidFill>
            <a:srgbClr val="1A6FBE"/>
          </a:solidFill>
          <a:ln/>
        </p:spPr>
      </p:sp>
      <p:sp>
        <p:nvSpPr>
          <p:cNvPr id="81" name="Text 79"/>
          <p:cNvSpPr/>
          <p:nvPr/>
        </p:nvSpPr>
        <p:spPr>
          <a:xfrm>
            <a:off x="6434176" y="5276088"/>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Today</a:t>
            </a:r>
            <a:endParaRPr lang="en-US" sz="1600" dirty="0"/>
          </a:p>
        </p:txBody>
      </p:sp>
      <p:sp>
        <p:nvSpPr>
          <p:cNvPr id="82" name="Text 80"/>
          <p:cNvSpPr/>
          <p:nvPr/>
        </p:nvSpPr>
        <p:spPr>
          <a:xfrm>
            <a:off x="6434176" y="5660136"/>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5 platforms supported. Native send via Gmail, IG, LinkedIn. Production live at creatoroutreach.net.</a:t>
            </a:r>
            <a:endParaRPr lang="en-US" sz="1200" dirty="0"/>
          </a:p>
        </p:txBody>
      </p:sp>
      <p:sp>
        <p:nvSpPr>
          <p:cNvPr id="83" name="Shape 81"/>
          <p:cNvSpPr/>
          <p:nvPr/>
        </p:nvSpPr>
        <p:spPr>
          <a:xfrm>
            <a:off x="548640" y="502920"/>
            <a:ext cx="292608" cy="292608"/>
          </a:xfrm>
          <a:prstGeom prst="roundRect">
            <a:avLst>
              <a:gd name="adj" fmla="val 25000"/>
            </a:avLst>
          </a:prstGeom>
          <a:solidFill>
            <a:srgbClr val="5028C2"/>
          </a:solidFill>
          <a:ln/>
        </p:spPr>
      </p:sp>
      <p:sp>
        <p:nvSpPr>
          <p:cNvPr id="84" name="Shape 82"/>
          <p:cNvSpPr/>
          <p:nvPr/>
        </p:nvSpPr>
        <p:spPr>
          <a:xfrm>
            <a:off x="548640" y="502920"/>
            <a:ext cx="292608" cy="292608"/>
          </a:xfrm>
          <a:prstGeom prst="roundRect">
            <a:avLst>
              <a:gd name="adj" fmla="val 25000"/>
            </a:avLst>
          </a:prstGeom>
          <a:solidFill>
            <a:srgbClr val="1A6FBE">
              <a:alpha val="50000"/>
            </a:srgbClr>
          </a:solidFill>
          <a:ln/>
        </p:spPr>
      </p:sp>
      <p:sp>
        <p:nvSpPr>
          <p:cNvPr id="85" name="Text 83"/>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86" name="Text 84"/>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87" name="Text 85"/>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01 · Cover  ·  vG</a:t>
            </a:r>
            <a:endParaRPr lang="en-US" sz="900" dirty="0"/>
          </a:p>
        </p:txBody>
      </p:sp>
      <p:sp>
        <p:nvSpPr>
          <p:cNvPr id="88" name="Text 86"/>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89" name="Text 87"/>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007 / 126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80015" y="-914400"/>
            <a:ext cx="3200400" cy="3200400"/>
          </a:xfrm>
          <a:prstGeom prst="ellipse">
            <a:avLst/>
          </a:prstGeom>
          <a:solidFill>
            <a:srgbClr val="F1ECFF"/>
          </a:solidFill>
          <a:ln/>
        </p:spPr>
      </p:sp>
      <p:sp>
        <p:nvSpPr>
          <p:cNvPr id="3" name="Shape 1"/>
          <p:cNvSpPr/>
          <p:nvPr/>
        </p:nvSpPr>
        <p:spPr>
          <a:xfrm>
            <a:off x="10820095" y="-548640"/>
            <a:ext cx="2194560" cy="2194560"/>
          </a:xfrm>
          <a:prstGeom prst="ellipse">
            <a:avLst/>
          </a:prstGeom>
          <a:solidFill>
            <a:srgbClr val="E8F1FB">
              <a:alpha val="60000"/>
            </a:srgbClr>
          </a:solidFill>
          <a:ln/>
        </p:spPr>
      </p:sp>
      <p:sp>
        <p:nvSpPr>
          <p:cNvPr id="4" name="Shape 2"/>
          <p:cNvSpPr/>
          <p:nvPr/>
        </p:nvSpPr>
        <p:spPr>
          <a:xfrm>
            <a:off x="548640" y="5486400"/>
            <a:ext cx="54864" cy="54864"/>
          </a:xfrm>
          <a:prstGeom prst="ellipse">
            <a:avLst/>
          </a:prstGeom>
          <a:solidFill>
            <a:srgbClr val="5028C2">
              <a:alpha val="30000"/>
            </a:srgbClr>
          </a:solidFill>
          <a:ln/>
        </p:spPr>
      </p:sp>
      <p:sp>
        <p:nvSpPr>
          <p:cNvPr id="5" name="Shape 3"/>
          <p:cNvSpPr/>
          <p:nvPr/>
        </p:nvSpPr>
        <p:spPr>
          <a:xfrm>
            <a:off x="548640" y="5650992"/>
            <a:ext cx="54864" cy="54864"/>
          </a:xfrm>
          <a:prstGeom prst="ellipse">
            <a:avLst/>
          </a:prstGeom>
          <a:solidFill>
            <a:srgbClr val="5028C2">
              <a:alpha val="30000"/>
            </a:srgbClr>
          </a:solidFill>
          <a:ln/>
        </p:spPr>
      </p:sp>
      <p:sp>
        <p:nvSpPr>
          <p:cNvPr id="6" name="Shape 4"/>
          <p:cNvSpPr/>
          <p:nvPr/>
        </p:nvSpPr>
        <p:spPr>
          <a:xfrm>
            <a:off x="548640" y="5815584"/>
            <a:ext cx="54864" cy="54864"/>
          </a:xfrm>
          <a:prstGeom prst="ellipse">
            <a:avLst/>
          </a:prstGeom>
          <a:solidFill>
            <a:srgbClr val="5028C2">
              <a:alpha val="30000"/>
            </a:srgbClr>
          </a:solidFill>
          <a:ln/>
        </p:spPr>
      </p:sp>
      <p:sp>
        <p:nvSpPr>
          <p:cNvPr id="7" name="Shape 5"/>
          <p:cNvSpPr/>
          <p:nvPr/>
        </p:nvSpPr>
        <p:spPr>
          <a:xfrm>
            <a:off x="713232" y="5486400"/>
            <a:ext cx="54864" cy="54864"/>
          </a:xfrm>
          <a:prstGeom prst="ellipse">
            <a:avLst/>
          </a:prstGeom>
          <a:solidFill>
            <a:srgbClr val="5028C2">
              <a:alpha val="30000"/>
            </a:srgbClr>
          </a:solidFill>
          <a:ln/>
        </p:spPr>
      </p:sp>
      <p:sp>
        <p:nvSpPr>
          <p:cNvPr id="8" name="Shape 6"/>
          <p:cNvSpPr/>
          <p:nvPr/>
        </p:nvSpPr>
        <p:spPr>
          <a:xfrm>
            <a:off x="713232" y="5650992"/>
            <a:ext cx="54864" cy="54864"/>
          </a:xfrm>
          <a:prstGeom prst="ellipse">
            <a:avLst/>
          </a:prstGeom>
          <a:solidFill>
            <a:srgbClr val="5028C2">
              <a:alpha val="30000"/>
            </a:srgbClr>
          </a:solidFill>
          <a:ln/>
        </p:spPr>
      </p:sp>
      <p:sp>
        <p:nvSpPr>
          <p:cNvPr id="9" name="Shape 7"/>
          <p:cNvSpPr/>
          <p:nvPr/>
        </p:nvSpPr>
        <p:spPr>
          <a:xfrm>
            <a:off x="713232" y="5815584"/>
            <a:ext cx="54864" cy="54864"/>
          </a:xfrm>
          <a:prstGeom prst="ellipse">
            <a:avLst/>
          </a:prstGeom>
          <a:solidFill>
            <a:srgbClr val="5028C2">
              <a:alpha val="30000"/>
            </a:srgbClr>
          </a:solidFill>
          <a:ln/>
        </p:spPr>
      </p:sp>
      <p:sp>
        <p:nvSpPr>
          <p:cNvPr id="10" name="Shape 8"/>
          <p:cNvSpPr/>
          <p:nvPr/>
        </p:nvSpPr>
        <p:spPr>
          <a:xfrm>
            <a:off x="877824" y="5486400"/>
            <a:ext cx="54864" cy="54864"/>
          </a:xfrm>
          <a:prstGeom prst="ellipse">
            <a:avLst/>
          </a:prstGeom>
          <a:solidFill>
            <a:srgbClr val="5028C2">
              <a:alpha val="30000"/>
            </a:srgbClr>
          </a:solidFill>
          <a:ln/>
        </p:spPr>
      </p:sp>
      <p:sp>
        <p:nvSpPr>
          <p:cNvPr id="11" name="Shape 9"/>
          <p:cNvSpPr/>
          <p:nvPr/>
        </p:nvSpPr>
        <p:spPr>
          <a:xfrm>
            <a:off x="877824" y="5650992"/>
            <a:ext cx="54864" cy="54864"/>
          </a:xfrm>
          <a:prstGeom prst="ellipse">
            <a:avLst/>
          </a:prstGeom>
          <a:solidFill>
            <a:srgbClr val="5028C2">
              <a:alpha val="30000"/>
            </a:srgbClr>
          </a:solidFill>
          <a:ln/>
        </p:spPr>
      </p:sp>
      <p:sp>
        <p:nvSpPr>
          <p:cNvPr id="12" name="Shape 10"/>
          <p:cNvSpPr/>
          <p:nvPr/>
        </p:nvSpPr>
        <p:spPr>
          <a:xfrm>
            <a:off x="877824" y="5815584"/>
            <a:ext cx="54864" cy="54864"/>
          </a:xfrm>
          <a:prstGeom prst="ellipse">
            <a:avLst/>
          </a:prstGeom>
          <a:solidFill>
            <a:srgbClr val="5028C2">
              <a:alpha val="30000"/>
            </a:srgbClr>
          </a:solidFill>
          <a:ln/>
        </p:spPr>
      </p:sp>
      <p:sp>
        <p:nvSpPr>
          <p:cNvPr id="13" name="Shape 11"/>
          <p:cNvSpPr/>
          <p:nvPr/>
        </p:nvSpPr>
        <p:spPr>
          <a:xfrm>
            <a:off x="1042416" y="5486400"/>
            <a:ext cx="54864" cy="54864"/>
          </a:xfrm>
          <a:prstGeom prst="ellipse">
            <a:avLst/>
          </a:prstGeom>
          <a:solidFill>
            <a:srgbClr val="5028C2">
              <a:alpha val="30000"/>
            </a:srgbClr>
          </a:solidFill>
          <a:ln/>
        </p:spPr>
      </p:sp>
      <p:sp>
        <p:nvSpPr>
          <p:cNvPr id="14" name="Shape 12"/>
          <p:cNvSpPr/>
          <p:nvPr/>
        </p:nvSpPr>
        <p:spPr>
          <a:xfrm>
            <a:off x="1042416" y="5650992"/>
            <a:ext cx="54864" cy="54864"/>
          </a:xfrm>
          <a:prstGeom prst="ellipse">
            <a:avLst/>
          </a:prstGeom>
          <a:solidFill>
            <a:srgbClr val="5028C2">
              <a:alpha val="30000"/>
            </a:srgbClr>
          </a:solidFill>
          <a:ln/>
        </p:spPr>
      </p:sp>
      <p:sp>
        <p:nvSpPr>
          <p:cNvPr id="15" name="Shape 13"/>
          <p:cNvSpPr/>
          <p:nvPr/>
        </p:nvSpPr>
        <p:spPr>
          <a:xfrm>
            <a:off x="1042416" y="5815584"/>
            <a:ext cx="54864" cy="54864"/>
          </a:xfrm>
          <a:prstGeom prst="ellipse">
            <a:avLst/>
          </a:prstGeom>
          <a:solidFill>
            <a:srgbClr val="5028C2">
              <a:alpha val="30000"/>
            </a:srgbClr>
          </a:solidFill>
          <a:ln/>
        </p:spPr>
      </p:sp>
      <p:sp>
        <p:nvSpPr>
          <p:cNvPr id="16" name="Shape 14"/>
          <p:cNvSpPr/>
          <p:nvPr/>
        </p:nvSpPr>
        <p:spPr>
          <a:xfrm>
            <a:off x="1207008" y="5486400"/>
            <a:ext cx="54864" cy="54864"/>
          </a:xfrm>
          <a:prstGeom prst="ellipse">
            <a:avLst/>
          </a:prstGeom>
          <a:solidFill>
            <a:srgbClr val="5028C2">
              <a:alpha val="30000"/>
            </a:srgbClr>
          </a:solidFill>
          <a:ln/>
        </p:spPr>
      </p:sp>
      <p:sp>
        <p:nvSpPr>
          <p:cNvPr id="17" name="Shape 15"/>
          <p:cNvSpPr/>
          <p:nvPr/>
        </p:nvSpPr>
        <p:spPr>
          <a:xfrm>
            <a:off x="1207008" y="5650992"/>
            <a:ext cx="54864" cy="54864"/>
          </a:xfrm>
          <a:prstGeom prst="ellipse">
            <a:avLst/>
          </a:prstGeom>
          <a:solidFill>
            <a:srgbClr val="5028C2">
              <a:alpha val="30000"/>
            </a:srgbClr>
          </a:solidFill>
          <a:ln/>
        </p:spPr>
      </p:sp>
      <p:sp>
        <p:nvSpPr>
          <p:cNvPr id="18" name="Shape 16"/>
          <p:cNvSpPr/>
          <p:nvPr/>
        </p:nvSpPr>
        <p:spPr>
          <a:xfrm>
            <a:off x="1207008" y="5815584"/>
            <a:ext cx="54864" cy="54864"/>
          </a:xfrm>
          <a:prstGeom prst="ellipse">
            <a:avLst/>
          </a:prstGeom>
          <a:solidFill>
            <a:srgbClr val="5028C2">
              <a:alpha val="30000"/>
            </a:srgbClr>
          </a:solidFill>
          <a:ln/>
        </p:spPr>
      </p:sp>
      <p:sp>
        <p:nvSpPr>
          <p:cNvPr id="19" name="Shape 17"/>
          <p:cNvSpPr/>
          <p:nvPr/>
        </p:nvSpPr>
        <p:spPr>
          <a:xfrm>
            <a:off x="1371600" y="5486400"/>
            <a:ext cx="54864" cy="54864"/>
          </a:xfrm>
          <a:prstGeom prst="ellipse">
            <a:avLst/>
          </a:prstGeom>
          <a:solidFill>
            <a:srgbClr val="5028C2">
              <a:alpha val="30000"/>
            </a:srgbClr>
          </a:solidFill>
          <a:ln/>
        </p:spPr>
      </p:sp>
      <p:sp>
        <p:nvSpPr>
          <p:cNvPr id="20" name="Shape 18"/>
          <p:cNvSpPr/>
          <p:nvPr/>
        </p:nvSpPr>
        <p:spPr>
          <a:xfrm>
            <a:off x="1371600" y="5650992"/>
            <a:ext cx="54864" cy="54864"/>
          </a:xfrm>
          <a:prstGeom prst="ellipse">
            <a:avLst/>
          </a:prstGeom>
          <a:solidFill>
            <a:srgbClr val="5028C2">
              <a:alpha val="30000"/>
            </a:srgbClr>
          </a:solidFill>
          <a:ln/>
        </p:spPr>
      </p:sp>
      <p:sp>
        <p:nvSpPr>
          <p:cNvPr id="21" name="Shape 19"/>
          <p:cNvSpPr/>
          <p:nvPr/>
        </p:nvSpPr>
        <p:spPr>
          <a:xfrm>
            <a:off x="1371600" y="5815584"/>
            <a:ext cx="54864" cy="54864"/>
          </a:xfrm>
          <a:prstGeom prst="ellipse">
            <a:avLst/>
          </a:prstGeom>
          <a:solidFill>
            <a:srgbClr val="5028C2">
              <a:alpha val="30000"/>
            </a:srgbClr>
          </a:solidFill>
          <a:ln/>
        </p:spPr>
      </p:sp>
      <p:sp>
        <p:nvSpPr>
          <p:cNvPr id="22" name="Text 20"/>
          <p:cNvSpPr/>
          <p:nvPr/>
        </p:nvSpPr>
        <p:spPr>
          <a:xfrm>
            <a:off x="548640" y="1097280"/>
            <a:ext cx="11094415"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THE PROBLEM</a:t>
            </a:r>
            <a:endParaRPr lang="en-US" sz="1100" dirty="0"/>
          </a:p>
        </p:txBody>
      </p:sp>
      <p:sp>
        <p:nvSpPr>
          <p:cNvPr id="23" name="Text 21"/>
          <p:cNvSpPr/>
          <p:nvPr/>
        </p:nvSpPr>
        <p:spPr>
          <a:xfrm>
            <a:off x="548640" y="1554480"/>
            <a:ext cx="11094415" cy="3108960"/>
          </a:xfrm>
          <a:prstGeom prst="rect">
            <a:avLst/>
          </a:prstGeom>
          <a:noFill/>
          <a:ln/>
        </p:spPr>
        <p:txBody>
          <a:bodyPr wrap="square" lIns="0" tIns="0" rIns="0" bIns="0" rtlCol="0" anchor="t"/>
          <a:lstStyle/>
          <a:p>
            <a:pPr algn="l" indent="0" marL="0">
              <a:buNone/>
            </a:pPr>
            <a:r>
              <a:rPr lang="en-US" sz="5200" b="1" spc="-100" kern="0" dirty="0">
                <a:solidFill>
                  <a:srgbClr val="0F1733"/>
                </a:solidFill>
                <a:latin typeface="Calibri" pitchFamily="34" charset="0"/>
                <a:ea typeface="Calibri" pitchFamily="34" charset="-122"/>
                <a:cs typeface="Calibri" pitchFamily="34" charset="-120"/>
              </a:rPr>
              <a:t>Finding the right creator takes hours. Most outreach never gets a reply.</a:t>
            </a:r>
            <a:endParaRPr lang="en-US" sz="5200" dirty="0"/>
          </a:p>
        </p:txBody>
      </p:sp>
      <p:sp>
        <p:nvSpPr>
          <p:cNvPr id="24" name="Text 22"/>
          <p:cNvSpPr/>
          <p:nvPr/>
        </p:nvSpPr>
        <p:spPr>
          <a:xfrm>
            <a:off x="548640" y="4754880"/>
            <a:ext cx="9265615" cy="1097280"/>
          </a:xfrm>
          <a:prstGeom prst="rect">
            <a:avLst/>
          </a:prstGeom>
          <a:noFill/>
          <a:ln/>
        </p:spPr>
        <p:txBody>
          <a:bodyPr wrap="square" lIns="0" tIns="0" rIns="0" bIns="0" rtlCol="0" anchor="t"/>
          <a:lstStyle/>
          <a:p>
            <a:pPr algn="l" indent="0" marL="0">
              <a:buNone/>
            </a:pPr>
            <a:r>
              <a:rPr lang="en-US" sz="1800" dirty="0">
                <a:solidFill>
                  <a:srgbClr val="2A3358"/>
                </a:solidFill>
                <a:latin typeface="Calibri" pitchFamily="34" charset="0"/>
                <a:ea typeface="Calibri" pitchFamily="34" charset="-122"/>
                <a:cs typeface="Calibri" pitchFamily="34" charset="-120"/>
              </a:rPr>
              <a:t>You search five platforms, paste into a spreadsheet, write the email yourself, and still hear nothing back. The work is real. The workflow is broken.</a:t>
            </a:r>
            <a:endParaRPr lang="en-US" sz="1800" dirty="0"/>
          </a:p>
        </p:txBody>
      </p:sp>
      <p:sp>
        <p:nvSpPr>
          <p:cNvPr id="25" name="Shape 23"/>
          <p:cNvSpPr/>
          <p:nvPr/>
        </p:nvSpPr>
        <p:spPr>
          <a:xfrm>
            <a:off x="548640" y="502920"/>
            <a:ext cx="292608" cy="292608"/>
          </a:xfrm>
          <a:prstGeom prst="roundRect">
            <a:avLst>
              <a:gd name="adj" fmla="val 25000"/>
            </a:avLst>
          </a:prstGeom>
          <a:solidFill>
            <a:srgbClr val="5028C2"/>
          </a:solidFill>
          <a:ln/>
        </p:spPr>
      </p:sp>
      <p:sp>
        <p:nvSpPr>
          <p:cNvPr id="26" name="Shape 24"/>
          <p:cNvSpPr/>
          <p:nvPr/>
        </p:nvSpPr>
        <p:spPr>
          <a:xfrm>
            <a:off x="548640" y="502920"/>
            <a:ext cx="292608" cy="292608"/>
          </a:xfrm>
          <a:prstGeom prst="roundRect">
            <a:avLst>
              <a:gd name="adj" fmla="val 25000"/>
            </a:avLst>
          </a:prstGeom>
          <a:solidFill>
            <a:srgbClr val="1A6FBE">
              <a:alpha val="50000"/>
            </a:srgbClr>
          </a:solidFill>
          <a:ln/>
        </p:spPr>
      </p:sp>
      <p:sp>
        <p:nvSpPr>
          <p:cNvPr id="27" name="Text 25"/>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8" name="Text 26"/>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9" name="Text 27"/>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02 · Problem  ·  vA</a:t>
            </a:r>
            <a:endParaRPr lang="en-US" sz="900" dirty="0"/>
          </a:p>
        </p:txBody>
      </p:sp>
      <p:sp>
        <p:nvSpPr>
          <p:cNvPr id="30" name="Text 28"/>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31" name="Text 29"/>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008 / 126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071183" y="0"/>
            <a:ext cx="5120512" cy="116300"/>
          </a:xfrm>
          <a:prstGeom prst="rect">
            <a:avLst/>
          </a:prstGeom>
          <a:solidFill>
            <a:srgbClr val="5028C2"/>
          </a:solidFill>
          <a:ln/>
        </p:spPr>
      </p:sp>
      <p:sp>
        <p:nvSpPr>
          <p:cNvPr id="3" name="Shape 1"/>
          <p:cNvSpPr/>
          <p:nvPr/>
        </p:nvSpPr>
        <p:spPr>
          <a:xfrm>
            <a:off x="7071183" y="107156"/>
            <a:ext cx="5120512" cy="116300"/>
          </a:xfrm>
          <a:prstGeom prst="rect">
            <a:avLst/>
          </a:prstGeom>
          <a:solidFill>
            <a:srgbClr val="4F29C2"/>
          </a:solidFill>
          <a:ln/>
        </p:spPr>
      </p:sp>
      <p:sp>
        <p:nvSpPr>
          <p:cNvPr id="4" name="Shape 2"/>
          <p:cNvSpPr/>
          <p:nvPr/>
        </p:nvSpPr>
        <p:spPr>
          <a:xfrm>
            <a:off x="7071183" y="214313"/>
            <a:ext cx="5120512" cy="116300"/>
          </a:xfrm>
          <a:prstGeom prst="rect">
            <a:avLst/>
          </a:prstGeom>
          <a:solidFill>
            <a:srgbClr val="4E2AC3"/>
          </a:solidFill>
          <a:ln/>
        </p:spPr>
      </p:sp>
      <p:sp>
        <p:nvSpPr>
          <p:cNvPr id="5" name="Shape 3"/>
          <p:cNvSpPr/>
          <p:nvPr/>
        </p:nvSpPr>
        <p:spPr>
          <a:xfrm>
            <a:off x="7071183" y="321469"/>
            <a:ext cx="5120512" cy="116300"/>
          </a:xfrm>
          <a:prstGeom prst="rect">
            <a:avLst/>
          </a:prstGeom>
          <a:solidFill>
            <a:srgbClr val="4D2BC3"/>
          </a:solidFill>
          <a:ln/>
        </p:spPr>
      </p:sp>
      <p:sp>
        <p:nvSpPr>
          <p:cNvPr id="6" name="Shape 4"/>
          <p:cNvSpPr/>
          <p:nvPr/>
        </p:nvSpPr>
        <p:spPr>
          <a:xfrm>
            <a:off x="7071183" y="428625"/>
            <a:ext cx="5120512" cy="116300"/>
          </a:xfrm>
          <a:prstGeom prst="rect">
            <a:avLst/>
          </a:prstGeom>
          <a:solidFill>
            <a:srgbClr val="4D2CC4"/>
          </a:solidFill>
          <a:ln/>
        </p:spPr>
      </p:sp>
      <p:sp>
        <p:nvSpPr>
          <p:cNvPr id="7" name="Shape 5"/>
          <p:cNvSpPr/>
          <p:nvPr/>
        </p:nvSpPr>
        <p:spPr>
          <a:xfrm>
            <a:off x="7071183" y="535781"/>
            <a:ext cx="5120512" cy="116300"/>
          </a:xfrm>
          <a:prstGeom prst="rect">
            <a:avLst/>
          </a:prstGeom>
          <a:solidFill>
            <a:srgbClr val="4C2DC4"/>
          </a:solidFill>
          <a:ln/>
        </p:spPr>
      </p:sp>
      <p:sp>
        <p:nvSpPr>
          <p:cNvPr id="8" name="Shape 6"/>
          <p:cNvSpPr/>
          <p:nvPr/>
        </p:nvSpPr>
        <p:spPr>
          <a:xfrm>
            <a:off x="7071183" y="642938"/>
            <a:ext cx="5120512" cy="116300"/>
          </a:xfrm>
          <a:prstGeom prst="rect">
            <a:avLst/>
          </a:prstGeom>
          <a:solidFill>
            <a:srgbClr val="4B2EC5"/>
          </a:solidFill>
          <a:ln/>
        </p:spPr>
      </p:sp>
      <p:sp>
        <p:nvSpPr>
          <p:cNvPr id="9" name="Shape 7"/>
          <p:cNvSpPr/>
          <p:nvPr/>
        </p:nvSpPr>
        <p:spPr>
          <a:xfrm>
            <a:off x="7071183" y="750094"/>
            <a:ext cx="5120512" cy="116300"/>
          </a:xfrm>
          <a:prstGeom prst="rect">
            <a:avLst/>
          </a:prstGeom>
          <a:solidFill>
            <a:srgbClr val="4A2FC5"/>
          </a:solidFill>
          <a:ln/>
        </p:spPr>
      </p:sp>
      <p:sp>
        <p:nvSpPr>
          <p:cNvPr id="10" name="Shape 8"/>
          <p:cNvSpPr/>
          <p:nvPr/>
        </p:nvSpPr>
        <p:spPr>
          <a:xfrm>
            <a:off x="7071183" y="857250"/>
            <a:ext cx="5120512" cy="116300"/>
          </a:xfrm>
          <a:prstGeom prst="rect">
            <a:avLst/>
          </a:prstGeom>
          <a:solidFill>
            <a:srgbClr val="4930C6"/>
          </a:solidFill>
          <a:ln/>
        </p:spPr>
      </p:sp>
      <p:sp>
        <p:nvSpPr>
          <p:cNvPr id="11" name="Shape 9"/>
          <p:cNvSpPr/>
          <p:nvPr/>
        </p:nvSpPr>
        <p:spPr>
          <a:xfrm>
            <a:off x="7071183" y="964406"/>
            <a:ext cx="5120512" cy="116300"/>
          </a:xfrm>
          <a:prstGeom prst="rect">
            <a:avLst/>
          </a:prstGeom>
          <a:solidFill>
            <a:srgbClr val="4831C6"/>
          </a:solidFill>
          <a:ln/>
        </p:spPr>
      </p:sp>
      <p:sp>
        <p:nvSpPr>
          <p:cNvPr id="12" name="Shape 10"/>
          <p:cNvSpPr/>
          <p:nvPr/>
        </p:nvSpPr>
        <p:spPr>
          <a:xfrm>
            <a:off x="7071183" y="1071563"/>
            <a:ext cx="5120512" cy="116300"/>
          </a:xfrm>
          <a:prstGeom prst="rect">
            <a:avLst/>
          </a:prstGeom>
          <a:solidFill>
            <a:srgbClr val="4732C6"/>
          </a:solidFill>
          <a:ln/>
        </p:spPr>
      </p:sp>
      <p:sp>
        <p:nvSpPr>
          <p:cNvPr id="13" name="Shape 11"/>
          <p:cNvSpPr/>
          <p:nvPr/>
        </p:nvSpPr>
        <p:spPr>
          <a:xfrm>
            <a:off x="7071183" y="1178719"/>
            <a:ext cx="5120512" cy="116300"/>
          </a:xfrm>
          <a:prstGeom prst="rect">
            <a:avLst/>
          </a:prstGeom>
          <a:solidFill>
            <a:srgbClr val="4733C7"/>
          </a:solidFill>
          <a:ln/>
        </p:spPr>
      </p:sp>
      <p:sp>
        <p:nvSpPr>
          <p:cNvPr id="14" name="Shape 12"/>
          <p:cNvSpPr/>
          <p:nvPr/>
        </p:nvSpPr>
        <p:spPr>
          <a:xfrm>
            <a:off x="7071183" y="1285875"/>
            <a:ext cx="5120512" cy="116300"/>
          </a:xfrm>
          <a:prstGeom prst="rect">
            <a:avLst/>
          </a:prstGeom>
          <a:solidFill>
            <a:srgbClr val="4634C7"/>
          </a:solidFill>
          <a:ln/>
        </p:spPr>
      </p:sp>
      <p:sp>
        <p:nvSpPr>
          <p:cNvPr id="15" name="Shape 13"/>
          <p:cNvSpPr/>
          <p:nvPr/>
        </p:nvSpPr>
        <p:spPr>
          <a:xfrm>
            <a:off x="7071183" y="1393031"/>
            <a:ext cx="5120512" cy="116300"/>
          </a:xfrm>
          <a:prstGeom prst="rect">
            <a:avLst/>
          </a:prstGeom>
          <a:solidFill>
            <a:srgbClr val="4535C8"/>
          </a:solidFill>
          <a:ln/>
        </p:spPr>
      </p:sp>
      <p:sp>
        <p:nvSpPr>
          <p:cNvPr id="16" name="Shape 14"/>
          <p:cNvSpPr/>
          <p:nvPr/>
        </p:nvSpPr>
        <p:spPr>
          <a:xfrm>
            <a:off x="7071183" y="1500188"/>
            <a:ext cx="5120512" cy="116300"/>
          </a:xfrm>
          <a:prstGeom prst="rect">
            <a:avLst/>
          </a:prstGeom>
          <a:solidFill>
            <a:srgbClr val="4436C8"/>
          </a:solidFill>
          <a:ln/>
        </p:spPr>
      </p:sp>
      <p:sp>
        <p:nvSpPr>
          <p:cNvPr id="17" name="Shape 15"/>
          <p:cNvSpPr/>
          <p:nvPr/>
        </p:nvSpPr>
        <p:spPr>
          <a:xfrm>
            <a:off x="7071183" y="1607344"/>
            <a:ext cx="5120512" cy="116300"/>
          </a:xfrm>
          <a:prstGeom prst="rect">
            <a:avLst/>
          </a:prstGeom>
          <a:solidFill>
            <a:srgbClr val="4337C9"/>
          </a:solidFill>
          <a:ln/>
        </p:spPr>
      </p:sp>
      <p:sp>
        <p:nvSpPr>
          <p:cNvPr id="18" name="Shape 16"/>
          <p:cNvSpPr/>
          <p:nvPr/>
        </p:nvSpPr>
        <p:spPr>
          <a:xfrm>
            <a:off x="7071183" y="1714500"/>
            <a:ext cx="5120512" cy="116300"/>
          </a:xfrm>
          <a:prstGeom prst="rect">
            <a:avLst/>
          </a:prstGeom>
          <a:solidFill>
            <a:srgbClr val="4238C9"/>
          </a:solidFill>
          <a:ln/>
        </p:spPr>
      </p:sp>
      <p:sp>
        <p:nvSpPr>
          <p:cNvPr id="19" name="Shape 17"/>
          <p:cNvSpPr/>
          <p:nvPr/>
        </p:nvSpPr>
        <p:spPr>
          <a:xfrm>
            <a:off x="7071183" y="1821656"/>
            <a:ext cx="5120512" cy="116300"/>
          </a:xfrm>
          <a:prstGeom prst="rect">
            <a:avLst/>
          </a:prstGeom>
          <a:solidFill>
            <a:srgbClr val="4139CA"/>
          </a:solidFill>
          <a:ln/>
        </p:spPr>
      </p:sp>
      <p:sp>
        <p:nvSpPr>
          <p:cNvPr id="20" name="Shape 18"/>
          <p:cNvSpPr/>
          <p:nvPr/>
        </p:nvSpPr>
        <p:spPr>
          <a:xfrm>
            <a:off x="7071183" y="1928813"/>
            <a:ext cx="5120512" cy="116300"/>
          </a:xfrm>
          <a:prstGeom prst="rect">
            <a:avLst/>
          </a:prstGeom>
          <a:solidFill>
            <a:srgbClr val="413ACA"/>
          </a:solidFill>
          <a:ln/>
        </p:spPr>
      </p:sp>
      <p:sp>
        <p:nvSpPr>
          <p:cNvPr id="21" name="Shape 19"/>
          <p:cNvSpPr/>
          <p:nvPr/>
        </p:nvSpPr>
        <p:spPr>
          <a:xfrm>
            <a:off x="7071183" y="2035969"/>
            <a:ext cx="5120512" cy="116300"/>
          </a:xfrm>
          <a:prstGeom prst="rect">
            <a:avLst/>
          </a:prstGeom>
          <a:solidFill>
            <a:srgbClr val="403BCA"/>
          </a:solidFill>
          <a:ln/>
        </p:spPr>
      </p:sp>
      <p:sp>
        <p:nvSpPr>
          <p:cNvPr id="22" name="Shape 20"/>
          <p:cNvSpPr/>
          <p:nvPr/>
        </p:nvSpPr>
        <p:spPr>
          <a:xfrm>
            <a:off x="7071183" y="2143125"/>
            <a:ext cx="5120512" cy="116300"/>
          </a:xfrm>
          <a:prstGeom prst="rect">
            <a:avLst/>
          </a:prstGeom>
          <a:solidFill>
            <a:srgbClr val="3F3CCB"/>
          </a:solidFill>
          <a:ln/>
        </p:spPr>
      </p:sp>
      <p:sp>
        <p:nvSpPr>
          <p:cNvPr id="23" name="Shape 21"/>
          <p:cNvSpPr/>
          <p:nvPr/>
        </p:nvSpPr>
        <p:spPr>
          <a:xfrm>
            <a:off x="7071183" y="2250281"/>
            <a:ext cx="5120512" cy="116300"/>
          </a:xfrm>
          <a:prstGeom prst="rect">
            <a:avLst/>
          </a:prstGeom>
          <a:solidFill>
            <a:srgbClr val="3E3DCB"/>
          </a:solidFill>
          <a:ln/>
        </p:spPr>
      </p:sp>
      <p:sp>
        <p:nvSpPr>
          <p:cNvPr id="24" name="Shape 22"/>
          <p:cNvSpPr/>
          <p:nvPr/>
        </p:nvSpPr>
        <p:spPr>
          <a:xfrm>
            <a:off x="7071183" y="2357438"/>
            <a:ext cx="5120512" cy="116300"/>
          </a:xfrm>
          <a:prstGeom prst="rect">
            <a:avLst/>
          </a:prstGeom>
          <a:solidFill>
            <a:srgbClr val="3D3ECC"/>
          </a:solidFill>
          <a:ln/>
        </p:spPr>
      </p:sp>
      <p:sp>
        <p:nvSpPr>
          <p:cNvPr id="25" name="Shape 23"/>
          <p:cNvSpPr/>
          <p:nvPr/>
        </p:nvSpPr>
        <p:spPr>
          <a:xfrm>
            <a:off x="7071183" y="2464594"/>
            <a:ext cx="5120512" cy="116300"/>
          </a:xfrm>
          <a:prstGeom prst="rect">
            <a:avLst/>
          </a:prstGeom>
          <a:solidFill>
            <a:srgbClr val="3C3FCC"/>
          </a:solidFill>
          <a:ln/>
        </p:spPr>
      </p:sp>
      <p:sp>
        <p:nvSpPr>
          <p:cNvPr id="26" name="Shape 24"/>
          <p:cNvSpPr/>
          <p:nvPr/>
        </p:nvSpPr>
        <p:spPr>
          <a:xfrm>
            <a:off x="7071183" y="2571750"/>
            <a:ext cx="5120512" cy="116300"/>
          </a:xfrm>
          <a:prstGeom prst="rect">
            <a:avLst/>
          </a:prstGeom>
          <a:solidFill>
            <a:srgbClr val="3B40CD"/>
          </a:solidFill>
          <a:ln/>
        </p:spPr>
      </p:sp>
      <p:sp>
        <p:nvSpPr>
          <p:cNvPr id="27" name="Shape 25"/>
          <p:cNvSpPr/>
          <p:nvPr/>
        </p:nvSpPr>
        <p:spPr>
          <a:xfrm>
            <a:off x="7071183" y="2678906"/>
            <a:ext cx="5120512" cy="116300"/>
          </a:xfrm>
          <a:prstGeom prst="rect">
            <a:avLst/>
          </a:prstGeom>
          <a:solidFill>
            <a:srgbClr val="3B41CD"/>
          </a:solidFill>
          <a:ln/>
        </p:spPr>
      </p:sp>
      <p:sp>
        <p:nvSpPr>
          <p:cNvPr id="28" name="Shape 26"/>
          <p:cNvSpPr/>
          <p:nvPr/>
        </p:nvSpPr>
        <p:spPr>
          <a:xfrm>
            <a:off x="7071183" y="2786063"/>
            <a:ext cx="5120512" cy="116300"/>
          </a:xfrm>
          <a:prstGeom prst="rect">
            <a:avLst/>
          </a:prstGeom>
          <a:solidFill>
            <a:srgbClr val="3A42CE"/>
          </a:solidFill>
          <a:ln/>
        </p:spPr>
      </p:sp>
      <p:sp>
        <p:nvSpPr>
          <p:cNvPr id="29" name="Shape 27"/>
          <p:cNvSpPr/>
          <p:nvPr/>
        </p:nvSpPr>
        <p:spPr>
          <a:xfrm>
            <a:off x="7071183" y="2893219"/>
            <a:ext cx="5120512" cy="116300"/>
          </a:xfrm>
          <a:prstGeom prst="rect">
            <a:avLst/>
          </a:prstGeom>
          <a:solidFill>
            <a:srgbClr val="3943CE"/>
          </a:solidFill>
          <a:ln/>
        </p:spPr>
      </p:sp>
      <p:sp>
        <p:nvSpPr>
          <p:cNvPr id="30" name="Shape 28"/>
          <p:cNvSpPr/>
          <p:nvPr/>
        </p:nvSpPr>
        <p:spPr>
          <a:xfrm>
            <a:off x="7071183" y="3000375"/>
            <a:ext cx="5120512" cy="116300"/>
          </a:xfrm>
          <a:prstGeom prst="rect">
            <a:avLst/>
          </a:prstGeom>
          <a:solidFill>
            <a:srgbClr val="3844CE"/>
          </a:solidFill>
          <a:ln/>
        </p:spPr>
      </p:sp>
      <p:sp>
        <p:nvSpPr>
          <p:cNvPr id="31" name="Shape 29"/>
          <p:cNvSpPr/>
          <p:nvPr/>
        </p:nvSpPr>
        <p:spPr>
          <a:xfrm>
            <a:off x="7071183" y="3107531"/>
            <a:ext cx="5120512" cy="116300"/>
          </a:xfrm>
          <a:prstGeom prst="rect">
            <a:avLst/>
          </a:prstGeom>
          <a:solidFill>
            <a:srgbClr val="3745CF"/>
          </a:solidFill>
          <a:ln/>
        </p:spPr>
      </p:sp>
      <p:sp>
        <p:nvSpPr>
          <p:cNvPr id="32" name="Shape 30"/>
          <p:cNvSpPr/>
          <p:nvPr/>
        </p:nvSpPr>
        <p:spPr>
          <a:xfrm>
            <a:off x="7071183" y="3214688"/>
            <a:ext cx="5120512" cy="116300"/>
          </a:xfrm>
          <a:prstGeom prst="rect">
            <a:avLst/>
          </a:prstGeom>
          <a:solidFill>
            <a:srgbClr val="3646CF"/>
          </a:solidFill>
          <a:ln/>
        </p:spPr>
      </p:sp>
      <p:sp>
        <p:nvSpPr>
          <p:cNvPr id="33" name="Shape 31"/>
          <p:cNvSpPr/>
          <p:nvPr/>
        </p:nvSpPr>
        <p:spPr>
          <a:xfrm>
            <a:off x="7071183" y="3321844"/>
            <a:ext cx="5120512" cy="116300"/>
          </a:xfrm>
          <a:prstGeom prst="rect">
            <a:avLst/>
          </a:prstGeom>
          <a:solidFill>
            <a:srgbClr val="3547D0"/>
          </a:solidFill>
          <a:ln/>
        </p:spPr>
      </p:sp>
      <p:sp>
        <p:nvSpPr>
          <p:cNvPr id="34" name="Shape 32"/>
          <p:cNvSpPr/>
          <p:nvPr/>
        </p:nvSpPr>
        <p:spPr>
          <a:xfrm>
            <a:off x="7071183" y="3429000"/>
            <a:ext cx="5120512" cy="116300"/>
          </a:xfrm>
          <a:prstGeom prst="rect">
            <a:avLst/>
          </a:prstGeom>
          <a:solidFill>
            <a:srgbClr val="3549D0"/>
          </a:solidFill>
          <a:ln/>
        </p:spPr>
      </p:sp>
      <p:sp>
        <p:nvSpPr>
          <p:cNvPr id="35" name="Shape 33"/>
          <p:cNvSpPr/>
          <p:nvPr/>
        </p:nvSpPr>
        <p:spPr>
          <a:xfrm>
            <a:off x="7071183" y="3536156"/>
            <a:ext cx="5120512" cy="116300"/>
          </a:xfrm>
          <a:prstGeom prst="rect">
            <a:avLst/>
          </a:prstGeom>
          <a:solidFill>
            <a:srgbClr val="344ACF"/>
          </a:solidFill>
          <a:ln/>
        </p:spPr>
      </p:sp>
      <p:sp>
        <p:nvSpPr>
          <p:cNvPr id="36" name="Shape 34"/>
          <p:cNvSpPr/>
          <p:nvPr/>
        </p:nvSpPr>
        <p:spPr>
          <a:xfrm>
            <a:off x="7071183" y="3643313"/>
            <a:ext cx="5120512" cy="116300"/>
          </a:xfrm>
          <a:prstGeom prst="rect">
            <a:avLst/>
          </a:prstGeom>
          <a:solidFill>
            <a:srgbClr val="334BCF"/>
          </a:solidFill>
          <a:ln/>
        </p:spPr>
      </p:sp>
      <p:sp>
        <p:nvSpPr>
          <p:cNvPr id="37" name="Shape 35"/>
          <p:cNvSpPr/>
          <p:nvPr/>
        </p:nvSpPr>
        <p:spPr>
          <a:xfrm>
            <a:off x="7071183" y="3750469"/>
            <a:ext cx="5120512" cy="116300"/>
          </a:xfrm>
          <a:prstGeom prst="rect">
            <a:avLst/>
          </a:prstGeom>
          <a:solidFill>
            <a:srgbClr val="324CCE"/>
          </a:solidFill>
          <a:ln/>
        </p:spPr>
      </p:sp>
      <p:sp>
        <p:nvSpPr>
          <p:cNvPr id="38" name="Shape 36"/>
          <p:cNvSpPr/>
          <p:nvPr/>
        </p:nvSpPr>
        <p:spPr>
          <a:xfrm>
            <a:off x="7071183" y="3857625"/>
            <a:ext cx="5120512" cy="116300"/>
          </a:xfrm>
          <a:prstGeom prst="rect">
            <a:avLst/>
          </a:prstGeom>
          <a:solidFill>
            <a:srgbClr val="314ECD"/>
          </a:solidFill>
          <a:ln/>
        </p:spPr>
      </p:sp>
      <p:sp>
        <p:nvSpPr>
          <p:cNvPr id="39" name="Shape 37"/>
          <p:cNvSpPr/>
          <p:nvPr/>
        </p:nvSpPr>
        <p:spPr>
          <a:xfrm>
            <a:off x="7071183" y="3964781"/>
            <a:ext cx="5120512" cy="116300"/>
          </a:xfrm>
          <a:prstGeom prst="rect">
            <a:avLst/>
          </a:prstGeom>
          <a:solidFill>
            <a:srgbClr val="304FCD"/>
          </a:solidFill>
          <a:ln/>
        </p:spPr>
      </p:sp>
      <p:sp>
        <p:nvSpPr>
          <p:cNvPr id="40" name="Shape 38"/>
          <p:cNvSpPr/>
          <p:nvPr/>
        </p:nvSpPr>
        <p:spPr>
          <a:xfrm>
            <a:off x="7071183" y="4071938"/>
            <a:ext cx="5120512" cy="116300"/>
          </a:xfrm>
          <a:prstGeom prst="rect">
            <a:avLst/>
          </a:prstGeom>
          <a:solidFill>
            <a:srgbClr val="2F50CC"/>
          </a:solidFill>
          <a:ln/>
        </p:spPr>
      </p:sp>
      <p:sp>
        <p:nvSpPr>
          <p:cNvPr id="41" name="Shape 39"/>
          <p:cNvSpPr/>
          <p:nvPr/>
        </p:nvSpPr>
        <p:spPr>
          <a:xfrm>
            <a:off x="7071183" y="4179094"/>
            <a:ext cx="5120512" cy="116300"/>
          </a:xfrm>
          <a:prstGeom prst="rect">
            <a:avLst/>
          </a:prstGeom>
          <a:solidFill>
            <a:srgbClr val="2F51CC"/>
          </a:solidFill>
          <a:ln/>
        </p:spPr>
      </p:sp>
      <p:sp>
        <p:nvSpPr>
          <p:cNvPr id="42" name="Shape 40"/>
          <p:cNvSpPr/>
          <p:nvPr/>
        </p:nvSpPr>
        <p:spPr>
          <a:xfrm>
            <a:off x="7071183" y="4286250"/>
            <a:ext cx="5120512" cy="116300"/>
          </a:xfrm>
          <a:prstGeom prst="rect">
            <a:avLst/>
          </a:prstGeom>
          <a:solidFill>
            <a:srgbClr val="2E53CB"/>
          </a:solidFill>
          <a:ln/>
        </p:spPr>
      </p:sp>
      <p:sp>
        <p:nvSpPr>
          <p:cNvPr id="43" name="Shape 41"/>
          <p:cNvSpPr/>
          <p:nvPr/>
        </p:nvSpPr>
        <p:spPr>
          <a:xfrm>
            <a:off x="7071183" y="4393406"/>
            <a:ext cx="5120512" cy="116300"/>
          </a:xfrm>
          <a:prstGeom prst="rect">
            <a:avLst/>
          </a:prstGeom>
          <a:solidFill>
            <a:srgbClr val="2D54CB"/>
          </a:solidFill>
          <a:ln/>
        </p:spPr>
      </p:sp>
      <p:sp>
        <p:nvSpPr>
          <p:cNvPr id="44" name="Shape 42"/>
          <p:cNvSpPr/>
          <p:nvPr/>
        </p:nvSpPr>
        <p:spPr>
          <a:xfrm>
            <a:off x="7071183" y="4500563"/>
            <a:ext cx="5120512" cy="116300"/>
          </a:xfrm>
          <a:prstGeom prst="rect">
            <a:avLst/>
          </a:prstGeom>
          <a:solidFill>
            <a:srgbClr val="2C55CA"/>
          </a:solidFill>
          <a:ln/>
        </p:spPr>
      </p:sp>
      <p:sp>
        <p:nvSpPr>
          <p:cNvPr id="45" name="Shape 43"/>
          <p:cNvSpPr/>
          <p:nvPr/>
        </p:nvSpPr>
        <p:spPr>
          <a:xfrm>
            <a:off x="7071183" y="4607719"/>
            <a:ext cx="5120512" cy="116300"/>
          </a:xfrm>
          <a:prstGeom prst="rect">
            <a:avLst/>
          </a:prstGeom>
          <a:solidFill>
            <a:srgbClr val="2B56C9"/>
          </a:solidFill>
          <a:ln/>
        </p:spPr>
      </p:sp>
      <p:sp>
        <p:nvSpPr>
          <p:cNvPr id="46" name="Shape 44"/>
          <p:cNvSpPr/>
          <p:nvPr/>
        </p:nvSpPr>
        <p:spPr>
          <a:xfrm>
            <a:off x="7071183" y="4714875"/>
            <a:ext cx="5120512" cy="116300"/>
          </a:xfrm>
          <a:prstGeom prst="rect">
            <a:avLst/>
          </a:prstGeom>
          <a:solidFill>
            <a:srgbClr val="2A57C9"/>
          </a:solidFill>
          <a:ln/>
        </p:spPr>
      </p:sp>
      <p:sp>
        <p:nvSpPr>
          <p:cNvPr id="47" name="Shape 45"/>
          <p:cNvSpPr/>
          <p:nvPr/>
        </p:nvSpPr>
        <p:spPr>
          <a:xfrm>
            <a:off x="7071183" y="4822031"/>
            <a:ext cx="5120512" cy="116300"/>
          </a:xfrm>
          <a:prstGeom prst="rect">
            <a:avLst/>
          </a:prstGeom>
          <a:solidFill>
            <a:srgbClr val="2959C8"/>
          </a:solidFill>
          <a:ln/>
        </p:spPr>
      </p:sp>
      <p:sp>
        <p:nvSpPr>
          <p:cNvPr id="48" name="Shape 46"/>
          <p:cNvSpPr/>
          <p:nvPr/>
        </p:nvSpPr>
        <p:spPr>
          <a:xfrm>
            <a:off x="7071183" y="4929188"/>
            <a:ext cx="5120512" cy="116300"/>
          </a:xfrm>
          <a:prstGeom prst="rect">
            <a:avLst/>
          </a:prstGeom>
          <a:solidFill>
            <a:srgbClr val="295AC8"/>
          </a:solidFill>
          <a:ln/>
        </p:spPr>
      </p:sp>
      <p:sp>
        <p:nvSpPr>
          <p:cNvPr id="49" name="Shape 47"/>
          <p:cNvSpPr/>
          <p:nvPr/>
        </p:nvSpPr>
        <p:spPr>
          <a:xfrm>
            <a:off x="7071183" y="5036344"/>
            <a:ext cx="5120512" cy="116300"/>
          </a:xfrm>
          <a:prstGeom prst="rect">
            <a:avLst/>
          </a:prstGeom>
          <a:solidFill>
            <a:srgbClr val="285BC7"/>
          </a:solidFill>
          <a:ln/>
        </p:spPr>
      </p:sp>
      <p:sp>
        <p:nvSpPr>
          <p:cNvPr id="50" name="Shape 48"/>
          <p:cNvSpPr/>
          <p:nvPr/>
        </p:nvSpPr>
        <p:spPr>
          <a:xfrm>
            <a:off x="7071183" y="5143500"/>
            <a:ext cx="5120512" cy="116300"/>
          </a:xfrm>
          <a:prstGeom prst="rect">
            <a:avLst/>
          </a:prstGeom>
          <a:solidFill>
            <a:srgbClr val="275CC7"/>
          </a:solidFill>
          <a:ln/>
        </p:spPr>
      </p:sp>
      <p:sp>
        <p:nvSpPr>
          <p:cNvPr id="51" name="Shape 49"/>
          <p:cNvSpPr/>
          <p:nvPr/>
        </p:nvSpPr>
        <p:spPr>
          <a:xfrm>
            <a:off x="7071183" y="5250656"/>
            <a:ext cx="5120512" cy="116300"/>
          </a:xfrm>
          <a:prstGeom prst="rect">
            <a:avLst/>
          </a:prstGeom>
          <a:solidFill>
            <a:srgbClr val="265EC6"/>
          </a:solidFill>
          <a:ln/>
        </p:spPr>
      </p:sp>
      <p:sp>
        <p:nvSpPr>
          <p:cNvPr id="52" name="Shape 50"/>
          <p:cNvSpPr/>
          <p:nvPr/>
        </p:nvSpPr>
        <p:spPr>
          <a:xfrm>
            <a:off x="7071183" y="5357813"/>
            <a:ext cx="5120512" cy="116300"/>
          </a:xfrm>
          <a:prstGeom prst="rect">
            <a:avLst/>
          </a:prstGeom>
          <a:solidFill>
            <a:srgbClr val="255FC5"/>
          </a:solidFill>
          <a:ln/>
        </p:spPr>
      </p:sp>
      <p:sp>
        <p:nvSpPr>
          <p:cNvPr id="53" name="Shape 51"/>
          <p:cNvSpPr/>
          <p:nvPr/>
        </p:nvSpPr>
        <p:spPr>
          <a:xfrm>
            <a:off x="7071183" y="5464969"/>
            <a:ext cx="5120512" cy="116300"/>
          </a:xfrm>
          <a:prstGeom prst="rect">
            <a:avLst/>
          </a:prstGeom>
          <a:solidFill>
            <a:srgbClr val="2460C5"/>
          </a:solidFill>
          <a:ln/>
        </p:spPr>
      </p:sp>
      <p:sp>
        <p:nvSpPr>
          <p:cNvPr id="54" name="Shape 52"/>
          <p:cNvSpPr/>
          <p:nvPr/>
        </p:nvSpPr>
        <p:spPr>
          <a:xfrm>
            <a:off x="7071183" y="5572125"/>
            <a:ext cx="5120512" cy="116300"/>
          </a:xfrm>
          <a:prstGeom prst="rect">
            <a:avLst/>
          </a:prstGeom>
          <a:solidFill>
            <a:srgbClr val="2361C4"/>
          </a:solidFill>
          <a:ln/>
        </p:spPr>
      </p:sp>
      <p:sp>
        <p:nvSpPr>
          <p:cNvPr id="55" name="Shape 53"/>
          <p:cNvSpPr/>
          <p:nvPr/>
        </p:nvSpPr>
        <p:spPr>
          <a:xfrm>
            <a:off x="7071183" y="5679281"/>
            <a:ext cx="5120512" cy="116300"/>
          </a:xfrm>
          <a:prstGeom prst="rect">
            <a:avLst/>
          </a:prstGeom>
          <a:solidFill>
            <a:srgbClr val="2363C4"/>
          </a:solidFill>
          <a:ln/>
        </p:spPr>
      </p:sp>
      <p:sp>
        <p:nvSpPr>
          <p:cNvPr id="56" name="Shape 54"/>
          <p:cNvSpPr/>
          <p:nvPr/>
        </p:nvSpPr>
        <p:spPr>
          <a:xfrm>
            <a:off x="7071183" y="5786438"/>
            <a:ext cx="5120512" cy="116300"/>
          </a:xfrm>
          <a:prstGeom prst="rect">
            <a:avLst/>
          </a:prstGeom>
          <a:solidFill>
            <a:srgbClr val="2264C3"/>
          </a:solidFill>
          <a:ln/>
        </p:spPr>
      </p:sp>
      <p:sp>
        <p:nvSpPr>
          <p:cNvPr id="57" name="Shape 55"/>
          <p:cNvSpPr/>
          <p:nvPr/>
        </p:nvSpPr>
        <p:spPr>
          <a:xfrm>
            <a:off x="7071183" y="5893594"/>
            <a:ext cx="5120512" cy="116300"/>
          </a:xfrm>
          <a:prstGeom prst="rect">
            <a:avLst/>
          </a:prstGeom>
          <a:solidFill>
            <a:srgbClr val="2165C3"/>
          </a:solidFill>
          <a:ln/>
        </p:spPr>
      </p:sp>
      <p:sp>
        <p:nvSpPr>
          <p:cNvPr id="58" name="Shape 56"/>
          <p:cNvSpPr/>
          <p:nvPr/>
        </p:nvSpPr>
        <p:spPr>
          <a:xfrm>
            <a:off x="7071183" y="6000750"/>
            <a:ext cx="5120512" cy="116300"/>
          </a:xfrm>
          <a:prstGeom prst="rect">
            <a:avLst/>
          </a:prstGeom>
          <a:solidFill>
            <a:srgbClr val="2066C2"/>
          </a:solidFill>
          <a:ln/>
        </p:spPr>
      </p:sp>
      <p:sp>
        <p:nvSpPr>
          <p:cNvPr id="59" name="Shape 57"/>
          <p:cNvSpPr/>
          <p:nvPr/>
        </p:nvSpPr>
        <p:spPr>
          <a:xfrm>
            <a:off x="7071183" y="6107906"/>
            <a:ext cx="5120512" cy="116300"/>
          </a:xfrm>
          <a:prstGeom prst="rect">
            <a:avLst/>
          </a:prstGeom>
          <a:solidFill>
            <a:srgbClr val="1F68C1"/>
          </a:solidFill>
          <a:ln/>
        </p:spPr>
      </p:sp>
      <p:sp>
        <p:nvSpPr>
          <p:cNvPr id="60" name="Shape 58"/>
          <p:cNvSpPr/>
          <p:nvPr/>
        </p:nvSpPr>
        <p:spPr>
          <a:xfrm>
            <a:off x="7071183" y="6215063"/>
            <a:ext cx="5120512" cy="116300"/>
          </a:xfrm>
          <a:prstGeom prst="rect">
            <a:avLst/>
          </a:prstGeom>
          <a:solidFill>
            <a:srgbClr val="1E69C1"/>
          </a:solidFill>
          <a:ln/>
        </p:spPr>
      </p:sp>
      <p:sp>
        <p:nvSpPr>
          <p:cNvPr id="61" name="Shape 59"/>
          <p:cNvSpPr/>
          <p:nvPr/>
        </p:nvSpPr>
        <p:spPr>
          <a:xfrm>
            <a:off x="7071183" y="6322219"/>
            <a:ext cx="5120512" cy="116300"/>
          </a:xfrm>
          <a:prstGeom prst="rect">
            <a:avLst/>
          </a:prstGeom>
          <a:solidFill>
            <a:srgbClr val="1D6AC0"/>
          </a:solidFill>
          <a:ln/>
        </p:spPr>
      </p:sp>
      <p:sp>
        <p:nvSpPr>
          <p:cNvPr id="62" name="Shape 60"/>
          <p:cNvSpPr/>
          <p:nvPr/>
        </p:nvSpPr>
        <p:spPr>
          <a:xfrm>
            <a:off x="7071183" y="6429375"/>
            <a:ext cx="5120512" cy="116300"/>
          </a:xfrm>
          <a:prstGeom prst="rect">
            <a:avLst/>
          </a:prstGeom>
          <a:solidFill>
            <a:srgbClr val="1D6BC0"/>
          </a:solidFill>
          <a:ln/>
        </p:spPr>
      </p:sp>
      <p:sp>
        <p:nvSpPr>
          <p:cNvPr id="63" name="Shape 61"/>
          <p:cNvSpPr/>
          <p:nvPr/>
        </p:nvSpPr>
        <p:spPr>
          <a:xfrm>
            <a:off x="7071183" y="6536531"/>
            <a:ext cx="5120512" cy="116300"/>
          </a:xfrm>
          <a:prstGeom prst="rect">
            <a:avLst/>
          </a:prstGeom>
          <a:solidFill>
            <a:srgbClr val="1C6DBF"/>
          </a:solidFill>
          <a:ln/>
        </p:spPr>
      </p:sp>
      <p:sp>
        <p:nvSpPr>
          <p:cNvPr id="64" name="Shape 62"/>
          <p:cNvSpPr/>
          <p:nvPr/>
        </p:nvSpPr>
        <p:spPr>
          <a:xfrm>
            <a:off x="7071183" y="6643688"/>
            <a:ext cx="5120512" cy="116300"/>
          </a:xfrm>
          <a:prstGeom prst="rect">
            <a:avLst/>
          </a:prstGeom>
          <a:solidFill>
            <a:srgbClr val="1B6EBF"/>
          </a:solidFill>
          <a:ln/>
        </p:spPr>
      </p:sp>
      <p:sp>
        <p:nvSpPr>
          <p:cNvPr id="65" name="Shape 63"/>
          <p:cNvSpPr/>
          <p:nvPr/>
        </p:nvSpPr>
        <p:spPr>
          <a:xfrm>
            <a:off x="7071183" y="6750844"/>
            <a:ext cx="5120512" cy="116300"/>
          </a:xfrm>
          <a:prstGeom prst="rect">
            <a:avLst/>
          </a:prstGeom>
          <a:solidFill>
            <a:srgbClr val="1A6FBE"/>
          </a:solidFill>
          <a:ln/>
        </p:spPr>
      </p:sp>
      <p:sp>
        <p:nvSpPr>
          <p:cNvPr id="66" name="Text 64"/>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THE PAIN</a:t>
            </a:r>
            <a:endParaRPr lang="en-US" sz="1100" dirty="0"/>
          </a:p>
        </p:txBody>
      </p:sp>
      <p:sp>
        <p:nvSpPr>
          <p:cNvPr id="67" name="Text 65"/>
          <p:cNvSpPr/>
          <p:nvPr/>
        </p:nvSpPr>
        <p:spPr>
          <a:xfrm>
            <a:off x="548640" y="1417320"/>
            <a:ext cx="6156783" cy="2194560"/>
          </a:xfrm>
          <a:prstGeom prst="rect">
            <a:avLst/>
          </a:prstGeom>
          <a:noFill/>
          <a:ln/>
        </p:spPr>
        <p:txBody>
          <a:bodyPr wrap="square" lIns="0" tIns="0" rIns="0" bIns="0" rtlCol="0" anchor="t"/>
          <a:lstStyle/>
          <a:p>
            <a:pPr algn="l" indent="0" marL="0">
              <a:buNone/>
            </a:pPr>
            <a:r>
              <a:rPr lang="en-US" sz="4200" b="1" spc="-50" kern="0" dirty="0">
                <a:solidFill>
                  <a:srgbClr val="0F1733"/>
                </a:solidFill>
                <a:latin typeface="Calibri" pitchFamily="34" charset="0"/>
                <a:ea typeface="Calibri" pitchFamily="34" charset="-122"/>
                <a:cs typeface="Calibri" pitchFamily="34" charset="-120"/>
              </a:rPr>
              <a:t>Outreach is a full-time job — for a part of the job no one asked for.</a:t>
            </a:r>
            <a:endParaRPr lang="en-US" sz="4200" dirty="0"/>
          </a:p>
        </p:txBody>
      </p:sp>
      <p:sp>
        <p:nvSpPr>
          <p:cNvPr id="68" name="Text 66"/>
          <p:cNvSpPr/>
          <p:nvPr/>
        </p:nvSpPr>
        <p:spPr>
          <a:xfrm>
            <a:off x="548640" y="3657600"/>
            <a:ext cx="6156783" cy="2377440"/>
          </a:xfrm>
          <a:prstGeom prst="rect">
            <a:avLst/>
          </a:prstGeom>
          <a:noFill/>
          <a:ln/>
        </p:spPr>
        <p:txBody>
          <a:bodyPr wrap="square" lIns="0" tIns="0" rIns="0" bIns="0" rtlCol="0" anchor="t"/>
          <a:lstStyle/>
          <a:p>
            <a:pPr algn="l" indent="0" marL="0">
              <a:spcAft>
                <a:spcPts val="800"/>
              </a:spcAft>
              <a:buNone/>
            </a:pPr>
            <a:r>
              <a:rPr lang="en-US" sz="1500" dirty="0">
                <a:solidFill>
                  <a:srgbClr val="2A3358"/>
                </a:solidFill>
                <a:latin typeface="Calibri" pitchFamily="34" charset="0"/>
                <a:ea typeface="Calibri" pitchFamily="34" charset="-122"/>
                <a:cs typeface="Calibri" pitchFamily="34" charset="-120"/>
              </a:rPr>
              <a:t>The actual work — picking the right creators and writing a message that resonates — gets buried under tab-switching, copy-pasting, and dead-end DMs. The bottleneck is workflow, not effort.</a:t>
            </a:r>
            <a:endParaRPr lang="en-US" sz="1500" dirty="0"/>
          </a:p>
        </p:txBody>
      </p:sp>
      <p:sp>
        <p:nvSpPr>
          <p:cNvPr id="69" name="Text 67"/>
          <p:cNvSpPr/>
          <p:nvPr/>
        </p:nvSpPr>
        <p:spPr>
          <a:xfrm>
            <a:off x="7436943" y="1371600"/>
            <a:ext cx="4388992" cy="2377440"/>
          </a:xfrm>
          <a:prstGeom prst="rect">
            <a:avLst/>
          </a:prstGeom>
          <a:noFill/>
          <a:ln/>
        </p:spPr>
        <p:txBody>
          <a:bodyPr wrap="square" lIns="0" tIns="0" rIns="0" bIns="0" rtlCol="0" anchor="t"/>
          <a:lstStyle/>
          <a:p>
            <a:pPr algn="l" indent="0" marL="0">
              <a:buNone/>
            </a:pPr>
            <a:r>
              <a:rPr lang="en-US" sz="9600" b="1" spc="-200" kern="0" dirty="0">
                <a:solidFill>
                  <a:srgbClr val="FFFFFF"/>
                </a:solidFill>
                <a:latin typeface="Calibri" pitchFamily="34" charset="0"/>
                <a:ea typeface="Calibri" pitchFamily="34" charset="-122"/>
                <a:cs typeface="Calibri" pitchFamily="34" charset="-120"/>
              </a:rPr>
              <a:t>4h</a:t>
            </a:r>
            <a:endParaRPr lang="en-US" sz="9600" dirty="0"/>
          </a:p>
        </p:txBody>
      </p:sp>
      <p:sp>
        <p:nvSpPr>
          <p:cNvPr id="70" name="Text 68"/>
          <p:cNvSpPr/>
          <p:nvPr/>
        </p:nvSpPr>
        <p:spPr>
          <a:xfrm>
            <a:off x="7436943" y="3840480"/>
            <a:ext cx="4388992" cy="1828800"/>
          </a:xfrm>
          <a:prstGeom prst="rect">
            <a:avLst/>
          </a:prstGeom>
          <a:noFill/>
          <a:ln/>
        </p:spPr>
        <p:txBody>
          <a:bodyPr wrap="square" lIns="0" tIns="0" rIns="0" bIns="0" rtlCol="0" anchor="t"/>
          <a:lstStyle/>
          <a:p>
            <a:pPr algn="l" indent="0" marL="0">
              <a:buNone/>
            </a:pPr>
            <a:r>
              <a:rPr lang="en-US" sz="1600" dirty="0">
                <a:solidFill>
                  <a:srgbClr val="FFFFFF">
                    <a:alpha val="90000"/>
                  </a:srgbClr>
                </a:solidFill>
                <a:latin typeface="Calibri" pitchFamily="34" charset="0"/>
                <a:ea typeface="Calibri" pitchFamily="34" charset="-122"/>
                <a:cs typeface="Calibri" pitchFamily="34" charset="-120"/>
              </a:rPr>
              <a:t>The time it takes to source and contact ten creators today. Most of it is plumbing.</a:t>
            </a:r>
            <a:endParaRPr lang="en-US" sz="1600" dirty="0"/>
          </a:p>
        </p:txBody>
      </p:sp>
      <p:sp>
        <p:nvSpPr>
          <p:cNvPr id="71" name="Shape 69"/>
          <p:cNvSpPr/>
          <p:nvPr/>
        </p:nvSpPr>
        <p:spPr>
          <a:xfrm>
            <a:off x="548640" y="502920"/>
            <a:ext cx="292608" cy="292608"/>
          </a:xfrm>
          <a:prstGeom prst="roundRect">
            <a:avLst>
              <a:gd name="adj" fmla="val 25000"/>
            </a:avLst>
          </a:prstGeom>
          <a:solidFill>
            <a:srgbClr val="5028C2"/>
          </a:solidFill>
          <a:ln/>
        </p:spPr>
      </p:sp>
      <p:sp>
        <p:nvSpPr>
          <p:cNvPr id="72" name="Shape 70"/>
          <p:cNvSpPr/>
          <p:nvPr/>
        </p:nvSpPr>
        <p:spPr>
          <a:xfrm>
            <a:off x="548640" y="502920"/>
            <a:ext cx="292608" cy="292608"/>
          </a:xfrm>
          <a:prstGeom prst="roundRect">
            <a:avLst>
              <a:gd name="adj" fmla="val 25000"/>
            </a:avLst>
          </a:prstGeom>
          <a:solidFill>
            <a:srgbClr val="1A6FBE">
              <a:alpha val="50000"/>
            </a:srgbClr>
          </a:solidFill>
          <a:ln/>
        </p:spPr>
      </p:sp>
      <p:sp>
        <p:nvSpPr>
          <p:cNvPr id="73" name="Text 71"/>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4" name="Text 72"/>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5" name="Text 73"/>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02 · Problem  ·  vB</a:t>
            </a:r>
            <a:endParaRPr lang="en-US" sz="900" dirty="0"/>
          </a:p>
        </p:txBody>
      </p:sp>
      <p:sp>
        <p:nvSpPr>
          <p:cNvPr id="76" name="Text 74"/>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7" name="Text 75"/>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009 / 126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WHERE THE TIME GOES</a:t>
            </a:r>
            <a:endParaRPr lang="en-US" sz="1100" dirty="0"/>
          </a:p>
        </p:txBody>
      </p:sp>
      <p:sp>
        <p:nvSpPr>
          <p:cNvPr id="3" name="Text 1"/>
          <p:cNvSpPr/>
          <p:nvPr/>
        </p:nvSpPr>
        <p:spPr>
          <a:xfrm>
            <a:off x="548640" y="1417320"/>
            <a:ext cx="11094415" cy="1188720"/>
          </a:xfrm>
          <a:prstGeom prst="rect">
            <a:avLst/>
          </a:prstGeom>
          <a:noFill/>
          <a:ln/>
        </p:spPr>
        <p:txBody>
          <a:bodyPr wrap="square" lIns="0" tIns="0" rIns="0" bIns="0" rtlCol="0" anchor="t"/>
          <a:lstStyle/>
          <a:p>
            <a:pPr algn="l" indent="0" marL="0">
              <a:buNone/>
            </a:pPr>
            <a:r>
              <a:rPr lang="en-US" sz="3800" b="1" spc="-50" kern="0" dirty="0">
                <a:solidFill>
                  <a:srgbClr val="0F1733"/>
                </a:solidFill>
                <a:latin typeface="Calibri" pitchFamily="34" charset="0"/>
                <a:ea typeface="Calibri" pitchFamily="34" charset="-122"/>
                <a:cs typeface="Calibri" pitchFamily="34" charset="-120"/>
              </a:rPr>
              <a:t>Three problems compound — and there's no tool for any of them.</a:t>
            </a:r>
            <a:endParaRPr lang="en-US" sz="3800" dirty="0"/>
          </a:p>
        </p:txBody>
      </p:sp>
      <p:sp>
        <p:nvSpPr>
          <p:cNvPr id="4" name="Text 2"/>
          <p:cNvSpPr/>
          <p:nvPr/>
        </p:nvSpPr>
        <p:spPr>
          <a:xfrm>
            <a:off x="548640" y="2606040"/>
            <a:ext cx="8534187" cy="457200"/>
          </a:xfrm>
          <a:prstGeom prst="rect">
            <a:avLst/>
          </a:prstGeom>
          <a:noFill/>
          <a:ln/>
        </p:spPr>
        <p:txBody>
          <a:bodyPr wrap="square" lIns="0" tIns="0" rIns="0" bIns="0" rtlCol="0" anchor="t"/>
          <a:lstStyle/>
          <a:p>
            <a:pPr algn="l" indent="0" marL="0">
              <a:buNone/>
            </a:pPr>
            <a:r>
              <a:rPr lang="en-US" sz="1600" dirty="0">
                <a:solidFill>
                  <a:srgbClr val="2A3358"/>
                </a:solidFill>
                <a:latin typeface="Calibri" pitchFamily="34" charset="0"/>
                <a:ea typeface="Calibri" pitchFamily="34" charset="-122"/>
                <a:cs typeface="Calibri" pitchFamily="34" charset="-120"/>
              </a:rPr>
              <a:t>Each one costs an hour. Stack them and the day is gone.</a:t>
            </a:r>
            <a:endParaRPr lang="en-US" sz="1600" dirty="0"/>
          </a:p>
        </p:txBody>
      </p:sp>
      <p:sp>
        <p:nvSpPr>
          <p:cNvPr id="5" name="Shape 3"/>
          <p:cNvSpPr/>
          <p:nvPr/>
        </p:nvSpPr>
        <p:spPr>
          <a:xfrm>
            <a:off x="548640" y="3108960"/>
            <a:ext cx="3545738" cy="3017520"/>
          </a:xfrm>
          <a:prstGeom prst="roundRect">
            <a:avLst>
              <a:gd name="adj" fmla="val 3636"/>
            </a:avLst>
          </a:prstGeom>
          <a:solidFill>
            <a:srgbClr val="FFFFFF"/>
          </a:solidFill>
          <a:ln w="9525">
            <a:solidFill>
              <a:srgbClr val="E5E7F0"/>
            </a:solidFill>
            <a:prstDash val="solid"/>
          </a:ln>
        </p:spPr>
      </p:sp>
      <p:sp>
        <p:nvSpPr>
          <p:cNvPr id="6" name="Shape 4"/>
          <p:cNvSpPr/>
          <p:nvPr/>
        </p:nvSpPr>
        <p:spPr>
          <a:xfrm>
            <a:off x="548640" y="3108960"/>
            <a:ext cx="3545738" cy="73152"/>
          </a:xfrm>
          <a:prstGeom prst="rect">
            <a:avLst/>
          </a:prstGeom>
          <a:solidFill>
            <a:srgbClr val="5028C2"/>
          </a:solidFill>
          <a:ln/>
        </p:spPr>
      </p:sp>
      <p:sp>
        <p:nvSpPr>
          <p:cNvPr id="7" name="Shape 5"/>
          <p:cNvSpPr/>
          <p:nvPr/>
        </p:nvSpPr>
        <p:spPr>
          <a:xfrm>
            <a:off x="868680" y="3474720"/>
            <a:ext cx="457200" cy="457200"/>
          </a:xfrm>
          <a:prstGeom prst="ellipse">
            <a:avLst/>
          </a:prstGeom>
          <a:solidFill>
            <a:srgbClr val="5028C2"/>
          </a:solidFill>
          <a:ln/>
        </p:spPr>
      </p:sp>
      <p:sp>
        <p:nvSpPr>
          <p:cNvPr id="8" name="Text 6"/>
          <p:cNvSpPr/>
          <p:nvPr/>
        </p:nvSpPr>
        <p:spPr>
          <a:xfrm>
            <a:off x="868680"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9" name="Text 7"/>
          <p:cNvSpPr/>
          <p:nvPr/>
        </p:nvSpPr>
        <p:spPr>
          <a:xfrm>
            <a:off x="868680"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Discovery is fragmented</a:t>
            </a:r>
            <a:endParaRPr lang="en-US" sz="1800" dirty="0"/>
          </a:p>
        </p:txBody>
      </p:sp>
      <p:sp>
        <p:nvSpPr>
          <p:cNvPr id="10" name="Text 8"/>
          <p:cNvSpPr/>
          <p:nvPr/>
        </p:nvSpPr>
        <p:spPr>
          <a:xfrm>
            <a:off x="868680"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YouTube, Instagram, TikTok, X, LinkedIn — five searches, five UIs, five exports. No tool searches all five at once.</a:t>
            </a:r>
            <a:endParaRPr lang="en-US" sz="1300" dirty="0"/>
          </a:p>
        </p:txBody>
      </p:sp>
      <p:sp>
        <p:nvSpPr>
          <p:cNvPr id="11" name="Shape 9"/>
          <p:cNvSpPr/>
          <p:nvPr/>
        </p:nvSpPr>
        <p:spPr>
          <a:xfrm>
            <a:off x="4322978" y="3108960"/>
            <a:ext cx="3545738" cy="3017520"/>
          </a:xfrm>
          <a:prstGeom prst="roundRect">
            <a:avLst>
              <a:gd name="adj" fmla="val 3636"/>
            </a:avLst>
          </a:prstGeom>
          <a:solidFill>
            <a:srgbClr val="FFFFFF"/>
          </a:solidFill>
          <a:ln w="9525">
            <a:solidFill>
              <a:srgbClr val="E5E7F0"/>
            </a:solidFill>
            <a:prstDash val="solid"/>
          </a:ln>
        </p:spPr>
      </p:sp>
      <p:sp>
        <p:nvSpPr>
          <p:cNvPr id="12" name="Shape 10"/>
          <p:cNvSpPr/>
          <p:nvPr/>
        </p:nvSpPr>
        <p:spPr>
          <a:xfrm>
            <a:off x="4322978" y="3108960"/>
            <a:ext cx="3545738" cy="73152"/>
          </a:xfrm>
          <a:prstGeom prst="rect">
            <a:avLst/>
          </a:prstGeom>
          <a:solidFill>
            <a:srgbClr val="3548D0"/>
          </a:solidFill>
          <a:ln/>
        </p:spPr>
      </p:sp>
      <p:sp>
        <p:nvSpPr>
          <p:cNvPr id="13" name="Shape 11"/>
          <p:cNvSpPr/>
          <p:nvPr/>
        </p:nvSpPr>
        <p:spPr>
          <a:xfrm>
            <a:off x="4643018" y="3474720"/>
            <a:ext cx="457200" cy="457200"/>
          </a:xfrm>
          <a:prstGeom prst="ellipse">
            <a:avLst/>
          </a:prstGeom>
          <a:solidFill>
            <a:srgbClr val="3548D0"/>
          </a:solidFill>
          <a:ln/>
        </p:spPr>
      </p:sp>
      <p:sp>
        <p:nvSpPr>
          <p:cNvPr id="14" name="Text 12"/>
          <p:cNvSpPr/>
          <p:nvPr/>
        </p:nvSpPr>
        <p:spPr>
          <a:xfrm>
            <a:off x="4643018"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5" name="Text 13"/>
          <p:cNvSpPr/>
          <p:nvPr/>
        </p:nvSpPr>
        <p:spPr>
          <a:xfrm>
            <a:off x="4643018"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Qualifying is manual</a:t>
            </a:r>
            <a:endParaRPr lang="en-US" sz="1800" dirty="0"/>
          </a:p>
        </p:txBody>
      </p:sp>
      <p:sp>
        <p:nvSpPr>
          <p:cNvPr id="16" name="Text 14"/>
          <p:cNvSpPr/>
          <p:nvPr/>
        </p:nvSpPr>
        <p:spPr>
          <a:xfrm>
            <a:off x="4643018"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You open each profile, read the bio, eyeball the audience, guess if they fit. There's no scoring layer.</a:t>
            </a:r>
            <a:endParaRPr lang="en-US" sz="1300" dirty="0"/>
          </a:p>
        </p:txBody>
      </p:sp>
      <p:sp>
        <p:nvSpPr>
          <p:cNvPr id="17" name="Shape 15"/>
          <p:cNvSpPr/>
          <p:nvPr/>
        </p:nvSpPr>
        <p:spPr>
          <a:xfrm>
            <a:off x="8097317" y="3108960"/>
            <a:ext cx="3545738" cy="3017520"/>
          </a:xfrm>
          <a:prstGeom prst="roundRect">
            <a:avLst>
              <a:gd name="adj" fmla="val 3636"/>
            </a:avLst>
          </a:prstGeom>
          <a:solidFill>
            <a:srgbClr val="FFFFFF"/>
          </a:solidFill>
          <a:ln w="9525">
            <a:solidFill>
              <a:srgbClr val="E5E7F0"/>
            </a:solidFill>
            <a:prstDash val="solid"/>
          </a:ln>
        </p:spPr>
      </p:sp>
      <p:sp>
        <p:nvSpPr>
          <p:cNvPr id="18" name="Shape 16"/>
          <p:cNvSpPr/>
          <p:nvPr/>
        </p:nvSpPr>
        <p:spPr>
          <a:xfrm>
            <a:off x="8097317" y="3108960"/>
            <a:ext cx="3545738" cy="73152"/>
          </a:xfrm>
          <a:prstGeom prst="rect">
            <a:avLst/>
          </a:prstGeom>
          <a:solidFill>
            <a:srgbClr val="1A6FBE"/>
          </a:solidFill>
          <a:ln/>
        </p:spPr>
      </p:sp>
      <p:sp>
        <p:nvSpPr>
          <p:cNvPr id="19" name="Shape 17"/>
          <p:cNvSpPr/>
          <p:nvPr/>
        </p:nvSpPr>
        <p:spPr>
          <a:xfrm>
            <a:off x="8417357" y="3474720"/>
            <a:ext cx="457200" cy="457200"/>
          </a:xfrm>
          <a:prstGeom prst="ellipse">
            <a:avLst/>
          </a:prstGeom>
          <a:solidFill>
            <a:srgbClr val="1A6FBE"/>
          </a:solidFill>
          <a:ln/>
        </p:spPr>
      </p:sp>
      <p:sp>
        <p:nvSpPr>
          <p:cNvPr id="20" name="Text 18"/>
          <p:cNvSpPr/>
          <p:nvPr/>
        </p:nvSpPr>
        <p:spPr>
          <a:xfrm>
            <a:off x="8417357"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9"/>
          <p:cNvSpPr/>
          <p:nvPr/>
        </p:nvSpPr>
        <p:spPr>
          <a:xfrm>
            <a:off x="8417357"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Outreach is a graveyard</a:t>
            </a:r>
            <a:endParaRPr lang="en-US" sz="1800" dirty="0"/>
          </a:p>
        </p:txBody>
      </p:sp>
      <p:sp>
        <p:nvSpPr>
          <p:cNvPr id="22" name="Text 20"/>
          <p:cNvSpPr/>
          <p:nvPr/>
        </p:nvSpPr>
        <p:spPr>
          <a:xfrm>
            <a:off x="8417357"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Generic DMs. No tracking. No follow-up reminders. Replies land in a personal inbox and disappear.</a:t>
            </a:r>
            <a:endParaRPr lang="en-US" sz="1300" dirty="0"/>
          </a:p>
        </p:txBody>
      </p:sp>
      <p:sp>
        <p:nvSpPr>
          <p:cNvPr id="23" name="Shape 21"/>
          <p:cNvSpPr/>
          <p:nvPr/>
        </p:nvSpPr>
        <p:spPr>
          <a:xfrm>
            <a:off x="548640" y="502920"/>
            <a:ext cx="292608" cy="292608"/>
          </a:xfrm>
          <a:prstGeom prst="roundRect">
            <a:avLst>
              <a:gd name="adj" fmla="val 25000"/>
            </a:avLst>
          </a:prstGeom>
          <a:solidFill>
            <a:srgbClr val="5028C2"/>
          </a:solidFill>
          <a:ln/>
        </p:spPr>
      </p:sp>
      <p:sp>
        <p:nvSpPr>
          <p:cNvPr id="24" name="Shape 22"/>
          <p:cNvSpPr/>
          <p:nvPr/>
        </p:nvSpPr>
        <p:spPr>
          <a:xfrm>
            <a:off x="548640" y="502920"/>
            <a:ext cx="292608" cy="292608"/>
          </a:xfrm>
          <a:prstGeom prst="roundRect">
            <a:avLst>
              <a:gd name="adj" fmla="val 25000"/>
            </a:avLst>
          </a:prstGeom>
          <a:solidFill>
            <a:srgbClr val="1A6FBE">
              <a:alpha val="50000"/>
            </a:srgbClr>
          </a:solidFill>
          <a:ln/>
        </p:spPr>
      </p:sp>
      <p:sp>
        <p:nvSpPr>
          <p:cNvPr id="25" name="Text 23"/>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6" name="Text 24"/>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7" name="Text 25"/>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02 · Problem  ·  vC</a:t>
            </a:r>
            <a:endParaRPr lang="en-US" sz="900" dirty="0"/>
          </a:p>
        </p:txBody>
      </p:sp>
      <p:sp>
        <p:nvSpPr>
          <p:cNvPr id="28" name="Text 26"/>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29" name="Text 27"/>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010 / 126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320040" cy="116300"/>
          </a:xfrm>
          <a:prstGeom prst="rect">
            <a:avLst/>
          </a:prstGeom>
          <a:solidFill>
            <a:srgbClr val="5028C2"/>
          </a:solidFill>
          <a:ln/>
        </p:spPr>
      </p:sp>
      <p:sp>
        <p:nvSpPr>
          <p:cNvPr id="3" name="Shape 1"/>
          <p:cNvSpPr/>
          <p:nvPr/>
        </p:nvSpPr>
        <p:spPr>
          <a:xfrm>
            <a:off x="0" y="107156"/>
            <a:ext cx="320040" cy="116300"/>
          </a:xfrm>
          <a:prstGeom prst="rect">
            <a:avLst/>
          </a:prstGeom>
          <a:solidFill>
            <a:srgbClr val="4F29C2"/>
          </a:solidFill>
          <a:ln/>
        </p:spPr>
      </p:sp>
      <p:sp>
        <p:nvSpPr>
          <p:cNvPr id="4" name="Shape 2"/>
          <p:cNvSpPr/>
          <p:nvPr/>
        </p:nvSpPr>
        <p:spPr>
          <a:xfrm>
            <a:off x="0" y="214313"/>
            <a:ext cx="320040" cy="116300"/>
          </a:xfrm>
          <a:prstGeom prst="rect">
            <a:avLst/>
          </a:prstGeom>
          <a:solidFill>
            <a:srgbClr val="4E2AC3"/>
          </a:solidFill>
          <a:ln/>
        </p:spPr>
      </p:sp>
      <p:sp>
        <p:nvSpPr>
          <p:cNvPr id="5" name="Shape 3"/>
          <p:cNvSpPr/>
          <p:nvPr/>
        </p:nvSpPr>
        <p:spPr>
          <a:xfrm>
            <a:off x="0" y="321469"/>
            <a:ext cx="320040" cy="116300"/>
          </a:xfrm>
          <a:prstGeom prst="rect">
            <a:avLst/>
          </a:prstGeom>
          <a:solidFill>
            <a:srgbClr val="4D2BC3"/>
          </a:solidFill>
          <a:ln/>
        </p:spPr>
      </p:sp>
      <p:sp>
        <p:nvSpPr>
          <p:cNvPr id="6" name="Shape 4"/>
          <p:cNvSpPr/>
          <p:nvPr/>
        </p:nvSpPr>
        <p:spPr>
          <a:xfrm>
            <a:off x="0" y="428625"/>
            <a:ext cx="320040" cy="116300"/>
          </a:xfrm>
          <a:prstGeom prst="rect">
            <a:avLst/>
          </a:prstGeom>
          <a:solidFill>
            <a:srgbClr val="4D2CC4"/>
          </a:solidFill>
          <a:ln/>
        </p:spPr>
      </p:sp>
      <p:sp>
        <p:nvSpPr>
          <p:cNvPr id="7" name="Shape 5"/>
          <p:cNvSpPr/>
          <p:nvPr/>
        </p:nvSpPr>
        <p:spPr>
          <a:xfrm>
            <a:off x="0" y="535781"/>
            <a:ext cx="320040" cy="116300"/>
          </a:xfrm>
          <a:prstGeom prst="rect">
            <a:avLst/>
          </a:prstGeom>
          <a:solidFill>
            <a:srgbClr val="4C2DC4"/>
          </a:solidFill>
          <a:ln/>
        </p:spPr>
      </p:sp>
      <p:sp>
        <p:nvSpPr>
          <p:cNvPr id="8" name="Shape 6"/>
          <p:cNvSpPr/>
          <p:nvPr/>
        </p:nvSpPr>
        <p:spPr>
          <a:xfrm>
            <a:off x="0" y="642938"/>
            <a:ext cx="320040" cy="116300"/>
          </a:xfrm>
          <a:prstGeom prst="rect">
            <a:avLst/>
          </a:prstGeom>
          <a:solidFill>
            <a:srgbClr val="4B2EC5"/>
          </a:solidFill>
          <a:ln/>
        </p:spPr>
      </p:sp>
      <p:sp>
        <p:nvSpPr>
          <p:cNvPr id="9" name="Shape 7"/>
          <p:cNvSpPr/>
          <p:nvPr/>
        </p:nvSpPr>
        <p:spPr>
          <a:xfrm>
            <a:off x="0" y="750094"/>
            <a:ext cx="320040" cy="116300"/>
          </a:xfrm>
          <a:prstGeom prst="rect">
            <a:avLst/>
          </a:prstGeom>
          <a:solidFill>
            <a:srgbClr val="4A2FC5"/>
          </a:solidFill>
          <a:ln/>
        </p:spPr>
      </p:sp>
      <p:sp>
        <p:nvSpPr>
          <p:cNvPr id="10" name="Shape 8"/>
          <p:cNvSpPr/>
          <p:nvPr/>
        </p:nvSpPr>
        <p:spPr>
          <a:xfrm>
            <a:off x="0" y="857250"/>
            <a:ext cx="320040" cy="116300"/>
          </a:xfrm>
          <a:prstGeom prst="rect">
            <a:avLst/>
          </a:prstGeom>
          <a:solidFill>
            <a:srgbClr val="4930C6"/>
          </a:solidFill>
          <a:ln/>
        </p:spPr>
      </p:sp>
      <p:sp>
        <p:nvSpPr>
          <p:cNvPr id="11" name="Shape 9"/>
          <p:cNvSpPr/>
          <p:nvPr/>
        </p:nvSpPr>
        <p:spPr>
          <a:xfrm>
            <a:off x="0" y="964406"/>
            <a:ext cx="320040" cy="116300"/>
          </a:xfrm>
          <a:prstGeom prst="rect">
            <a:avLst/>
          </a:prstGeom>
          <a:solidFill>
            <a:srgbClr val="4831C6"/>
          </a:solidFill>
          <a:ln/>
        </p:spPr>
      </p:sp>
      <p:sp>
        <p:nvSpPr>
          <p:cNvPr id="12" name="Shape 10"/>
          <p:cNvSpPr/>
          <p:nvPr/>
        </p:nvSpPr>
        <p:spPr>
          <a:xfrm>
            <a:off x="0" y="1071563"/>
            <a:ext cx="320040" cy="116300"/>
          </a:xfrm>
          <a:prstGeom prst="rect">
            <a:avLst/>
          </a:prstGeom>
          <a:solidFill>
            <a:srgbClr val="4732C6"/>
          </a:solidFill>
          <a:ln/>
        </p:spPr>
      </p:sp>
      <p:sp>
        <p:nvSpPr>
          <p:cNvPr id="13" name="Shape 11"/>
          <p:cNvSpPr/>
          <p:nvPr/>
        </p:nvSpPr>
        <p:spPr>
          <a:xfrm>
            <a:off x="0" y="1178719"/>
            <a:ext cx="320040" cy="116300"/>
          </a:xfrm>
          <a:prstGeom prst="rect">
            <a:avLst/>
          </a:prstGeom>
          <a:solidFill>
            <a:srgbClr val="4733C7"/>
          </a:solidFill>
          <a:ln/>
        </p:spPr>
      </p:sp>
      <p:sp>
        <p:nvSpPr>
          <p:cNvPr id="14" name="Shape 12"/>
          <p:cNvSpPr/>
          <p:nvPr/>
        </p:nvSpPr>
        <p:spPr>
          <a:xfrm>
            <a:off x="0" y="1285875"/>
            <a:ext cx="320040" cy="116300"/>
          </a:xfrm>
          <a:prstGeom prst="rect">
            <a:avLst/>
          </a:prstGeom>
          <a:solidFill>
            <a:srgbClr val="4634C7"/>
          </a:solidFill>
          <a:ln/>
        </p:spPr>
      </p:sp>
      <p:sp>
        <p:nvSpPr>
          <p:cNvPr id="15" name="Shape 13"/>
          <p:cNvSpPr/>
          <p:nvPr/>
        </p:nvSpPr>
        <p:spPr>
          <a:xfrm>
            <a:off x="0" y="1393031"/>
            <a:ext cx="320040" cy="116300"/>
          </a:xfrm>
          <a:prstGeom prst="rect">
            <a:avLst/>
          </a:prstGeom>
          <a:solidFill>
            <a:srgbClr val="4535C8"/>
          </a:solidFill>
          <a:ln/>
        </p:spPr>
      </p:sp>
      <p:sp>
        <p:nvSpPr>
          <p:cNvPr id="16" name="Shape 14"/>
          <p:cNvSpPr/>
          <p:nvPr/>
        </p:nvSpPr>
        <p:spPr>
          <a:xfrm>
            <a:off x="0" y="1500188"/>
            <a:ext cx="320040" cy="116300"/>
          </a:xfrm>
          <a:prstGeom prst="rect">
            <a:avLst/>
          </a:prstGeom>
          <a:solidFill>
            <a:srgbClr val="4436C8"/>
          </a:solidFill>
          <a:ln/>
        </p:spPr>
      </p:sp>
      <p:sp>
        <p:nvSpPr>
          <p:cNvPr id="17" name="Shape 15"/>
          <p:cNvSpPr/>
          <p:nvPr/>
        </p:nvSpPr>
        <p:spPr>
          <a:xfrm>
            <a:off x="0" y="1607344"/>
            <a:ext cx="320040" cy="116300"/>
          </a:xfrm>
          <a:prstGeom prst="rect">
            <a:avLst/>
          </a:prstGeom>
          <a:solidFill>
            <a:srgbClr val="4337C9"/>
          </a:solidFill>
          <a:ln/>
        </p:spPr>
      </p:sp>
      <p:sp>
        <p:nvSpPr>
          <p:cNvPr id="18" name="Shape 16"/>
          <p:cNvSpPr/>
          <p:nvPr/>
        </p:nvSpPr>
        <p:spPr>
          <a:xfrm>
            <a:off x="0" y="1714500"/>
            <a:ext cx="320040" cy="116300"/>
          </a:xfrm>
          <a:prstGeom prst="rect">
            <a:avLst/>
          </a:prstGeom>
          <a:solidFill>
            <a:srgbClr val="4238C9"/>
          </a:solidFill>
          <a:ln/>
        </p:spPr>
      </p:sp>
      <p:sp>
        <p:nvSpPr>
          <p:cNvPr id="19" name="Shape 17"/>
          <p:cNvSpPr/>
          <p:nvPr/>
        </p:nvSpPr>
        <p:spPr>
          <a:xfrm>
            <a:off x="0" y="1821656"/>
            <a:ext cx="320040" cy="116300"/>
          </a:xfrm>
          <a:prstGeom prst="rect">
            <a:avLst/>
          </a:prstGeom>
          <a:solidFill>
            <a:srgbClr val="4139CA"/>
          </a:solidFill>
          <a:ln/>
        </p:spPr>
      </p:sp>
      <p:sp>
        <p:nvSpPr>
          <p:cNvPr id="20" name="Shape 18"/>
          <p:cNvSpPr/>
          <p:nvPr/>
        </p:nvSpPr>
        <p:spPr>
          <a:xfrm>
            <a:off x="0" y="1928813"/>
            <a:ext cx="320040" cy="116300"/>
          </a:xfrm>
          <a:prstGeom prst="rect">
            <a:avLst/>
          </a:prstGeom>
          <a:solidFill>
            <a:srgbClr val="413ACA"/>
          </a:solidFill>
          <a:ln/>
        </p:spPr>
      </p:sp>
      <p:sp>
        <p:nvSpPr>
          <p:cNvPr id="21" name="Shape 19"/>
          <p:cNvSpPr/>
          <p:nvPr/>
        </p:nvSpPr>
        <p:spPr>
          <a:xfrm>
            <a:off x="0" y="2035969"/>
            <a:ext cx="320040" cy="116300"/>
          </a:xfrm>
          <a:prstGeom prst="rect">
            <a:avLst/>
          </a:prstGeom>
          <a:solidFill>
            <a:srgbClr val="403BCA"/>
          </a:solidFill>
          <a:ln/>
        </p:spPr>
      </p:sp>
      <p:sp>
        <p:nvSpPr>
          <p:cNvPr id="22" name="Shape 20"/>
          <p:cNvSpPr/>
          <p:nvPr/>
        </p:nvSpPr>
        <p:spPr>
          <a:xfrm>
            <a:off x="0" y="2143125"/>
            <a:ext cx="320040" cy="116300"/>
          </a:xfrm>
          <a:prstGeom prst="rect">
            <a:avLst/>
          </a:prstGeom>
          <a:solidFill>
            <a:srgbClr val="3F3CCB"/>
          </a:solidFill>
          <a:ln/>
        </p:spPr>
      </p:sp>
      <p:sp>
        <p:nvSpPr>
          <p:cNvPr id="23" name="Shape 21"/>
          <p:cNvSpPr/>
          <p:nvPr/>
        </p:nvSpPr>
        <p:spPr>
          <a:xfrm>
            <a:off x="0" y="2250281"/>
            <a:ext cx="320040" cy="116300"/>
          </a:xfrm>
          <a:prstGeom prst="rect">
            <a:avLst/>
          </a:prstGeom>
          <a:solidFill>
            <a:srgbClr val="3E3DCB"/>
          </a:solidFill>
          <a:ln/>
        </p:spPr>
      </p:sp>
      <p:sp>
        <p:nvSpPr>
          <p:cNvPr id="24" name="Shape 22"/>
          <p:cNvSpPr/>
          <p:nvPr/>
        </p:nvSpPr>
        <p:spPr>
          <a:xfrm>
            <a:off x="0" y="2357438"/>
            <a:ext cx="320040" cy="116300"/>
          </a:xfrm>
          <a:prstGeom prst="rect">
            <a:avLst/>
          </a:prstGeom>
          <a:solidFill>
            <a:srgbClr val="3D3ECC"/>
          </a:solidFill>
          <a:ln/>
        </p:spPr>
      </p:sp>
      <p:sp>
        <p:nvSpPr>
          <p:cNvPr id="25" name="Shape 23"/>
          <p:cNvSpPr/>
          <p:nvPr/>
        </p:nvSpPr>
        <p:spPr>
          <a:xfrm>
            <a:off x="0" y="2464594"/>
            <a:ext cx="320040" cy="116300"/>
          </a:xfrm>
          <a:prstGeom prst="rect">
            <a:avLst/>
          </a:prstGeom>
          <a:solidFill>
            <a:srgbClr val="3C3FCC"/>
          </a:solidFill>
          <a:ln/>
        </p:spPr>
      </p:sp>
      <p:sp>
        <p:nvSpPr>
          <p:cNvPr id="26" name="Shape 24"/>
          <p:cNvSpPr/>
          <p:nvPr/>
        </p:nvSpPr>
        <p:spPr>
          <a:xfrm>
            <a:off x="0" y="2571750"/>
            <a:ext cx="320040" cy="116300"/>
          </a:xfrm>
          <a:prstGeom prst="rect">
            <a:avLst/>
          </a:prstGeom>
          <a:solidFill>
            <a:srgbClr val="3B40CD"/>
          </a:solidFill>
          <a:ln/>
        </p:spPr>
      </p:sp>
      <p:sp>
        <p:nvSpPr>
          <p:cNvPr id="27" name="Shape 25"/>
          <p:cNvSpPr/>
          <p:nvPr/>
        </p:nvSpPr>
        <p:spPr>
          <a:xfrm>
            <a:off x="0" y="2678906"/>
            <a:ext cx="320040" cy="116300"/>
          </a:xfrm>
          <a:prstGeom prst="rect">
            <a:avLst/>
          </a:prstGeom>
          <a:solidFill>
            <a:srgbClr val="3B41CD"/>
          </a:solidFill>
          <a:ln/>
        </p:spPr>
      </p:sp>
      <p:sp>
        <p:nvSpPr>
          <p:cNvPr id="28" name="Shape 26"/>
          <p:cNvSpPr/>
          <p:nvPr/>
        </p:nvSpPr>
        <p:spPr>
          <a:xfrm>
            <a:off x="0" y="2786063"/>
            <a:ext cx="320040" cy="116300"/>
          </a:xfrm>
          <a:prstGeom prst="rect">
            <a:avLst/>
          </a:prstGeom>
          <a:solidFill>
            <a:srgbClr val="3A42CE"/>
          </a:solidFill>
          <a:ln/>
        </p:spPr>
      </p:sp>
      <p:sp>
        <p:nvSpPr>
          <p:cNvPr id="29" name="Shape 27"/>
          <p:cNvSpPr/>
          <p:nvPr/>
        </p:nvSpPr>
        <p:spPr>
          <a:xfrm>
            <a:off x="0" y="2893219"/>
            <a:ext cx="320040" cy="116300"/>
          </a:xfrm>
          <a:prstGeom prst="rect">
            <a:avLst/>
          </a:prstGeom>
          <a:solidFill>
            <a:srgbClr val="3943CE"/>
          </a:solidFill>
          <a:ln/>
        </p:spPr>
      </p:sp>
      <p:sp>
        <p:nvSpPr>
          <p:cNvPr id="30" name="Shape 28"/>
          <p:cNvSpPr/>
          <p:nvPr/>
        </p:nvSpPr>
        <p:spPr>
          <a:xfrm>
            <a:off x="0" y="3000375"/>
            <a:ext cx="320040" cy="116300"/>
          </a:xfrm>
          <a:prstGeom prst="rect">
            <a:avLst/>
          </a:prstGeom>
          <a:solidFill>
            <a:srgbClr val="3844CE"/>
          </a:solidFill>
          <a:ln/>
        </p:spPr>
      </p:sp>
      <p:sp>
        <p:nvSpPr>
          <p:cNvPr id="31" name="Shape 29"/>
          <p:cNvSpPr/>
          <p:nvPr/>
        </p:nvSpPr>
        <p:spPr>
          <a:xfrm>
            <a:off x="0" y="3107531"/>
            <a:ext cx="320040" cy="116300"/>
          </a:xfrm>
          <a:prstGeom prst="rect">
            <a:avLst/>
          </a:prstGeom>
          <a:solidFill>
            <a:srgbClr val="3745CF"/>
          </a:solidFill>
          <a:ln/>
        </p:spPr>
      </p:sp>
      <p:sp>
        <p:nvSpPr>
          <p:cNvPr id="32" name="Shape 30"/>
          <p:cNvSpPr/>
          <p:nvPr/>
        </p:nvSpPr>
        <p:spPr>
          <a:xfrm>
            <a:off x="0" y="3214688"/>
            <a:ext cx="320040" cy="116300"/>
          </a:xfrm>
          <a:prstGeom prst="rect">
            <a:avLst/>
          </a:prstGeom>
          <a:solidFill>
            <a:srgbClr val="3646CF"/>
          </a:solidFill>
          <a:ln/>
        </p:spPr>
      </p:sp>
      <p:sp>
        <p:nvSpPr>
          <p:cNvPr id="33" name="Shape 31"/>
          <p:cNvSpPr/>
          <p:nvPr/>
        </p:nvSpPr>
        <p:spPr>
          <a:xfrm>
            <a:off x="0" y="3321844"/>
            <a:ext cx="320040" cy="116300"/>
          </a:xfrm>
          <a:prstGeom prst="rect">
            <a:avLst/>
          </a:prstGeom>
          <a:solidFill>
            <a:srgbClr val="3547D0"/>
          </a:solidFill>
          <a:ln/>
        </p:spPr>
      </p:sp>
      <p:sp>
        <p:nvSpPr>
          <p:cNvPr id="34" name="Shape 32"/>
          <p:cNvSpPr/>
          <p:nvPr/>
        </p:nvSpPr>
        <p:spPr>
          <a:xfrm>
            <a:off x="0" y="3429000"/>
            <a:ext cx="320040" cy="116300"/>
          </a:xfrm>
          <a:prstGeom prst="rect">
            <a:avLst/>
          </a:prstGeom>
          <a:solidFill>
            <a:srgbClr val="3549D0"/>
          </a:solidFill>
          <a:ln/>
        </p:spPr>
      </p:sp>
      <p:sp>
        <p:nvSpPr>
          <p:cNvPr id="35" name="Shape 33"/>
          <p:cNvSpPr/>
          <p:nvPr/>
        </p:nvSpPr>
        <p:spPr>
          <a:xfrm>
            <a:off x="0" y="3536156"/>
            <a:ext cx="320040" cy="116300"/>
          </a:xfrm>
          <a:prstGeom prst="rect">
            <a:avLst/>
          </a:prstGeom>
          <a:solidFill>
            <a:srgbClr val="344ACF"/>
          </a:solidFill>
          <a:ln/>
        </p:spPr>
      </p:sp>
      <p:sp>
        <p:nvSpPr>
          <p:cNvPr id="36" name="Shape 34"/>
          <p:cNvSpPr/>
          <p:nvPr/>
        </p:nvSpPr>
        <p:spPr>
          <a:xfrm>
            <a:off x="0" y="3643313"/>
            <a:ext cx="320040" cy="116300"/>
          </a:xfrm>
          <a:prstGeom prst="rect">
            <a:avLst/>
          </a:prstGeom>
          <a:solidFill>
            <a:srgbClr val="334BCF"/>
          </a:solidFill>
          <a:ln/>
        </p:spPr>
      </p:sp>
      <p:sp>
        <p:nvSpPr>
          <p:cNvPr id="37" name="Shape 35"/>
          <p:cNvSpPr/>
          <p:nvPr/>
        </p:nvSpPr>
        <p:spPr>
          <a:xfrm>
            <a:off x="0" y="3750469"/>
            <a:ext cx="320040" cy="116300"/>
          </a:xfrm>
          <a:prstGeom prst="rect">
            <a:avLst/>
          </a:prstGeom>
          <a:solidFill>
            <a:srgbClr val="324CCE"/>
          </a:solidFill>
          <a:ln/>
        </p:spPr>
      </p:sp>
      <p:sp>
        <p:nvSpPr>
          <p:cNvPr id="38" name="Shape 36"/>
          <p:cNvSpPr/>
          <p:nvPr/>
        </p:nvSpPr>
        <p:spPr>
          <a:xfrm>
            <a:off x="0" y="3857625"/>
            <a:ext cx="320040" cy="116300"/>
          </a:xfrm>
          <a:prstGeom prst="rect">
            <a:avLst/>
          </a:prstGeom>
          <a:solidFill>
            <a:srgbClr val="314ECD"/>
          </a:solidFill>
          <a:ln/>
        </p:spPr>
      </p:sp>
      <p:sp>
        <p:nvSpPr>
          <p:cNvPr id="39" name="Shape 37"/>
          <p:cNvSpPr/>
          <p:nvPr/>
        </p:nvSpPr>
        <p:spPr>
          <a:xfrm>
            <a:off x="0" y="3964781"/>
            <a:ext cx="320040" cy="116300"/>
          </a:xfrm>
          <a:prstGeom prst="rect">
            <a:avLst/>
          </a:prstGeom>
          <a:solidFill>
            <a:srgbClr val="304FCD"/>
          </a:solidFill>
          <a:ln/>
        </p:spPr>
      </p:sp>
      <p:sp>
        <p:nvSpPr>
          <p:cNvPr id="40" name="Shape 38"/>
          <p:cNvSpPr/>
          <p:nvPr/>
        </p:nvSpPr>
        <p:spPr>
          <a:xfrm>
            <a:off x="0" y="4071938"/>
            <a:ext cx="320040" cy="116300"/>
          </a:xfrm>
          <a:prstGeom prst="rect">
            <a:avLst/>
          </a:prstGeom>
          <a:solidFill>
            <a:srgbClr val="2F50CC"/>
          </a:solidFill>
          <a:ln/>
        </p:spPr>
      </p:sp>
      <p:sp>
        <p:nvSpPr>
          <p:cNvPr id="41" name="Shape 39"/>
          <p:cNvSpPr/>
          <p:nvPr/>
        </p:nvSpPr>
        <p:spPr>
          <a:xfrm>
            <a:off x="0" y="4179094"/>
            <a:ext cx="320040" cy="116300"/>
          </a:xfrm>
          <a:prstGeom prst="rect">
            <a:avLst/>
          </a:prstGeom>
          <a:solidFill>
            <a:srgbClr val="2F51CC"/>
          </a:solidFill>
          <a:ln/>
        </p:spPr>
      </p:sp>
      <p:sp>
        <p:nvSpPr>
          <p:cNvPr id="42" name="Shape 40"/>
          <p:cNvSpPr/>
          <p:nvPr/>
        </p:nvSpPr>
        <p:spPr>
          <a:xfrm>
            <a:off x="0" y="4286250"/>
            <a:ext cx="320040" cy="116300"/>
          </a:xfrm>
          <a:prstGeom prst="rect">
            <a:avLst/>
          </a:prstGeom>
          <a:solidFill>
            <a:srgbClr val="2E53CB"/>
          </a:solidFill>
          <a:ln/>
        </p:spPr>
      </p:sp>
      <p:sp>
        <p:nvSpPr>
          <p:cNvPr id="43" name="Shape 41"/>
          <p:cNvSpPr/>
          <p:nvPr/>
        </p:nvSpPr>
        <p:spPr>
          <a:xfrm>
            <a:off x="0" y="4393406"/>
            <a:ext cx="320040" cy="116300"/>
          </a:xfrm>
          <a:prstGeom prst="rect">
            <a:avLst/>
          </a:prstGeom>
          <a:solidFill>
            <a:srgbClr val="2D54CB"/>
          </a:solidFill>
          <a:ln/>
        </p:spPr>
      </p:sp>
      <p:sp>
        <p:nvSpPr>
          <p:cNvPr id="44" name="Shape 42"/>
          <p:cNvSpPr/>
          <p:nvPr/>
        </p:nvSpPr>
        <p:spPr>
          <a:xfrm>
            <a:off x="0" y="4500563"/>
            <a:ext cx="320040" cy="116300"/>
          </a:xfrm>
          <a:prstGeom prst="rect">
            <a:avLst/>
          </a:prstGeom>
          <a:solidFill>
            <a:srgbClr val="2C55CA"/>
          </a:solidFill>
          <a:ln/>
        </p:spPr>
      </p:sp>
      <p:sp>
        <p:nvSpPr>
          <p:cNvPr id="45" name="Shape 43"/>
          <p:cNvSpPr/>
          <p:nvPr/>
        </p:nvSpPr>
        <p:spPr>
          <a:xfrm>
            <a:off x="0" y="4607719"/>
            <a:ext cx="320040" cy="116300"/>
          </a:xfrm>
          <a:prstGeom prst="rect">
            <a:avLst/>
          </a:prstGeom>
          <a:solidFill>
            <a:srgbClr val="2B56C9"/>
          </a:solidFill>
          <a:ln/>
        </p:spPr>
      </p:sp>
      <p:sp>
        <p:nvSpPr>
          <p:cNvPr id="46" name="Shape 44"/>
          <p:cNvSpPr/>
          <p:nvPr/>
        </p:nvSpPr>
        <p:spPr>
          <a:xfrm>
            <a:off x="0" y="4714875"/>
            <a:ext cx="320040" cy="116300"/>
          </a:xfrm>
          <a:prstGeom prst="rect">
            <a:avLst/>
          </a:prstGeom>
          <a:solidFill>
            <a:srgbClr val="2A57C9"/>
          </a:solidFill>
          <a:ln/>
        </p:spPr>
      </p:sp>
      <p:sp>
        <p:nvSpPr>
          <p:cNvPr id="47" name="Shape 45"/>
          <p:cNvSpPr/>
          <p:nvPr/>
        </p:nvSpPr>
        <p:spPr>
          <a:xfrm>
            <a:off x="0" y="4822031"/>
            <a:ext cx="320040" cy="116300"/>
          </a:xfrm>
          <a:prstGeom prst="rect">
            <a:avLst/>
          </a:prstGeom>
          <a:solidFill>
            <a:srgbClr val="2959C8"/>
          </a:solidFill>
          <a:ln/>
        </p:spPr>
      </p:sp>
      <p:sp>
        <p:nvSpPr>
          <p:cNvPr id="48" name="Shape 46"/>
          <p:cNvSpPr/>
          <p:nvPr/>
        </p:nvSpPr>
        <p:spPr>
          <a:xfrm>
            <a:off x="0" y="4929188"/>
            <a:ext cx="320040" cy="116300"/>
          </a:xfrm>
          <a:prstGeom prst="rect">
            <a:avLst/>
          </a:prstGeom>
          <a:solidFill>
            <a:srgbClr val="295AC8"/>
          </a:solidFill>
          <a:ln/>
        </p:spPr>
      </p:sp>
      <p:sp>
        <p:nvSpPr>
          <p:cNvPr id="49" name="Shape 47"/>
          <p:cNvSpPr/>
          <p:nvPr/>
        </p:nvSpPr>
        <p:spPr>
          <a:xfrm>
            <a:off x="0" y="5036344"/>
            <a:ext cx="320040" cy="116300"/>
          </a:xfrm>
          <a:prstGeom prst="rect">
            <a:avLst/>
          </a:prstGeom>
          <a:solidFill>
            <a:srgbClr val="285BC7"/>
          </a:solidFill>
          <a:ln/>
        </p:spPr>
      </p:sp>
      <p:sp>
        <p:nvSpPr>
          <p:cNvPr id="50" name="Shape 48"/>
          <p:cNvSpPr/>
          <p:nvPr/>
        </p:nvSpPr>
        <p:spPr>
          <a:xfrm>
            <a:off x="0" y="5143500"/>
            <a:ext cx="320040" cy="116300"/>
          </a:xfrm>
          <a:prstGeom prst="rect">
            <a:avLst/>
          </a:prstGeom>
          <a:solidFill>
            <a:srgbClr val="275CC7"/>
          </a:solidFill>
          <a:ln/>
        </p:spPr>
      </p:sp>
      <p:sp>
        <p:nvSpPr>
          <p:cNvPr id="51" name="Shape 49"/>
          <p:cNvSpPr/>
          <p:nvPr/>
        </p:nvSpPr>
        <p:spPr>
          <a:xfrm>
            <a:off x="0" y="5250656"/>
            <a:ext cx="320040" cy="116300"/>
          </a:xfrm>
          <a:prstGeom prst="rect">
            <a:avLst/>
          </a:prstGeom>
          <a:solidFill>
            <a:srgbClr val="265EC6"/>
          </a:solidFill>
          <a:ln/>
        </p:spPr>
      </p:sp>
      <p:sp>
        <p:nvSpPr>
          <p:cNvPr id="52" name="Shape 50"/>
          <p:cNvSpPr/>
          <p:nvPr/>
        </p:nvSpPr>
        <p:spPr>
          <a:xfrm>
            <a:off x="0" y="5357813"/>
            <a:ext cx="320040" cy="116300"/>
          </a:xfrm>
          <a:prstGeom prst="rect">
            <a:avLst/>
          </a:prstGeom>
          <a:solidFill>
            <a:srgbClr val="255FC5"/>
          </a:solidFill>
          <a:ln/>
        </p:spPr>
      </p:sp>
      <p:sp>
        <p:nvSpPr>
          <p:cNvPr id="53" name="Shape 51"/>
          <p:cNvSpPr/>
          <p:nvPr/>
        </p:nvSpPr>
        <p:spPr>
          <a:xfrm>
            <a:off x="0" y="5464969"/>
            <a:ext cx="320040" cy="116300"/>
          </a:xfrm>
          <a:prstGeom prst="rect">
            <a:avLst/>
          </a:prstGeom>
          <a:solidFill>
            <a:srgbClr val="2460C5"/>
          </a:solidFill>
          <a:ln/>
        </p:spPr>
      </p:sp>
      <p:sp>
        <p:nvSpPr>
          <p:cNvPr id="54" name="Shape 52"/>
          <p:cNvSpPr/>
          <p:nvPr/>
        </p:nvSpPr>
        <p:spPr>
          <a:xfrm>
            <a:off x="0" y="5572125"/>
            <a:ext cx="320040" cy="116300"/>
          </a:xfrm>
          <a:prstGeom prst="rect">
            <a:avLst/>
          </a:prstGeom>
          <a:solidFill>
            <a:srgbClr val="2361C4"/>
          </a:solidFill>
          <a:ln/>
        </p:spPr>
      </p:sp>
      <p:sp>
        <p:nvSpPr>
          <p:cNvPr id="55" name="Shape 53"/>
          <p:cNvSpPr/>
          <p:nvPr/>
        </p:nvSpPr>
        <p:spPr>
          <a:xfrm>
            <a:off x="0" y="5679281"/>
            <a:ext cx="320040" cy="116300"/>
          </a:xfrm>
          <a:prstGeom prst="rect">
            <a:avLst/>
          </a:prstGeom>
          <a:solidFill>
            <a:srgbClr val="2363C4"/>
          </a:solidFill>
          <a:ln/>
        </p:spPr>
      </p:sp>
      <p:sp>
        <p:nvSpPr>
          <p:cNvPr id="56" name="Shape 54"/>
          <p:cNvSpPr/>
          <p:nvPr/>
        </p:nvSpPr>
        <p:spPr>
          <a:xfrm>
            <a:off x="0" y="5786438"/>
            <a:ext cx="320040" cy="116300"/>
          </a:xfrm>
          <a:prstGeom prst="rect">
            <a:avLst/>
          </a:prstGeom>
          <a:solidFill>
            <a:srgbClr val="2264C3"/>
          </a:solidFill>
          <a:ln/>
        </p:spPr>
      </p:sp>
      <p:sp>
        <p:nvSpPr>
          <p:cNvPr id="57" name="Shape 55"/>
          <p:cNvSpPr/>
          <p:nvPr/>
        </p:nvSpPr>
        <p:spPr>
          <a:xfrm>
            <a:off x="0" y="5893594"/>
            <a:ext cx="320040" cy="116300"/>
          </a:xfrm>
          <a:prstGeom prst="rect">
            <a:avLst/>
          </a:prstGeom>
          <a:solidFill>
            <a:srgbClr val="2165C3"/>
          </a:solidFill>
          <a:ln/>
        </p:spPr>
      </p:sp>
      <p:sp>
        <p:nvSpPr>
          <p:cNvPr id="58" name="Shape 56"/>
          <p:cNvSpPr/>
          <p:nvPr/>
        </p:nvSpPr>
        <p:spPr>
          <a:xfrm>
            <a:off x="0" y="6000750"/>
            <a:ext cx="320040" cy="116300"/>
          </a:xfrm>
          <a:prstGeom prst="rect">
            <a:avLst/>
          </a:prstGeom>
          <a:solidFill>
            <a:srgbClr val="2066C2"/>
          </a:solidFill>
          <a:ln/>
        </p:spPr>
      </p:sp>
      <p:sp>
        <p:nvSpPr>
          <p:cNvPr id="59" name="Shape 57"/>
          <p:cNvSpPr/>
          <p:nvPr/>
        </p:nvSpPr>
        <p:spPr>
          <a:xfrm>
            <a:off x="0" y="6107906"/>
            <a:ext cx="320040" cy="116300"/>
          </a:xfrm>
          <a:prstGeom prst="rect">
            <a:avLst/>
          </a:prstGeom>
          <a:solidFill>
            <a:srgbClr val="1F68C1"/>
          </a:solidFill>
          <a:ln/>
        </p:spPr>
      </p:sp>
      <p:sp>
        <p:nvSpPr>
          <p:cNvPr id="60" name="Shape 58"/>
          <p:cNvSpPr/>
          <p:nvPr/>
        </p:nvSpPr>
        <p:spPr>
          <a:xfrm>
            <a:off x="0" y="6215063"/>
            <a:ext cx="320040" cy="116300"/>
          </a:xfrm>
          <a:prstGeom prst="rect">
            <a:avLst/>
          </a:prstGeom>
          <a:solidFill>
            <a:srgbClr val="1E69C1"/>
          </a:solidFill>
          <a:ln/>
        </p:spPr>
      </p:sp>
      <p:sp>
        <p:nvSpPr>
          <p:cNvPr id="61" name="Shape 59"/>
          <p:cNvSpPr/>
          <p:nvPr/>
        </p:nvSpPr>
        <p:spPr>
          <a:xfrm>
            <a:off x="0" y="6322219"/>
            <a:ext cx="320040" cy="116300"/>
          </a:xfrm>
          <a:prstGeom prst="rect">
            <a:avLst/>
          </a:prstGeom>
          <a:solidFill>
            <a:srgbClr val="1D6AC0"/>
          </a:solidFill>
          <a:ln/>
        </p:spPr>
      </p:sp>
      <p:sp>
        <p:nvSpPr>
          <p:cNvPr id="62" name="Shape 60"/>
          <p:cNvSpPr/>
          <p:nvPr/>
        </p:nvSpPr>
        <p:spPr>
          <a:xfrm>
            <a:off x="0" y="6429375"/>
            <a:ext cx="320040" cy="116300"/>
          </a:xfrm>
          <a:prstGeom prst="rect">
            <a:avLst/>
          </a:prstGeom>
          <a:solidFill>
            <a:srgbClr val="1D6BC0"/>
          </a:solidFill>
          <a:ln/>
        </p:spPr>
      </p:sp>
      <p:sp>
        <p:nvSpPr>
          <p:cNvPr id="63" name="Shape 61"/>
          <p:cNvSpPr/>
          <p:nvPr/>
        </p:nvSpPr>
        <p:spPr>
          <a:xfrm>
            <a:off x="0" y="6536531"/>
            <a:ext cx="320040" cy="116300"/>
          </a:xfrm>
          <a:prstGeom prst="rect">
            <a:avLst/>
          </a:prstGeom>
          <a:solidFill>
            <a:srgbClr val="1C6DBF"/>
          </a:solidFill>
          <a:ln/>
        </p:spPr>
      </p:sp>
      <p:sp>
        <p:nvSpPr>
          <p:cNvPr id="64" name="Shape 62"/>
          <p:cNvSpPr/>
          <p:nvPr/>
        </p:nvSpPr>
        <p:spPr>
          <a:xfrm>
            <a:off x="0" y="6643688"/>
            <a:ext cx="320040" cy="116300"/>
          </a:xfrm>
          <a:prstGeom prst="rect">
            <a:avLst/>
          </a:prstGeom>
          <a:solidFill>
            <a:srgbClr val="1B6EBF"/>
          </a:solidFill>
          <a:ln/>
        </p:spPr>
      </p:sp>
      <p:sp>
        <p:nvSpPr>
          <p:cNvPr id="65" name="Shape 63"/>
          <p:cNvSpPr/>
          <p:nvPr/>
        </p:nvSpPr>
        <p:spPr>
          <a:xfrm>
            <a:off x="0" y="6750844"/>
            <a:ext cx="320040" cy="116300"/>
          </a:xfrm>
          <a:prstGeom prst="rect">
            <a:avLst/>
          </a:prstGeom>
          <a:solidFill>
            <a:srgbClr val="1A6FBE"/>
          </a:solidFill>
          <a:ln/>
        </p:spPr>
      </p:sp>
      <p:sp>
        <p:nvSpPr>
          <p:cNvPr id="66" name="Text 64"/>
          <p:cNvSpPr/>
          <p:nvPr/>
        </p:nvSpPr>
        <p:spPr>
          <a:xfrm>
            <a:off x="73152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THE COST OF BAD OUTREACH</a:t>
            </a:r>
            <a:endParaRPr lang="en-US" sz="1100" dirty="0"/>
          </a:p>
        </p:txBody>
      </p:sp>
      <p:sp>
        <p:nvSpPr>
          <p:cNvPr id="67" name="Text 65"/>
          <p:cNvSpPr/>
          <p:nvPr/>
        </p:nvSpPr>
        <p:spPr>
          <a:xfrm>
            <a:off x="548640" y="1554480"/>
            <a:ext cx="11094415" cy="3200400"/>
          </a:xfrm>
          <a:prstGeom prst="rect">
            <a:avLst/>
          </a:prstGeom>
          <a:noFill/>
          <a:ln/>
        </p:spPr>
        <p:txBody>
          <a:bodyPr wrap="square" lIns="0" tIns="0" rIns="0" bIns="0" rtlCol="0" anchor="ctr"/>
          <a:lstStyle/>
          <a:p>
            <a:pPr algn="l" indent="0" marL="0">
              <a:buNone/>
            </a:pPr>
            <a:r>
              <a:rPr lang="en-US" sz="22000" b="1" spc="-600" kern="0" dirty="0">
                <a:solidFill>
                  <a:srgbClr val="5028C2"/>
                </a:solidFill>
                <a:latin typeface="Calibri" pitchFamily="34" charset="0"/>
                <a:ea typeface="Calibri" pitchFamily="34" charset="-122"/>
                <a:cs typeface="Calibri" pitchFamily="34" charset="-120"/>
              </a:rPr>
              <a:t>&lt; 5%</a:t>
            </a:r>
            <a:endParaRPr lang="en-US" sz="22000" dirty="0"/>
          </a:p>
        </p:txBody>
      </p:sp>
      <p:sp>
        <p:nvSpPr>
          <p:cNvPr id="68" name="Text 66"/>
          <p:cNvSpPr/>
          <p:nvPr/>
        </p:nvSpPr>
        <p:spPr>
          <a:xfrm>
            <a:off x="548640" y="4983480"/>
            <a:ext cx="11094415" cy="457200"/>
          </a:xfrm>
          <a:prstGeom prst="rect">
            <a:avLst/>
          </a:prstGeom>
          <a:noFill/>
          <a:ln/>
        </p:spPr>
        <p:txBody>
          <a:bodyPr wrap="square" lIns="0" tIns="0" rIns="0" bIns="0" rtlCol="0" anchor="t"/>
          <a:lstStyle/>
          <a:p>
            <a:pPr algn="l" indent="0" marL="0">
              <a:buNone/>
            </a:pPr>
            <a:r>
              <a:rPr lang="en-US" sz="2200" b="1" dirty="0">
                <a:solidFill>
                  <a:srgbClr val="0F1733"/>
                </a:solidFill>
                <a:latin typeface="Calibri" pitchFamily="34" charset="0"/>
                <a:ea typeface="Calibri" pitchFamily="34" charset="-122"/>
                <a:cs typeface="Calibri" pitchFamily="34" charset="-120"/>
              </a:rPr>
              <a:t>Average reply rate on cold creator DMs sent via existing tools.</a:t>
            </a:r>
            <a:endParaRPr lang="en-US" sz="2200" dirty="0"/>
          </a:p>
        </p:txBody>
      </p:sp>
      <p:sp>
        <p:nvSpPr>
          <p:cNvPr id="69" name="Text 67"/>
          <p:cNvSpPr/>
          <p:nvPr/>
        </p:nvSpPr>
        <p:spPr>
          <a:xfrm>
            <a:off x="548640" y="5486400"/>
            <a:ext cx="10637215" cy="640080"/>
          </a:xfrm>
          <a:prstGeom prst="rect">
            <a:avLst/>
          </a:prstGeom>
          <a:noFill/>
          <a:ln/>
        </p:spPr>
        <p:txBody>
          <a:bodyPr wrap="square" lIns="0" tIns="0" rIns="0" bIns="0" rtlCol="0" anchor="t"/>
          <a:lstStyle/>
          <a:p>
            <a:pPr algn="l" indent="0" marL="0">
              <a:buNone/>
            </a:pPr>
            <a:r>
              <a:rPr lang="en-US" sz="1300" dirty="0">
                <a:solidFill>
                  <a:srgbClr val="2A3358"/>
                </a:solidFill>
                <a:latin typeface="Calibri" pitchFamily="34" charset="0"/>
                <a:ea typeface="Calibri" pitchFamily="34" charset="-122"/>
                <a:cs typeface="Calibri" pitchFamily="34" charset="-120"/>
              </a:rPr>
              <a:t>When 95% of your messages go to /dev/null, the right creators never even know you exist. The problem is targeting and follow-through — not budget.</a:t>
            </a:r>
            <a:endParaRPr lang="en-US" sz="1300" dirty="0"/>
          </a:p>
        </p:txBody>
      </p:sp>
      <p:sp>
        <p:nvSpPr>
          <p:cNvPr id="70" name="Text 68"/>
          <p:cNvSpPr/>
          <p:nvPr/>
        </p:nvSpPr>
        <p:spPr>
          <a:xfrm>
            <a:off x="548640" y="6172200"/>
            <a:ext cx="7315200" cy="228600"/>
          </a:xfrm>
          <a:prstGeom prst="rect">
            <a:avLst/>
          </a:prstGeom>
          <a:noFill/>
          <a:ln/>
        </p:spPr>
        <p:txBody>
          <a:bodyPr wrap="square" lIns="0" tIns="0" rIns="0" bIns="0" rtlCol="0" anchor="t"/>
          <a:lstStyle/>
          <a:p>
            <a:pPr algn="l" indent="0" marL="0">
              <a:buNone/>
            </a:pPr>
            <a:r>
              <a:rPr lang="en-US" sz="1000" i="1" dirty="0">
                <a:solidFill>
                  <a:srgbClr val="6B7493"/>
                </a:solidFill>
                <a:latin typeface="Calibri" pitchFamily="34" charset="0"/>
                <a:ea typeface="Calibri" pitchFamily="34" charset="-122"/>
                <a:cs typeface="Calibri" pitchFamily="34" charset="-120"/>
              </a:rPr>
              <a:t>Industry-reported open and reply benchmarks, 2025–2026</a:t>
            </a:r>
            <a:endParaRPr lang="en-US" sz="1000" dirty="0"/>
          </a:p>
        </p:txBody>
      </p:sp>
      <p:sp>
        <p:nvSpPr>
          <p:cNvPr id="71" name="Shape 69"/>
          <p:cNvSpPr/>
          <p:nvPr/>
        </p:nvSpPr>
        <p:spPr>
          <a:xfrm>
            <a:off x="548640" y="502920"/>
            <a:ext cx="292608" cy="292608"/>
          </a:xfrm>
          <a:prstGeom prst="roundRect">
            <a:avLst>
              <a:gd name="adj" fmla="val 25000"/>
            </a:avLst>
          </a:prstGeom>
          <a:solidFill>
            <a:srgbClr val="5028C2"/>
          </a:solidFill>
          <a:ln/>
        </p:spPr>
      </p:sp>
      <p:sp>
        <p:nvSpPr>
          <p:cNvPr id="72" name="Shape 70"/>
          <p:cNvSpPr/>
          <p:nvPr/>
        </p:nvSpPr>
        <p:spPr>
          <a:xfrm>
            <a:off x="548640" y="502920"/>
            <a:ext cx="292608" cy="292608"/>
          </a:xfrm>
          <a:prstGeom prst="roundRect">
            <a:avLst>
              <a:gd name="adj" fmla="val 25000"/>
            </a:avLst>
          </a:prstGeom>
          <a:solidFill>
            <a:srgbClr val="1A6FBE">
              <a:alpha val="50000"/>
            </a:srgbClr>
          </a:solidFill>
          <a:ln/>
        </p:spPr>
      </p:sp>
      <p:sp>
        <p:nvSpPr>
          <p:cNvPr id="73" name="Text 71"/>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4" name="Text 72"/>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5" name="Text 73"/>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02 · Problem  ·  vD</a:t>
            </a:r>
            <a:endParaRPr lang="en-US" sz="900" dirty="0"/>
          </a:p>
        </p:txBody>
      </p:sp>
      <p:sp>
        <p:nvSpPr>
          <p:cNvPr id="76" name="Text 74"/>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7" name="Text 75"/>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011 / 126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ECFF"/>
        </a:solidFill>
      </p:bgPr>
    </p:bg>
    <p:spTree>
      <p:nvGrpSpPr>
        <p:cNvPr id="1" name=""/>
        <p:cNvGrpSpPr/>
        <p:nvPr/>
      </p:nvGrpSpPr>
      <p:grpSpPr>
        <a:xfrm>
          <a:off x="0" y="0"/>
          <a:ext cx="0" cy="0"/>
          <a:chOff x="0" y="0"/>
          <a:chExt cx="0" cy="0"/>
        </a:xfrm>
      </p:grpSpPr>
      <p:sp>
        <p:nvSpPr>
          <p:cNvPr id="2" name="Text 0"/>
          <p:cNvSpPr/>
          <p:nvPr/>
        </p:nvSpPr>
        <p:spPr>
          <a:xfrm>
            <a:off x="457200" y="365760"/>
            <a:ext cx="2286000" cy="2286000"/>
          </a:xfrm>
          <a:prstGeom prst="rect">
            <a:avLst/>
          </a:prstGeom>
          <a:noFill/>
          <a:ln/>
        </p:spPr>
        <p:txBody>
          <a:bodyPr wrap="square" lIns="0" tIns="0" rIns="0" bIns="0" rtlCol="0" anchor="t"/>
          <a:lstStyle/>
          <a:p>
            <a:pPr algn="l" indent="0" marL="0">
              <a:buNone/>
            </a:pPr>
            <a:r>
              <a:rPr lang="en-US" sz="24000" b="1" dirty="0">
                <a:solidFill>
                  <a:srgbClr val="5028C2"/>
                </a:solidFill>
                <a:latin typeface="Georgia" pitchFamily="34" charset="0"/>
                <a:ea typeface="Georgia" pitchFamily="34" charset="-122"/>
                <a:cs typeface="Georgia" pitchFamily="34" charset="-120"/>
              </a:rPr>
              <a:t>"</a:t>
            </a:r>
            <a:endParaRPr lang="en-US" sz="24000" dirty="0"/>
          </a:p>
        </p:txBody>
      </p:sp>
      <p:sp>
        <p:nvSpPr>
          <p:cNvPr id="3" name="Text 1"/>
          <p:cNvSpPr/>
          <p:nvPr/>
        </p:nvSpPr>
        <p:spPr>
          <a:xfrm>
            <a:off x="1920240" y="1737360"/>
            <a:ext cx="9722815" cy="3108960"/>
          </a:xfrm>
          <a:prstGeom prst="rect">
            <a:avLst/>
          </a:prstGeom>
          <a:noFill/>
          <a:ln/>
        </p:spPr>
        <p:txBody>
          <a:bodyPr wrap="square" lIns="0" tIns="0" rIns="0" bIns="0" rtlCol="0" anchor="t"/>
          <a:lstStyle/>
          <a:p>
            <a:pPr algn="l" indent="0" marL="0">
              <a:buNone/>
            </a:pPr>
            <a:r>
              <a:rPr lang="en-US" sz="3000" i="1" dirty="0">
                <a:solidFill>
                  <a:srgbClr val="0F1733"/>
                </a:solidFill>
                <a:latin typeface="Georgia" pitchFamily="34" charset="0"/>
                <a:ea typeface="Georgia" pitchFamily="34" charset="-122"/>
                <a:cs typeface="Georgia" pitchFamily="34" charset="-120"/>
              </a:rPr>
              <a:t>I spent four hours yesterday writing one outreach email — and three of those hours were just finding someone who matched what we needed.</a:t>
            </a:r>
            <a:endParaRPr lang="en-US" sz="3000" dirty="0"/>
          </a:p>
        </p:txBody>
      </p:sp>
      <p:sp>
        <p:nvSpPr>
          <p:cNvPr id="4" name="Shape 2"/>
          <p:cNvSpPr/>
          <p:nvPr/>
        </p:nvSpPr>
        <p:spPr>
          <a:xfrm>
            <a:off x="1920240" y="5120640"/>
            <a:ext cx="640080" cy="0"/>
          </a:xfrm>
          <a:prstGeom prst="line">
            <a:avLst/>
          </a:prstGeom>
          <a:noFill/>
          <a:ln w="25400">
            <a:solidFill>
              <a:srgbClr val="5028C2"/>
            </a:solidFill>
            <a:prstDash val="solid"/>
          </a:ln>
        </p:spPr>
      </p:sp>
      <p:sp>
        <p:nvSpPr>
          <p:cNvPr id="5" name="Text 3"/>
          <p:cNvSpPr/>
          <p:nvPr/>
        </p:nvSpPr>
        <p:spPr>
          <a:xfrm>
            <a:off x="1920240" y="5212080"/>
            <a:ext cx="9722815" cy="457200"/>
          </a:xfrm>
          <a:prstGeom prst="rect">
            <a:avLst/>
          </a:prstGeom>
          <a:noFill/>
          <a:ln/>
        </p:spPr>
        <p:txBody>
          <a:bodyPr wrap="square" lIns="0" tIns="0" rIns="0" bIns="0" rtlCol="0" anchor="t"/>
          <a:lstStyle/>
          <a:p>
            <a:pPr algn="l" indent="0" marL="0">
              <a:buNone/>
            </a:pPr>
            <a:r>
              <a:rPr lang="en-US" sz="1400" b="1" spc="100" kern="0" dirty="0">
                <a:solidFill>
                  <a:srgbClr val="3D1E96"/>
                </a:solidFill>
                <a:latin typeface="Calibri" pitchFamily="34" charset="0"/>
                <a:ea typeface="Calibri" pitchFamily="34" charset="-122"/>
                <a:cs typeface="Calibri" pitchFamily="34" charset="-120"/>
              </a:rPr>
              <a:t>Every founder doing this manually</a:t>
            </a:r>
            <a:endParaRPr lang="en-US" sz="1400" dirty="0"/>
          </a:p>
        </p:txBody>
      </p:sp>
      <p:sp>
        <p:nvSpPr>
          <p:cNvPr id="6" name="Text 4"/>
          <p:cNvSpPr/>
          <p:nvPr/>
        </p:nvSpPr>
        <p:spPr>
          <a:xfrm>
            <a:off x="1920240" y="5532120"/>
            <a:ext cx="9722815" cy="365760"/>
          </a:xfrm>
          <a:prstGeom prst="rect">
            <a:avLst/>
          </a:prstGeom>
          <a:noFill/>
          <a:ln/>
        </p:spPr>
        <p:txBody>
          <a:bodyPr wrap="square" lIns="0" tIns="0" rIns="0" bIns="0" rtlCol="0" anchor="t"/>
          <a:lstStyle/>
          <a:p>
            <a:pPr algn="l" indent="0" marL="0">
              <a:buNone/>
            </a:pPr>
            <a:r>
              <a:rPr lang="en-US" sz="1200" dirty="0">
                <a:solidFill>
                  <a:srgbClr val="6B7493"/>
                </a:solidFill>
                <a:latin typeface="Calibri" pitchFamily="34" charset="0"/>
                <a:ea typeface="Calibri" pitchFamily="34" charset="-122"/>
                <a:cs typeface="Calibri" pitchFamily="34" charset="-120"/>
              </a:rPr>
              <a:t>Paraphrased from dozens of conversations</a:t>
            </a:r>
            <a:endParaRPr lang="en-US" sz="1200" dirty="0"/>
          </a:p>
        </p:txBody>
      </p:sp>
      <p:sp>
        <p:nvSpPr>
          <p:cNvPr id="7" name="Shape 5"/>
          <p:cNvSpPr/>
          <p:nvPr/>
        </p:nvSpPr>
        <p:spPr>
          <a:xfrm>
            <a:off x="548640" y="502920"/>
            <a:ext cx="292608" cy="292608"/>
          </a:xfrm>
          <a:prstGeom prst="roundRect">
            <a:avLst>
              <a:gd name="adj" fmla="val 25000"/>
            </a:avLst>
          </a:prstGeom>
          <a:solidFill>
            <a:srgbClr val="5028C2"/>
          </a:solidFill>
          <a:ln/>
        </p:spPr>
      </p:sp>
      <p:sp>
        <p:nvSpPr>
          <p:cNvPr id="8" name="Shape 6"/>
          <p:cNvSpPr/>
          <p:nvPr/>
        </p:nvSpPr>
        <p:spPr>
          <a:xfrm>
            <a:off x="548640" y="502920"/>
            <a:ext cx="292608" cy="292608"/>
          </a:xfrm>
          <a:prstGeom prst="roundRect">
            <a:avLst>
              <a:gd name="adj" fmla="val 25000"/>
            </a:avLst>
          </a:prstGeom>
          <a:solidFill>
            <a:srgbClr val="1A6FBE">
              <a:alpha val="50000"/>
            </a:srgbClr>
          </a:solidFill>
          <a:ln/>
        </p:spPr>
      </p:sp>
      <p:sp>
        <p:nvSpPr>
          <p:cNvPr id="9" name="Text 7"/>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0" name="Text 8"/>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1" name="Text 9"/>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02 · Problem  ·  vE</a:t>
            </a:r>
            <a:endParaRPr lang="en-US" sz="900" dirty="0"/>
          </a:p>
        </p:txBody>
      </p:sp>
      <p:sp>
        <p:nvSpPr>
          <p:cNvPr id="12" name="Text 10"/>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3" name="Text 11"/>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012 / 126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a:off x="3047924" y="0"/>
            <a:ext cx="9143771" cy="6858000"/>
          </a:xfrm>
          <a:prstGeom prst="rtTriangle">
            <a:avLst/>
          </a:prstGeom>
          <a:solidFill>
            <a:srgbClr val="5028C2"/>
          </a:solidFill>
          <a:ln/>
        </p:spPr>
      </p:sp>
      <p:sp>
        <p:nvSpPr>
          <p:cNvPr id="3" name="Shape 1"/>
          <p:cNvSpPr/>
          <p:nvPr/>
        </p:nvSpPr>
        <p:spPr>
          <a:xfrm flipH="1">
            <a:off x="4876678" y="1028700"/>
            <a:ext cx="7924602" cy="6515100"/>
          </a:xfrm>
          <a:prstGeom prst="rtTriangle">
            <a:avLst/>
          </a:prstGeom>
          <a:solidFill>
            <a:srgbClr val="1A6FBE">
              <a:alpha val="75000"/>
            </a:srgbClr>
          </a:solidFill>
          <a:ln/>
        </p:spPr>
      </p:sp>
      <p:sp>
        <p:nvSpPr>
          <p:cNvPr id="4" name="Text 2"/>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WHY THIS MATTERS</a:t>
            </a:r>
            <a:endParaRPr lang="en-US" sz="1100" dirty="0"/>
          </a:p>
        </p:txBody>
      </p:sp>
      <p:sp>
        <p:nvSpPr>
          <p:cNvPr id="5" name="Text 3"/>
          <p:cNvSpPr/>
          <p:nvPr/>
        </p:nvSpPr>
        <p:spPr>
          <a:xfrm>
            <a:off x="548640" y="1417320"/>
            <a:ext cx="6095848" cy="2286000"/>
          </a:xfrm>
          <a:prstGeom prst="rect">
            <a:avLst/>
          </a:prstGeom>
          <a:noFill/>
          <a:ln/>
        </p:spPr>
        <p:txBody>
          <a:bodyPr wrap="square" lIns="0" tIns="0" rIns="0" bIns="0" rtlCol="0" anchor="t"/>
          <a:lstStyle/>
          <a:p>
            <a:pPr algn="l" indent="0" marL="0">
              <a:buNone/>
            </a:pPr>
            <a:r>
              <a:rPr lang="en-US" sz="4000" b="1" spc="-50" kern="0" dirty="0">
                <a:solidFill>
                  <a:srgbClr val="0F1733"/>
                </a:solidFill>
                <a:latin typeface="Calibri" pitchFamily="34" charset="0"/>
                <a:ea typeface="Calibri" pitchFamily="34" charset="-122"/>
                <a:cs typeface="Calibri" pitchFamily="34" charset="-120"/>
              </a:rPr>
              <a:t>The bottleneck isn't creators. It's the workflow to reach them.</a:t>
            </a:r>
            <a:endParaRPr lang="en-US" sz="4000" dirty="0"/>
          </a:p>
        </p:txBody>
      </p:sp>
      <p:sp>
        <p:nvSpPr>
          <p:cNvPr id="6" name="Text 4"/>
          <p:cNvSpPr/>
          <p:nvPr/>
        </p:nvSpPr>
        <p:spPr>
          <a:xfrm>
            <a:off x="548640" y="3840480"/>
            <a:ext cx="5821528" cy="2103120"/>
          </a:xfrm>
          <a:prstGeom prst="rect">
            <a:avLst/>
          </a:prstGeom>
          <a:noFill/>
          <a:ln/>
        </p:spPr>
        <p:txBody>
          <a:bodyPr wrap="square" lIns="0" tIns="0" rIns="0" bIns="0" rtlCol="0" anchor="t"/>
          <a:lstStyle/>
          <a:p>
            <a:pPr algn="l" indent="0" marL="0">
              <a:spcAft>
                <a:spcPts val="600"/>
              </a:spcAft>
              <a:buNone/>
            </a:pPr>
            <a:r>
              <a:rPr lang="en-US" sz="1400" dirty="0">
                <a:solidFill>
                  <a:srgbClr val="2A3358"/>
                </a:solidFill>
                <a:latin typeface="Calibri" pitchFamily="34" charset="0"/>
                <a:ea typeface="Calibri" pitchFamily="34" charset="-122"/>
                <a:cs typeface="Calibri" pitchFamily="34" charset="-120"/>
              </a:rPr>
              <a:t>There are millions of public creators on five platforms. Founders are bottlenecked not by supply, but by every step required to pick the right one and start the conversation. Workflow is the constraint.</a:t>
            </a:r>
            <a:endParaRPr lang="en-US" sz="1400" dirty="0"/>
          </a:p>
        </p:txBody>
      </p:sp>
      <p:sp>
        <p:nvSpPr>
          <p:cNvPr id="7" name="Text 5"/>
          <p:cNvSpPr/>
          <p:nvPr/>
        </p:nvSpPr>
        <p:spPr>
          <a:xfrm>
            <a:off x="6705432" y="2926080"/>
            <a:ext cx="4876678" cy="3291840"/>
          </a:xfrm>
          <a:prstGeom prst="rect">
            <a:avLst/>
          </a:prstGeom>
          <a:noFill/>
          <a:ln/>
        </p:spPr>
        <p:txBody>
          <a:bodyPr wrap="square" lIns="0" tIns="0" rIns="0" bIns="0" rtlCol="0" anchor="ctr"/>
          <a:lstStyle/>
          <a:p>
            <a:pPr algn="r" indent="0" marL="0">
              <a:buNone/>
            </a:pPr>
            <a:r>
              <a:rPr lang="en-US" sz="3200" b="1" spc="-50" kern="0" dirty="0">
                <a:solidFill>
                  <a:srgbClr val="FFFFFF"/>
                </a:solidFill>
                <a:latin typeface="Calibri" pitchFamily="34" charset="0"/>
                <a:ea typeface="Calibri" pitchFamily="34" charset="-122"/>
                <a:cs typeface="Calibri" pitchFamily="34" charset="-120"/>
              </a:rPr>
              <a:t>Wrong</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creators.</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Wrong tools.</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Wrong replies.</a:t>
            </a:r>
            <a:endParaRPr lang="en-US" sz="3200" dirty="0"/>
          </a:p>
        </p:txBody>
      </p:sp>
      <p:sp>
        <p:nvSpPr>
          <p:cNvPr id="8" name="Shape 6"/>
          <p:cNvSpPr/>
          <p:nvPr/>
        </p:nvSpPr>
        <p:spPr>
          <a:xfrm>
            <a:off x="548640" y="502920"/>
            <a:ext cx="292608" cy="292608"/>
          </a:xfrm>
          <a:prstGeom prst="roundRect">
            <a:avLst>
              <a:gd name="adj" fmla="val 25000"/>
            </a:avLst>
          </a:prstGeom>
          <a:solidFill>
            <a:srgbClr val="5028C2"/>
          </a:solidFill>
          <a:ln/>
        </p:spPr>
      </p:sp>
      <p:sp>
        <p:nvSpPr>
          <p:cNvPr id="9" name="Shape 7"/>
          <p:cNvSpPr/>
          <p:nvPr/>
        </p:nvSpPr>
        <p:spPr>
          <a:xfrm>
            <a:off x="548640" y="502920"/>
            <a:ext cx="292608" cy="292608"/>
          </a:xfrm>
          <a:prstGeom prst="roundRect">
            <a:avLst>
              <a:gd name="adj" fmla="val 25000"/>
            </a:avLst>
          </a:prstGeom>
          <a:solidFill>
            <a:srgbClr val="1A6FBE">
              <a:alpha val="50000"/>
            </a:srgbClr>
          </a:solidFill>
          <a:ln/>
        </p:spPr>
      </p:sp>
      <p:sp>
        <p:nvSpPr>
          <p:cNvPr id="10" name="Text 8"/>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1" name="Text 9"/>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2" name="Text 10"/>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02 · Problem  ·  vF</a:t>
            </a:r>
            <a:endParaRPr lang="en-US" sz="900" dirty="0"/>
          </a:p>
        </p:txBody>
      </p:sp>
      <p:sp>
        <p:nvSpPr>
          <p:cNvPr id="13" name="Text 11"/>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4" name="Text 12"/>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013 / 126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AF6"/>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48640" y="1417320"/>
            <a:ext cx="11094415" cy="914400"/>
          </a:xfrm>
          <a:prstGeom prst="rect">
            <a:avLst/>
          </a:prstGeom>
          <a:noFill/>
          <a:ln/>
        </p:spPr>
        <p:txBody>
          <a:bodyPr wrap="square" lIns="0" tIns="0" rIns="0" bIns="0" rtlCol="0" anchor="t"/>
          <a:lstStyle/>
          <a:p>
            <a:pPr algn="l" indent="0" marL="0">
              <a:buNone/>
            </a:pPr>
            <a:r>
              <a:rPr lang="en-US" sz="3400" b="1" spc="-50" kern="0" dirty="0">
                <a:solidFill>
                  <a:srgbClr val="0F1733"/>
                </a:solidFill>
                <a:latin typeface="Calibri" pitchFamily="34" charset="0"/>
                <a:ea typeface="Calibri" pitchFamily="34" charset="-122"/>
                <a:cs typeface="Calibri" pitchFamily="34" charset="-120"/>
              </a:rPr>
              <a:t>Three broken steps. Stacked. Every day.</a:t>
            </a:r>
            <a:endParaRPr lang="en-US" sz="3400" dirty="0"/>
          </a:p>
        </p:txBody>
      </p:sp>
      <p:sp>
        <p:nvSpPr>
          <p:cNvPr id="4" name="Shape 2"/>
          <p:cNvSpPr/>
          <p:nvPr/>
        </p:nvSpPr>
        <p:spPr>
          <a:xfrm>
            <a:off x="548640" y="2514600"/>
            <a:ext cx="5464912" cy="67008"/>
          </a:xfrm>
          <a:prstGeom prst="rect">
            <a:avLst/>
          </a:prstGeom>
          <a:solidFill>
            <a:srgbClr val="5028C2"/>
          </a:solidFill>
          <a:ln/>
        </p:spPr>
      </p:sp>
      <p:sp>
        <p:nvSpPr>
          <p:cNvPr id="5" name="Shape 3"/>
          <p:cNvSpPr/>
          <p:nvPr/>
        </p:nvSpPr>
        <p:spPr>
          <a:xfrm>
            <a:off x="548640" y="2572464"/>
            <a:ext cx="5464912" cy="67008"/>
          </a:xfrm>
          <a:prstGeom prst="rect">
            <a:avLst/>
          </a:prstGeom>
          <a:solidFill>
            <a:srgbClr val="4F29C2"/>
          </a:solidFill>
          <a:ln/>
        </p:spPr>
      </p:sp>
      <p:sp>
        <p:nvSpPr>
          <p:cNvPr id="6" name="Shape 4"/>
          <p:cNvSpPr/>
          <p:nvPr/>
        </p:nvSpPr>
        <p:spPr>
          <a:xfrm>
            <a:off x="548640" y="2630329"/>
            <a:ext cx="5464912" cy="67008"/>
          </a:xfrm>
          <a:prstGeom prst="rect">
            <a:avLst/>
          </a:prstGeom>
          <a:solidFill>
            <a:srgbClr val="4E2AC3"/>
          </a:solidFill>
          <a:ln/>
        </p:spPr>
      </p:sp>
      <p:sp>
        <p:nvSpPr>
          <p:cNvPr id="7" name="Shape 5"/>
          <p:cNvSpPr/>
          <p:nvPr/>
        </p:nvSpPr>
        <p:spPr>
          <a:xfrm>
            <a:off x="548640" y="2688193"/>
            <a:ext cx="5464912" cy="67008"/>
          </a:xfrm>
          <a:prstGeom prst="rect">
            <a:avLst/>
          </a:prstGeom>
          <a:solidFill>
            <a:srgbClr val="4D2BC3"/>
          </a:solidFill>
          <a:ln/>
        </p:spPr>
      </p:sp>
      <p:sp>
        <p:nvSpPr>
          <p:cNvPr id="8" name="Shape 6"/>
          <p:cNvSpPr/>
          <p:nvPr/>
        </p:nvSpPr>
        <p:spPr>
          <a:xfrm>
            <a:off x="548640" y="2746058"/>
            <a:ext cx="5464912" cy="67008"/>
          </a:xfrm>
          <a:prstGeom prst="rect">
            <a:avLst/>
          </a:prstGeom>
          <a:solidFill>
            <a:srgbClr val="4D2CC4"/>
          </a:solidFill>
          <a:ln/>
        </p:spPr>
      </p:sp>
      <p:sp>
        <p:nvSpPr>
          <p:cNvPr id="9" name="Shape 7"/>
          <p:cNvSpPr/>
          <p:nvPr/>
        </p:nvSpPr>
        <p:spPr>
          <a:xfrm>
            <a:off x="548640" y="2803922"/>
            <a:ext cx="5464912" cy="67008"/>
          </a:xfrm>
          <a:prstGeom prst="rect">
            <a:avLst/>
          </a:prstGeom>
          <a:solidFill>
            <a:srgbClr val="4C2DC4"/>
          </a:solidFill>
          <a:ln/>
        </p:spPr>
      </p:sp>
      <p:sp>
        <p:nvSpPr>
          <p:cNvPr id="10" name="Shape 8"/>
          <p:cNvSpPr/>
          <p:nvPr/>
        </p:nvSpPr>
        <p:spPr>
          <a:xfrm>
            <a:off x="548640" y="2861786"/>
            <a:ext cx="5464912" cy="67008"/>
          </a:xfrm>
          <a:prstGeom prst="rect">
            <a:avLst/>
          </a:prstGeom>
          <a:solidFill>
            <a:srgbClr val="4B2EC5"/>
          </a:solidFill>
          <a:ln/>
        </p:spPr>
      </p:sp>
      <p:sp>
        <p:nvSpPr>
          <p:cNvPr id="11" name="Shape 9"/>
          <p:cNvSpPr/>
          <p:nvPr/>
        </p:nvSpPr>
        <p:spPr>
          <a:xfrm>
            <a:off x="548640" y="2919651"/>
            <a:ext cx="5464912" cy="67008"/>
          </a:xfrm>
          <a:prstGeom prst="rect">
            <a:avLst/>
          </a:prstGeom>
          <a:solidFill>
            <a:srgbClr val="4A2FC5"/>
          </a:solidFill>
          <a:ln/>
        </p:spPr>
      </p:sp>
      <p:sp>
        <p:nvSpPr>
          <p:cNvPr id="12" name="Shape 10"/>
          <p:cNvSpPr/>
          <p:nvPr/>
        </p:nvSpPr>
        <p:spPr>
          <a:xfrm>
            <a:off x="548640" y="2977515"/>
            <a:ext cx="5464912" cy="67008"/>
          </a:xfrm>
          <a:prstGeom prst="rect">
            <a:avLst/>
          </a:prstGeom>
          <a:solidFill>
            <a:srgbClr val="4930C6"/>
          </a:solidFill>
          <a:ln/>
        </p:spPr>
      </p:sp>
      <p:sp>
        <p:nvSpPr>
          <p:cNvPr id="13" name="Shape 11"/>
          <p:cNvSpPr/>
          <p:nvPr/>
        </p:nvSpPr>
        <p:spPr>
          <a:xfrm>
            <a:off x="548640" y="3035379"/>
            <a:ext cx="5464912" cy="67008"/>
          </a:xfrm>
          <a:prstGeom prst="rect">
            <a:avLst/>
          </a:prstGeom>
          <a:solidFill>
            <a:srgbClr val="4831C6"/>
          </a:solidFill>
          <a:ln/>
        </p:spPr>
      </p:sp>
      <p:sp>
        <p:nvSpPr>
          <p:cNvPr id="14" name="Shape 12"/>
          <p:cNvSpPr/>
          <p:nvPr/>
        </p:nvSpPr>
        <p:spPr>
          <a:xfrm>
            <a:off x="548640" y="3093244"/>
            <a:ext cx="5464912" cy="67008"/>
          </a:xfrm>
          <a:prstGeom prst="rect">
            <a:avLst/>
          </a:prstGeom>
          <a:solidFill>
            <a:srgbClr val="4732C6"/>
          </a:solidFill>
          <a:ln/>
        </p:spPr>
      </p:sp>
      <p:sp>
        <p:nvSpPr>
          <p:cNvPr id="15" name="Shape 13"/>
          <p:cNvSpPr/>
          <p:nvPr/>
        </p:nvSpPr>
        <p:spPr>
          <a:xfrm>
            <a:off x="548640" y="3151108"/>
            <a:ext cx="5464912" cy="67008"/>
          </a:xfrm>
          <a:prstGeom prst="rect">
            <a:avLst/>
          </a:prstGeom>
          <a:solidFill>
            <a:srgbClr val="4733C7"/>
          </a:solidFill>
          <a:ln/>
        </p:spPr>
      </p:sp>
      <p:sp>
        <p:nvSpPr>
          <p:cNvPr id="16" name="Shape 14"/>
          <p:cNvSpPr/>
          <p:nvPr/>
        </p:nvSpPr>
        <p:spPr>
          <a:xfrm>
            <a:off x="548640" y="3208973"/>
            <a:ext cx="5464912" cy="67008"/>
          </a:xfrm>
          <a:prstGeom prst="rect">
            <a:avLst/>
          </a:prstGeom>
          <a:solidFill>
            <a:srgbClr val="4634C7"/>
          </a:solidFill>
          <a:ln/>
        </p:spPr>
      </p:sp>
      <p:sp>
        <p:nvSpPr>
          <p:cNvPr id="17" name="Shape 15"/>
          <p:cNvSpPr/>
          <p:nvPr/>
        </p:nvSpPr>
        <p:spPr>
          <a:xfrm>
            <a:off x="548640" y="3266837"/>
            <a:ext cx="5464912" cy="67008"/>
          </a:xfrm>
          <a:prstGeom prst="rect">
            <a:avLst/>
          </a:prstGeom>
          <a:solidFill>
            <a:srgbClr val="4535C8"/>
          </a:solidFill>
          <a:ln/>
        </p:spPr>
      </p:sp>
      <p:sp>
        <p:nvSpPr>
          <p:cNvPr id="18" name="Shape 16"/>
          <p:cNvSpPr/>
          <p:nvPr/>
        </p:nvSpPr>
        <p:spPr>
          <a:xfrm>
            <a:off x="548640" y="3324701"/>
            <a:ext cx="5464912" cy="67008"/>
          </a:xfrm>
          <a:prstGeom prst="rect">
            <a:avLst/>
          </a:prstGeom>
          <a:solidFill>
            <a:srgbClr val="4436C8"/>
          </a:solidFill>
          <a:ln/>
        </p:spPr>
      </p:sp>
      <p:sp>
        <p:nvSpPr>
          <p:cNvPr id="19" name="Shape 17"/>
          <p:cNvSpPr/>
          <p:nvPr/>
        </p:nvSpPr>
        <p:spPr>
          <a:xfrm>
            <a:off x="548640" y="3382566"/>
            <a:ext cx="5464912" cy="67008"/>
          </a:xfrm>
          <a:prstGeom prst="rect">
            <a:avLst/>
          </a:prstGeom>
          <a:solidFill>
            <a:srgbClr val="4337C9"/>
          </a:solidFill>
          <a:ln/>
        </p:spPr>
      </p:sp>
      <p:sp>
        <p:nvSpPr>
          <p:cNvPr id="20" name="Shape 18"/>
          <p:cNvSpPr/>
          <p:nvPr/>
        </p:nvSpPr>
        <p:spPr>
          <a:xfrm>
            <a:off x="548640" y="3440430"/>
            <a:ext cx="5464912" cy="67008"/>
          </a:xfrm>
          <a:prstGeom prst="rect">
            <a:avLst/>
          </a:prstGeom>
          <a:solidFill>
            <a:srgbClr val="4238C9"/>
          </a:solidFill>
          <a:ln/>
        </p:spPr>
      </p:sp>
      <p:sp>
        <p:nvSpPr>
          <p:cNvPr id="21" name="Shape 19"/>
          <p:cNvSpPr/>
          <p:nvPr/>
        </p:nvSpPr>
        <p:spPr>
          <a:xfrm>
            <a:off x="548640" y="3498294"/>
            <a:ext cx="5464912" cy="67008"/>
          </a:xfrm>
          <a:prstGeom prst="rect">
            <a:avLst/>
          </a:prstGeom>
          <a:solidFill>
            <a:srgbClr val="4139CA"/>
          </a:solidFill>
          <a:ln/>
        </p:spPr>
      </p:sp>
      <p:sp>
        <p:nvSpPr>
          <p:cNvPr id="22" name="Shape 20"/>
          <p:cNvSpPr/>
          <p:nvPr/>
        </p:nvSpPr>
        <p:spPr>
          <a:xfrm>
            <a:off x="548640" y="3556159"/>
            <a:ext cx="5464912" cy="67008"/>
          </a:xfrm>
          <a:prstGeom prst="rect">
            <a:avLst/>
          </a:prstGeom>
          <a:solidFill>
            <a:srgbClr val="413ACA"/>
          </a:solidFill>
          <a:ln/>
        </p:spPr>
      </p:sp>
      <p:sp>
        <p:nvSpPr>
          <p:cNvPr id="23" name="Shape 21"/>
          <p:cNvSpPr/>
          <p:nvPr/>
        </p:nvSpPr>
        <p:spPr>
          <a:xfrm>
            <a:off x="548640" y="3614023"/>
            <a:ext cx="5464912" cy="67008"/>
          </a:xfrm>
          <a:prstGeom prst="rect">
            <a:avLst/>
          </a:prstGeom>
          <a:solidFill>
            <a:srgbClr val="403BCA"/>
          </a:solidFill>
          <a:ln/>
        </p:spPr>
      </p:sp>
      <p:sp>
        <p:nvSpPr>
          <p:cNvPr id="24" name="Shape 22"/>
          <p:cNvSpPr/>
          <p:nvPr/>
        </p:nvSpPr>
        <p:spPr>
          <a:xfrm>
            <a:off x="548640" y="3671888"/>
            <a:ext cx="5464912" cy="67008"/>
          </a:xfrm>
          <a:prstGeom prst="rect">
            <a:avLst/>
          </a:prstGeom>
          <a:solidFill>
            <a:srgbClr val="3F3CCB"/>
          </a:solidFill>
          <a:ln/>
        </p:spPr>
      </p:sp>
      <p:sp>
        <p:nvSpPr>
          <p:cNvPr id="25" name="Shape 23"/>
          <p:cNvSpPr/>
          <p:nvPr/>
        </p:nvSpPr>
        <p:spPr>
          <a:xfrm>
            <a:off x="548640" y="3729752"/>
            <a:ext cx="5464912" cy="67008"/>
          </a:xfrm>
          <a:prstGeom prst="rect">
            <a:avLst/>
          </a:prstGeom>
          <a:solidFill>
            <a:srgbClr val="3E3DCB"/>
          </a:solidFill>
          <a:ln/>
        </p:spPr>
      </p:sp>
      <p:sp>
        <p:nvSpPr>
          <p:cNvPr id="26" name="Shape 24"/>
          <p:cNvSpPr/>
          <p:nvPr/>
        </p:nvSpPr>
        <p:spPr>
          <a:xfrm>
            <a:off x="548640" y="3787616"/>
            <a:ext cx="5464912" cy="67008"/>
          </a:xfrm>
          <a:prstGeom prst="rect">
            <a:avLst/>
          </a:prstGeom>
          <a:solidFill>
            <a:srgbClr val="3D3ECC"/>
          </a:solidFill>
          <a:ln/>
        </p:spPr>
      </p:sp>
      <p:sp>
        <p:nvSpPr>
          <p:cNvPr id="27" name="Shape 25"/>
          <p:cNvSpPr/>
          <p:nvPr/>
        </p:nvSpPr>
        <p:spPr>
          <a:xfrm>
            <a:off x="548640" y="3845481"/>
            <a:ext cx="5464912" cy="67008"/>
          </a:xfrm>
          <a:prstGeom prst="rect">
            <a:avLst/>
          </a:prstGeom>
          <a:solidFill>
            <a:srgbClr val="3C3FCC"/>
          </a:solidFill>
          <a:ln/>
        </p:spPr>
      </p:sp>
      <p:sp>
        <p:nvSpPr>
          <p:cNvPr id="28" name="Shape 26"/>
          <p:cNvSpPr/>
          <p:nvPr/>
        </p:nvSpPr>
        <p:spPr>
          <a:xfrm>
            <a:off x="548640" y="3903345"/>
            <a:ext cx="5464912" cy="67008"/>
          </a:xfrm>
          <a:prstGeom prst="rect">
            <a:avLst/>
          </a:prstGeom>
          <a:solidFill>
            <a:srgbClr val="3B40CD"/>
          </a:solidFill>
          <a:ln/>
        </p:spPr>
      </p:sp>
      <p:sp>
        <p:nvSpPr>
          <p:cNvPr id="29" name="Shape 27"/>
          <p:cNvSpPr/>
          <p:nvPr/>
        </p:nvSpPr>
        <p:spPr>
          <a:xfrm>
            <a:off x="548640" y="3961209"/>
            <a:ext cx="5464912" cy="67008"/>
          </a:xfrm>
          <a:prstGeom prst="rect">
            <a:avLst/>
          </a:prstGeom>
          <a:solidFill>
            <a:srgbClr val="3B41CD"/>
          </a:solidFill>
          <a:ln/>
        </p:spPr>
      </p:sp>
      <p:sp>
        <p:nvSpPr>
          <p:cNvPr id="30" name="Shape 28"/>
          <p:cNvSpPr/>
          <p:nvPr/>
        </p:nvSpPr>
        <p:spPr>
          <a:xfrm>
            <a:off x="548640" y="4019074"/>
            <a:ext cx="5464912" cy="67008"/>
          </a:xfrm>
          <a:prstGeom prst="rect">
            <a:avLst/>
          </a:prstGeom>
          <a:solidFill>
            <a:srgbClr val="3A42CE"/>
          </a:solidFill>
          <a:ln/>
        </p:spPr>
      </p:sp>
      <p:sp>
        <p:nvSpPr>
          <p:cNvPr id="31" name="Shape 29"/>
          <p:cNvSpPr/>
          <p:nvPr/>
        </p:nvSpPr>
        <p:spPr>
          <a:xfrm>
            <a:off x="548640" y="4076938"/>
            <a:ext cx="5464912" cy="67008"/>
          </a:xfrm>
          <a:prstGeom prst="rect">
            <a:avLst/>
          </a:prstGeom>
          <a:solidFill>
            <a:srgbClr val="3943CE"/>
          </a:solidFill>
          <a:ln/>
        </p:spPr>
      </p:sp>
      <p:sp>
        <p:nvSpPr>
          <p:cNvPr id="32" name="Shape 30"/>
          <p:cNvSpPr/>
          <p:nvPr/>
        </p:nvSpPr>
        <p:spPr>
          <a:xfrm>
            <a:off x="548640" y="4134802"/>
            <a:ext cx="5464912" cy="67008"/>
          </a:xfrm>
          <a:prstGeom prst="rect">
            <a:avLst/>
          </a:prstGeom>
          <a:solidFill>
            <a:srgbClr val="3844CE"/>
          </a:solidFill>
          <a:ln/>
        </p:spPr>
      </p:sp>
      <p:sp>
        <p:nvSpPr>
          <p:cNvPr id="33" name="Shape 31"/>
          <p:cNvSpPr/>
          <p:nvPr/>
        </p:nvSpPr>
        <p:spPr>
          <a:xfrm>
            <a:off x="548640" y="4192667"/>
            <a:ext cx="5464912" cy="67008"/>
          </a:xfrm>
          <a:prstGeom prst="rect">
            <a:avLst/>
          </a:prstGeom>
          <a:solidFill>
            <a:srgbClr val="3745CF"/>
          </a:solidFill>
          <a:ln/>
        </p:spPr>
      </p:sp>
      <p:sp>
        <p:nvSpPr>
          <p:cNvPr id="34" name="Shape 32"/>
          <p:cNvSpPr/>
          <p:nvPr/>
        </p:nvSpPr>
        <p:spPr>
          <a:xfrm>
            <a:off x="548640" y="4250531"/>
            <a:ext cx="5464912" cy="67008"/>
          </a:xfrm>
          <a:prstGeom prst="rect">
            <a:avLst/>
          </a:prstGeom>
          <a:solidFill>
            <a:srgbClr val="3646CF"/>
          </a:solidFill>
          <a:ln/>
        </p:spPr>
      </p:sp>
      <p:sp>
        <p:nvSpPr>
          <p:cNvPr id="35" name="Shape 33"/>
          <p:cNvSpPr/>
          <p:nvPr/>
        </p:nvSpPr>
        <p:spPr>
          <a:xfrm>
            <a:off x="548640" y="4308396"/>
            <a:ext cx="5464912" cy="67008"/>
          </a:xfrm>
          <a:prstGeom prst="rect">
            <a:avLst/>
          </a:prstGeom>
          <a:solidFill>
            <a:srgbClr val="3547D0"/>
          </a:solidFill>
          <a:ln/>
        </p:spPr>
      </p:sp>
      <p:sp>
        <p:nvSpPr>
          <p:cNvPr id="36" name="Shape 34"/>
          <p:cNvSpPr/>
          <p:nvPr/>
        </p:nvSpPr>
        <p:spPr>
          <a:xfrm>
            <a:off x="548640" y="4366260"/>
            <a:ext cx="5464912" cy="67008"/>
          </a:xfrm>
          <a:prstGeom prst="rect">
            <a:avLst/>
          </a:prstGeom>
          <a:solidFill>
            <a:srgbClr val="3549D0"/>
          </a:solidFill>
          <a:ln/>
        </p:spPr>
      </p:sp>
      <p:sp>
        <p:nvSpPr>
          <p:cNvPr id="37" name="Shape 35"/>
          <p:cNvSpPr/>
          <p:nvPr/>
        </p:nvSpPr>
        <p:spPr>
          <a:xfrm>
            <a:off x="548640" y="4424124"/>
            <a:ext cx="5464912" cy="67008"/>
          </a:xfrm>
          <a:prstGeom prst="rect">
            <a:avLst/>
          </a:prstGeom>
          <a:solidFill>
            <a:srgbClr val="344ACF"/>
          </a:solidFill>
          <a:ln/>
        </p:spPr>
      </p:sp>
      <p:sp>
        <p:nvSpPr>
          <p:cNvPr id="38" name="Shape 36"/>
          <p:cNvSpPr/>
          <p:nvPr/>
        </p:nvSpPr>
        <p:spPr>
          <a:xfrm>
            <a:off x="548640" y="4481989"/>
            <a:ext cx="5464912" cy="67008"/>
          </a:xfrm>
          <a:prstGeom prst="rect">
            <a:avLst/>
          </a:prstGeom>
          <a:solidFill>
            <a:srgbClr val="334BCF"/>
          </a:solidFill>
          <a:ln/>
        </p:spPr>
      </p:sp>
      <p:sp>
        <p:nvSpPr>
          <p:cNvPr id="39" name="Shape 37"/>
          <p:cNvSpPr/>
          <p:nvPr/>
        </p:nvSpPr>
        <p:spPr>
          <a:xfrm>
            <a:off x="548640" y="4539853"/>
            <a:ext cx="5464912" cy="67008"/>
          </a:xfrm>
          <a:prstGeom prst="rect">
            <a:avLst/>
          </a:prstGeom>
          <a:solidFill>
            <a:srgbClr val="324CCE"/>
          </a:solidFill>
          <a:ln/>
        </p:spPr>
      </p:sp>
      <p:sp>
        <p:nvSpPr>
          <p:cNvPr id="40" name="Shape 38"/>
          <p:cNvSpPr/>
          <p:nvPr/>
        </p:nvSpPr>
        <p:spPr>
          <a:xfrm>
            <a:off x="548640" y="4597717"/>
            <a:ext cx="5464912" cy="67008"/>
          </a:xfrm>
          <a:prstGeom prst="rect">
            <a:avLst/>
          </a:prstGeom>
          <a:solidFill>
            <a:srgbClr val="314ECD"/>
          </a:solidFill>
          <a:ln/>
        </p:spPr>
      </p:sp>
      <p:sp>
        <p:nvSpPr>
          <p:cNvPr id="41" name="Shape 39"/>
          <p:cNvSpPr/>
          <p:nvPr/>
        </p:nvSpPr>
        <p:spPr>
          <a:xfrm>
            <a:off x="548640" y="4655582"/>
            <a:ext cx="5464912" cy="67008"/>
          </a:xfrm>
          <a:prstGeom prst="rect">
            <a:avLst/>
          </a:prstGeom>
          <a:solidFill>
            <a:srgbClr val="304FCD"/>
          </a:solidFill>
          <a:ln/>
        </p:spPr>
      </p:sp>
      <p:sp>
        <p:nvSpPr>
          <p:cNvPr id="42" name="Shape 40"/>
          <p:cNvSpPr/>
          <p:nvPr/>
        </p:nvSpPr>
        <p:spPr>
          <a:xfrm>
            <a:off x="548640" y="4713446"/>
            <a:ext cx="5464912" cy="67008"/>
          </a:xfrm>
          <a:prstGeom prst="rect">
            <a:avLst/>
          </a:prstGeom>
          <a:solidFill>
            <a:srgbClr val="2F50CC"/>
          </a:solidFill>
          <a:ln/>
        </p:spPr>
      </p:sp>
      <p:sp>
        <p:nvSpPr>
          <p:cNvPr id="43" name="Shape 41"/>
          <p:cNvSpPr/>
          <p:nvPr/>
        </p:nvSpPr>
        <p:spPr>
          <a:xfrm>
            <a:off x="548640" y="4771311"/>
            <a:ext cx="5464912" cy="67008"/>
          </a:xfrm>
          <a:prstGeom prst="rect">
            <a:avLst/>
          </a:prstGeom>
          <a:solidFill>
            <a:srgbClr val="2F51CC"/>
          </a:solidFill>
          <a:ln/>
        </p:spPr>
      </p:sp>
      <p:sp>
        <p:nvSpPr>
          <p:cNvPr id="44" name="Shape 42"/>
          <p:cNvSpPr/>
          <p:nvPr/>
        </p:nvSpPr>
        <p:spPr>
          <a:xfrm>
            <a:off x="548640" y="4829175"/>
            <a:ext cx="5464912" cy="67008"/>
          </a:xfrm>
          <a:prstGeom prst="rect">
            <a:avLst/>
          </a:prstGeom>
          <a:solidFill>
            <a:srgbClr val="2E53CB"/>
          </a:solidFill>
          <a:ln/>
        </p:spPr>
      </p:sp>
      <p:sp>
        <p:nvSpPr>
          <p:cNvPr id="45" name="Shape 43"/>
          <p:cNvSpPr/>
          <p:nvPr/>
        </p:nvSpPr>
        <p:spPr>
          <a:xfrm>
            <a:off x="548640" y="4887039"/>
            <a:ext cx="5464912" cy="67008"/>
          </a:xfrm>
          <a:prstGeom prst="rect">
            <a:avLst/>
          </a:prstGeom>
          <a:solidFill>
            <a:srgbClr val="2D54CB"/>
          </a:solidFill>
          <a:ln/>
        </p:spPr>
      </p:sp>
      <p:sp>
        <p:nvSpPr>
          <p:cNvPr id="46" name="Shape 44"/>
          <p:cNvSpPr/>
          <p:nvPr/>
        </p:nvSpPr>
        <p:spPr>
          <a:xfrm>
            <a:off x="548640" y="4944904"/>
            <a:ext cx="5464912" cy="67008"/>
          </a:xfrm>
          <a:prstGeom prst="rect">
            <a:avLst/>
          </a:prstGeom>
          <a:solidFill>
            <a:srgbClr val="2C55CA"/>
          </a:solidFill>
          <a:ln/>
        </p:spPr>
      </p:sp>
      <p:sp>
        <p:nvSpPr>
          <p:cNvPr id="47" name="Shape 45"/>
          <p:cNvSpPr/>
          <p:nvPr/>
        </p:nvSpPr>
        <p:spPr>
          <a:xfrm>
            <a:off x="548640" y="5002768"/>
            <a:ext cx="5464912" cy="67008"/>
          </a:xfrm>
          <a:prstGeom prst="rect">
            <a:avLst/>
          </a:prstGeom>
          <a:solidFill>
            <a:srgbClr val="2B56C9"/>
          </a:solidFill>
          <a:ln/>
        </p:spPr>
      </p:sp>
      <p:sp>
        <p:nvSpPr>
          <p:cNvPr id="48" name="Shape 46"/>
          <p:cNvSpPr/>
          <p:nvPr/>
        </p:nvSpPr>
        <p:spPr>
          <a:xfrm>
            <a:off x="548640" y="5060633"/>
            <a:ext cx="5464912" cy="67008"/>
          </a:xfrm>
          <a:prstGeom prst="rect">
            <a:avLst/>
          </a:prstGeom>
          <a:solidFill>
            <a:srgbClr val="2A57C9"/>
          </a:solidFill>
          <a:ln/>
        </p:spPr>
      </p:sp>
      <p:sp>
        <p:nvSpPr>
          <p:cNvPr id="49" name="Shape 47"/>
          <p:cNvSpPr/>
          <p:nvPr/>
        </p:nvSpPr>
        <p:spPr>
          <a:xfrm>
            <a:off x="548640" y="5118497"/>
            <a:ext cx="5464912" cy="67008"/>
          </a:xfrm>
          <a:prstGeom prst="rect">
            <a:avLst/>
          </a:prstGeom>
          <a:solidFill>
            <a:srgbClr val="2959C8"/>
          </a:solidFill>
          <a:ln/>
        </p:spPr>
      </p:sp>
      <p:sp>
        <p:nvSpPr>
          <p:cNvPr id="50" name="Shape 48"/>
          <p:cNvSpPr/>
          <p:nvPr/>
        </p:nvSpPr>
        <p:spPr>
          <a:xfrm>
            <a:off x="548640" y="5176361"/>
            <a:ext cx="5464912" cy="67008"/>
          </a:xfrm>
          <a:prstGeom prst="rect">
            <a:avLst/>
          </a:prstGeom>
          <a:solidFill>
            <a:srgbClr val="295AC8"/>
          </a:solidFill>
          <a:ln/>
        </p:spPr>
      </p:sp>
      <p:sp>
        <p:nvSpPr>
          <p:cNvPr id="51" name="Shape 49"/>
          <p:cNvSpPr/>
          <p:nvPr/>
        </p:nvSpPr>
        <p:spPr>
          <a:xfrm>
            <a:off x="548640" y="5234226"/>
            <a:ext cx="5464912" cy="67008"/>
          </a:xfrm>
          <a:prstGeom prst="rect">
            <a:avLst/>
          </a:prstGeom>
          <a:solidFill>
            <a:srgbClr val="285BC7"/>
          </a:solidFill>
          <a:ln/>
        </p:spPr>
      </p:sp>
      <p:sp>
        <p:nvSpPr>
          <p:cNvPr id="52" name="Shape 50"/>
          <p:cNvSpPr/>
          <p:nvPr/>
        </p:nvSpPr>
        <p:spPr>
          <a:xfrm>
            <a:off x="548640" y="5292090"/>
            <a:ext cx="5464912" cy="67008"/>
          </a:xfrm>
          <a:prstGeom prst="rect">
            <a:avLst/>
          </a:prstGeom>
          <a:solidFill>
            <a:srgbClr val="275CC7"/>
          </a:solidFill>
          <a:ln/>
        </p:spPr>
      </p:sp>
      <p:sp>
        <p:nvSpPr>
          <p:cNvPr id="53" name="Shape 51"/>
          <p:cNvSpPr/>
          <p:nvPr/>
        </p:nvSpPr>
        <p:spPr>
          <a:xfrm>
            <a:off x="548640" y="5349954"/>
            <a:ext cx="5464912" cy="67008"/>
          </a:xfrm>
          <a:prstGeom prst="rect">
            <a:avLst/>
          </a:prstGeom>
          <a:solidFill>
            <a:srgbClr val="265EC6"/>
          </a:solidFill>
          <a:ln/>
        </p:spPr>
      </p:sp>
      <p:sp>
        <p:nvSpPr>
          <p:cNvPr id="54" name="Shape 52"/>
          <p:cNvSpPr/>
          <p:nvPr/>
        </p:nvSpPr>
        <p:spPr>
          <a:xfrm>
            <a:off x="548640" y="5407819"/>
            <a:ext cx="5464912" cy="67008"/>
          </a:xfrm>
          <a:prstGeom prst="rect">
            <a:avLst/>
          </a:prstGeom>
          <a:solidFill>
            <a:srgbClr val="255FC5"/>
          </a:solidFill>
          <a:ln/>
        </p:spPr>
      </p:sp>
      <p:sp>
        <p:nvSpPr>
          <p:cNvPr id="55" name="Shape 53"/>
          <p:cNvSpPr/>
          <p:nvPr/>
        </p:nvSpPr>
        <p:spPr>
          <a:xfrm>
            <a:off x="548640" y="5465683"/>
            <a:ext cx="5464912" cy="67008"/>
          </a:xfrm>
          <a:prstGeom prst="rect">
            <a:avLst/>
          </a:prstGeom>
          <a:solidFill>
            <a:srgbClr val="2460C5"/>
          </a:solidFill>
          <a:ln/>
        </p:spPr>
      </p:sp>
      <p:sp>
        <p:nvSpPr>
          <p:cNvPr id="56" name="Shape 54"/>
          <p:cNvSpPr/>
          <p:nvPr/>
        </p:nvSpPr>
        <p:spPr>
          <a:xfrm>
            <a:off x="548640" y="5523548"/>
            <a:ext cx="5464912" cy="67008"/>
          </a:xfrm>
          <a:prstGeom prst="rect">
            <a:avLst/>
          </a:prstGeom>
          <a:solidFill>
            <a:srgbClr val="2361C4"/>
          </a:solidFill>
          <a:ln/>
        </p:spPr>
      </p:sp>
      <p:sp>
        <p:nvSpPr>
          <p:cNvPr id="57" name="Shape 55"/>
          <p:cNvSpPr/>
          <p:nvPr/>
        </p:nvSpPr>
        <p:spPr>
          <a:xfrm>
            <a:off x="548640" y="5581412"/>
            <a:ext cx="5464912" cy="67008"/>
          </a:xfrm>
          <a:prstGeom prst="rect">
            <a:avLst/>
          </a:prstGeom>
          <a:solidFill>
            <a:srgbClr val="2363C4"/>
          </a:solidFill>
          <a:ln/>
        </p:spPr>
      </p:sp>
      <p:sp>
        <p:nvSpPr>
          <p:cNvPr id="58" name="Shape 56"/>
          <p:cNvSpPr/>
          <p:nvPr/>
        </p:nvSpPr>
        <p:spPr>
          <a:xfrm>
            <a:off x="548640" y="5639276"/>
            <a:ext cx="5464912" cy="67008"/>
          </a:xfrm>
          <a:prstGeom prst="rect">
            <a:avLst/>
          </a:prstGeom>
          <a:solidFill>
            <a:srgbClr val="2264C3"/>
          </a:solidFill>
          <a:ln/>
        </p:spPr>
      </p:sp>
      <p:sp>
        <p:nvSpPr>
          <p:cNvPr id="59" name="Shape 57"/>
          <p:cNvSpPr/>
          <p:nvPr/>
        </p:nvSpPr>
        <p:spPr>
          <a:xfrm>
            <a:off x="548640" y="5697141"/>
            <a:ext cx="5464912" cy="67008"/>
          </a:xfrm>
          <a:prstGeom prst="rect">
            <a:avLst/>
          </a:prstGeom>
          <a:solidFill>
            <a:srgbClr val="2165C3"/>
          </a:solidFill>
          <a:ln/>
        </p:spPr>
      </p:sp>
      <p:sp>
        <p:nvSpPr>
          <p:cNvPr id="60" name="Shape 58"/>
          <p:cNvSpPr/>
          <p:nvPr/>
        </p:nvSpPr>
        <p:spPr>
          <a:xfrm>
            <a:off x="548640" y="5755005"/>
            <a:ext cx="5464912" cy="67008"/>
          </a:xfrm>
          <a:prstGeom prst="rect">
            <a:avLst/>
          </a:prstGeom>
          <a:solidFill>
            <a:srgbClr val="2066C2"/>
          </a:solidFill>
          <a:ln/>
        </p:spPr>
      </p:sp>
      <p:sp>
        <p:nvSpPr>
          <p:cNvPr id="61" name="Shape 59"/>
          <p:cNvSpPr/>
          <p:nvPr/>
        </p:nvSpPr>
        <p:spPr>
          <a:xfrm>
            <a:off x="548640" y="5812869"/>
            <a:ext cx="5464912" cy="67008"/>
          </a:xfrm>
          <a:prstGeom prst="rect">
            <a:avLst/>
          </a:prstGeom>
          <a:solidFill>
            <a:srgbClr val="1F68C1"/>
          </a:solidFill>
          <a:ln/>
        </p:spPr>
      </p:sp>
      <p:sp>
        <p:nvSpPr>
          <p:cNvPr id="62" name="Shape 60"/>
          <p:cNvSpPr/>
          <p:nvPr/>
        </p:nvSpPr>
        <p:spPr>
          <a:xfrm>
            <a:off x="548640" y="5870734"/>
            <a:ext cx="5464912" cy="67008"/>
          </a:xfrm>
          <a:prstGeom prst="rect">
            <a:avLst/>
          </a:prstGeom>
          <a:solidFill>
            <a:srgbClr val="1E69C1"/>
          </a:solidFill>
          <a:ln/>
        </p:spPr>
      </p:sp>
      <p:sp>
        <p:nvSpPr>
          <p:cNvPr id="63" name="Shape 61"/>
          <p:cNvSpPr/>
          <p:nvPr/>
        </p:nvSpPr>
        <p:spPr>
          <a:xfrm>
            <a:off x="548640" y="5928598"/>
            <a:ext cx="5464912" cy="67008"/>
          </a:xfrm>
          <a:prstGeom prst="rect">
            <a:avLst/>
          </a:prstGeom>
          <a:solidFill>
            <a:srgbClr val="1D6AC0"/>
          </a:solidFill>
          <a:ln/>
        </p:spPr>
      </p:sp>
      <p:sp>
        <p:nvSpPr>
          <p:cNvPr id="64" name="Shape 62"/>
          <p:cNvSpPr/>
          <p:nvPr/>
        </p:nvSpPr>
        <p:spPr>
          <a:xfrm>
            <a:off x="548640" y="5986463"/>
            <a:ext cx="5464912" cy="67008"/>
          </a:xfrm>
          <a:prstGeom prst="rect">
            <a:avLst/>
          </a:prstGeom>
          <a:solidFill>
            <a:srgbClr val="1D6BC0"/>
          </a:solidFill>
          <a:ln/>
        </p:spPr>
      </p:sp>
      <p:sp>
        <p:nvSpPr>
          <p:cNvPr id="65" name="Shape 63"/>
          <p:cNvSpPr/>
          <p:nvPr/>
        </p:nvSpPr>
        <p:spPr>
          <a:xfrm>
            <a:off x="548640" y="6044327"/>
            <a:ext cx="5464912" cy="67008"/>
          </a:xfrm>
          <a:prstGeom prst="rect">
            <a:avLst/>
          </a:prstGeom>
          <a:solidFill>
            <a:srgbClr val="1C6DBF"/>
          </a:solidFill>
          <a:ln/>
        </p:spPr>
      </p:sp>
      <p:sp>
        <p:nvSpPr>
          <p:cNvPr id="66" name="Shape 64"/>
          <p:cNvSpPr/>
          <p:nvPr/>
        </p:nvSpPr>
        <p:spPr>
          <a:xfrm>
            <a:off x="548640" y="6102191"/>
            <a:ext cx="5464912" cy="67008"/>
          </a:xfrm>
          <a:prstGeom prst="rect">
            <a:avLst/>
          </a:prstGeom>
          <a:solidFill>
            <a:srgbClr val="1B6EBF"/>
          </a:solidFill>
          <a:ln/>
        </p:spPr>
      </p:sp>
      <p:sp>
        <p:nvSpPr>
          <p:cNvPr id="67" name="Shape 65"/>
          <p:cNvSpPr/>
          <p:nvPr/>
        </p:nvSpPr>
        <p:spPr>
          <a:xfrm>
            <a:off x="548640" y="6160056"/>
            <a:ext cx="5464912" cy="67008"/>
          </a:xfrm>
          <a:prstGeom prst="rect">
            <a:avLst/>
          </a:prstGeom>
          <a:solidFill>
            <a:srgbClr val="1A6FBE"/>
          </a:solidFill>
          <a:ln/>
        </p:spPr>
      </p:sp>
      <p:sp>
        <p:nvSpPr>
          <p:cNvPr id="68" name="Text 66"/>
          <p:cNvSpPr/>
          <p:nvPr/>
        </p:nvSpPr>
        <p:spPr>
          <a:xfrm>
            <a:off x="914400" y="2880360"/>
            <a:ext cx="4733392" cy="914400"/>
          </a:xfrm>
          <a:prstGeom prst="rect">
            <a:avLst/>
          </a:prstGeom>
          <a:noFill/>
          <a:ln/>
        </p:spPr>
        <p:txBody>
          <a:bodyPr wrap="square" lIns="0" tIns="0" rIns="0" bIns="0" rtlCol="0" anchor="t"/>
          <a:lstStyle/>
          <a:p>
            <a:pPr algn="l" indent="0" marL="0">
              <a:buNone/>
            </a:pPr>
            <a:r>
              <a:rPr lang="en-US" sz="1100" b="1" spc="300" kern="0" dirty="0">
                <a:solidFill>
                  <a:srgbClr val="FFFFFF"/>
                </a:solidFill>
                <a:latin typeface="Calibri" pitchFamily="34" charset="0"/>
                <a:ea typeface="Calibri" pitchFamily="34" charset="-122"/>
                <a:cs typeface="Calibri" pitchFamily="34" charset="-120"/>
              </a:rPr>
              <a:t>EVERY OUTREACH WORKFLOW TODAY</a:t>
            </a:r>
            <a:endParaRPr lang="en-US" sz="1100" dirty="0"/>
          </a:p>
        </p:txBody>
      </p:sp>
      <p:sp>
        <p:nvSpPr>
          <p:cNvPr id="69" name="Text 67"/>
          <p:cNvSpPr/>
          <p:nvPr/>
        </p:nvSpPr>
        <p:spPr>
          <a:xfrm>
            <a:off x="914400" y="3383280"/>
            <a:ext cx="4733392" cy="2011680"/>
          </a:xfrm>
          <a:prstGeom prst="rect">
            <a:avLst/>
          </a:prstGeom>
          <a:noFill/>
          <a:ln/>
        </p:spPr>
        <p:txBody>
          <a:bodyPr wrap="square" lIns="0" tIns="0" rIns="0" bIns="0" rtlCol="0" anchor="t"/>
          <a:lstStyle/>
          <a:p>
            <a:pPr algn="l" indent="0" marL="0">
              <a:buNone/>
            </a:pPr>
            <a:r>
              <a:rPr lang="en-US" sz="3200" b="1" spc="-50" kern="0" dirty="0">
                <a:solidFill>
                  <a:srgbClr val="FFFFFF"/>
                </a:solidFill>
                <a:latin typeface="Calibri" pitchFamily="34" charset="0"/>
                <a:ea typeface="Calibri" pitchFamily="34" charset="-122"/>
                <a:cs typeface="Calibri" pitchFamily="34" charset="-120"/>
              </a:rPr>
              <a:t>Fragmented. Manual. Untracked.</a:t>
            </a:r>
            <a:endParaRPr lang="en-US" sz="3200" dirty="0"/>
          </a:p>
        </p:txBody>
      </p:sp>
      <p:sp>
        <p:nvSpPr>
          <p:cNvPr id="70" name="Text 68"/>
          <p:cNvSpPr/>
          <p:nvPr/>
        </p:nvSpPr>
        <p:spPr>
          <a:xfrm>
            <a:off x="914400" y="5166360"/>
            <a:ext cx="4733392" cy="10972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Five platforms, five tabs, one spreadsheet, no CRM, no follow-ups, no analytics. The work is real but the system is duct tape.</a:t>
            </a:r>
            <a:endParaRPr lang="en-US" sz="1300" dirty="0"/>
          </a:p>
        </p:txBody>
      </p:sp>
      <p:sp>
        <p:nvSpPr>
          <p:cNvPr id="71" name="Shape 69"/>
          <p:cNvSpPr/>
          <p:nvPr/>
        </p:nvSpPr>
        <p:spPr>
          <a:xfrm>
            <a:off x="6178144" y="2514600"/>
            <a:ext cx="5464912" cy="1124712"/>
          </a:xfrm>
          <a:prstGeom prst="roundRect">
            <a:avLst>
              <a:gd name="adj" fmla="val 9756"/>
            </a:avLst>
          </a:prstGeom>
          <a:solidFill>
            <a:srgbClr val="FFFFFF"/>
          </a:solidFill>
          <a:ln w="9525">
            <a:solidFill>
              <a:srgbClr val="E5E7F0"/>
            </a:solidFill>
            <a:prstDash val="solid"/>
          </a:ln>
        </p:spPr>
      </p:sp>
      <p:sp>
        <p:nvSpPr>
          <p:cNvPr id="72" name="Shape 70"/>
          <p:cNvSpPr/>
          <p:nvPr/>
        </p:nvSpPr>
        <p:spPr>
          <a:xfrm>
            <a:off x="6178144" y="2514600"/>
            <a:ext cx="73152" cy="1124712"/>
          </a:xfrm>
          <a:prstGeom prst="rect">
            <a:avLst/>
          </a:prstGeom>
          <a:solidFill>
            <a:srgbClr val="5028C2"/>
          </a:solidFill>
          <a:ln/>
        </p:spPr>
      </p:sp>
      <p:sp>
        <p:nvSpPr>
          <p:cNvPr id="73" name="Text 71"/>
          <p:cNvSpPr/>
          <p:nvPr/>
        </p:nvSpPr>
        <p:spPr>
          <a:xfrm>
            <a:off x="6434176" y="2697480"/>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Time lost</a:t>
            </a:r>
            <a:endParaRPr lang="en-US" sz="1600" dirty="0"/>
          </a:p>
        </p:txBody>
      </p:sp>
      <p:sp>
        <p:nvSpPr>
          <p:cNvPr id="74" name="Text 72"/>
          <p:cNvSpPr/>
          <p:nvPr/>
        </p:nvSpPr>
        <p:spPr>
          <a:xfrm>
            <a:off x="6434176" y="3081528"/>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3–4 hours per ten creators sourced.</a:t>
            </a:r>
            <a:endParaRPr lang="en-US" sz="1200" dirty="0"/>
          </a:p>
        </p:txBody>
      </p:sp>
      <p:sp>
        <p:nvSpPr>
          <p:cNvPr id="75" name="Shape 73"/>
          <p:cNvSpPr/>
          <p:nvPr/>
        </p:nvSpPr>
        <p:spPr>
          <a:xfrm>
            <a:off x="6178144" y="3803904"/>
            <a:ext cx="5464912" cy="1124712"/>
          </a:xfrm>
          <a:prstGeom prst="roundRect">
            <a:avLst>
              <a:gd name="adj" fmla="val 9756"/>
            </a:avLst>
          </a:prstGeom>
          <a:solidFill>
            <a:srgbClr val="FFFFFF"/>
          </a:solidFill>
          <a:ln w="9525">
            <a:solidFill>
              <a:srgbClr val="E5E7F0"/>
            </a:solidFill>
            <a:prstDash val="solid"/>
          </a:ln>
        </p:spPr>
      </p:sp>
      <p:sp>
        <p:nvSpPr>
          <p:cNvPr id="76" name="Shape 74"/>
          <p:cNvSpPr/>
          <p:nvPr/>
        </p:nvSpPr>
        <p:spPr>
          <a:xfrm>
            <a:off x="6178144" y="3803904"/>
            <a:ext cx="73152" cy="1124712"/>
          </a:xfrm>
          <a:prstGeom prst="rect">
            <a:avLst/>
          </a:prstGeom>
          <a:solidFill>
            <a:srgbClr val="3548D0"/>
          </a:solidFill>
          <a:ln/>
        </p:spPr>
      </p:sp>
      <p:sp>
        <p:nvSpPr>
          <p:cNvPr id="77" name="Text 75"/>
          <p:cNvSpPr/>
          <p:nvPr/>
        </p:nvSpPr>
        <p:spPr>
          <a:xfrm>
            <a:off x="6434176" y="3986784"/>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Quality lost</a:t>
            </a:r>
            <a:endParaRPr lang="en-US" sz="1600" dirty="0"/>
          </a:p>
        </p:txBody>
      </p:sp>
      <p:sp>
        <p:nvSpPr>
          <p:cNvPr id="78" name="Text 76"/>
          <p:cNvSpPr/>
          <p:nvPr/>
        </p:nvSpPr>
        <p:spPr>
          <a:xfrm>
            <a:off x="6434176" y="4370832"/>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Reply rates under 5% on generic DMs.</a:t>
            </a:r>
            <a:endParaRPr lang="en-US" sz="1200" dirty="0"/>
          </a:p>
        </p:txBody>
      </p:sp>
      <p:sp>
        <p:nvSpPr>
          <p:cNvPr id="79" name="Shape 77"/>
          <p:cNvSpPr/>
          <p:nvPr/>
        </p:nvSpPr>
        <p:spPr>
          <a:xfrm>
            <a:off x="6178144" y="5093208"/>
            <a:ext cx="5464912" cy="1124712"/>
          </a:xfrm>
          <a:prstGeom prst="roundRect">
            <a:avLst>
              <a:gd name="adj" fmla="val 9756"/>
            </a:avLst>
          </a:prstGeom>
          <a:solidFill>
            <a:srgbClr val="FFFFFF"/>
          </a:solidFill>
          <a:ln w="9525">
            <a:solidFill>
              <a:srgbClr val="E5E7F0"/>
            </a:solidFill>
            <a:prstDash val="solid"/>
          </a:ln>
        </p:spPr>
      </p:sp>
      <p:sp>
        <p:nvSpPr>
          <p:cNvPr id="80" name="Shape 78"/>
          <p:cNvSpPr/>
          <p:nvPr/>
        </p:nvSpPr>
        <p:spPr>
          <a:xfrm>
            <a:off x="6178144" y="5093208"/>
            <a:ext cx="73152" cy="1124712"/>
          </a:xfrm>
          <a:prstGeom prst="rect">
            <a:avLst/>
          </a:prstGeom>
          <a:solidFill>
            <a:srgbClr val="1A6FBE"/>
          </a:solidFill>
          <a:ln/>
        </p:spPr>
      </p:sp>
      <p:sp>
        <p:nvSpPr>
          <p:cNvPr id="81" name="Text 79"/>
          <p:cNvSpPr/>
          <p:nvPr/>
        </p:nvSpPr>
        <p:spPr>
          <a:xfrm>
            <a:off x="6434176" y="5276088"/>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Signal lost</a:t>
            </a:r>
            <a:endParaRPr lang="en-US" sz="1600" dirty="0"/>
          </a:p>
        </p:txBody>
      </p:sp>
      <p:sp>
        <p:nvSpPr>
          <p:cNvPr id="82" name="Text 80"/>
          <p:cNvSpPr/>
          <p:nvPr/>
        </p:nvSpPr>
        <p:spPr>
          <a:xfrm>
            <a:off x="6434176" y="5660136"/>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No CRM means no learning loop.</a:t>
            </a:r>
            <a:endParaRPr lang="en-US" sz="1200" dirty="0"/>
          </a:p>
        </p:txBody>
      </p:sp>
      <p:sp>
        <p:nvSpPr>
          <p:cNvPr id="83" name="Shape 81"/>
          <p:cNvSpPr/>
          <p:nvPr/>
        </p:nvSpPr>
        <p:spPr>
          <a:xfrm>
            <a:off x="548640" y="502920"/>
            <a:ext cx="292608" cy="292608"/>
          </a:xfrm>
          <a:prstGeom prst="roundRect">
            <a:avLst>
              <a:gd name="adj" fmla="val 25000"/>
            </a:avLst>
          </a:prstGeom>
          <a:solidFill>
            <a:srgbClr val="5028C2"/>
          </a:solidFill>
          <a:ln/>
        </p:spPr>
      </p:sp>
      <p:sp>
        <p:nvSpPr>
          <p:cNvPr id="84" name="Shape 82"/>
          <p:cNvSpPr/>
          <p:nvPr/>
        </p:nvSpPr>
        <p:spPr>
          <a:xfrm>
            <a:off x="548640" y="502920"/>
            <a:ext cx="292608" cy="292608"/>
          </a:xfrm>
          <a:prstGeom prst="roundRect">
            <a:avLst>
              <a:gd name="adj" fmla="val 25000"/>
            </a:avLst>
          </a:prstGeom>
          <a:solidFill>
            <a:srgbClr val="1A6FBE">
              <a:alpha val="50000"/>
            </a:srgbClr>
          </a:solidFill>
          <a:ln/>
        </p:spPr>
      </p:sp>
      <p:sp>
        <p:nvSpPr>
          <p:cNvPr id="85" name="Text 83"/>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86" name="Text 84"/>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87" name="Text 85"/>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02 · Problem  ·  vG</a:t>
            </a:r>
            <a:endParaRPr lang="en-US" sz="900" dirty="0"/>
          </a:p>
        </p:txBody>
      </p:sp>
      <p:sp>
        <p:nvSpPr>
          <p:cNvPr id="88" name="Text 86"/>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89" name="Text 87"/>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014 / 126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80015" y="-914400"/>
            <a:ext cx="3200400" cy="3200400"/>
          </a:xfrm>
          <a:prstGeom prst="ellipse">
            <a:avLst/>
          </a:prstGeom>
          <a:solidFill>
            <a:srgbClr val="F1ECFF"/>
          </a:solidFill>
          <a:ln/>
        </p:spPr>
      </p:sp>
      <p:sp>
        <p:nvSpPr>
          <p:cNvPr id="3" name="Shape 1"/>
          <p:cNvSpPr/>
          <p:nvPr/>
        </p:nvSpPr>
        <p:spPr>
          <a:xfrm>
            <a:off x="10820095" y="-548640"/>
            <a:ext cx="2194560" cy="2194560"/>
          </a:xfrm>
          <a:prstGeom prst="ellipse">
            <a:avLst/>
          </a:prstGeom>
          <a:solidFill>
            <a:srgbClr val="E8F1FB">
              <a:alpha val="60000"/>
            </a:srgbClr>
          </a:solidFill>
          <a:ln/>
        </p:spPr>
      </p:sp>
      <p:sp>
        <p:nvSpPr>
          <p:cNvPr id="4" name="Shape 2"/>
          <p:cNvSpPr/>
          <p:nvPr/>
        </p:nvSpPr>
        <p:spPr>
          <a:xfrm>
            <a:off x="548640" y="5486400"/>
            <a:ext cx="54864" cy="54864"/>
          </a:xfrm>
          <a:prstGeom prst="ellipse">
            <a:avLst/>
          </a:prstGeom>
          <a:solidFill>
            <a:srgbClr val="5028C2">
              <a:alpha val="30000"/>
            </a:srgbClr>
          </a:solidFill>
          <a:ln/>
        </p:spPr>
      </p:sp>
      <p:sp>
        <p:nvSpPr>
          <p:cNvPr id="5" name="Shape 3"/>
          <p:cNvSpPr/>
          <p:nvPr/>
        </p:nvSpPr>
        <p:spPr>
          <a:xfrm>
            <a:off x="548640" y="5650992"/>
            <a:ext cx="54864" cy="54864"/>
          </a:xfrm>
          <a:prstGeom prst="ellipse">
            <a:avLst/>
          </a:prstGeom>
          <a:solidFill>
            <a:srgbClr val="5028C2">
              <a:alpha val="30000"/>
            </a:srgbClr>
          </a:solidFill>
          <a:ln/>
        </p:spPr>
      </p:sp>
      <p:sp>
        <p:nvSpPr>
          <p:cNvPr id="6" name="Shape 4"/>
          <p:cNvSpPr/>
          <p:nvPr/>
        </p:nvSpPr>
        <p:spPr>
          <a:xfrm>
            <a:off x="548640" y="5815584"/>
            <a:ext cx="54864" cy="54864"/>
          </a:xfrm>
          <a:prstGeom prst="ellipse">
            <a:avLst/>
          </a:prstGeom>
          <a:solidFill>
            <a:srgbClr val="5028C2">
              <a:alpha val="30000"/>
            </a:srgbClr>
          </a:solidFill>
          <a:ln/>
        </p:spPr>
      </p:sp>
      <p:sp>
        <p:nvSpPr>
          <p:cNvPr id="7" name="Shape 5"/>
          <p:cNvSpPr/>
          <p:nvPr/>
        </p:nvSpPr>
        <p:spPr>
          <a:xfrm>
            <a:off x="713232" y="5486400"/>
            <a:ext cx="54864" cy="54864"/>
          </a:xfrm>
          <a:prstGeom prst="ellipse">
            <a:avLst/>
          </a:prstGeom>
          <a:solidFill>
            <a:srgbClr val="5028C2">
              <a:alpha val="30000"/>
            </a:srgbClr>
          </a:solidFill>
          <a:ln/>
        </p:spPr>
      </p:sp>
      <p:sp>
        <p:nvSpPr>
          <p:cNvPr id="8" name="Shape 6"/>
          <p:cNvSpPr/>
          <p:nvPr/>
        </p:nvSpPr>
        <p:spPr>
          <a:xfrm>
            <a:off x="713232" y="5650992"/>
            <a:ext cx="54864" cy="54864"/>
          </a:xfrm>
          <a:prstGeom prst="ellipse">
            <a:avLst/>
          </a:prstGeom>
          <a:solidFill>
            <a:srgbClr val="5028C2">
              <a:alpha val="30000"/>
            </a:srgbClr>
          </a:solidFill>
          <a:ln/>
        </p:spPr>
      </p:sp>
      <p:sp>
        <p:nvSpPr>
          <p:cNvPr id="9" name="Shape 7"/>
          <p:cNvSpPr/>
          <p:nvPr/>
        </p:nvSpPr>
        <p:spPr>
          <a:xfrm>
            <a:off x="713232" y="5815584"/>
            <a:ext cx="54864" cy="54864"/>
          </a:xfrm>
          <a:prstGeom prst="ellipse">
            <a:avLst/>
          </a:prstGeom>
          <a:solidFill>
            <a:srgbClr val="5028C2">
              <a:alpha val="30000"/>
            </a:srgbClr>
          </a:solidFill>
          <a:ln/>
        </p:spPr>
      </p:sp>
      <p:sp>
        <p:nvSpPr>
          <p:cNvPr id="10" name="Shape 8"/>
          <p:cNvSpPr/>
          <p:nvPr/>
        </p:nvSpPr>
        <p:spPr>
          <a:xfrm>
            <a:off x="877824" y="5486400"/>
            <a:ext cx="54864" cy="54864"/>
          </a:xfrm>
          <a:prstGeom prst="ellipse">
            <a:avLst/>
          </a:prstGeom>
          <a:solidFill>
            <a:srgbClr val="5028C2">
              <a:alpha val="30000"/>
            </a:srgbClr>
          </a:solidFill>
          <a:ln/>
        </p:spPr>
      </p:sp>
      <p:sp>
        <p:nvSpPr>
          <p:cNvPr id="11" name="Shape 9"/>
          <p:cNvSpPr/>
          <p:nvPr/>
        </p:nvSpPr>
        <p:spPr>
          <a:xfrm>
            <a:off x="877824" y="5650992"/>
            <a:ext cx="54864" cy="54864"/>
          </a:xfrm>
          <a:prstGeom prst="ellipse">
            <a:avLst/>
          </a:prstGeom>
          <a:solidFill>
            <a:srgbClr val="5028C2">
              <a:alpha val="30000"/>
            </a:srgbClr>
          </a:solidFill>
          <a:ln/>
        </p:spPr>
      </p:sp>
      <p:sp>
        <p:nvSpPr>
          <p:cNvPr id="12" name="Shape 10"/>
          <p:cNvSpPr/>
          <p:nvPr/>
        </p:nvSpPr>
        <p:spPr>
          <a:xfrm>
            <a:off x="877824" y="5815584"/>
            <a:ext cx="54864" cy="54864"/>
          </a:xfrm>
          <a:prstGeom prst="ellipse">
            <a:avLst/>
          </a:prstGeom>
          <a:solidFill>
            <a:srgbClr val="5028C2">
              <a:alpha val="30000"/>
            </a:srgbClr>
          </a:solidFill>
          <a:ln/>
        </p:spPr>
      </p:sp>
      <p:sp>
        <p:nvSpPr>
          <p:cNvPr id="13" name="Shape 11"/>
          <p:cNvSpPr/>
          <p:nvPr/>
        </p:nvSpPr>
        <p:spPr>
          <a:xfrm>
            <a:off x="1042416" y="5486400"/>
            <a:ext cx="54864" cy="54864"/>
          </a:xfrm>
          <a:prstGeom prst="ellipse">
            <a:avLst/>
          </a:prstGeom>
          <a:solidFill>
            <a:srgbClr val="5028C2">
              <a:alpha val="30000"/>
            </a:srgbClr>
          </a:solidFill>
          <a:ln/>
        </p:spPr>
      </p:sp>
      <p:sp>
        <p:nvSpPr>
          <p:cNvPr id="14" name="Shape 12"/>
          <p:cNvSpPr/>
          <p:nvPr/>
        </p:nvSpPr>
        <p:spPr>
          <a:xfrm>
            <a:off x="1042416" y="5650992"/>
            <a:ext cx="54864" cy="54864"/>
          </a:xfrm>
          <a:prstGeom prst="ellipse">
            <a:avLst/>
          </a:prstGeom>
          <a:solidFill>
            <a:srgbClr val="5028C2">
              <a:alpha val="30000"/>
            </a:srgbClr>
          </a:solidFill>
          <a:ln/>
        </p:spPr>
      </p:sp>
      <p:sp>
        <p:nvSpPr>
          <p:cNvPr id="15" name="Shape 13"/>
          <p:cNvSpPr/>
          <p:nvPr/>
        </p:nvSpPr>
        <p:spPr>
          <a:xfrm>
            <a:off x="1042416" y="5815584"/>
            <a:ext cx="54864" cy="54864"/>
          </a:xfrm>
          <a:prstGeom prst="ellipse">
            <a:avLst/>
          </a:prstGeom>
          <a:solidFill>
            <a:srgbClr val="5028C2">
              <a:alpha val="30000"/>
            </a:srgbClr>
          </a:solidFill>
          <a:ln/>
        </p:spPr>
      </p:sp>
      <p:sp>
        <p:nvSpPr>
          <p:cNvPr id="16" name="Shape 14"/>
          <p:cNvSpPr/>
          <p:nvPr/>
        </p:nvSpPr>
        <p:spPr>
          <a:xfrm>
            <a:off x="1207008" y="5486400"/>
            <a:ext cx="54864" cy="54864"/>
          </a:xfrm>
          <a:prstGeom prst="ellipse">
            <a:avLst/>
          </a:prstGeom>
          <a:solidFill>
            <a:srgbClr val="5028C2">
              <a:alpha val="30000"/>
            </a:srgbClr>
          </a:solidFill>
          <a:ln/>
        </p:spPr>
      </p:sp>
      <p:sp>
        <p:nvSpPr>
          <p:cNvPr id="17" name="Shape 15"/>
          <p:cNvSpPr/>
          <p:nvPr/>
        </p:nvSpPr>
        <p:spPr>
          <a:xfrm>
            <a:off x="1207008" y="5650992"/>
            <a:ext cx="54864" cy="54864"/>
          </a:xfrm>
          <a:prstGeom prst="ellipse">
            <a:avLst/>
          </a:prstGeom>
          <a:solidFill>
            <a:srgbClr val="5028C2">
              <a:alpha val="30000"/>
            </a:srgbClr>
          </a:solidFill>
          <a:ln/>
        </p:spPr>
      </p:sp>
      <p:sp>
        <p:nvSpPr>
          <p:cNvPr id="18" name="Shape 16"/>
          <p:cNvSpPr/>
          <p:nvPr/>
        </p:nvSpPr>
        <p:spPr>
          <a:xfrm>
            <a:off x="1207008" y="5815584"/>
            <a:ext cx="54864" cy="54864"/>
          </a:xfrm>
          <a:prstGeom prst="ellipse">
            <a:avLst/>
          </a:prstGeom>
          <a:solidFill>
            <a:srgbClr val="5028C2">
              <a:alpha val="30000"/>
            </a:srgbClr>
          </a:solidFill>
          <a:ln/>
        </p:spPr>
      </p:sp>
      <p:sp>
        <p:nvSpPr>
          <p:cNvPr id="19" name="Shape 17"/>
          <p:cNvSpPr/>
          <p:nvPr/>
        </p:nvSpPr>
        <p:spPr>
          <a:xfrm>
            <a:off x="1371600" y="5486400"/>
            <a:ext cx="54864" cy="54864"/>
          </a:xfrm>
          <a:prstGeom prst="ellipse">
            <a:avLst/>
          </a:prstGeom>
          <a:solidFill>
            <a:srgbClr val="5028C2">
              <a:alpha val="30000"/>
            </a:srgbClr>
          </a:solidFill>
          <a:ln/>
        </p:spPr>
      </p:sp>
      <p:sp>
        <p:nvSpPr>
          <p:cNvPr id="20" name="Shape 18"/>
          <p:cNvSpPr/>
          <p:nvPr/>
        </p:nvSpPr>
        <p:spPr>
          <a:xfrm>
            <a:off x="1371600" y="5650992"/>
            <a:ext cx="54864" cy="54864"/>
          </a:xfrm>
          <a:prstGeom prst="ellipse">
            <a:avLst/>
          </a:prstGeom>
          <a:solidFill>
            <a:srgbClr val="5028C2">
              <a:alpha val="30000"/>
            </a:srgbClr>
          </a:solidFill>
          <a:ln/>
        </p:spPr>
      </p:sp>
      <p:sp>
        <p:nvSpPr>
          <p:cNvPr id="21" name="Shape 19"/>
          <p:cNvSpPr/>
          <p:nvPr/>
        </p:nvSpPr>
        <p:spPr>
          <a:xfrm>
            <a:off x="1371600" y="5815584"/>
            <a:ext cx="54864" cy="54864"/>
          </a:xfrm>
          <a:prstGeom prst="ellipse">
            <a:avLst/>
          </a:prstGeom>
          <a:solidFill>
            <a:srgbClr val="5028C2">
              <a:alpha val="30000"/>
            </a:srgbClr>
          </a:solidFill>
          <a:ln/>
        </p:spPr>
      </p:sp>
      <p:sp>
        <p:nvSpPr>
          <p:cNvPr id="22" name="Text 20"/>
          <p:cNvSpPr/>
          <p:nvPr/>
        </p:nvSpPr>
        <p:spPr>
          <a:xfrm>
            <a:off x="548640" y="1097280"/>
            <a:ext cx="11094415"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PAIN AT SCALE</a:t>
            </a:r>
            <a:endParaRPr lang="en-US" sz="1100" dirty="0"/>
          </a:p>
        </p:txBody>
      </p:sp>
      <p:sp>
        <p:nvSpPr>
          <p:cNvPr id="23" name="Text 21"/>
          <p:cNvSpPr/>
          <p:nvPr/>
        </p:nvSpPr>
        <p:spPr>
          <a:xfrm>
            <a:off x="548640" y="1554480"/>
            <a:ext cx="11094415" cy="3108960"/>
          </a:xfrm>
          <a:prstGeom prst="rect">
            <a:avLst/>
          </a:prstGeom>
          <a:noFill/>
          <a:ln/>
        </p:spPr>
        <p:txBody>
          <a:bodyPr wrap="square" lIns="0" tIns="0" rIns="0" bIns="0" rtlCol="0" anchor="t"/>
          <a:lstStyle/>
          <a:p>
            <a:pPr algn="l" indent="0" marL="0">
              <a:buNone/>
            </a:pPr>
            <a:r>
              <a:rPr lang="en-US" sz="5000" b="1" spc="-100" kern="0" dirty="0">
                <a:solidFill>
                  <a:srgbClr val="0F1733"/>
                </a:solidFill>
                <a:latin typeface="Calibri" pitchFamily="34" charset="0"/>
                <a:ea typeface="Calibri" pitchFamily="34" charset="-122"/>
                <a:cs typeface="Calibri" pitchFamily="34" charset="-120"/>
              </a:rPr>
              <a:t>A small problem per outreach. A massive problem per quarter.</a:t>
            </a:r>
            <a:endParaRPr lang="en-US" sz="5000" dirty="0"/>
          </a:p>
        </p:txBody>
      </p:sp>
      <p:sp>
        <p:nvSpPr>
          <p:cNvPr id="24" name="Text 22"/>
          <p:cNvSpPr/>
          <p:nvPr/>
        </p:nvSpPr>
        <p:spPr>
          <a:xfrm>
            <a:off x="548640" y="4754880"/>
            <a:ext cx="9265615" cy="1097280"/>
          </a:xfrm>
          <a:prstGeom prst="rect">
            <a:avLst/>
          </a:prstGeom>
          <a:noFill/>
          <a:ln/>
        </p:spPr>
        <p:txBody>
          <a:bodyPr wrap="square" lIns="0" tIns="0" rIns="0" bIns="0" rtlCol="0" anchor="t"/>
          <a:lstStyle/>
          <a:p>
            <a:pPr algn="l" indent="0" marL="0">
              <a:buNone/>
            </a:pPr>
            <a:r>
              <a:rPr lang="en-US" sz="1800" dirty="0">
                <a:solidFill>
                  <a:srgbClr val="2A3358"/>
                </a:solidFill>
                <a:latin typeface="Calibri" pitchFamily="34" charset="0"/>
                <a:ea typeface="Calibri" pitchFamily="34" charset="-122"/>
                <a:cs typeface="Calibri" pitchFamily="34" charset="-120"/>
              </a:rPr>
              <a:t>One creator costs 30 minutes. A real campaign needs 200. Two months of one person's time, for work software should be doing.</a:t>
            </a:r>
            <a:endParaRPr lang="en-US" sz="1800" dirty="0"/>
          </a:p>
        </p:txBody>
      </p:sp>
      <p:sp>
        <p:nvSpPr>
          <p:cNvPr id="25" name="Shape 23"/>
          <p:cNvSpPr/>
          <p:nvPr/>
        </p:nvSpPr>
        <p:spPr>
          <a:xfrm>
            <a:off x="548640" y="502920"/>
            <a:ext cx="292608" cy="292608"/>
          </a:xfrm>
          <a:prstGeom prst="roundRect">
            <a:avLst>
              <a:gd name="adj" fmla="val 25000"/>
            </a:avLst>
          </a:prstGeom>
          <a:solidFill>
            <a:srgbClr val="5028C2"/>
          </a:solidFill>
          <a:ln/>
        </p:spPr>
      </p:sp>
      <p:sp>
        <p:nvSpPr>
          <p:cNvPr id="26" name="Shape 24"/>
          <p:cNvSpPr/>
          <p:nvPr/>
        </p:nvSpPr>
        <p:spPr>
          <a:xfrm>
            <a:off x="548640" y="502920"/>
            <a:ext cx="292608" cy="292608"/>
          </a:xfrm>
          <a:prstGeom prst="roundRect">
            <a:avLst>
              <a:gd name="adj" fmla="val 25000"/>
            </a:avLst>
          </a:prstGeom>
          <a:solidFill>
            <a:srgbClr val="1A6FBE">
              <a:alpha val="50000"/>
            </a:srgbClr>
          </a:solidFill>
          <a:ln/>
        </p:spPr>
      </p:sp>
      <p:sp>
        <p:nvSpPr>
          <p:cNvPr id="27" name="Text 25"/>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8" name="Text 26"/>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9" name="Text 27"/>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03 · Pain at scale  ·  vA</a:t>
            </a:r>
            <a:endParaRPr lang="en-US" sz="900" dirty="0"/>
          </a:p>
        </p:txBody>
      </p:sp>
      <p:sp>
        <p:nvSpPr>
          <p:cNvPr id="30" name="Text 28"/>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31" name="Text 29"/>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015 / 126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071183" y="0"/>
            <a:ext cx="5120512" cy="116300"/>
          </a:xfrm>
          <a:prstGeom prst="rect">
            <a:avLst/>
          </a:prstGeom>
          <a:solidFill>
            <a:srgbClr val="5028C2"/>
          </a:solidFill>
          <a:ln/>
        </p:spPr>
      </p:sp>
      <p:sp>
        <p:nvSpPr>
          <p:cNvPr id="3" name="Shape 1"/>
          <p:cNvSpPr/>
          <p:nvPr/>
        </p:nvSpPr>
        <p:spPr>
          <a:xfrm>
            <a:off x="7071183" y="107156"/>
            <a:ext cx="5120512" cy="116300"/>
          </a:xfrm>
          <a:prstGeom prst="rect">
            <a:avLst/>
          </a:prstGeom>
          <a:solidFill>
            <a:srgbClr val="4F29C2"/>
          </a:solidFill>
          <a:ln/>
        </p:spPr>
      </p:sp>
      <p:sp>
        <p:nvSpPr>
          <p:cNvPr id="4" name="Shape 2"/>
          <p:cNvSpPr/>
          <p:nvPr/>
        </p:nvSpPr>
        <p:spPr>
          <a:xfrm>
            <a:off x="7071183" y="214313"/>
            <a:ext cx="5120512" cy="116300"/>
          </a:xfrm>
          <a:prstGeom prst="rect">
            <a:avLst/>
          </a:prstGeom>
          <a:solidFill>
            <a:srgbClr val="4E2AC3"/>
          </a:solidFill>
          <a:ln/>
        </p:spPr>
      </p:sp>
      <p:sp>
        <p:nvSpPr>
          <p:cNvPr id="5" name="Shape 3"/>
          <p:cNvSpPr/>
          <p:nvPr/>
        </p:nvSpPr>
        <p:spPr>
          <a:xfrm>
            <a:off x="7071183" y="321469"/>
            <a:ext cx="5120512" cy="116300"/>
          </a:xfrm>
          <a:prstGeom prst="rect">
            <a:avLst/>
          </a:prstGeom>
          <a:solidFill>
            <a:srgbClr val="4D2BC3"/>
          </a:solidFill>
          <a:ln/>
        </p:spPr>
      </p:sp>
      <p:sp>
        <p:nvSpPr>
          <p:cNvPr id="6" name="Shape 4"/>
          <p:cNvSpPr/>
          <p:nvPr/>
        </p:nvSpPr>
        <p:spPr>
          <a:xfrm>
            <a:off x="7071183" y="428625"/>
            <a:ext cx="5120512" cy="116300"/>
          </a:xfrm>
          <a:prstGeom prst="rect">
            <a:avLst/>
          </a:prstGeom>
          <a:solidFill>
            <a:srgbClr val="4D2CC4"/>
          </a:solidFill>
          <a:ln/>
        </p:spPr>
      </p:sp>
      <p:sp>
        <p:nvSpPr>
          <p:cNvPr id="7" name="Shape 5"/>
          <p:cNvSpPr/>
          <p:nvPr/>
        </p:nvSpPr>
        <p:spPr>
          <a:xfrm>
            <a:off x="7071183" y="535781"/>
            <a:ext cx="5120512" cy="116300"/>
          </a:xfrm>
          <a:prstGeom prst="rect">
            <a:avLst/>
          </a:prstGeom>
          <a:solidFill>
            <a:srgbClr val="4C2DC4"/>
          </a:solidFill>
          <a:ln/>
        </p:spPr>
      </p:sp>
      <p:sp>
        <p:nvSpPr>
          <p:cNvPr id="8" name="Shape 6"/>
          <p:cNvSpPr/>
          <p:nvPr/>
        </p:nvSpPr>
        <p:spPr>
          <a:xfrm>
            <a:off x="7071183" y="642938"/>
            <a:ext cx="5120512" cy="116300"/>
          </a:xfrm>
          <a:prstGeom prst="rect">
            <a:avLst/>
          </a:prstGeom>
          <a:solidFill>
            <a:srgbClr val="4B2EC5"/>
          </a:solidFill>
          <a:ln/>
        </p:spPr>
      </p:sp>
      <p:sp>
        <p:nvSpPr>
          <p:cNvPr id="9" name="Shape 7"/>
          <p:cNvSpPr/>
          <p:nvPr/>
        </p:nvSpPr>
        <p:spPr>
          <a:xfrm>
            <a:off x="7071183" y="750094"/>
            <a:ext cx="5120512" cy="116300"/>
          </a:xfrm>
          <a:prstGeom prst="rect">
            <a:avLst/>
          </a:prstGeom>
          <a:solidFill>
            <a:srgbClr val="4A2FC5"/>
          </a:solidFill>
          <a:ln/>
        </p:spPr>
      </p:sp>
      <p:sp>
        <p:nvSpPr>
          <p:cNvPr id="10" name="Shape 8"/>
          <p:cNvSpPr/>
          <p:nvPr/>
        </p:nvSpPr>
        <p:spPr>
          <a:xfrm>
            <a:off x="7071183" y="857250"/>
            <a:ext cx="5120512" cy="116300"/>
          </a:xfrm>
          <a:prstGeom prst="rect">
            <a:avLst/>
          </a:prstGeom>
          <a:solidFill>
            <a:srgbClr val="4930C6"/>
          </a:solidFill>
          <a:ln/>
        </p:spPr>
      </p:sp>
      <p:sp>
        <p:nvSpPr>
          <p:cNvPr id="11" name="Shape 9"/>
          <p:cNvSpPr/>
          <p:nvPr/>
        </p:nvSpPr>
        <p:spPr>
          <a:xfrm>
            <a:off x="7071183" y="964406"/>
            <a:ext cx="5120512" cy="116300"/>
          </a:xfrm>
          <a:prstGeom prst="rect">
            <a:avLst/>
          </a:prstGeom>
          <a:solidFill>
            <a:srgbClr val="4831C6"/>
          </a:solidFill>
          <a:ln/>
        </p:spPr>
      </p:sp>
      <p:sp>
        <p:nvSpPr>
          <p:cNvPr id="12" name="Shape 10"/>
          <p:cNvSpPr/>
          <p:nvPr/>
        </p:nvSpPr>
        <p:spPr>
          <a:xfrm>
            <a:off x="7071183" y="1071563"/>
            <a:ext cx="5120512" cy="116300"/>
          </a:xfrm>
          <a:prstGeom prst="rect">
            <a:avLst/>
          </a:prstGeom>
          <a:solidFill>
            <a:srgbClr val="4732C6"/>
          </a:solidFill>
          <a:ln/>
        </p:spPr>
      </p:sp>
      <p:sp>
        <p:nvSpPr>
          <p:cNvPr id="13" name="Shape 11"/>
          <p:cNvSpPr/>
          <p:nvPr/>
        </p:nvSpPr>
        <p:spPr>
          <a:xfrm>
            <a:off x="7071183" y="1178719"/>
            <a:ext cx="5120512" cy="116300"/>
          </a:xfrm>
          <a:prstGeom prst="rect">
            <a:avLst/>
          </a:prstGeom>
          <a:solidFill>
            <a:srgbClr val="4733C7"/>
          </a:solidFill>
          <a:ln/>
        </p:spPr>
      </p:sp>
      <p:sp>
        <p:nvSpPr>
          <p:cNvPr id="14" name="Shape 12"/>
          <p:cNvSpPr/>
          <p:nvPr/>
        </p:nvSpPr>
        <p:spPr>
          <a:xfrm>
            <a:off x="7071183" y="1285875"/>
            <a:ext cx="5120512" cy="116300"/>
          </a:xfrm>
          <a:prstGeom prst="rect">
            <a:avLst/>
          </a:prstGeom>
          <a:solidFill>
            <a:srgbClr val="4634C7"/>
          </a:solidFill>
          <a:ln/>
        </p:spPr>
      </p:sp>
      <p:sp>
        <p:nvSpPr>
          <p:cNvPr id="15" name="Shape 13"/>
          <p:cNvSpPr/>
          <p:nvPr/>
        </p:nvSpPr>
        <p:spPr>
          <a:xfrm>
            <a:off x="7071183" y="1393031"/>
            <a:ext cx="5120512" cy="116300"/>
          </a:xfrm>
          <a:prstGeom prst="rect">
            <a:avLst/>
          </a:prstGeom>
          <a:solidFill>
            <a:srgbClr val="4535C8"/>
          </a:solidFill>
          <a:ln/>
        </p:spPr>
      </p:sp>
      <p:sp>
        <p:nvSpPr>
          <p:cNvPr id="16" name="Shape 14"/>
          <p:cNvSpPr/>
          <p:nvPr/>
        </p:nvSpPr>
        <p:spPr>
          <a:xfrm>
            <a:off x="7071183" y="1500188"/>
            <a:ext cx="5120512" cy="116300"/>
          </a:xfrm>
          <a:prstGeom prst="rect">
            <a:avLst/>
          </a:prstGeom>
          <a:solidFill>
            <a:srgbClr val="4436C8"/>
          </a:solidFill>
          <a:ln/>
        </p:spPr>
      </p:sp>
      <p:sp>
        <p:nvSpPr>
          <p:cNvPr id="17" name="Shape 15"/>
          <p:cNvSpPr/>
          <p:nvPr/>
        </p:nvSpPr>
        <p:spPr>
          <a:xfrm>
            <a:off x="7071183" y="1607344"/>
            <a:ext cx="5120512" cy="116300"/>
          </a:xfrm>
          <a:prstGeom prst="rect">
            <a:avLst/>
          </a:prstGeom>
          <a:solidFill>
            <a:srgbClr val="4337C9"/>
          </a:solidFill>
          <a:ln/>
        </p:spPr>
      </p:sp>
      <p:sp>
        <p:nvSpPr>
          <p:cNvPr id="18" name="Shape 16"/>
          <p:cNvSpPr/>
          <p:nvPr/>
        </p:nvSpPr>
        <p:spPr>
          <a:xfrm>
            <a:off x="7071183" y="1714500"/>
            <a:ext cx="5120512" cy="116300"/>
          </a:xfrm>
          <a:prstGeom prst="rect">
            <a:avLst/>
          </a:prstGeom>
          <a:solidFill>
            <a:srgbClr val="4238C9"/>
          </a:solidFill>
          <a:ln/>
        </p:spPr>
      </p:sp>
      <p:sp>
        <p:nvSpPr>
          <p:cNvPr id="19" name="Shape 17"/>
          <p:cNvSpPr/>
          <p:nvPr/>
        </p:nvSpPr>
        <p:spPr>
          <a:xfrm>
            <a:off x="7071183" y="1821656"/>
            <a:ext cx="5120512" cy="116300"/>
          </a:xfrm>
          <a:prstGeom prst="rect">
            <a:avLst/>
          </a:prstGeom>
          <a:solidFill>
            <a:srgbClr val="4139CA"/>
          </a:solidFill>
          <a:ln/>
        </p:spPr>
      </p:sp>
      <p:sp>
        <p:nvSpPr>
          <p:cNvPr id="20" name="Shape 18"/>
          <p:cNvSpPr/>
          <p:nvPr/>
        </p:nvSpPr>
        <p:spPr>
          <a:xfrm>
            <a:off x="7071183" y="1928813"/>
            <a:ext cx="5120512" cy="116300"/>
          </a:xfrm>
          <a:prstGeom prst="rect">
            <a:avLst/>
          </a:prstGeom>
          <a:solidFill>
            <a:srgbClr val="413ACA"/>
          </a:solidFill>
          <a:ln/>
        </p:spPr>
      </p:sp>
      <p:sp>
        <p:nvSpPr>
          <p:cNvPr id="21" name="Shape 19"/>
          <p:cNvSpPr/>
          <p:nvPr/>
        </p:nvSpPr>
        <p:spPr>
          <a:xfrm>
            <a:off x="7071183" y="2035969"/>
            <a:ext cx="5120512" cy="116300"/>
          </a:xfrm>
          <a:prstGeom prst="rect">
            <a:avLst/>
          </a:prstGeom>
          <a:solidFill>
            <a:srgbClr val="403BCA"/>
          </a:solidFill>
          <a:ln/>
        </p:spPr>
      </p:sp>
      <p:sp>
        <p:nvSpPr>
          <p:cNvPr id="22" name="Shape 20"/>
          <p:cNvSpPr/>
          <p:nvPr/>
        </p:nvSpPr>
        <p:spPr>
          <a:xfrm>
            <a:off x="7071183" y="2143125"/>
            <a:ext cx="5120512" cy="116300"/>
          </a:xfrm>
          <a:prstGeom prst="rect">
            <a:avLst/>
          </a:prstGeom>
          <a:solidFill>
            <a:srgbClr val="3F3CCB"/>
          </a:solidFill>
          <a:ln/>
        </p:spPr>
      </p:sp>
      <p:sp>
        <p:nvSpPr>
          <p:cNvPr id="23" name="Shape 21"/>
          <p:cNvSpPr/>
          <p:nvPr/>
        </p:nvSpPr>
        <p:spPr>
          <a:xfrm>
            <a:off x="7071183" y="2250281"/>
            <a:ext cx="5120512" cy="116300"/>
          </a:xfrm>
          <a:prstGeom prst="rect">
            <a:avLst/>
          </a:prstGeom>
          <a:solidFill>
            <a:srgbClr val="3E3DCB"/>
          </a:solidFill>
          <a:ln/>
        </p:spPr>
      </p:sp>
      <p:sp>
        <p:nvSpPr>
          <p:cNvPr id="24" name="Shape 22"/>
          <p:cNvSpPr/>
          <p:nvPr/>
        </p:nvSpPr>
        <p:spPr>
          <a:xfrm>
            <a:off x="7071183" y="2357438"/>
            <a:ext cx="5120512" cy="116300"/>
          </a:xfrm>
          <a:prstGeom prst="rect">
            <a:avLst/>
          </a:prstGeom>
          <a:solidFill>
            <a:srgbClr val="3D3ECC"/>
          </a:solidFill>
          <a:ln/>
        </p:spPr>
      </p:sp>
      <p:sp>
        <p:nvSpPr>
          <p:cNvPr id="25" name="Shape 23"/>
          <p:cNvSpPr/>
          <p:nvPr/>
        </p:nvSpPr>
        <p:spPr>
          <a:xfrm>
            <a:off x="7071183" y="2464594"/>
            <a:ext cx="5120512" cy="116300"/>
          </a:xfrm>
          <a:prstGeom prst="rect">
            <a:avLst/>
          </a:prstGeom>
          <a:solidFill>
            <a:srgbClr val="3C3FCC"/>
          </a:solidFill>
          <a:ln/>
        </p:spPr>
      </p:sp>
      <p:sp>
        <p:nvSpPr>
          <p:cNvPr id="26" name="Shape 24"/>
          <p:cNvSpPr/>
          <p:nvPr/>
        </p:nvSpPr>
        <p:spPr>
          <a:xfrm>
            <a:off x="7071183" y="2571750"/>
            <a:ext cx="5120512" cy="116300"/>
          </a:xfrm>
          <a:prstGeom prst="rect">
            <a:avLst/>
          </a:prstGeom>
          <a:solidFill>
            <a:srgbClr val="3B40CD"/>
          </a:solidFill>
          <a:ln/>
        </p:spPr>
      </p:sp>
      <p:sp>
        <p:nvSpPr>
          <p:cNvPr id="27" name="Shape 25"/>
          <p:cNvSpPr/>
          <p:nvPr/>
        </p:nvSpPr>
        <p:spPr>
          <a:xfrm>
            <a:off x="7071183" y="2678906"/>
            <a:ext cx="5120512" cy="116300"/>
          </a:xfrm>
          <a:prstGeom prst="rect">
            <a:avLst/>
          </a:prstGeom>
          <a:solidFill>
            <a:srgbClr val="3B41CD"/>
          </a:solidFill>
          <a:ln/>
        </p:spPr>
      </p:sp>
      <p:sp>
        <p:nvSpPr>
          <p:cNvPr id="28" name="Shape 26"/>
          <p:cNvSpPr/>
          <p:nvPr/>
        </p:nvSpPr>
        <p:spPr>
          <a:xfrm>
            <a:off x="7071183" y="2786063"/>
            <a:ext cx="5120512" cy="116300"/>
          </a:xfrm>
          <a:prstGeom prst="rect">
            <a:avLst/>
          </a:prstGeom>
          <a:solidFill>
            <a:srgbClr val="3A42CE"/>
          </a:solidFill>
          <a:ln/>
        </p:spPr>
      </p:sp>
      <p:sp>
        <p:nvSpPr>
          <p:cNvPr id="29" name="Shape 27"/>
          <p:cNvSpPr/>
          <p:nvPr/>
        </p:nvSpPr>
        <p:spPr>
          <a:xfrm>
            <a:off x="7071183" y="2893219"/>
            <a:ext cx="5120512" cy="116300"/>
          </a:xfrm>
          <a:prstGeom prst="rect">
            <a:avLst/>
          </a:prstGeom>
          <a:solidFill>
            <a:srgbClr val="3943CE"/>
          </a:solidFill>
          <a:ln/>
        </p:spPr>
      </p:sp>
      <p:sp>
        <p:nvSpPr>
          <p:cNvPr id="30" name="Shape 28"/>
          <p:cNvSpPr/>
          <p:nvPr/>
        </p:nvSpPr>
        <p:spPr>
          <a:xfrm>
            <a:off x="7071183" y="3000375"/>
            <a:ext cx="5120512" cy="116300"/>
          </a:xfrm>
          <a:prstGeom prst="rect">
            <a:avLst/>
          </a:prstGeom>
          <a:solidFill>
            <a:srgbClr val="3844CE"/>
          </a:solidFill>
          <a:ln/>
        </p:spPr>
      </p:sp>
      <p:sp>
        <p:nvSpPr>
          <p:cNvPr id="31" name="Shape 29"/>
          <p:cNvSpPr/>
          <p:nvPr/>
        </p:nvSpPr>
        <p:spPr>
          <a:xfrm>
            <a:off x="7071183" y="3107531"/>
            <a:ext cx="5120512" cy="116300"/>
          </a:xfrm>
          <a:prstGeom prst="rect">
            <a:avLst/>
          </a:prstGeom>
          <a:solidFill>
            <a:srgbClr val="3745CF"/>
          </a:solidFill>
          <a:ln/>
        </p:spPr>
      </p:sp>
      <p:sp>
        <p:nvSpPr>
          <p:cNvPr id="32" name="Shape 30"/>
          <p:cNvSpPr/>
          <p:nvPr/>
        </p:nvSpPr>
        <p:spPr>
          <a:xfrm>
            <a:off x="7071183" y="3214688"/>
            <a:ext cx="5120512" cy="116300"/>
          </a:xfrm>
          <a:prstGeom prst="rect">
            <a:avLst/>
          </a:prstGeom>
          <a:solidFill>
            <a:srgbClr val="3646CF"/>
          </a:solidFill>
          <a:ln/>
        </p:spPr>
      </p:sp>
      <p:sp>
        <p:nvSpPr>
          <p:cNvPr id="33" name="Shape 31"/>
          <p:cNvSpPr/>
          <p:nvPr/>
        </p:nvSpPr>
        <p:spPr>
          <a:xfrm>
            <a:off x="7071183" y="3321844"/>
            <a:ext cx="5120512" cy="116300"/>
          </a:xfrm>
          <a:prstGeom prst="rect">
            <a:avLst/>
          </a:prstGeom>
          <a:solidFill>
            <a:srgbClr val="3547D0"/>
          </a:solidFill>
          <a:ln/>
        </p:spPr>
      </p:sp>
      <p:sp>
        <p:nvSpPr>
          <p:cNvPr id="34" name="Shape 32"/>
          <p:cNvSpPr/>
          <p:nvPr/>
        </p:nvSpPr>
        <p:spPr>
          <a:xfrm>
            <a:off x="7071183" y="3429000"/>
            <a:ext cx="5120512" cy="116300"/>
          </a:xfrm>
          <a:prstGeom prst="rect">
            <a:avLst/>
          </a:prstGeom>
          <a:solidFill>
            <a:srgbClr val="3549D0"/>
          </a:solidFill>
          <a:ln/>
        </p:spPr>
      </p:sp>
      <p:sp>
        <p:nvSpPr>
          <p:cNvPr id="35" name="Shape 33"/>
          <p:cNvSpPr/>
          <p:nvPr/>
        </p:nvSpPr>
        <p:spPr>
          <a:xfrm>
            <a:off x="7071183" y="3536156"/>
            <a:ext cx="5120512" cy="116300"/>
          </a:xfrm>
          <a:prstGeom prst="rect">
            <a:avLst/>
          </a:prstGeom>
          <a:solidFill>
            <a:srgbClr val="344ACF"/>
          </a:solidFill>
          <a:ln/>
        </p:spPr>
      </p:sp>
      <p:sp>
        <p:nvSpPr>
          <p:cNvPr id="36" name="Shape 34"/>
          <p:cNvSpPr/>
          <p:nvPr/>
        </p:nvSpPr>
        <p:spPr>
          <a:xfrm>
            <a:off x="7071183" y="3643313"/>
            <a:ext cx="5120512" cy="116300"/>
          </a:xfrm>
          <a:prstGeom prst="rect">
            <a:avLst/>
          </a:prstGeom>
          <a:solidFill>
            <a:srgbClr val="334BCF"/>
          </a:solidFill>
          <a:ln/>
        </p:spPr>
      </p:sp>
      <p:sp>
        <p:nvSpPr>
          <p:cNvPr id="37" name="Shape 35"/>
          <p:cNvSpPr/>
          <p:nvPr/>
        </p:nvSpPr>
        <p:spPr>
          <a:xfrm>
            <a:off x="7071183" y="3750469"/>
            <a:ext cx="5120512" cy="116300"/>
          </a:xfrm>
          <a:prstGeom prst="rect">
            <a:avLst/>
          </a:prstGeom>
          <a:solidFill>
            <a:srgbClr val="324CCE"/>
          </a:solidFill>
          <a:ln/>
        </p:spPr>
      </p:sp>
      <p:sp>
        <p:nvSpPr>
          <p:cNvPr id="38" name="Shape 36"/>
          <p:cNvSpPr/>
          <p:nvPr/>
        </p:nvSpPr>
        <p:spPr>
          <a:xfrm>
            <a:off x="7071183" y="3857625"/>
            <a:ext cx="5120512" cy="116300"/>
          </a:xfrm>
          <a:prstGeom prst="rect">
            <a:avLst/>
          </a:prstGeom>
          <a:solidFill>
            <a:srgbClr val="314ECD"/>
          </a:solidFill>
          <a:ln/>
        </p:spPr>
      </p:sp>
      <p:sp>
        <p:nvSpPr>
          <p:cNvPr id="39" name="Shape 37"/>
          <p:cNvSpPr/>
          <p:nvPr/>
        </p:nvSpPr>
        <p:spPr>
          <a:xfrm>
            <a:off x="7071183" y="3964781"/>
            <a:ext cx="5120512" cy="116300"/>
          </a:xfrm>
          <a:prstGeom prst="rect">
            <a:avLst/>
          </a:prstGeom>
          <a:solidFill>
            <a:srgbClr val="304FCD"/>
          </a:solidFill>
          <a:ln/>
        </p:spPr>
      </p:sp>
      <p:sp>
        <p:nvSpPr>
          <p:cNvPr id="40" name="Shape 38"/>
          <p:cNvSpPr/>
          <p:nvPr/>
        </p:nvSpPr>
        <p:spPr>
          <a:xfrm>
            <a:off x="7071183" y="4071938"/>
            <a:ext cx="5120512" cy="116300"/>
          </a:xfrm>
          <a:prstGeom prst="rect">
            <a:avLst/>
          </a:prstGeom>
          <a:solidFill>
            <a:srgbClr val="2F50CC"/>
          </a:solidFill>
          <a:ln/>
        </p:spPr>
      </p:sp>
      <p:sp>
        <p:nvSpPr>
          <p:cNvPr id="41" name="Shape 39"/>
          <p:cNvSpPr/>
          <p:nvPr/>
        </p:nvSpPr>
        <p:spPr>
          <a:xfrm>
            <a:off x="7071183" y="4179094"/>
            <a:ext cx="5120512" cy="116300"/>
          </a:xfrm>
          <a:prstGeom prst="rect">
            <a:avLst/>
          </a:prstGeom>
          <a:solidFill>
            <a:srgbClr val="2F51CC"/>
          </a:solidFill>
          <a:ln/>
        </p:spPr>
      </p:sp>
      <p:sp>
        <p:nvSpPr>
          <p:cNvPr id="42" name="Shape 40"/>
          <p:cNvSpPr/>
          <p:nvPr/>
        </p:nvSpPr>
        <p:spPr>
          <a:xfrm>
            <a:off x="7071183" y="4286250"/>
            <a:ext cx="5120512" cy="116300"/>
          </a:xfrm>
          <a:prstGeom prst="rect">
            <a:avLst/>
          </a:prstGeom>
          <a:solidFill>
            <a:srgbClr val="2E53CB"/>
          </a:solidFill>
          <a:ln/>
        </p:spPr>
      </p:sp>
      <p:sp>
        <p:nvSpPr>
          <p:cNvPr id="43" name="Shape 41"/>
          <p:cNvSpPr/>
          <p:nvPr/>
        </p:nvSpPr>
        <p:spPr>
          <a:xfrm>
            <a:off x="7071183" y="4393406"/>
            <a:ext cx="5120512" cy="116300"/>
          </a:xfrm>
          <a:prstGeom prst="rect">
            <a:avLst/>
          </a:prstGeom>
          <a:solidFill>
            <a:srgbClr val="2D54CB"/>
          </a:solidFill>
          <a:ln/>
        </p:spPr>
      </p:sp>
      <p:sp>
        <p:nvSpPr>
          <p:cNvPr id="44" name="Shape 42"/>
          <p:cNvSpPr/>
          <p:nvPr/>
        </p:nvSpPr>
        <p:spPr>
          <a:xfrm>
            <a:off x="7071183" y="4500563"/>
            <a:ext cx="5120512" cy="116300"/>
          </a:xfrm>
          <a:prstGeom prst="rect">
            <a:avLst/>
          </a:prstGeom>
          <a:solidFill>
            <a:srgbClr val="2C55CA"/>
          </a:solidFill>
          <a:ln/>
        </p:spPr>
      </p:sp>
      <p:sp>
        <p:nvSpPr>
          <p:cNvPr id="45" name="Shape 43"/>
          <p:cNvSpPr/>
          <p:nvPr/>
        </p:nvSpPr>
        <p:spPr>
          <a:xfrm>
            <a:off x="7071183" y="4607719"/>
            <a:ext cx="5120512" cy="116300"/>
          </a:xfrm>
          <a:prstGeom prst="rect">
            <a:avLst/>
          </a:prstGeom>
          <a:solidFill>
            <a:srgbClr val="2B56C9"/>
          </a:solidFill>
          <a:ln/>
        </p:spPr>
      </p:sp>
      <p:sp>
        <p:nvSpPr>
          <p:cNvPr id="46" name="Shape 44"/>
          <p:cNvSpPr/>
          <p:nvPr/>
        </p:nvSpPr>
        <p:spPr>
          <a:xfrm>
            <a:off x="7071183" y="4714875"/>
            <a:ext cx="5120512" cy="116300"/>
          </a:xfrm>
          <a:prstGeom prst="rect">
            <a:avLst/>
          </a:prstGeom>
          <a:solidFill>
            <a:srgbClr val="2A57C9"/>
          </a:solidFill>
          <a:ln/>
        </p:spPr>
      </p:sp>
      <p:sp>
        <p:nvSpPr>
          <p:cNvPr id="47" name="Shape 45"/>
          <p:cNvSpPr/>
          <p:nvPr/>
        </p:nvSpPr>
        <p:spPr>
          <a:xfrm>
            <a:off x="7071183" y="4822031"/>
            <a:ext cx="5120512" cy="116300"/>
          </a:xfrm>
          <a:prstGeom prst="rect">
            <a:avLst/>
          </a:prstGeom>
          <a:solidFill>
            <a:srgbClr val="2959C8"/>
          </a:solidFill>
          <a:ln/>
        </p:spPr>
      </p:sp>
      <p:sp>
        <p:nvSpPr>
          <p:cNvPr id="48" name="Shape 46"/>
          <p:cNvSpPr/>
          <p:nvPr/>
        </p:nvSpPr>
        <p:spPr>
          <a:xfrm>
            <a:off x="7071183" y="4929188"/>
            <a:ext cx="5120512" cy="116300"/>
          </a:xfrm>
          <a:prstGeom prst="rect">
            <a:avLst/>
          </a:prstGeom>
          <a:solidFill>
            <a:srgbClr val="295AC8"/>
          </a:solidFill>
          <a:ln/>
        </p:spPr>
      </p:sp>
      <p:sp>
        <p:nvSpPr>
          <p:cNvPr id="49" name="Shape 47"/>
          <p:cNvSpPr/>
          <p:nvPr/>
        </p:nvSpPr>
        <p:spPr>
          <a:xfrm>
            <a:off x="7071183" y="5036344"/>
            <a:ext cx="5120512" cy="116300"/>
          </a:xfrm>
          <a:prstGeom prst="rect">
            <a:avLst/>
          </a:prstGeom>
          <a:solidFill>
            <a:srgbClr val="285BC7"/>
          </a:solidFill>
          <a:ln/>
        </p:spPr>
      </p:sp>
      <p:sp>
        <p:nvSpPr>
          <p:cNvPr id="50" name="Shape 48"/>
          <p:cNvSpPr/>
          <p:nvPr/>
        </p:nvSpPr>
        <p:spPr>
          <a:xfrm>
            <a:off x="7071183" y="5143500"/>
            <a:ext cx="5120512" cy="116300"/>
          </a:xfrm>
          <a:prstGeom prst="rect">
            <a:avLst/>
          </a:prstGeom>
          <a:solidFill>
            <a:srgbClr val="275CC7"/>
          </a:solidFill>
          <a:ln/>
        </p:spPr>
      </p:sp>
      <p:sp>
        <p:nvSpPr>
          <p:cNvPr id="51" name="Shape 49"/>
          <p:cNvSpPr/>
          <p:nvPr/>
        </p:nvSpPr>
        <p:spPr>
          <a:xfrm>
            <a:off x="7071183" y="5250656"/>
            <a:ext cx="5120512" cy="116300"/>
          </a:xfrm>
          <a:prstGeom prst="rect">
            <a:avLst/>
          </a:prstGeom>
          <a:solidFill>
            <a:srgbClr val="265EC6"/>
          </a:solidFill>
          <a:ln/>
        </p:spPr>
      </p:sp>
      <p:sp>
        <p:nvSpPr>
          <p:cNvPr id="52" name="Shape 50"/>
          <p:cNvSpPr/>
          <p:nvPr/>
        </p:nvSpPr>
        <p:spPr>
          <a:xfrm>
            <a:off x="7071183" y="5357813"/>
            <a:ext cx="5120512" cy="116300"/>
          </a:xfrm>
          <a:prstGeom prst="rect">
            <a:avLst/>
          </a:prstGeom>
          <a:solidFill>
            <a:srgbClr val="255FC5"/>
          </a:solidFill>
          <a:ln/>
        </p:spPr>
      </p:sp>
      <p:sp>
        <p:nvSpPr>
          <p:cNvPr id="53" name="Shape 51"/>
          <p:cNvSpPr/>
          <p:nvPr/>
        </p:nvSpPr>
        <p:spPr>
          <a:xfrm>
            <a:off x="7071183" y="5464969"/>
            <a:ext cx="5120512" cy="116300"/>
          </a:xfrm>
          <a:prstGeom prst="rect">
            <a:avLst/>
          </a:prstGeom>
          <a:solidFill>
            <a:srgbClr val="2460C5"/>
          </a:solidFill>
          <a:ln/>
        </p:spPr>
      </p:sp>
      <p:sp>
        <p:nvSpPr>
          <p:cNvPr id="54" name="Shape 52"/>
          <p:cNvSpPr/>
          <p:nvPr/>
        </p:nvSpPr>
        <p:spPr>
          <a:xfrm>
            <a:off x="7071183" y="5572125"/>
            <a:ext cx="5120512" cy="116300"/>
          </a:xfrm>
          <a:prstGeom prst="rect">
            <a:avLst/>
          </a:prstGeom>
          <a:solidFill>
            <a:srgbClr val="2361C4"/>
          </a:solidFill>
          <a:ln/>
        </p:spPr>
      </p:sp>
      <p:sp>
        <p:nvSpPr>
          <p:cNvPr id="55" name="Shape 53"/>
          <p:cNvSpPr/>
          <p:nvPr/>
        </p:nvSpPr>
        <p:spPr>
          <a:xfrm>
            <a:off x="7071183" y="5679281"/>
            <a:ext cx="5120512" cy="116300"/>
          </a:xfrm>
          <a:prstGeom prst="rect">
            <a:avLst/>
          </a:prstGeom>
          <a:solidFill>
            <a:srgbClr val="2363C4"/>
          </a:solidFill>
          <a:ln/>
        </p:spPr>
      </p:sp>
      <p:sp>
        <p:nvSpPr>
          <p:cNvPr id="56" name="Shape 54"/>
          <p:cNvSpPr/>
          <p:nvPr/>
        </p:nvSpPr>
        <p:spPr>
          <a:xfrm>
            <a:off x="7071183" y="5786438"/>
            <a:ext cx="5120512" cy="116300"/>
          </a:xfrm>
          <a:prstGeom prst="rect">
            <a:avLst/>
          </a:prstGeom>
          <a:solidFill>
            <a:srgbClr val="2264C3"/>
          </a:solidFill>
          <a:ln/>
        </p:spPr>
      </p:sp>
      <p:sp>
        <p:nvSpPr>
          <p:cNvPr id="57" name="Shape 55"/>
          <p:cNvSpPr/>
          <p:nvPr/>
        </p:nvSpPr>
        <p:spPr>
          <a:xfrm>
            <a:off x="7071183" y="5893594"/>
            <a:ext cx="5120512" cy="116300"/>
          </a:xfrm>
          <a:prstGeom prst="rect">
            <a:avLst/>
          </a:prstGeom>
          <a:solidFill>
            <a:srgbClr val="2165C3"/>
          </a:solidFill>
          <a:ln/>
        </p:spPr>
      </p:sp>
      <p:sp>
        <p:nvSpPr>
          <p:cNvPr id="58" name="Shape 56"/>
          <p:cNvSpPr/>
          <p:nvPr/>
        </p:nvSpPr>
        <p:spPr>
          <a:xfrm>
            <a:off x="7071183" y="6000750"/>
            <a:ext cx="5120512" cy="116300"/>
          </a:xfrm>
          <a:prstGeom prst="rect">
            <a:avLst/>
          </a:prstGeom>
          <a:solidFill>
            <a:srgbClr val="2066C2"/>
          </a:solidFill>
          <a:ln/>
        </p:spPr>
      </p:sp>
      <p:sp>
        <p:nvSpPr>
          <p:cNvPr id="59" name="Shape 57"/>
          <p:cNvSpPr/>
          <p:nvPr/>
        </p:nvSpPr>
        <p:spPr>
          <a:xfrm>
            <a:off x="7071183" y="6107906"/>
            <a:ext cx="5120512" cy="116300"/>
          </a:xfrm>
          <a:prstGeom prst="rect">
            <a:avLst/>
          </a:prstGeom>
          <a:solidFill>
            <a:srgbClr val="1F68C1"/>
          </a:solidFill>
          <a:ln/>
        </p:spPr>
      </p:sp>
      <p:sp>
        <p:nvSpPr>
          <p:cNvPr id="60" name="Shape 58"/>
          <p:cNvSpPr/>
          <p:nvPr/>
        </p:nvSpPr>
        <p:spPr>
          <a:xfrm>
            <a:off x="7071183" y="6215063"/>
            <a:ext cx="5120512" cy="116300"/>
          </a:xfrm>
          <a:prstGeom prst="rect">
            <a:avLst/>
          </a:prstGeom>
          <a:solidFill>
            <a:srgbClr val="1E69C1"/>
          </a:solidFill>
          <a:ln/>
        </p:spPr>
      </p:sp>
      <p:sp>
        <p:nvSpPr>
          <p:cNvPr id="61" name="Shape 59"/>
          <p:cNvSpPr/>
          <p:nvPr/>
        </p:nvSpPr>
        <p:spPr>
          <a:xfrm>
            <a:off x="7071183" y="6322219"/>
            <a:ext cx="5120512" cy="116300"/>
          </a:xfrm>
          <a:prstGeom prst="rect">
            <a:avLst/>
          </a:prstGeom>
          <a:solidFill>
            <a:srgbClr val="1D6AC0"/>
          </a:solidFill>
          <a:ln/>
        </p:spPr>
      </p:sp>
      <p:sp>
        <p:nvSpPr>
          <p:cNvPr id="62" name="Shape 60"/>
          <p:cNvSpPr/>
          <p:nvPr/>
        </p:nvSpPr>
        <p:spPr>
          <a:xfrm>
            <a:off x="7071183" y="6429375"/>
            <a:ext cx="5120512" cy="116300"/>
          </a:xfrm>
          <a:prstGeom prst="rect">
            <a:avLst/>
          </a:prstGeom>
          <a:solidFill>
            <a:srgbClr val="1D6BC0"/>
          </a:solidFill>
          <a:ln/>
        </p:spPr>
      </p:sp>
      <p:sp>
        <p:nvSpPr>
          <p:cNvPr id="63" name="Shape 61"/>
          <p:cNvSpPr/>
          <p:nvPr/>
        </p:nvSpPr>
        <p:spPr>
          <a:xfrm>
            <a:off x="7071183" y="6536531"/>
            <a:ext cx="5120512" cy="116300"/>
          </a:xfrm>
          <a:prstGeom prst="rect">
            <a:avLst/>
          </a:prstGeom>
          <a:solidFill>
            <a:srgbClr val="1C6DBF"/>
          </a:solidFill>
          <a:ln/>
        </p:spPr>
      </p:sp>
      <p:sp>
        <p:nvSpPr>
          <p:cNvPr id="64" name="Shape 62"/>
          <p:cNvSpPr/>
          <p:nvPr/>
        </p:nvSpPr>
        <p:spPr>
          <a:xfrm>
            <a:off x="7071183" y="6643688"/>
            <a:ext cx="5120512" cy="116300"/>
          </a:xfrm>
          <a:prstGeom prst="rect">
            <a:avLst/>
          </a:prstGeom>
          <a:solidFill>
            <a:srgbClr val="1B6EBF"/>
          </a:solidFill>
          <a:ln/>
        </p:spPr>
      </p:sp>
      <p:sp>
        <p:nvSpPr>
          <p:cNvPr id="65" name="Shape 63"/>
          <p:cNvSpPr/>
          <p:nvPr/>
        </p:nvSpPr>
        <p:spPr>
          <a:xfrm>
            <a:off x="7071183" y="6750844"/>
            <a:ext cx="5120512" cy="116300"/>
          </a:xfrm>
          <a:prstGeom prst="rect">
            <a:avLst/>
          </a:prstGeom>
          <a:solidFill>
            <a:srgbClr val="1A6FBE"/>
          </a:solidFill>
          <a:ln/>
        </p:spPr>
      </p:sp>
      <p:sp>
        <p:nvSpPr>
          <p:cNvPr id="66" name="Text 64"/>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THE MATH</a:t>
            </a:r>
            <a:endParaRPr lang="en-US" sz="1100" dirty="0"/>
          </a:p>
        </p:txBody>
      </p:sp>
      <p:sp>
        <p:nvSpPr>
          <p:cNvPr id="67" name="Text 65"/>
          <p:cNvSpPr/>
          <p:nvPr/>
        </p:nvSpPr>
        <p:spPr>
          <a:xfrm>
            <a:off x="548640" y="1417320"/>
            <a:ext cx="6156783" cy="2194560"/>
          </a:xfrm>
          <a:prstGeom prst="rect">
            <a:avLst/>
          </a:prstGeom>
          <a:noFill/>
          <a:ln/>
        </p:spPr>
        <p:txBody>
          <a:bodyPr wrap="square" lIns="0" tIns="0" rIns="0" bIns="0" rtlCol="0" anchor="t"/>
          <a:lstStyle/>
          <a:p>
            <a:pPr algn="l" indent="0" marL="0">
              <a:buNone/>
            </a:pPr>
            <a:r>
              <a:rPr lang="en-US" sz="4200" b="1" spc="-50" kern="0" dirty="0">
                <a:solidFill>
                  <a:srgbClr val="0F1733"/>
                </a:solidFill>
                <a:latin typeface="Calibri" pitchFamily="34" charset="0"/>
                <a:ea typeface="Calibri" pitchFamily="34" charset="-122"/>
                <a:cs typeface="Calibri" pitchFamily="34" charset="-120"/>
              </a:rPr>
              <a:t>Two hundred creators. Six thousand minutes. One quarter, gone.</a:t>
            </a:r>
            <a:endParaRPr lang="en-US" sz="4200" dirty="0"/>
          </a:p>
        </p:txBody>
      </p:sp>
      <p:sp>
        <p:nvSpPr>
          <p:cNvPr id="68" name="Text 66"/>
          <p:cNvSpPr/>
          <p:nvPr/>
        </p:nvSpPr>
        <p:spPr>
          <a:xfrm>
            <a:off x="548640" y="3657600"/>
            <a:ext cx="6156783" cy="2377440"/>
          </a:xfrm>
          <a:prstGeom prst="rect">
            <a:avLst/>
          </a:prstGeom>
          <a:noFill/>
          <a:ln/>
        </p:spPr>
        <p:txBody>
          <a:bodyPr wrap="square" lIns="0" tIns="0" rIns="0" bIns="0" rtlCol="0" anchor="t"/>
          <a:lstStyle/>
          <a:p>
            <a:pPr algn="l" indent="0" marL="0">
              <a:spcAft>
                <a:spcPts val="800"/>
              </a:spcAft>
              <a:buNone/>
            </a:pPr>
            <a:r>
              <a:rPr lang="en-US" sz="1500" dirty="0">
                <a:solidFill>
                  <a:srgbClr val="2A3358"/>
                </a:solidFill>
                <a:latin typeface="Calibri" pitchFamily="34" charset="0"/>
                <a:ea typeface="Calibri" pitchFamily="34" charset="-122"/>
                <a:cs typeface="Calibri" pitchFamily="34" charset="-120"/>
              </a:rPr>
              <a:t>Even at thirty minutes per creator — sourcing, qualifying, contacting, logging — a single campaign eats one hundred hours of focus work. That's before reply handling, follow-ups, or measurement.</a:t>
            </a:r>
            <a:endParaRPr lang="en-US" sz="1500" dirty="0"/>
          </a:p>
        </p:txBody>
      </p:sp>
      <p:sp>
        <p:nvSpPr>
          <p:cNvPr id="69" name="Text 67"/>
          <p:cNvSpPr/>
          <p:nvPr/>
        </p:nvSpPr>
        <p:spPr>
          <a:xfrm>
            <a:off x="7436943" y="1371600"/>
            <a:ext cx="4388992" cy="2377440"/>
          </a:xfrm>
          <a:prstGeom prst="rect">
            <a:avLst/>
          </a:prstGeom>
          <a:noFill/>
          <a:ln/>
        </p:spPr>
        <p:txBody>
          <a:bodyPr wrap="square" lIns="0" tIns="0" rIns="0" bIns="0" rtlCol="0" anchor="t"/>
          <a:lstStyle/>
          <a:p>
            <a:pPr algn="l" indent="0" marL="0">
              <a:buNone/>
            </a:pPr>
            <a:r>
              <a:rPr lang="en-US" sz="9600" b="1" spc="-200" kern="0" dirty="0">
                <a:solidFill>
                  <a:srgbClr val="FFFFFF"/>
                </a:solidFill>
                <a:latin typeface="Calibri" pitchFamily="34" charset="0"/>
                <a:ea typeface="Calibri" pitchFamily="34" charset="-122"/>
                <a:cs typeface="Calibri" pitchFamily="34" charset="-120"/>
              </a:rPr>
              <a:t>200</a:t>
            </a:r>
            <a:endParaRPr lang="en-US" sz="9600" dirty="0"/>
          </a:p>
        </p:txBody>
      </p:sp>
      <p:sp>
        <p:nvSpPr>
          <p:cNvPr id="70" name="Text 68"/>
          <p:cNvSpPr/>
          <p:nvPr/>
        </p:nvSpPr>
        <p:spPr>
          <a:xfrm>
            <a:off x="7436943" y="3840480"/>
            <a:ext cx="4388992" cy="1828800"/>
          </a:xfrm>
          <a:prstGeom prst="rect">
            <a:avLst/>
          </a:prstGeom>
          <a:noFill/>
          <a:ln/>
        </p:spPr>
        <p:txBody>
          <a:bodyPr wrap="square" lIns="0" tIns="0" rIns="0" bIns="0" rtlCol="0" anchor="t"/>
          <a:lstStyle/>
          <a:p>
            <a:pPr algn="l" indent="0" marL="0">
              <a:buNone/>
            </a:pPr>
            <a:r>
              <a:rPr lang="en-US" sz="1600" dirty="0">
                <a:solidFill>
                  <a:srgbClr val="FFFFFF">
                    <a:alpha val="90000"/>
                  </a:srgbClr>
                </a:solidFill>
                <a:latin typeface="Calibri" pitchFamily="34" charset="0"/>
                <a:ea typeface="Calibri" pitchFamily="34" charset="-122"/>
                <a:cs typeface="Calibri" pitchFamily="34" charset="-120"/>
              </a:rPr>
              <a:t>Creators in a typical B2B campaign — and the moment manual workflows start to collapse.</a:t>
            </a:r>
            <a:endParaRPr lang="en-US" sz="1600" dirty="0"/>
          </a:p>
        </p:txBody>
      </p:sp>
      <p:sp>
        <p:nvSpPr>
          <p:cNvPr id="71" name="Shape 69"/>
          <p:cNvSpPr/>
          <p:nvPr/>
        </p:nvSpPr>
        <p:spPr>
          <a:xfrm>
            <a:off x="548640" y="502920"/>
            <a:ext cx="292608" cy="292608"/>
          </a:xfrm>
          <a:prstGeom prst="roundRect">
            <a:avLst>
              <a:gd name="adj" fmla="val 25000"/>
            </a:avLst>
          </a:prstGeom>
          <a:solidFill>
            <a:srgbClr val="5028C2"/>
          </a:solidFill>
          <a:ln/>
        </p:spPr>
      </p:sp>
      <p:sp>
        <p:nvSpPr>
          <p:cNvPr id="72" name="Shape 70"/>
          <p:cNvSpPr/>
          <p:nvPr/>
        </p:nvSpPr>
        <p:spPr>
          <a:xfrm>
            <a:off x="548640" y="502920"/>
            <a:ext cx="292608" cy="292608"/>
          </a:xfrm>
          <a:prstGeom prst="roundRect">
            <a:avLst>
              <a:gd name="adj" fmla="val 25000"/>
            </a:avLst>
          </a:prstGeom>
          <a:solidFill>
            <a:srgbClr val="1A6FBE">
              <a:alpha val="50000"/>
            </a:srgbClr>
          </a:solidFill>
          <a:ln/>
        </p:spPr>
      </p:sp>
      <p:sp>
        <p:nvSpPr>
          <p:cNvPr id="73" name="Text 71"/>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4" name="Text 72"/>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5" name="Text 73"/>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03 · Pain at scale  ·  vB</a:t>
            </a:r>
            <a:endParaRPr lang="en-US" sz="900" dirty="0"/>
          </a:p>
        </p:txBody>
      </p:sp>
      <p:sp>
        <p:nvSpPr>
          <p:cNvPr id="76" name="Text 74"/>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7" name="Text 75"/>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016 / 126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WHERE IT BREAKS</a:t>
            </a:r>
            <a:endParaRPr lang="en-US" sz="1100" dirty="0"/>
          </a:p>
        </p:txBody>
      </p:sp>
      <p:sp>
        <p:nvSpPr>
          <p:cNvPr id="3" name="Text 1"/>
          <p:cNvSpPr/>
          <p:nvPr/>
        </p:nvSpPr>
        <p:spPr>
          <a:xfrm>
            <a:off x="548640" y="1417320"/>
            <a:ext cx="11094415" cy="1188720"/>
          </a:xfrm>
          <a:prstGeom prst="rect">
            <a:avLst/>
          </a:prstGeom>
          <a:noFill/>
          <a:ln/>
        </p:spPr>
        <p:txBody>
          <a:bodyPr wrap="square" lIns="0" tIns="0" rIns="0" bIns="0" rtlCol="0" anchor="t"/>
          <a:lstStyle/>
          <a:p>
            <a:pPr algn="l" indent="0" marL="0">
              <a:buNone/>
            </a:pPr>
            <a:r>
              <a:rPr lang="en-US" sz="3800" b="1" spc="-50" kern="0" dirty="0">
                <a:solidFill>
                  <a:srgbClr val="0F1733"/>
                </a:solidFill>
                <a:latin typeface="Calibri" pitchFamily="34" charset="0"/>
                <a:ea typeface="Calibri" pitchFamily="34" charset="-122"/>
                <a:cs typeface="Calibri" pitchFamily="34" charset="-120"/>
              </a:rPr>
              <a:t>Manual workflows scale linearly. Pipelines don't.</a:t>
            </a:r>
            <a:endParaRPr lang="en-US" sz="3800" dirty="0"/>
          </a:p>
        </p:txBody>
      </p:sp>
      <p:sp>
        <p:nvSpPr>
          <p:cNvPr id="4" name="Text 2"/>
          <p:cNvSpPr/>
          <p:nvPr/>
        </p:nvSpPr>
        <p:spPr>
          <a:xfrm>
            <a:off x="548640" y="2606040"/>
            <a:ext cx="8534187" cy="457200"/>
          </a:xfrm>
          <a:prstGeom prst="rect">
            <a:avLst/>
          </a:prstGeom>
          <a:noFill/>
          <a:ln/>
        </p:spPr>
        <p:txBody>
          <a:bodyPr wrap="square" lIns="0" tIns="0" rIns="0" bIns="0" rtlCol="0" anchor="t"/>
          <a:lstStyle/>
          <a:p>
            <a:pPr algn="l" indent="0" marL="0">
              <a:buNone/>
            </a:pPr>
            <a:r>
              <a:rPr lang="en-US" sz="1600" dirty="0">
                <a:solidFill>
                  <a:srgbClr val="2A3358"/>
                </a:solidFill>
                <a:latin typeface="Calibri" pitchFamily="34" charset="0"/>
                <a:ea typeface="Calibri" pitchFamily="34" charset="-122"/>
                <a:cs typeface="Calibri" pitchFamily="34" charset="-120"/>
              </a:rPr>
              <a:t>Every campaign requires the same setup, the same spreadsheets, the same dead messages. Nothing compounds.</a:t>
            </a:r>
            <a:endParaRPr lang="en-US" sz="1600" dirty="0"/>
          </a:p>
        </p:txBody>
      </p:sp>
      <p:sp>
        <p:nvSpPr>
          <p:cNvPr id="5" name="Shape 3"/>
          <p:cNvSpPr/>
          <p:nvPr/>
        </p:nvSpPr>
        <p:spPr>
          <a:xfrm>
            <a:off x="548640" y="3108960"/>
            <a:ext cx="3545738" cy="3017520"/>
          </a:xfrm>
          <a:prstGeom prst="roundRect">
            <a:avLst>
              <a:gd name="adj" fmla="val 3636"/>
            </a:avLst>
          </a:prstGeom>
          <a:solidFill>
            <a:srgbClr val="FFFFFF"/>
          </a:solidFill>
          <a:ln w="9525">
            <a:solidFill>
              <a:srgbClr val="E5E7F0"/>
            </a:solidFill>
            <a:prstDash val="solid"/>
          </a:ln>
        </p:spPr>
      </p:sp>
      <p:sp>
        <p:nvSpPr>
          <p:cNvPr id="6" name="Shape 4"/>
          <p:cNvSpPr/>
          <p:nvPr/>
        </p:nvSpPr>
        <p:spPr>
          <a:xfrm>
            <a:off x="548640" y="3108960"/>
            <a:ext cx="3545738" cy="73152"/>
          </a:xfrm>
          <a:prstGeom prst="rect">
            <a:avLst/>
          </a:prstGeom>
          <a:solidFill>
            <a:srgbClr val="5028C2"/>
          </a:solidFill>
          <a:ln/>
        </p:spPr>
      </p:sp>
      <p:sp>
        <p:nvSpPr>
          <p:cNvPr id="7" name="Shape 5"/>
          <p:cNvSpPr/>
          <p:nvPr/>
        </p:nvSpPr>
        <p:spPr>
          <a:xfrm>
            <a:off x="868680" y="3474720"/>
            <a:ext cx="457200" cy="457200"/>
          </a:xfrm>
          <a:prstGeom prst="ellipse">
            <a:avLst/>
          </a:prstGeom>
          <a:solidFill>
            <a:srgbClr val="5028C2"/>
          </a:solidFill>
          <a:ln/>
        </p:spPr>
      </p:sp>
      <p:sp>
        <p:nvSpPr>
          <p:cNvPr id="8" name="Text 6"/>
          <p:cNvSpPr/>
          <p:nvPr/>
        </p:nvSpPr>
        <p:spPr>
          <a:xfrm>
            <a:off x="868680"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9" name="Text 7"/>
          <p:cNvSpPr/>
          <p:nvPr/>
        </p:nvSpPr>
        <p:spPr>
          <a:xfrm>
            <a:off x="868680"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10 creators</a:t>
            </a:r>
            <a:endParaRPr lang="en-US" sz="1800" dirty="0"/>
          </a:p>
        </p:txBody>
      </p:sp>
      <p:sp>
        <p:nvSpPr>
          <p:cNvPr id="10" name="Text 8"/>
          <p:cNvSpPr/>
          <p:nvPr/>
        </p:nvSpPr>
        <p:spPr>
          <a:xfrm>
            <a:off x="868680"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Tolerable. You handle it in an afternoon. You don't feel the pain yet.</a:t>
            </a:r>
            <a:endParaRPr lang="en-US" sz="1300" dirty="0"/>
          </a:p>
        </p:txBody>
      </p:sp>
      <p:sp>
        <p:nvSpPr>
          <p:cNvPr id="11" name="Shape 9"/>
          <p:cNvSpPr/>
          <p:nvPr/>
        </p:nvSpPr>
        <p:spPr>
          <a:xfrm>
            <a:off x="4322978" y="3108960"/>
            <a:ext cx="3545738" cy="3017520"/>
          </a:xfrm>
          <a:prstGeom prst="roundRect">
            <a:avLst>
              <a:gd name="adj" fmla="val 3636"/>
            </a:avLst>
          </a:prstGeom>
          <a:solidFill>
            <a:srgbClr val="FFFFFF"/>
          </a:solidFill>
          <a:ln w="9525">
            <a:solidFill>
              <a:srgbClr val="E5E7F0"/>
            </a:solidFill>
            <a:prstDash val="solid"/>
          </a:ln>
        </p:spPr>
      </p:sp>
      <p:sp>
        <p:nvSpPr>
          <p:cNvPr id="12" name="Shape 10"/>
          <p:cNvSpPr/>
          <p:nvPr/>
        </p:nvSpPr>
        <p:spPr>
          <a:xfrm>
            <a:off x="4322978" y="3108960"/>
            <a:ext cx="3545738" cy="73152"/>
          </a:xfrm>
          <a:prstGeom prst="rect">
            <a:avLst/>
          </a:prstGeom>
          <a:solidFill>
            <a:srgbClr val="3548D0"/>
          </a:solidFill>
          <a:ln/>
        </p:spPr>
      </p:sp>
      <p:sp>
        <p:nvSpPr>
          <p:cNvPr id="13" name="Shape 11"/>
          <p:cNvSpPr/>
          <p:nvPr/>
        </p:nvSpPr>
        <p:spPr>
          <a:xfrm>
            <a:off x="4643018" y="3474720"/>
            <a:ext cx="457200" cy="457200"/>
          </a:xfrm>
          <a:prstGeom prst="ellipse">
            <a:avLst/>
          </a:prstGeom>
          <a:solidFill>
            <a:srgbClr val="3548D0"/>
          </a:solidFill>
          <a:ln/>
        </p:spPr>
      </p:sp>
      <p:sp>
        <p:nvSpPr>
          <p:cNvPr id="14" name="Text 12"/>
          <p:cNvSpPr/>
          <p:nvPr/>
        </p:nvSpPr>
        <p:spPr>
          <a:xfrm>
            <a:off x="4643018"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5" name="Text 13"/>
          <p:cNvSpPr/>
          <p:nvPr/>
        </p:nvSpPr>
        <p:spPr>
          <a:xfrm>
            <a:off x="4643018"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50 creators</a:t>
            </a:r>
            <a:endParaRPr lang="en-US" sz="1800" dirty="0"/>
          </a:p>
        </p:txBody>
      </p:sp>
      <p:sp>
        <p:nvSpPr>
          <p:cNvPr id="16" name="Text 14"/>
          <p:cNvSpPr/>
          <p:nvPr/>
        </p:nvSpPr>
        <p:spPr>
          <a:xfrm>
            <a:off x="4643018"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Painful. You build a spreadsheet, then ignore half the rows. Quality drops.</a:t>
            </a:r>
            <a:endParaRPr lang="en-US" sz="1300" dirty="0"/>
          </a:p>
        </p:txBody>
      </p:sp>
      <p:sp>
        <p:nvSpPr>
          <p:cNvPr id="17" name="Shape 15"/>
          <p:cNvSpPr/>
          <p:nvPr/>
        </p:nvSpPr>
        <p:spPr>
          <a:xfrm>
            <a:off x="8097317" y="3108960"/>
            <a:ext cx="3545738" cy="3017520"/>
          </a:xfrm>
          <a:prstGeom prst="roundRect">
            <a:avLst>
              <a:gd name="adj" fmla="val 3636"/>
            </a:avLst>
          </a:prstGeom>
          <a:solidFill>
            <a:srgbClr val="FFFFFF"/>
          </a:solidFill>
          <a:ln w="9525">
            <a:solidFill>
              <a:srgbClr val="E5E7F0"/>
            </a:solidFill>
            <a:prstDash val="solid"/>
          </a:ln>
        </p:spPr>
      </p:sp>
      <p:sp>
        <p:nvSpPr>
          <p:cNvPr id="18" name="Shape 16"/>
          <p:cNvSpPr/>
          <p:nvPr/>
        </p:nvSpPr>
        <p:spPr>
          <a:xfrm>
            <a:off x="8097317" y="3108960"/>
            <a:ext cx="3545738" cy="73152"/>
          </a:xfrm>
          <a:prstGeom prst="rect">
            <a:avLst/>
          </a:prstGeom>
          <a:solidFill>
            <a:srgbClr val="1A6FBE"/>
          </a:solidFill>
          <a:ln/>
        </p:spPr>
      </p:sp>
      <p:sp>
        <p:nvSpPr>
          <p:cNvPr id="19" name="Shape 17"/>
          <p:cNvSpPr/>
          <p:nvPr/>
        </p:nvSpPr>
        <p:spPr>
          <a:xfrm>
            <a:off x="8417357" y="3474720"/>
            <a:ext cx="457200" cy="457200"/>
          </a:xfrm>
          <a:prstGeom prst="ellipse">
            <a:avLst/>
          </a:prstGeom>
          <a:solidFill>
            <a:srgbClr val="1A6FBE"/>
          </a:solidFill>
          <a:ln/>
        </p:spPr>
      </p:sp>
      <p:sp>
        <p:nvSpPr>
          <p:cNvPr id="20" name="Text 18"/>
          <p:cNvSpPr/>
          <p:nvPr/>
        </p:nvSpPr>
        <p:spPr>
          <a:xfrm>
            <a:off x="8417357"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9"/>
          <p:cNvSpPr/>
          <p:nvPr/>
        </p:nvSpPr>
        <p:spPr>
          <a:xfrm>
            <a:off x="8417357"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200 creators</a:t>
            </a:r>
            <a:endParaRPr lang="en-US" sz="1800" dirty="0"/>
          </a:p>
        </p:txBody>
      </p:sp>
      <p:sp>
        <p:nvSpPr>
          <p:cNvPr id="22" name="Text 20"/>
          <p:cNvSpPr/>
          <p:nvPr/>
        </p:nvSpPr>
        <p:spPr>
          <a:xfrm>
            <a:off x="8417357"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Breakdown. You hire a contractor or you skip the campaign entirely.</a:t>
            </a:r>
            <a:endParaRPr lang="en-US" sz="1300" dirty="0"/>
          </a:p>
        </p:txBody>
      </p:sp>
      <p:sp>
        <p:nvSpPr>
          <p:cNvPr id="23" name="Shape 21"/>
          <p:cNvSpPr/>
          <p:nvPr/>
        </p:nvSpPr>
        <p:spPr>
          <a:xfrm>
            <a:off x="548640" y="502920"/>
            <a:ext cx="292608" cy="292608"/>
          </a:xfrm>
          <a:prstGeom prst="roundRect">
            <a:avLst>
              <a:gd name="adj" fmla="val 25000"/>
            </a:avLst>
          </a:prstGeom>
          <a:solidFill>
            <a:srgbClr val="5028C2"/>
          </a:solidFill>
          <a:ln/>
        </p:spPr>
      </p:sp>
      <p:sp>
        <p:nvSpPr>
          <p:cNvPr id="24" name="Shape 22"/>
          <p:cNvSpPr/>
          <p:nvPr/>
        </p:nvSpPr>
        <p:spPr>
          <a:xfrm>
            <a:off x="548640" y="502920"/>
            <a:ext cx="292608" cy="292608"/>
          </a:xfrm>
          <a:prstGeom prst="roundRect">
            <a:avLst>
              <a:gd name="adj" fmla="val 25000"/>
            </a:avLst>
          </a:prstGeom>
          <a:solidFill>
            <a:srgbClr val="1A6FBE">
              <a:alpha val="50000"/>
            </a:srgbClr>
          </a:solidFill>
          <a:ln/>
        </p:spPr>
      </p:sp>
      <p:sp>
        <p:nvSpPr>
          <p:cNvPr id="25" name="Text 23"/>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6" name="Text 24"/>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7" name="Text 25"/>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03 · Pain at scale  ·  vC</a:t>
            </a:r>
            <a:endParaRPr lang="en-US" sz="900" dirty="0"/>
          </a:p>
        </p:txBody>
      </p:sp>
      <p:sp>
        <p:nvSpPr>
          <p:cNvPr id="28" name="Text 26"/>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29" name="Text 27"/>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017 / 126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320040" cy="116300"/>
          </a:xfrm>
          <a:prstGeom prst="rect">
            <a:avLst/>
          </a:prstGeom>
          <a:solidFill>
            <a:srgbClr val="5028C2"/>
          </a:solidFill>
          <a:ln/>
        </p:spPr>
      </p:sp>
      <p:sp>
        <p:nvSpPr>
          <p:cNvPr id="3" name="Shape 1"/>
          <p:cNvSpPr/>
          <p:nvPr/>
        </p:nvSpPr>
        <p:spPr>
          <a:xfrm>
            <a:off x="0" y="107156"/>
            <a:ext cx="320040" cy="116300"/>
          </a:xfrm>
          <a:prstGeom prst="rect">
            <a:avLst/>
          </a:prstGeom>
          <a:solidFill>
            <a:srgbClr val="4F29C2"/>
          </a:solidFill>
          <a:ln/>
        </p:spPr>
      </p:sp>
      <p:sp>
        <p:nvSpPr>
          <p:cNvPr id="4" name="Shape 2"/>
          <p:cNvSpPr/>
          <p:nvPr/>
        </p:nvSpPr>
        <p:spPr>
          <a:xfrm>
            <a:off x="0" y="214313"/>
            <a:ext cx="320040" cy="116300"/>
          </a:xfrm>
          <a:prstGeom prst="rect">
            <a:avLst/>
          </a:prstGeom>
          <a:solidFill>
            <a:srgbClr val="4E2AC3"/>
          </a:solidFill>
          <a:ln/>
        </p:spPr>
      </p:sp>
      <p:sp>
        <p:nvSpPr>
          <p:cNvPr id="5" name="Shape 3"/>
          <p:cNvSpPr/>
          <p:nvPr/>
        </p:nvSpPr>
        <p:spPr>
          <a:xfrm>
            <a:off x="0" y="321469"/>
            <a:ext cx="320040" cy="116300"/>
          </a:xfrm>
          <a:prstGeom prst="rect">
            <a:avLst/>
          </a:prstGeom>
          <a:solidFill>
            <a:srgbClr val="4D2BC3"/>
          </a:solidFill>
          <a:ln/>
        </p:spPr>
      </p:sp>
      <p:sp>
        <p:nvSpPr>
          <p:cNvPr id="6" name="Shape 4"/>
          <p:cNvSpPr/>
          <p:nvPr/>
        </p:nvSpPr>
        <p:spPr>
          <a:xfrm>
            <a:off x="0" y="428625"/>
            <a:ext cx="320040" cy="116300"/>
          </a:xfrm>
          <a:prstGeom prst="rect">
            <a:avLst/>
          </a:prstGeom>
          <a:solidFill>
            <a:srgbClr val="4D2CC4"/>
          </a:solidFill>
          <a:ln/>
        </p:spPr>
      </p:sp>
      <p:sp>
        <p:nvSpPr>
          <p:cNvPr id="7" name="Shape 5"/>
          <p:cNvSpPr/>
          <p:nvPr/>
        </p:nvSpPr>
        <p:spPr>
          <a:xfrm>
            <a:off x="0" y="535781"/>
            <a:ext cx="320040" cy="116300"/>
          </a:xfrm>
          <a:prstGeom prst="rect">
            <a:avLst/>
          </a:prstGeom>
          <a:solidFill>
            <a:srgbClr val="4C2DC4"/>
          </a:solidFill>
          <a:ln/>
        </p:spPr>
      </p:sp>
      <p:sp>
        <p:nvSpPr>
          <p:cNvPr id="8" name="Shape 6"/>
          <p:cNvSpPr/>
          <p:nvPr/>
        </p:nvSpPr>
        <p:spPr>
          <a:xfrm>
            <a:off x="0" y="642938"/>
            <a:ext cx="320040" cy="116300"/>
          </a:xfrm>
          <a:prstGeom prst="rect">
            <a:avLst/>
          </a:prstGeom>
          <a:solidFill>
            <a:srgbClr val="4B2EC5"/>
          </a:solidFill>
          <a:ln/>
        </p:spPr>
      </p:sp>
      <p:sp>
        <p:nvSpPr>
          <p:cNvPr id="9" name="Shape 7"/>
          <p:cNvSpPr/>
          <p:nvPr/>
        </p:nvSpPr>
        <p:spPr>
          <a:xfrm>
            <a:off x="0" y="750094"/>
            <a:ext cx="320040" cy="116300"/>
          </a:xfrm>
          <a:prstGeom prst="rect">
            <a:avLst/>
          </a:prstGeom>
          <a:solidFill>
            <a:srgbClr val="4A2FC5"/>
          </a:solidFill>
          <a:ln/>
        </p:spPr>
      </p:sp>
      <p:sp>
        <p:nvSpPr>
          <p:cNvPr id="10" name="Shape 8"/>
          <p:cNvSpPr/>
          <p:nvPr/>
        </p:nvSpPr>
        <p:spPr>
          <a:xfrm>
            <a:off x="0" y="857250"/>
            <a:ext cx="320040" cy="116300"/>
          </a:xfrm>
          <a:prstGeom prst="rect">
            <a:avLst/>
          </a:prstGeom>
          <a:solidFill>
            <a:srgbClr val="4930C6"/>
          </a:solidFill>
          <a:ln/>
        </p:spPr>
      </p:sp>
      <p:sp>
        <p:nvSpPr>
          <p:cNvPr id="11" name="Shape 9"/>
          <p:cNvSpPr/>
          <p:nvPr/>
        </p:nvSpPr>
        <p:spPr>
          <a:xfrm>
            <a:off x="0" y="964406"/>
            <a:ext cx="320040" cy="116300"/>
          </a:xfrm>
          <a:prstGeom prst="rect">
            <a:avLst/>
          </a:prstGeom>
          <a:solidFill>
            <a:srgbClr val="4831C6"/>
          </a:solidFill>
          <a:ln/>
        </p:spPr>
      </p:sp>
      <p:sp>
        <p:nvSpPr>
          <p:cNvPr id="12" name="Shape 10"/>
          <p:cNvSpPr/>
          <p:nvPr/>
        </p:nvSpPr>
        <p:spPr>
          <a:xfrm>
            <a:off x="0" y="1071563"/>
            <a:ext cx="320040" cy="116300"/>
          </a:xfrm>
          <a:prstGeom prst="rect">
            <a:avLst/>
          </a:prstGeom>
          <a:solidFill>
            <a:srgbClr val="4732C6"/>
          </a:solidFill>
          <a:ln/>
        </p:spPr>
      </p:sp>
      <p:sp>
        <p:nvSpPr>
          <p:cNvPr id="13" name="Shape 11"/>
          <p:cNvSpPr/>
          <p:nvPr/>
        </p:nvSpPr>
        <p:spPr>
          <a:xfrm>
            <a:off x="0" y="1178719"/>
            <a:ext cx="320040" cy="116300"/>
          </a:xfrm>
          <a:prstGeom prst="rect">
            <a:avLst/>
          </a:prstGeom>
          <a:solidFill>
            <a:srgbClr val="4733C7"/>
          </a:solidFill>
          <a:ln/>
        </p:spPr>
      </p:sp>
      <p:sp>
        <p:nvSpPr>
          <p:cNvPr id="14" name="Shape 12"/>
          <p:cNvSpPr/>
          <p:nvPr/>
        </p:nvSpPr>
        <p:spPr>
          <a:xfrm>
            <a:off x="0" y="1285875"/>
            <a:ext cx="320040" cy="116300"/>
          </a:xfrm>
          <a:prstGeom prst="rect">
            <a:avLst/>
          </a:prstGeom>
          <a:solidFill>
            <a:srgbClr val="4634C7"/>
          </a:solidFill>
          <a:ln/>
        </p:spPr>
      </p:sp>
      <p:sp>
        <p:nvSpPr>
          <p:cNvPr id="15" name="Shape 13"/>
          <p:cNvSpPr/>
          <p:nvPr/>
        </p:nvSpPr>
        <p:spPr>
          <a:xfrm>
            <a:off x="0" y="1393031"/>
            <a:ext cx="320040" cy="116300"/>
          </a:xfrm>
          <a:prstGeom prst="rect">
            <a:avLst/>
          </a:prstGeom>
          <a:solidFill>
            <a:srgbClr val="4535C8"/>
          </a:solidFill>
          <a:ln/>
        </p:spPr>
      </p:sp>
      <p:sp>
        <p:nvSpPr>
          <p:cNvPr id="16" name="Shape 14"/>
          <p:cNvSpPr/>
          <p:nvPr/>
        </p:nvSpPr>
        <p:spPr>
          <a:xfrm>
            <a:off x="0" y="1500188"/>
            <a:ext cx="320040" cy="116300"/>
          </a:xfrm>
          <a:prstGeom prst="rect">
            <a:avLst/>
          </a:prstGeom>
          <a:solidFill>
            <a:srgbClr val="4436C8"/>
          </a:solidFill>
          <a:ln/>
        </p:spPr>
      </p:sp>
      <p:sp>
        <p:nvSpPr>
          <p:cNvPr id="17" name="Shape 15"/>
          <p:cNvSpPr/>
          <p:nvPr/>
        </p:nvSpPr>
        <p:spPr>
          <a:xfrm>
            <a:off x="0" y="1607344"/>
            <a:ext cx="320040" cy="116300"/>
          </a:xfrm>
          <a:prstGeom prst="rect">
            <a:avLst/>
          </a:prstGeom>
          <a:solidFill>
            <a:srgbClr val="4337C9"/>
          </a:solidFill>
          <a:ln/>
        </p:spPr>
      </p:sp>
      <p:sp>
        <p:nvSpPr>
          <p:cNvPr id="18" name="Shape 16"/>
          <p:cNvSpPr/>
          <p:nvPr/>
        </p:nvSpPr>
        <p:spPr>
          <a:xfrm>
            <a:off x="0" y="1714500"/>
            <a:ext cx="320040" cy="116300"/>
          </a:xfrm>
          <a:prstGeom prst="rect">
            <a:avLst/>
          </a:prstGeom>
          <a:solidFill>
            <a:srgbClr val="4238C9"/>
          </a:solidFill>
          <a:ln/>
        </p:spPr>
      </p:sp>
      <p:sp>
        <p:nvSpPr>
          <p:cNvPr id="19" name="Shape 17"/>
          <p:cNvSpPr/>
          <p:nvPr/>
        </p:nvSpPr>
        <p:spPr>
          <a:xfrm>
            <a:off x="0" y="1821656"/>
            <a:ext cx="320040" cy="116300"/>
          </a:xfrm>
          <a:prstGeom prst="rect">
            <a:avLst/>
          </a:prstGeom>
          <a:solidFill>
            <a:srgbClr val="4139CA"/>
          </a:solidFill>
          <a:ln/>
        </p:spPr>
      </p:sp>
      <p:sp>
        <p:nvSpPr>
          <p:cNvPr id="20" name="Shape 18"/>
          <p:cNvSpPr/>
          <p:nvPr/>
        </p:nvSpPr>
        <p:spPr>
          <a:xfrm>
            <a:off x="0" y="1928813"/>
            <a:ext cx="320040" cy="116300"/>
          </a:xfrm>
          <a:prstGeom prst="rect">
            <a:avLst/>
          </a:prstGeom>
          <a:solidFill>
            <a:srgbClr val="413ACA"/>
          </a:solidFill>
          <a:ln/>
        </p:spPr>
      </p:sp>
      <p:sp>
        <p:nvSpPr>
          <p:cNvPr id="21" name="Shape 19"/>
          <p:cNvSpPr/>
          <p:nvPr/>
        </p:nvSpPr>
        <p:spPr>
          <a:xfrm>
            <a:off x="0" y="2035969"/>
            <a:ext cx="320040" cy="116300"/>
          </a:xfrm>
          <a:prstGeom prst="rect">
            <a:avLst/>
          </a:prstGeom>
          <a:solidFill>
            <a:srgbClr val="403BCA"/>
          </a:solidFill>
          <a:ln/>
        </p:spPr>
      </p:sp>
      <p:sp>
        <p:nvSpPr>
          <p:cNvPr id="22" name="Shape 20"/>
          <p:cNvSpPr/>
          <p:nvPr/>
        </p:nvSpPr>
        <p:spPr>
          <a:xfrm>
            <a:off x="0" y="2143125"/>
            <a:ext cx="320040" cy="116300"/>
          </a:xfrm>
          <a:prstGeom prst="rect">
            <a:avLst/>
          </a:prstGeom>
          <a:solidFill>
            <a:srgbClr val="3F3CCB"/>
          </a:solidFill>
          <a:ln/>
        </p:spPr>
      </p:sp>
      <p:sp>
        <p:nvSpPr>
          <p:cNvPr id="23" name="Shape 21"/>
          <p:cNvSpPr/>
          <p:nvPr/>
        </p:nvSpPr>
        <p:spPr>
          <a:xfrm>
            <a:off x="0" y="2250281"/>
            <a:ext cx="320040" cy="116300"/>
          </a:xfrm>
          <a:prstGeom prst="rect">
            <a:avLst/>
          </a:prstGeom>
          <a:solidFill>
            <a:srgbClr val="3E3DCB"/>
          </a:solidFill>
          <a:ln/>
        </p:spPr>
      </p:sp>
      <p:sp>
        <p:nvSpPr>
          <p:cNvPr id="24" name="Shape 22"/>
          <p:cNvSpPr/>
          <p:nvPr/>
        </p:nvSpPr>
        <p:spPr>
          <a:xfrm>
            <a:off x="0" y="2357438"/>
            <a:ext cx="320040" cy="116300"/>
          </a:xfrm>
          <a:prstGeom prst="rect">
            <a:avLst/>
          </a:prstGeom>
          <a:solidFill>
            <a:srgbClr val="3D3ECC"/>
          </a:solidFill>
          <a:ln/>
        </p:spPr>
      </p:sp>
      <p:sp>
        <p:nvSpPr>
          <p:cNvPr id="25" name="Shape 23"/>
          <p:cNvSpPr/>
          <p:nvPr/>
        </p:nvSpPr>
        <p:spPr>
          <a:xfrm>
            <a:off x="0" y="2464594"/>
            <a:ext cx="320040" cy="116300"/>
          </a:xfrm>
          <a:prstGeom prst="rect">
            <a:avLst/>
          </a:prstGeom>
          <a:solidFill>
            <a:srgbClr val="3C3FCC"/>
          </a:solidFill>
          <a:ln/>
        </p:spPr>
      </p:sp>
      <p:sp>
        <p:nvSpPr>
          <p:cNvPr id="26" name="Shape 24"/>
          <p:cNvSpPr/>
          <p:nvPr/>
        </p:nvSpPr>
        <p:spPr>
          <a:xfrm>
            <a:off x="0" y="2571750"/>
            <a:ext cx="320040" cy="116300"/>
          </a:xfrm>
          <a:prstGeom prst="rect">
            <a:avLst/>
          </a:prstGeom>
          <a:solidFill>
            <a:srgbClr val="3B40CD"/>
          </a:solidFill>
          <a:ln/>
        </p:spPr>
      </p:sp>
      <p:sp>
        <p:nvSpPr>
          <p:cNvPr id="27" name="Shape 25"/>
          <p:cNvSpPr/>
          <p:nvPr/>
        </p:nvSpPr>
        <p:spPr>
          <a:xfrm>
            <a:off x="0" y="2678906"/>
            <a:ext cx="320040" cy="116300"/>
          </a:xfrm>
          <a:prstGeom prst="rect">
            <a:avLst/>
          </a:prstGeom>
          <a:solidFill>
            <a:srgbClr val="3B41CD"/>
          </a:solidFill>
          <a:ln/>
        </p:spPr>
      </p:sp>
      <p:sp>
        <p:nvSpPr>
          <p:cNvPr id="28" name="Shape 26"/>
          <p:cNvSpPr/>
          <p:nvPr/>
        </p:nvSpPr>
        <p:spPr>
          <a:xfrm>
            <a:off x="0" y="2786063"/>
            <a:ext cx="320040" cy="116300"/>
          </a:xfrm>
          <a:prstGeom prst="rect">
            <a:avLst/>
          </a:prstGeom>
          <a:solidFill>
            <a:srgbClr val="3A42CE"/>
          </a:solidFill>
          <a:ln/>
        </p:spPr>
      </p:sp>
      <p:sp>
        <p:nvSpPr>
          <p:cNvPr id="29" name="Shape 27"/>
          <p:cNvSpPr/>
          <p:nvPr/>
        </p:nvSpPr>
        <p:spPr>
          <a:xfrm>
            <a:off x="0" y="2893219"/>
            <a:ext cx="320040" cy="116300"/>
          </a:xfrm>
          <a:prstGeom prst="rect">
            <a:avLst/>
          </a:prstGeom>
          <a:solidFill>
            <a:srgbClr val="3943CE"/>
          </a:solidFill>
          <a:ln/>
        </p:spPr>
      </p:sp>
      <p:sp>
        <p:nvSpPr>
          <p:cNvPr id="30" name="Shape 28"/>
          <p:cNvSpPr/>
          <p:nvPr/>
        </p:nvSpPr>
        <p:spPr>
          <a:xfrm>
            <a:off x="0" y="3000375"/>
            <a:ext cx="320040" cy="116300"/>
          </a:xfrm>
          <a:prstGeom prst="rect">
            <a:avLst/>
          </a:prstGeom>
          <a:solidFill>
            <a:srgbClr val="3844CE"/>
          </a:solidFill>
          <a:ln/>
        </p:spPr>
      </p:sp>
      <p:sp>
        <p:nvSpPr>
          <p:cNvPr id="31" name="Shape 29"/>
          <p:cNvSpPr/>
          <p:nvPr/>
        </p:nvSpPr>
        <p:spPr>
          <a:xfrm>
            <a:off x="0" y="3107531"/>
            <a:ext cx="320040" cy="116300"/>
          </a:xfrm>
          <a:prstGeom prst="rect">
            <a:avLst/>
          </a:prstGeom>
          <a:solidFill>
            <a:srgbClr val="3745CF"/>
          </a:solidFill>
          <a:ln/>
        </p:spPr>
      </p:sp>
      <p:sp>
        <p:nvSpPr>
          <p:cNvPr id="32" name="Shape 30"/>
          <p:cNvSpPr/>
          <p:nvPr/>
        </p:nvSpPr>
        <p:spPr>
          <a:xfrm>
            <a:off x="0" y="3214688"/>
            <a:ext cx="320040" cy="116300"/>
          </a:xfrm>
          <a:prstGeom prst="rect">
            <a:avLst/>
          </a:prstGeom>
          <a:solidFill>
            <a:srgbClr val="3646CF"/>
          </a:solidFill>
          <a:ln/>
        </p:spPr>
      </p:sp>
      <p:sp>
        <p:nvSpPr>
          <p:cNvPr id="33" name="Shape 31"/>
          <p:cNvSpPr/>
          <p:nvPr/>
        </p:nvSpPr>
        <p:spPr>
          <a:xfrm>
            <a:off x="0" y="3321844"/>
            <a:ext cx="320040" cy="116300"/>
          </a:xfrm>
          <a:prstGeom prst="rect">
            <a:avLst/>
          </a:prstGeom>
          <a:solidFill>
            <a:srgbClr val="3547D0"/>
          </a:solidFill>
          <a:ln/>
        </p:spPr>
      </p:sp>
      <p:sp>
        <p:nvSpPr>
          <p:cNvPr id="34" name="Shape 32"/>
          <p:cNvSpPr/>
          <p:nvPr/>
        </p:nvSpPr>
        <p:spPr>
          <a:xfrm>
            <a:off x="0" y="3429000"/>
            <a:ext cx="320040" cy="116300"/>
          </a:xfrm>
          <a:prstGeom prst="rect">
            <a:avLst/>
          </a:prstGeom>
          <a:solidFill>
            <a:srgbClr val="3549D0"/>
          </a:solidFill>
          <a:ln/>
        </p:spPr>
      </p:sp>
      <p:sp>
        <p:nvSpPr>
          <p:cNvPr id="35" name="Shape 33"/>
          <p:cNvSpPr/>
          <p:nvPr/>
        </p:nvSpPr>
        <p:spPr>
          <a:xfrm>
            <a:off x="0" y="3536156"/>
            <a:ext cx="320040" cy="116300"/>
          </a:xfrm>
          <a:prstGeom prst="rect">
            <a:avLst/>
          </a:prstGeom>
          <a:solidFill>
            <a:srgbClr val="344ACF"/>
          </a:solidFill>
          <a:ln/>
        </p:spPr>
      </p:sp>
      <p:sp>
        <p:nvSpPr>
          <p:cNvPr id="36" name="Shape 34"/>
          <p:cNvSpPr/>
          <p:nvPr/>
        </p:nvSpPr>
        <p:spPr>
          <a:xfrm>
            <a:off x="0" y="3643313"/>
            <a:ext cx="320040" cy="116300"/>
          </a:xfrm>
          <a:prstGeom prst="rect">
            <a:avLst/>
          </a:prstGeom>
          <a:solidFill>
            <a:srgbClr val="334BCF"/>
          </a:solidFill>
          <a:ln/>
        </p:spPr>
      </p:sp>
      <p:sp>
        <p:nvSpPr>
          <p:cNvPr id="37" name="Shape 35"/>
          <p:cNvSpPr/>
          <p:nvPr/>
        </p:nvSpPr>
        <p:spPr>
          <a:xfrm>
            <a:off x="0" y="3750469"/>
            <a:ext cx="320040" cy="116300"/>
          </a:xfrm>
          <a:prstGeom prst="rect">
            <a:avLst/>
          </a:prstGeom>
          <a:solidFill>
            <a:srgbClr val="324CCE"/>
          </a:solidFill>
          <a:ln/>
        </p:spPr>
      </p:sp>
      <p:sp>
        <p:nvSpPr>
          <p:cNvPr id="38" name="Shape 36"/>
          <p:cNvSpPr/>
          <p:nvPr/>
        </p:nvSpPr>
        <p:spPr>
          <a:xfrm>
            <a:off x="0" y="3857625"/>
            <a:ext cx="320040" cy="116300"/>
          </a:xfrm>
          <a:prstGeom prst="rect">
            <a:avLst/>
          </a:prstGeom>
          <a:solidFill>
            <a:srgbClr val="314ECD"/>
          </a:solidFill>
          <a:ln/>
        </p:spPr>
      </p:sp>
      <p:sp>
        <p:nvSpPr>
          <p:cNvPr id="39" name="Shape 37"/>
          <p:cNvSpPr/>
          <p:nvPr/>
        </p:nvSpPr>
        <p:spPr>
          <a:xfrm>
            <a:off x="0" y="3964781"/>
            <a:ext cx="320040" cy="116300"/>
          </a:xfrm>
          <a:prstGeom prst="rect">
            <a:avLst/>
          </a:prstGeom>
          <a:solidFill>
            <a:srgbClr val="304FCD"/>
          </a:solidFill>
          <a:ln/>
        </p:spPr>
      </p:sp>
      <p:sp>
        <p:nvSpPr>
          <p:cNvPr id="40" name="Shape 38"/>
          <p:cNvSpPr/>
          <p:nvPr/>
        </p:nvSpPr>
        <p:spPr>
          <a:xfrm>
            <a:off x="0" y="4071938"/>
            <a:ext cx="320040" cy="116300"/>
          </a:xfrm>
          <a:prstGeom prst="rect">
            <a:avLst/>
          </a:prstGeom>
          <a:solidFill>
            <a:srgbClr val="2F50CC"/>
          </a:solidFill>
          <a:ln/>
        </p:spPr>
      </p:sp>
      <p:sp>
        <p:nvSpPr>
          <p:cNvPr id="41" name="Shape 39"/>
          <p:cNvSpPr/>
          <p:nvPr/>
        </p:nvSpPr>
        <p:spPr>
          <a:xfrm>
            <a:off x="0" y="4179094"/>
            <a:ext cx="320040" cy="116300"/>
          </a:xfrm>
          <a:prstGeom prst="rect">
            <a:avLst/>
          </a:prstGeom>
          <a:solidFill>
            <a:srgbClr val="2F51CC"/>
          </a:solidFill>
          <a:ln/>
        </p:spPr>
      </p:sp>
      <p:sp>
        <p:nvSpPr>
          <p:cNvPr id="42" name="Shape 40"/>
          <p:cNvSpPr/>
          <p:nvPr/>
        </p:nvSpPr>
        <p:spPr>
          <a:xfrm>
            <a:off x="0" y="4286250"/>
            <a:ext cx="320040" cy="116300"/>
          </a:xfrm>
          <a:prstGeom prst="rect">
            <a:avLst/>
          </a:prstGeom>
          <a:solidFill>
            <a:srgbClr val="2E53CB"/>
          </a:solidFill>
          <a:ln/>
        </p:spPr>
      </p:sp>
      <p:sp>
        <p:nvSpPr>
          <p:cNvPr id="43" name="Shape 41"/>
          <p:cNvSpPr/>
          <p:nvPr/>
        </p:nvSpPr>
        <p:spPr>
          <a:xfrm>
            <a:off x="0" y="4393406"/>
            <a:ext cx="320040" cy="116300"/>
          </a:xfrm>
          <a:prstGeom prst="rect">
            <a:avLst/>
          </a:prstGeom>
          <a:solidFill>
            <a:srgbClr val="2D54CB"/>
          </a:solidFill>
          <a:ln/>
        </p:spPr>
      </p:sp>
      <p:sp>
        <p:nvSpPr>
          <p:cNvPr id="44" name="Shape 42"/>
          <p:cNvSpPr/>
          <p:nvPr/>
        </p:nvSpPr>
        <p:spPr>
          <a:xfrm>
            <a:off x="0" y="4500563"/>
            <a:ext cx="320040" cy="116300"/>
          </a:xfrm>
          <a:prstGeom prst="rect">
            <a:avLst/>
          </a:prstGeom>
          <a:solidFill>
            <a:srgbClr val="2C55CA"/>
          </a:solidFill>
          <a:ln/>
        </p:spPr>
      </p:sp>
      <p:sp>
        <p:nvSpPr>
          <p:cNvPr id="45" name="Shape 43"/>
          <p:cNvSpPr/>
          <p:nvPr/>
        </p:nvSpPr>
        <p:spPr>
          <a:xfrm>
            <a:off x="0" y="4607719"/>
            <a:ext cx="320040" cy="116300"/>
          </a:xfrm>
          <a:prstGeom prst="rect">
            <a:avLst/>
          </a:prstGeom>
          <a:solidFill>
            <a:srgbClr val="2B56C9"/>
          </a:solidFill>
          <a:ln/>
        </p:spPr>
      </p:sp>
      <p:sp>
        <p:nvSpPr>
          <p:cNvPr id="46" name="Shape 44"/>
          <p:cNvSpPr/>
          <p:nvPr/>
        </p:nvSpPr>
        <p:spPr>
          <a:xfrm>
            <a:off x="0" y="4714875"/>
            <a:ext cx="320040" cy="116300"/>
          </a:xfrm>
          <a:prstGeom prst="rect">
            <a:avLst/>
          </a:prstGeom>
          <a:solidFill>
            <a:srgbClr val="2A57C9"/>
          </a:solidFill>
          <a:ln/>
        </p:spPr>
      </p:sp>
      <p:sp>
        <p:nvSpPr>
          <p:cNvPr id="47" name="Shape 45"/>
          <p:cNvSpPr/>
          <p:nvPr/>
        </p:nvSpPr>
        <p:spPr>
          <a:xfrm>
            <a:off x="0" y="4822031"/>
            <a:ext cx="320040" cy="116300"/>
          </a:xfrm>
          <a:prstGeom prst="rect">
            <a:avLst/>
          </a:prstGeom>
          <a:solidFill>
            <a:srgbClr val="2959C8"/>
          </a:solidFill>
          <a:ln/>
        </p:spPr>
      </p:sp>
      <p:sp>
        <p:nvSpPr>
          <p:cNvPr id="48" name="Shape 46"/>
          <p:cNvSpPr/>
          <p:nvPr/>
        </p:nvSpPr>
        <p:spPr>
          <a:xfrm>
            <a:off x="0" y="4929188"/>
            <a:ext cx="320040" cy="116300"/>
          </a:xfrm>
          <a:prstGeom prst="rect">
            <a:avLst/>
          </a:prstGeom>
          <a:solidFill>
            <a:srgbClr val="295AC8"/>
          </a:solidFill>
          <a:ln/>
        </p:spPr>
      </p:sp>
      <p:sp>
        <p:nvSpPr>
          <p:cNvPr id="49" name="Shape 47"/>
          <p:cNvSpPr/>
          <p:nvPr/>
        </p:nvSpPr>
        <p:spPr>
          <a:xfrm>
            <a:off x="0" y="5036344"/>
            <a:ext cx="320040" cy="116300"/>
          </a:xfrm>
          <a:prstGeom prst="rect">
            <a:avLst/>
          </a:prstGeom>
          <a:solidFill>
            <a:srgbClr val="285BC7"/>
          </a:solidFill>
          <a:ln/>
        </p:spPr>
      </p:sp>
      <p:sp>
        <p:nvSpPr>
          <p:cNvPr id="50" name="Shape 48"/>
          <p:cNvSpPr/>
          <p:nvPr/>
        </p:nvSpPr>
        <p:spPr>
          <a:xfrm>
            <a:off x="0" y="5143500"/>
            <a:ext cx="320040" cy="116300"/>
          </a:xfrm>
          <a:prstGeom prst="rect">
            <a:avLst/>
          </a:prstGeom>
          <a:solidFill>
            <a:srgbClr val="275CC7"/>
          </a:solidFill>
          <a:ln/>
        </p:spPr>
      </p:sp>
      <p:sp>
        <p:nvSpPr>
          <p:cNvPr id="51" name="Shape 49"/>
          <p:cNvSpPr/>
          <p:nvPr/>
        </p:nvSpPr>
        <p:spPr>
          <a:xfrm>
            <a:off x="0" y="5250656"/>
            <a:ext cx="320040" cy="116300"/>
          </a:xfrm>
          <a:prstGeom prst="rect">
            <a:avLst/>
          </a:prstGeom>
          <a:solidFill>
            <a:srgbClr val="265EC6"/>
          </a:solidFill>
          <a:ln/>
        </p:spPr>
      </p:sp>
      <p:sp>
        <p:nvSpPr>
          <p:cNvPr id="52" name="Shape 50"/>
          <p:cNvSpPr/>
          <p:nvPr/>
        </p:nvSpPr>
        <p:spPr>
          <a:xfrm>
            <a:off x="0" y="5357813"/>
            <a:ext cx="320040" cy="116300"/>
          </a:xfrm>
          <a:prstGeom prst="rect">
            <a:avLst/>
          </a:prstGeom>
          <a:solidFill>
            <a:srgbClr val="255FC5"/>
          </a:solidFill>
          <a:ln/>
        </p:spPr>
      </p:sp>
      <p:sp>
        <p:nvSpPr>
          <p:cNvPr id="53" name="Shape 51"/>
          <p:cNvSpPr/>
          <p:nvPr/>
        </p:nvSpPr>
        <p:spPr>
          <a:xfrm>
            <a:off x="0" y="5464969"/>
            <a:ext cx="320040" cy="116300"/>
          </a:xfrm>
          <a:prstGeom prst="rect">
            <a:avLst/>
          </a:prstGeom>
          <a:solidFill>
            <a:srgbClr val="2460C5"/>
          </a:solidFill>
          <a:ln/>
        </p:spPr>
      </p:sp>
      <p:sp>
        <p:nvSpPr>
          <p:cNvPr id="54" name="Shape 52"/>
          <p:cNvSpPr/>
          <p:nvPr/>
        </p:nvSpPr>
        <p:spPr>
          <a:xfrm>
            <a:off x="0" y="5572125"/>
            <a:ext cx="320040" cy="116300"/>
          </a:xfrm>
          <a:prstGeom prst="rect">
            <a:avLst/>
          </a:prstGeom>
          <a:solidFill>
            <a:srgbClr val="2361C4"/>
          </a:solidFill>
          <a:ln/>
        </p:spPr>
      </p:sp>
      <p:sp>
        <p:nvSpPr>
          <p:cNvPr id="55" name="Shape 53"/>
          <p:cNvSpPr/>
          <p:nvPr/>
        </p:nvSpPr>
        <p:spPr>
          <a:xfrm>
            <a:off x="0" y="5679281"/>
            <a:ext cx="320040" cy="116300"/>
          </a:xfrm>
          <a:prstGeom prst="rect">
            <a:avLst/>
          </a:prstGeom>
          <a:solidFill>
            <a:srgbClr val="2363C4"/>
          </a:solidFill>
          <a:ln/>
        </p:spPr>
      </p:sp>
      <p:sp>
        <p:nvSpPr>
          <p:cNvPr id="56" name="Shape 54"/>
          <p:cNvSpPr/>
          <p:nvPr/>
        </p:nvSpPr>
        <p:spPr>
          <a:xfrm>
            <a:off x="0" y="5786438"/>
            <a:ext cx="320040" cy="116300"/>
          </a:xfrm>
          <a:prstGeom prst="rect">
            <a:avLst/>
          </a:prstGeom>
          <a:solidFill>
            <a:srgbClr val="2264C3"/>
          </a:solidFill>
          <a:ln/>
        </p:spPr>
      </p:sp>
      <p:sp>
        <p:nvSpPr>
          <p:cNvPr id="57" name="Shape 55"/>
          <p:cNvSpPr/>
          <p:nvPr/>
        </p:nvSpPr>
        <p:spPr>
          <a:xfrm>
            <a:off x="0" y="5893594"/>
            <a:ext cx="320040" cy="116300"/>
          </a:xfrm>
          <a:prstGeom prst="rect">
            <a:avLst/>
          </a:prstGeom>
          <a:solidFill>
            <a:srgbClr val="2165C3"/>
          </a:solidFill>
          <a:ln/>
        </p:spPr>
      </p:sp>
      <p:sp>
        <p:nvSpPr>
          <p:cNvPr id="58" name="Shape 56"/>
          <p:cNvSpPr/>
          <p:nvPr/>
        </p:nvSpPr>
        <p:spPr>
          <a:xfrm>
            <a:off x="0" y="6000750"/>
            <a:ext cx="320040" cy="116300"/>
          </a:xfrm>
          <a:prstGeom prst="rect">
            <a:avLst/>
          </a:prstGeom>
          <a:solidFill>
            <a:srgbClr val="2066C2"/>
          </a:solidFill>
          <a:ln/>
        </p:spPr>
      </p:sp>
      <p:sp>
        <p:nvSpPr>
          <p:cNvPr id="59" name="Shape 57"/>
          <p:cNvSpPr/>
          <p:nvPr/>
        </p:nvSpPr>
        <p:spPr>
          <a:xfrm>
            <a:off x="0" y="6107906"/>
            <a:ext cx="320040" cy="116300"/>
          </a:xfrm>
          <a:prstGeom prst="rect">
            <a:avLst/>
          </a:prstGeom>
          <a:solidFill>
            <a:srgbClr val="1F68C1"/>
          </a:solidFill>
          <a:ln/>
        </p:spPr>
      </p:sp>
      <p:sp>
        <p:nvSpPr>
          <p:cNvPr id="60" name="Shape 58"/>
          <p:cNvSpPr/>
          <p:nvPr/>
        </p:nvSpPr>
        <p:spPr>
          <a:xfrm>
            <a:off x="0" y="6215063"/>
            <a:ext cx="320040" cy="116300"/>
          </a:xfrm>
          <a:prstGeom prst="rect">
            <a:avLst/>
          </a:prstGeom>
          <a:solidFill>
            <a:srgbClr val="1E69C1"/>
          </a:solidFill>
          <a:ln/>
        </p:spPr>
      </p:sp>
      <p:sp>
        <p:nvSpPr>
          <p:cNvPr id="61" name="Shape 59"/>
          <p:cNvSpPr/>
          <p:nvPr/>
        </p:nvSpPr>
        <p:spPr>
          <a:xfrm>
            <a:off x="0" y="6322219"/>
            <a:ext cx="320040" cy="116300"/>
          </a:xfrm>
          <a:prstGeom prst="rect">
            <a:avLst/>
          </a:prstGeom>
          <a:solidFill>
            <a:srgbClr val="1D6AC0"/>
          </a:solidFill>
          <a:ln/>
        </p:spPr>
      </p:sp>
      <p:sp>
        <p:nvSpPr>
          <p:cNvPr id="62" name="Shape 60"/>
          <p:cNvSpPr/>
          <p:nvPr/>
        </p:nvSpPr>
        <p:spPr>
          <a:xfrm>
            <a:off x="0" y="6429375"/>
            <a:ext cx="320040" cy="116300"/>
          </a:xfrm>
          <a:prstGeom prst="rect">
            <a:avLst/>
          </a:prstGeom>
          <a:solidFill>
            <a:srgbClr val="1D6BC0"/>
          </a:solidFill>
          <a:ln/>
        </p:spPr>
      </p:sp>
      <p:sp>
        <p:nvSpPr>
          <p:cNvPr id="63" name="Shape 61"/>
          <p:cNvSpPr/>
          <p:nvPr/>
        </p:nvSpPr>
        <p:spPr>
          <a:xfrm>
            <a:off x="0" y="6536531"/>
            <a:ext cx="320040" cy="116300"/>
          </a:xfrm>
          <a:prstGeom prst="rect">
            <a:avLst/>
          </a:prstGeom>
          <a:solidFill>
            <a:srgbClr val="1C6DBF"/>
          </a:solidFill>
          <a:ln/>
        </p:spPr>
      </p:sp>
      <p:sp>
        <p:nvSpPr>
          <p:cNvPr id="64" name="Shape 62"/>
          <p:cNvSpPr/>
          <p:nvPr/>
        </p:nvSpPr>
        <p:spPr>
          <a:xfrm>
            <a:off x="0" y="6643688"/>
            <a:ext cx="320040" cy="116300"/>
          </a:xfrm>
          <a:prstGeom prst="rect">
            <a:avLst/>
          </a:prstGeom>
          <a:solidFill>
            <a:srgbClr val="1B6EBF"/>
          </a:solidFill>
          <a:ln/>
        </p:spPr>
      </p:sp>
      <p:sp>
        <p:nvSpPr>
          <p:cNvPr id="65" name="Shape 63"/>
          <p:cNvSpPr/>
          <p:nvPr/>
        </p:nvSpPr>
        <p:spPr>
          <a:xfrm>
            <a:off x="0" y="6750844"/>
            <a:ext cx="320040" cy="116300"/>
          </a:xfrm>
          <a:prstGeom prst="rect">
            <a:avLst/>
          </a:prstGeom>
          <a:solidFill>
            <a:srgbClr val="1A6FBE"/>
          </a:solidFill>
          <a:ln/>
        </p:spPr>
      </p:sp>
      <p:sp>
        <p:nvSpPr>
          <p:cNvPr id="66" name="Text 64"/>
          <p:cNvSpPr/>
          <p:nvPr/>
        </p:nvSpPr>
        <p:spPr>
          <a:xfrm>
            <a:off x="73152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PER QUARTER</a:t>
            </a:r>
            <a:endParaRPr lang="en-US" sz="1100" dirty="0"/>
          </a:p>
        </p:txBody>
      </p:sp>
      <p:sp>
        <p:nvSpPr>
          <p:cNvPr id="67" name="Text 65"/>
          <p:cNvSpPr/>
          <p:nvPr/>
        </p:nvSpPr>
        <p:spPr>
          <a:xfrm>
            <a:off x="548640" y="1554480"/>
            <a:ext cx="11094415" cy="3200400"/>
          </a:xfrm>
          <a:prstGeom prst="rect">
            <a:avLst/>
          </a:prstGeom>
          <a:noFill/>
          <a:ln/>
        </p:spPr>
        <p:txBody>
          <a:bodyPr wrap="square" lIns="0" tIns="0" rIns="0" bIns="0" rtlCol="0" anchor="ctr"/>
          <a:lstStyle/>
          <a:p>
            <a:pPr algn="l" indent="0" marL="0">
              <a:buNone/>
            </a:pPr>
            <a:r>
              <a:rPr lang="en-US" sz="22000" b="1" spc="-600" kern="0" dirty="0">
                <a:solidFill>
                  <a:srgbClr val="5028C2"/>
                </a:solidFill>
                <a:latin typeface="Calibri" pitchFamily="34" charset="0"/>
                <a:ea typeface="Calibri" pitchFamily="34" charset="-122"/>
                <a:cs typeface="Calibri" pitchFamily="34" charset="-120"/>
              </a:rPr>
              <a:t>100h</a:t>
            </a:r>
            <a:endParaRPr lang="en-US" sz="22000" dirty="0"/>
          </a:p>
        </p:txBody>
      </p:sp>
      <p:sp>
        <p:nvSpPr>
          <p:cNvPr id="68" name="Text 66"/>
          <p:cNvSpPr/>
          <p:nvPr/>
        </p:nvSpPr>
        <p:spPr>
          <a:xfrm>
            <a:off x="548640" y="4983480"/>
            <a:ext cx="11094415" cy="457200"/>
          </a:xfrm>
          <a:prstGeom prst="rect">
            <a:avLst/>
          </a:prstGeom>
          <a:noFill/>
          <a:ln/>
        </p:spPr>
        <p:txBody>
          <a:bodyPr wrap="square" lIns="0" tIns="0" rIns="0" bIns="0" rtlCol="0" anchor="t"/>
          <a:lstStyle/>
          <a:p>
            <a:pPr algn="l" indent="0" marL="0">
              <a:buNone/>
            </a:pPr>
            <a:r>
              <a:rPr lang="en-US" sz="2200" b="1" dirty="0">
                <a:solidFill>
                  <a:srgbClr val="0F1733"/>
                </a:solidFill>
                <a:latin typeface="Calibri" pitchFamily="34" charset="0"/>
                <a:ea typeface="Calibri" pitchFamily="34" charset="-122"/>
                <a:cs typeface="Calibri" pitchFamily="34" charset="-120"/>
              </a:rPr>
              <a:t>One person, full-time, for two and a half weeks.</a:t>
            </a:r>
            <a:endParaRPr lang="en-US" sz="2200" dirty="0"/>
          </a:p>
        </p:txBody>
      </p:sp>
      <p:sp>
        <p:nvSpPr>
          <p:cNvPr id="69" name="Text 67"/>
          <p:cNvSpPr/>
          <p:nvPr/>
        </p:nvSpPr>
        <p:spPr>
          <a:xfrm>
            <a:off x="548640" y="5486400"/>
            <a:ext cx="10637215" cy="640080"/>
          </a:xfrm>
          <a:prstGeom prst="rect">
            <a:avLst/>
          </a:prstGeom>
          <a:noFill/>
          <a:ln/>
        </p:spPr>
        <p:txBody>
          <a:bodyPr wrap="square" lIns="0" tIns="0" rIns="0" bIns="0" rtlCol="0" anchor="t"/>
          <a:lstStyle/>
          <a:p>
            <a:pPr algn="l" indent="0" marL="0">
              <a:buNone/>
            </a:pPr>
            <a:r>
              <a:rPr lang="en-US" sz="1300" dirty="0">
                <a:solidFill>
                  <a:srgbClr val="2A3358"/>
                </a:solidFill>
                <a:latin typeface="Calibri" pitchFamily="34" charset="0"/>
                <a:ea typeface="Calibri" pitchFamily="34" charset="-122"/>
                <a:cs typeface="Calibri" pitchFamily="34" charset="-120"/>
              </a:rPr>
              <a:t>That's the operational cost of running real creator outreach manually — without tooling. And it's the cost before you even count reply rates, missed follow-ups, or learning curves on tools that don't exist.</a:t>
            </a:r>
            <a:endParaRPr lang="en-US" sz="13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03 · Pain at scale  ·  vD</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018 / 126</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1ECFF"/>
        </a:solidFill>
      </p:bgPr>
    </p:bg>
    <p:spTree>
      <p:nvGrpSpPr>
        <p:cNvPr id="1" name=""/>
        <p:cNvGrpSpPr/>
        <p:nvPr/>
      </p:nvGrpSpPr>
      <p:grpSpPr>
        <a:xfrm>
          <a:off x="0" y="0"/>
          <a:ext cx="0" cy="0"/>
          <a:chOff x="0" y="0"/>
          <a:chExt cx="0" cy="0"/>
        </a:xfrm>
      </p:grpSpPr>
      <p:sp>
        <p:nvSpPr>
          <p:cNvPr id="2" name="Text 0"/>
          <p:cNvSpPr/>
          <p:nvPr/>
        </p:nvSpPr>
        <p:spPr>
          <a:xfrm>
            <a:off x="457200" y="365760"/>
            <a:ext cx="2286000" cy="2286000"/>
          </a:xfrm>
          <a:prstGeom prst="rect">
            <a:avLst/>
          </a:prstGeom>
          <a:noFill/>
          <a:ln/>
        </p:spPr>
        <p:txBody>
          <a:bodyPr wrap="square" lIns="0" tIns="0" rIns="0" bIns="0" rtlCol="0" anchor="t"/>
          <a:lstStyle/>
          <a:p>
            <a:pPr algn="l" indent="0" marL="0">
              <a:buNone/>
            </a:pPr>
            <a:r>
              <a:rPr lang="en-US" sz="24000" b="1" dirty="0">
                <a:solidFill>
                  <a:srgbClr val="5028C2"/>
                </a:solidFill>
                <a:latin typeface="Georgia" pitchFamily="34" charset="0"/>
                <a:ea typeface="Georgia" pitchFamily="34" charset="-122"/>
                <a:cs typeface="Georgia" pitchFamily="34" charset="-120"/>
              </a:rPr>
              <a:t>"</a:t>
            </a:r>
            <a:endParaRPr lang="en-US" sz="24000" dirty="0"/>
          </a:p>
        </p:txBody>
      </p:sp>
      <p:sp>
        <p:nvSpPr>
          <p:cNvPr id="3" name="Text 1"/>
          <p:cNvSpPr/>
          <p:nvPr/>
        </p:nvSpPr>
        <p:spPr>
          <a:xfrm>
            <a:off x="1920240" y="1737360"/>
            <a:ext cx="9722815" cy="3108960"/>
          </a:xfrm>
          <a:prstGeom prst="rect">
            <a:avLst/>
          </a:prstGeom>
          <a:noFill/>
          <a:ln/>
        </p:spPr>
        <p:txBody>
          <a:bodyPr wrap="square" lIns="0" tIns="0" rIns="0" bIns="0" rtlCol="0" anchor="t"/>
          <a:lstStyle/>
          <a:p>
            <a:pPr algn="l" indent="0" marL="0">
              <a:buNone/>
            </a:pPr>
            <a:r>
              <a:rPr lang="en-US" sz="2800" i="1" dirty="0">
                <a:solidFill>
                  <a:srgbClr val="0F1733"/>
                </a:solidFill>
                <a:latin typeface="Georgia" pitchFamily="34" charset="0"/>
                <a:ea typeface="Georgia" pitchFamily="34" charset="-122"/>
                <a:cs typeface="Georgia" pitchFamily="34" charset="-120"/>
              </a:rPr>
              <a:t>We tried scaling creator outreach with a junior hire. By month two she was a glorified human spreadsheet. We weren't getting better — we were just running out of time slower.</a:t>
            </a:r>
            <a:endParaRPr lang="en-US" sz="2800" dirty="0"/>
          </a:p>
        </p:txBody>
      </p:sp>
      <p:sp>
        <p:nvSpPr>
          <p:cNvPr id="4" name="Shape 2"/>
          <p:cNvSpPr/>
          <p:nvPr/>
        </p:nvSpPr>
        <p:spPr>
          <a:xfrm>
            <a:off x="1920240" y="5120640"/>
            <a:ext cx="640080" cy="0"/>
          </a:xfrm>
          <a:prstGeom prst="line">
            <a:avLst/>
          </a:prstGeom>
          <a:noFill/>
          <a:ln w="25400">
            <a:solidFill>
              <a:srgbClr val="5028C2"/>
            </a:solidFill>
            <a:prstDash val="solid"/>
          </a:ln>
        </p:spPr>
      </p:sp>
      <p:sp>
        <p:nvSpPr>
          <p:cNvPr id="5" name="Text 3"/>
          <p:cNvSpPr/>
          <p:nvPr/>
        </p:nvSpPr>
        <p:spPr>
          <a:xfrm>
            <a:off x="1920240" y="5212080"/>
            <a:ext cx="9722815" cy="457200"/>
          </a:xfrm>
          <a:prstGeom prst="rect">
            <a:avLst/>
          </a:prstGeom>
          <a:noFill/>
          <a:ln/>
        </p:spPr>
        <p:txBody>
          <a:bodyPr wrap="square" lIns="0" tIns="0" rIns="0" bIns="0" rtlCol="0" anchor="t"/>
          <a:lstStyle/>
          <a:p>
            <a:pPr algn="l" indent="0" marL="0">
              <a:buNone/>
            </a:pPr>
            <a:r>
              <a:rPr lang="en-US" sz="1400" b="1" spc="100" kern="0" dirty="0">
                <a:solidFill>
                  <a:srgbClr val="3D1E96"/>
                </a:solidFill>
                <a:latin typeface="Calibri" pitchFamily="34" charset="0"/>
                <a:ea typeface="Calibri" pitchFamily="34" charset="-122"/>
                <a:cs typeface="Calibri" pitchFamily="34" charset="-120"/>
              </a:rPr>
              <a:t>B2B SaaS founder, 50-person team</a:t>
            </a:r>
            <a:endParaRPr lang="en-US" sz="1400" dirty="0"/>
          </a:p>
        </p:txBody>
      </p:sp>
      <p:sp>
        <p:nvSpPr>
          <p:cNvPr id="6" name="Text 4"/>
          <p:cNvSpPr/>
          <p:nvPr/>
        </p:nvSpPr>
        <p:spPr>
          <a:xfrm>
            <a:off x="1920240" y="5532120"/>
            <a:ext cx="9722815" cy="365760"/>
          </a:xfrm>
          <a:prstGeom prst="rect">
            <a:avLst/>
          </a:prstGeom>
          <a:noFill/>
          <a:ln/>
        </p:spPr>
        <p:txBody>
          <a:bodyPr wrap="square" lIns="0" tIns="0" rIns="0" bIns="0" rtlCol="0" anchor="t"/>
          <a:lstStyle/>
          <a:p>
            <a:pPr algn="l" indent="0" marL="0">
              <a:buNone/>
            </a:pPr>
            <a:r>
              <a:rPr lang="en-US" sz="1200" dirty="0">
                <a:solidFill>
                  <a:srgbClr val="6B7493"/>
                </a:solidFill>
                <a:latin typeface="Calibri" pitchFamily="34" charset="0"/>
                <a:ea typeface="Calibri" pitchFamily="34" charset="-122"/>
                <a:cs typeface="Calibri" pitchFamily="34" charset="-120"/>
              </a:rPr>
              <a:t>Customer discovery interview, March 2026</a:t>
            </a:r>
            <a:endParaRPr lang="en-US" sz="1200" dirty="0"/>
          </a:p>
        </p:txBody>
      </p:sp>
      <p:sp>
        <p:nvSpPr>
          <p:cNvPr id="7" name="Shape 5"/>
          <p:cNvSpPr/>
          <p:nvPr/>
        </p:nvSpPr>
        <p:spPr>
          <a:xfrm>
            <a:off x="548640" y="502920"/>
            <a:ext cx="292608" cy="292608"/>
          </a:xfrm>
          <a:prstGeom prst="roundRect">
            <a:avLst>
              <a:gd name="adj" fmla="val 25000"/>
            </a:avLst>
          </a:prstGeom>
          <a:solidFill>
            <a:srgbClr val="5028C2"/>
          </a:solidFill>
          <a:ln/>
        </p:spPr>
      </p:sp>
      <p:sp>
        <p:nvSpPr>
          <p:cNvPr id="8" name="Shape 6"/>
          <p:cNvSpPr/>
          <p:nvPr/>
        </p:nvSpPr>
        <p:spPr>
          <a:xfrm>
            <a:off x="548640" y="502920"/>
            <a:ext cx="292608" cy="292608"/>
          </a:xfrm>
          <a:prstGeom prst="roundRect">
            <a:avLst>
              <a:gd name="adj" fmla="val 25000"/>
            </a:avLst>
          </a:prstGeom>
          <a:solidFill>
            <a:srgbClr val="1A6FBE">
              <a:alpha val="50000"/>
            </a:srgbClr>
          </a:solidFill>
          <a:ln/>
        </p:spPr>
      </p:sp>
      <p:sp>
        <p:nvSpPr>
          <p:cNvPr id="9" name="Text 7"/>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0" name="Text 8"/>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1" name="Text 9"/>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03 · Pain at scale  ·  vE</a:t>
            </a:r>
            <a:endParaRPr lang="en-US" sz="900" dirty="0"/>
          </a:p>
        </p:txBody>
      </p:sp>
      <p:sp>
        <p:nvSpPr>
          <p:cNvPr id="12" name="Text 10"/>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3" name="Text 11"/>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019 / 126</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a:off x="3047924" y="0"/>
            <a:ext cx="9143771" cy="6858000"/>
          </a:xfrm>
          <a:prstGeom prst="rtTriangle">
            <a:avLst/>
          </a:prstGeom>
          <a:solidFill>
            <a:srgbClr val="5028C2"/>
          </a:solidFill>
          <a:ln/>
        </p:spPr>
      </p:sp>
      <p:sp>
        <p:nvSpPr>
          <p:cNvPr id="3" name="Shape 1"/>
          <p:cNvSpPr/>
          <p:nvPr/>
        </p:nvSpPr>
        <p:spPr>
          <a:xfrm flipH="1">
            <a:off x="4876678" y="1028700"/>
            <a:ext cx="7924602" cy="6515100"/>
          </a:xfrm>
          <a:prstGeom prst="rtTriangle">
            <a:avLst/>
          </a:prstGeom>
          <a:solidFill>
            <a:srgbClr val="1A6FBE">
              <a:alpha val="75000"/>
            </a:srgbClr>
          </a:solidFill>
          <a:ln/>
        </p:spPr>
      </p:sp>
      <p:sp>
        <p:nvSpPr>
          <p:cNvPr id="4" name="Text 2"/>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THE SCALING WALL</a:t>
            </a:r>
            <a:endParaRPr lang="en-US" sz="1100" dirty="0"/>
          </a:p>
        </p:txBody>
      </p:sp>
      <p:sp>
        <p:nvSpPr>
          <p:cNvPr id="5" name="Text 3"/>
          <p:cNvSpPr/>
          <p:nvPr/>
        </p:nvSpPr>
        <p:spPr>
          <a:xfrm>
            <a:off x="548640" y="1417320"/>
            <a:ext cx="6095848" cy="2286000"/>
          </a:xfrm>
          <a:prstGeom prst="rect">
            <a:avLst/>
          </a:prstGeom>
          <a:noFill/>
          <a:ln/>
        </p:spPr>
        <p:txBody>
          <a:bodyPr wrap="square" lIns="0" tIns="0" rIns="0" bIns="0" rtlCol="0" anchor="t"/>
          <a:lstStyle/>
          <a:p>
            <a:pPr algn="l" indent="0" marL="0">
              <a:buNone/>
            </a:pPr>
            <a:r>
              <a:rPr lang="en-US" sz="4000" b="1" spc="-50" kern="0" dirty="0">
                <a:solidFill>
                  <a:srgbClr val="0F1733"/>
                </a:solidFill>
                <a:latin typeface="Calibri" pitchFamily="34" charset="0"/>
                <a:ea typeface="Calibri" pitchFamily="34" charset="-122"/>
                <a:cs typeface="Calibri" pitchFamily="34" charset="-120"/>
              </a:rPr>
              <a:t>Past fifty creators, manual outreach silently breaks.</a:t>
            </a:r>
            <a:endParaRPr lang="en-US" sz="4000" dirty="0"/>
          </a:p>
        </p:txBody>
      </p:sp>
      <p:sp>
        <p:nvSpPr>
          <p:cNvPr id="6" name="Text 4"/>
          <p:cNvSpPr/>
          <p:nvPr/>
        </p:nvSpPr>
        <p:spPr>
          <a:xfrm>
            <a:off x="548640" y="3840480"/>
            <a:ext cx="5821528" cy="2103120"/>
          </a:xfrm>
          <a:prstGeom prst="rect">
            <a:avLst/>
          </a:prstGeom>
          <a:noFill/>
          <a:ln/>
        </p:spPr>
        <p:txBody>
          <a:bodyPr wrap="square" lIns="0" tIns="0" rIns="0" bIns="0" rtlCol="0" anchor="t"/>
          <a:lstStyle/>
          <a:p>
            <a:pPr algn="l" indent="0" marL="0">
              <a:spcAft>
                <a:spcPts val="600"/>
              </a:spcAft>
              <a:buNone/>
            </a:pPr>
            <a:r>
              <a:rPr lang="en-US" sz="1400" dirty="0">
                <a:solidFill>
                  <a:srgbClr val="2A3358"/>
                </a:solidFill>
                <a:latin typeface="Calibri" pitchFamily="34" charset="0"/>
                <a:ea typeface="Calibri" pitchFamily="34" charset="-122"/>
                <a:cs typeface="Calibri" pitchFamily="34" charset="-120"/>
              </a:rPr>
              <a:t>Quality drops as volume rises. Spreadsheets stop being a source of truth. Reply rates fall. No one notices until a quarter ends and the pipeline is empty. The work felt real — the output never showed up.</a:t>
            </a:r>
            <a:endParaRPr lang="en-US" sz="1400" dirty="0"/>
          </a:p>
        </p:txBody>
      </p:sp>
      <p:sp>
        <p:nvSpPr>
          <p:cNvPr id="7" name="Text 5"/>
          <p:cNvSpPr/>
          <p:nvPr/>
        </p:nvSpPr>
        <p:spPr>
          <a:xfrm>
            <a:off x="6705432" y="2926080"/>
            <a:ext cx="4876678" cy="3291840"/>
          </a:xfrm>
          <a:prstGeom prst="rect">
            <a:avLst/>
          </a:prstGeom>
          <a:noFill/>
          <a:ln/>
        </p:spPr>
        <p:txBody>
          <a:bodyPr wrap="square" lIns="0" tIns="0" rIns="0" bIns="0" rtlCol="0" anchor="ctr"/>
          <a:lstStyle/>
          <a:p>
            <a:pPr algn="r" indent="0" marL="0">
              <a:buNone/>
            </a:pPr>
            <a:r>
              <a:rPr lang="en-US" sz="3200" b="1" spc="-50" kern="0" dirty="0">
                <a:solidFill>
                  <a:srgbClr val="FFFFFF"/>
                </a:solidFill>
                <a:latin typeface="Calibri" pitchFamily="34" charset="0"/>
                <a:ea typeface="Calibri" pitchFamily="34" charset="-122"/>
                <a:cs typeface="Calibri" pitchFamily="34" charset="-120"/>
              </a:rPr>
              <a:t>Fifty</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creators.</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The wall</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everyone</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hits.</a:t>
            </a:r>
            <a:endParaRPr lang="en-US" sz="3200" dirty="0"/>
          </a:p>
        </p:txBody>
      </p:sp>
      <p:sp>
        <p:nvSpPr>
          <p:cNvPr id="8" name="Shape 6"/>
          <p:cNvSpPr/>
          <p:nvPr/>
        </p:nvSpPr>
        <p:spPr>
          <a:xfrm>
            <a:off x="548640" y="502920"/>
            <a:ext cx="292608" cy="292608"/>
          </a:xfrm>
          <a:prstGeom prst="roundRect">
            <a:avLst>
              <a:gd name="adj" fmla="val 25000"/>
            </a:avLst>
          </a:prstGeom>
          <a:solidFill>
            <a:srgbClr val="5028C2"/>
          </a:solidFill>
          <a:ln/>
        </p:spPr>
      </p:sp>
      <p:sp>
        <p:nvSpPr>
          <p:cNvPr id="9" name="Shape 7"/>
          <p:cNvSpPr/>
          <p:nvPr/>
        </p:nvSpPr>
        <p:spPr>
          <a:xfrm>
            <a:off x="548640" y="502920"/>
            <a:ext cx="292608" cy="292608"/>
          </a:xfrm>
          <a:prstGeom prst="roundRect">
            <a:avLst>
              <a:gd name="adj" fmla="val 25000"/>
            </a:avLst>
          </a:prstGeom>
          <a:solidFill>
            <a:srgbClr val="1A6FBE">
              <a:alpha val="50000"/>
            </a:srgbClr>
          </a:solidFill>
          <a:ln/>
        </p:spPr>
      </p:sp>
      <p:sp>
        <p:nvSpPr>
          <p:cNvPr id="10" name="Text 8"/>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1" name="Text 9"/>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2" name="Text 10"/>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03 · Pain at scale  ·  vF</a:t>
            </a:r>
            <a:endParaRPr lang="en-US" sz="900" dirty="0"/>
          </a:p>
        </p:txBody>
      </p:sp>
      <p:sp>
        <p:nvSpPr>
          <p:cNvPr id="13" name="Text 11"/>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4" name="Text 12"/>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020 / 126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CFAF6"/>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AT SCALE</a:t>
            </a:r>
            <a:endParaRPr lang="en-US" sz="1100" dirty="0"/>
          </a:p>
        </p:txBody>
      </p:sp>
      <p:sp>
        <p:nvSpPr>
          <p:cNvPr id="3" name="Text 1"/>
          <p:cNvSpPr/>
          <p:nvPr/>
        </p:nvSpPr>
        <p:spPr>
          <a:xfrm>
            <a:off x="548640" y="1417320"/>
            <a:ext cx="11094415" cy="914400"/>
          </a:xfrm>
          <a:prstGeom prst="rect">
            <a:avLst/>
          </a:prstGeom>
          <a:noFill/>
          <a:ln/>
        </p:spPr>
        <p:txBody>
          <a:bodyPr wrap="square" lIns="0" tIns="0" rIns="0" bIns="0" rtlCol="0" anchor="t"/>
          <a:lstStyle/>
          <a:p>
            <a:pPr algn="l" indent="0" marL="0">
              <a:buNone/>
            </a:pPr>
            <a:r>
              <a:rPr lang="en-US" sz="3400" b="1" spc="-50" kern="0" dirty="0">
                <a:solidFill>
                  <a:srgbClr val="0F1733"/>
                </a:solidFill>
                <a:latin typeface="Calibri" pitchFamily="34" charset="0"/>
                <a:ea typeface="Calibri" pitchFamily="34" charset="-122"/>
                <a:cs typeface="Calibri" pitchFamily="34" charset="-120"/>
              </a:rPr>
              <a:t>The hidden quarterly cost of the workflow no one designed.</a:t>
            </a:r>
            <a:endParaRPr lang="en-US" sz="3400" dirty="0"/>
          </a:p>
        </p:txBody>
      </p:sp>
      <p:sp>
        <p:nvSpPr>
          <p:cNvPr id="4" name="Shape 2"/>
          <p:cNvSpPr/>
          <p:nvPr/>
        </p:nvSpPr>
        <p:spPr>
          <a:xfrm>
            <a:off x="548640" y="2514600"/>
            <a:ext cx="5464912" cy="67008"/>
          </a:xfrm>
          <a:prstGeom prst="rect">
            <a:avLst/>
          </a:prstGeom>
          <a:solidFill>
            <a:srgbClr val="5028C2"/>
          </a:solidFill>
          <a:ln/>
        </p:spPr>
      </p:sp>
      <p:sp>
        <p:nvSpPr>
          <p:cNvPr id="5" name="Shape 3"/>
          <p:cNvSpPr/>
          <p:nvPr/>
        </p:nvSpPr>
        <p:spPr>
          <a:xfrm>
            <a:off x="548640" y="2572464"/>
            <a:ext cx="5464912" cy="67008"/>
          </a:xfrm>
          <a:prstGeom prst="rect">
            <a:avLst/>
          </a:prstGeom>
          <a:solidFill>
            <a:srgbClr val="4F29C2"/>
          </a:solidFill>
          <a:ln/>
        </p:spPr>
      </p:sp>
      <p:sp>
        <p:nvSpPr>
          <p:cNvPr id="6" name="Shape 4"/>
          <p:cNvSpPr/>
          <p:nvPr/>
        </p:nvSpPr>
        <p:spPr>
          <a:xfrm>
            <a:off x="548640" y="2630329"/>
            <a:ext cx="5464912" cy="67008"/>
          </a:xfrm>
          <a:prstGeom prst="rect">
            <a:avLst/>
          </a:prstGeom>
          <a:solidFill>
            <a:srgbClr val="4E2AC3"/>
          </a:solidFill>
          <a:ln/>
        </p:spPr>
      </p:sp>
      <p:sp>
        <p:nvSpPr>
          <p:cNvPr id="7" name="Shape 5"/>
          <p:cNvSpPr/>
          <p:nvPr/>
        </p:nvSpPr>
        <p:spPr>
          <a:xfrm>
            <a:off x="548640" y="2688193"/>
            <a:ext cx="5464912" cy="67008"/>
          </a:xfrm>
          <a:prstGeom prst="rect">
            <a:avLst/>
          </a:prstGeom>
          <a:solidFill>
            <a:srgbClr val="4D2BC3"/>
          </a:solidFill>
          <a:ln/>
        </p:spPr>
      </p:sp>
      <p:sp>
        <p:nvSpPr>
          <p:cNvPr id="8" name="Shape 6"/>
          <p:cNvSpPr/>
          <p:nvPr/>
        </p:nvSpPr>
        <p:spPr>
          <a:xfrm>
            <a:off x="548640" y="2746058"/>
            <a:ext cx="5464912" cy="67008"/>
          </a:xfrm>
          <a:prstGeom prst="rect">
            <a:avLst/>
          </a:prstGeom>
          <a:solidFill>
            <a:srgbClr val="4D2CC4"/>
          </a:solidFill>
          <a:ln/>
        </p:spPr>
      </p:sp>
      <p:sp>
        <p:nvSpPr>
          <p:cNvPr id="9" name="Shape 7"/>
          <p:cNvSpPr/>
          <p:nvPr/>
        </p:nvSpPr>
        <p:spPr>
          <a:xfrm>
            <a:off x="548640" y="2803922"/>
            <a:ext cx="5464912" cy="67008"/>
          </a:xfrm>
          <a:prstGeom prst="rect">
            <a:avLst/>
          </a:prstGeom>
          <a:solidFill>
            <a:srgbClr val="4C2DC4"/>
          </a:solidFill>
          <a:ln/>
        </p:spPr>
      </p:sp>
      <p:sp>
        <p:nvSpPr>
          <p:cNvPr id="10" name="Shape 8"/>
          <p:cNvSpPr/>
          <p:nvPr/>
        </p:nvSpPr>
        <p:spPr>
          <a:xfrm>
            <a:off x="548640" y="2861786"/>
            <a:ext cx="5464912" cy="67008"/>
          </a:xfrm>
          <a:prstGeom prst="rect">
            <a:avLst/>
          </a:prstGeom>
          <a:solidFill>
            <a:srgbClr val="4B2EC5"/>
          </a:solidFill>
          <a:ln/>
        </p:spPr>
      </p:sp>
      <p:sp>
        <p:nvSpPr>
          <p:cNvPr id="11" name="Shape 9"/>
          <p:cNvSpPr/>
          <p:nvPr/>
        </p:nvSpPr>
        <p:spPr>
          <a:xfrm>
            <a:off x="548640" y="2919651"/>
            <a:ext cx="5464912" cy="67008"/>
          </a:xfrm>
          <a:prstGeom prst="rect">
            <a:avLst/>
          </a:prstGeom>
          <a:solidFill>
            <a:srgbClr val="4A2FC5"/>
          </a:solidFill>
          <a:ln/>
        </p:spPr>
      </p:sp>
      <p:sp>
        <p:nvSpPr>
          <p:cNvPr id="12" name="Shape 10"/>
          <p:cNvSpPr/>
          <p:nvPr/>
        </p:nvSpPr>
        <p:spPr>
          <a:xfrm>
            <a:off x="548640" y="2977515"/>
            <a:ext cx="5464912" cy="67008"/>
          </a:xfrm>
          <a:prstGeom prst="rect">
            <a:avLst/>
          </a:prstGeom>
          <a:solidFill>
            <a:srgbClr val="4930C6"/>
          </a:solidFill>
          <a:ln/>
        </p:spPr>
      </p:sp>
      <p:sp>
        <p:nvSpPr>
          <p:cNvPr id="13" name="Shape 11"/>
          <p:cNvSpPr/>
          <p:nvPr/>
        </p:nvSpPr>
        <p:spPr>
          <a:xfrm>
            <a:off x="548640" y="3035379"/>
            <a:ext cx="5464912" cy="67008"/>
          </a:xfrm>
          <a:prstGeom prst="rect">
            <a:avLst/>
          </a:prstGeom>
          <a:solidFill>
            <a:srgbClr val="4831C6"/>
          </a:solidFill>
          <a:ln/>
        </p:spPr>
      </p:sp>
      <p:sp>
        <p:nvSpPr>
          <p:cNvPr id="14" name="Shape 12"/>
          <p:cNvSpPr/>
          <p:nvPr/>
        </p:nvSpPr>
        <p:spPr>
          <a:xfrm>
            <a:off x="548640" y="3093244"/>
            <a:ext cx="5464912" cy="67008"/>
          </a:xfrm>
          <a:prstGeom prst="rect">
            <a:avLst/>
          </a:prstGeom>
          <a:solidFill>
            <a:srgbClr val="4732C6"/>
          </a:solidFill>
          <a:ln/>
        </p:spPr>
      </p:sp>
      <p:sp>
        <p:nvSpPr>
          <p:cNvPr id="15" name="Shape 13"/>
          <p:cNvSpPr/>
          <p:nvPr/>
        </p:nvSpPr>
        <p:spPr>
          <a:xfrm>
            <a:off x="548640" y="3151108"/>
            <a:ext cx="5464912" cy="67008"/>
          </a:xfrm>
          <a:prstGeom prst="rect">
            <a:avLst/>
          </a:prstGeom>
          <a:solidFill>
            <a:srgbClr val="4733C7"/>
          </a:solidFill>
          <a:ln/>
        </p:spPr>
      </p:sp>
      <p:sp>
        <p:nvSpPr>
          <p:cNvPr id="16" name="Shape 14"/>
          <p:cNvSpPr/>
          <p:nvPr/>
        </p:nvSpPr>
        <p:spPr>
          <a:xfrm>
            <a:off x="548640" y="3208973"/>
            <a:ext cx="5464912" cy="67008"/>
          </a:xfrm>
          <a:prstGeom prst="rect">
            <a:avLst/>
          </a:prstGeom>
          <a:solidFill>
            <a:srgbClr val="4634C7"/>
          </a:solidFill>
          <a:ln/>
        </p:spPr>
      </p:sp>
      <p:sp>
        <p:nvSpPr>
          <p:cNvPr id="17" name="Shape 15"/>
          <p:cNvSpPr/>
          <p:nvPr/>
        </p:nvSpPr>
        <p:spPr>
          <a:xfrm>
            <a:off x="548640" y="3266837"/>
            <a:ext cx="5464912" cy="67008"/>
          </a:xfrm>
          <a:prstGeom prst="rect">
            <a:avLst/>
          </a:prstGeom>
          <a:solidFill>
            <a:srgbClr val="4535C8"/>
          </a:solidFill>
          <a:ln/>
        </p:spPr>
      </p:sp>
      <p:sp>
        <p:nvSpPr>
          <p:cNvPr id="18" name="Shape 16"/>
          <p:cNvSpPr/>
          <p:nvPr/>
        </p:nvSpPr>
        <p:spPr>
          <a:xfrm>
            <a:off x="548640" y="3324701"/>
            <a:ext cx="5464912" cy="67008"/>
          </a:xfrm>
          <a:prstGeom prst="rect">
            <a:avLst/>
          </a:prstGeom>
          <a:solidFill>
            <a:srgbClr val="4436C8"/>
          </a:solidFill>
          <a:ln/>
        </p:spPr>
      </p:sp>
      <p:sp>
        <p:nvSpPr>
          <p:cNvPr id="19" name="Shape 17"/>
          <p:cNvSpPr/>
          <p:nvPr/>
        </p:nvSpPr>
        <p:spPr>
          <a:xfrm>
            <a:off x="548640" y="3382566"/>
            <a:ext cx="5464912" cy="67008"/>
          </a:xfrm>
          <a:prstGeom prst="rect">
            <a:avLst/>
          </a:prstGeom>
          <a:solidFill>
            <a:srgbClr val="4337C9"/>
          </a:solidFill>
          <a:ln/>
        </p:spPr>
      </p:sp>
      <p:sp>
        <p:nvSpPr>
          <p:cNvPr id="20" name="Shape 18"/>
          <p:cNvSpPr/>
          <p:nvPr/>
        </p:nvSpPr>
        <p:spPr>
          <a:xfrm>
            <a:off x="548640" y="3440430"/>
            <a:ext cx="5464912" cy="67008"/>
          </a:xfrm>
          <a:prstGeom prst="rect">
            <a:avLst/>
          </a:prstGeom>
          <a:solidFill>
            <a:srgbClr val="4238C9"/>
          </a:solidFill>
          <a:ln/>
        </p:spPr>
      </p:sp>
      <p:sp>
        <p:nvSpPr>
          <p:cNvPr id="21" name="Shape 19"/>
          <p:cNvSpPr/>
          <p:nvPr/>
        </p:nvSpPr>
        <p:spPr>
          <a:xfrm>
            <a:off x="548640" y="3498294"/>
            <a:ext cx="5464912" cy="67008"/>
          </a:xfrm>
          <a:prstGeom prst="rect">
            <a:avLst/>
          </a:prstGeom>
          <a:solidFill>
            <a:srgbClr val="4139CA"/>
          </a:solidFill>
          <a:ln/>
        </p:spPr>
      </p:sp>
      <p:sp>
        <p:nvSpPr>
          <p:cNvPr id="22" name="Shape 20"/>
          <p:cNvSpPr/>
          <p:nvPr/>
        </p:nvSpPr>
        <p:spPr>
          <a:xfrm>
            <a:off x="548640" y="3556159"/>
            <a:ext cx="5464912" cy="67008"/>
          </a:xfrm>
          <a:prstGeom prst="rect">
            <a:avLst/>
          </a:prstGeom>
          <a:solidFill>
            <a:srgbClr val="413ACA"/>
          </a:solidFill>
          <a:ln/>
        </p:spPr>
      </p:sp>
      <p:sp>
        <p:nvSpPr>
          <p:cNvPr id="23" name="Shape 21"/>
          <p:cNvSpPr/>
          <p:nvPr/>
        </p:nvSpPr>
        <p:spPr>
          <a:xfrm>
            <a:off x="548640" y="3614023"/>
            <a:ext cx="5464912" cy="67008"/>
          </a:xfrm>
          <a:prstGeom prst="rect">
            <a:avLst/>
          </a:prstGeom>
          <a:solidFill>
            <a:srgbClr val="403BCA"/>
          </a:solidFill>
          <a:ln/>
        </p:spPr>
      </p:sp>
      <p:sp>
        <p:nvSpPr>
          <p:cNvPr id="24" name="Shape 22"/>
          <p:cNvSpPr/>
          <p:nvPr/>
        </p:nvSpPr>
        <p:spPr>
          <a:xfrm>
            <a:off x="548640" y="3671888"/>
            <a:ext cx="5464912" cy="67008"/>
          </a:xfrm>
          <a:prstGeom prst="rect">
            <a:avLst/>
          </a:prstGeom>
          <a:solidFill>
            <a:srgbClr val="3F3CCB"/>
          </a:solidFill>
          <a:ln/>
        </p:spPr>
      </p:sp>
      <p:sp>
        <p:nvSpPr>
          <p:cNvPr id="25" name="Shape 23"/>
          <p:cNvSpPr/>
          <p:nvPr/>
        </p:nvSpPr>
        <p:spPr>
          <a:xfrm>
            <a:off x="548640" y="3729752"/>
            <a:ext cx="5464912" cy="67008"/>
          </a:xfrm>
          <a:prstGeom prst="rect">
            <a:avLst/>
          </a:prstGeom>
          <a:solidFill>
            <a:srgbClr val="3E3DCB"/>
          </a:solidFill>
          <a:ln/>
        </p:spPr>
      </p:sp>
      <p:sp>
        <p:nvSpPr>
          <p:cNvPr id="26" name="Shape 24"/>
          <p:cNvSpPr/>
          <p:nvPr/>
        </p:nvSpPr>
        <p:spPr>
          <a:xfrm>
            <a:off x="548640" y="3787616"/>
            <a:ext cx="5464912" cy="67008"/>
          </a:xfrm>
          <a:prstGeom prst="rect">
            <a:avLst/>
          </a:prstGeom>
          <a:solidFill>
            <a:srgbClr val="3D3ECC"/>
          </a:solidFill>
          <a:ln/>
        </p:spPr>
      </p:sp>
      <p:sp>
        <p:nvSpPr>
          <p:cNvPr id="27" name="Shape 25"/>
          <p:cNvSpPr/>
          <p:nvPr/>
        </p:nvSpPr>
        <p:spPr>
          <a:xfrm>
            <a:off x="548640" y="3845481"/>
            <a:ext cx="5464912" cy="67008"/>
          </a:xfrm>
          <a:prstGeom prst="rect">
            <a:avLst/>
          </a:prstGeom>
          <a:solidFill>
            <a:srgbClr val="3C3FCC"/>
          </a:solidFill>
          <a:ln/>
        </p:spPr>
      </p:sp>
      <p:sp>
        <p:nvSpPr>
          <p:cNvPr id="28" name="Shape 26"/>
          <p:cNvSpPr/>
          <p:nvPr/>
        </p:nvSpPr>
        <p:spPr>
          <a:xfrm>
            <a:off x="548640" y="3903345"/>
            <a:ext cx="5464912" cy="67008"/>
          </a:xfrm>
          <a:prstGeom prst="rect">
            <a:avLst/>
          </a:prstGeom>
          <a:solidFill>
            <a:srgbClr val="3B40CD"/>
          </a:solidFill>
          <a:ln/>
        </p:spPr>
      </p:sp>
      <p:sp>
        <p:nvSpPr>
          <p:cNvPr id="29" name="Shape 27"/>
          <p:cNvSpPr/>
          <p:nvPr/>
        </p:nvSpPr>
        <p:spPr>
          <a:xfrm>
            <a:off x="548640" y="3961209"/>
            <a:ext cx="5464912" cy="67008"/>
          </a:xfrm>
          <a:prstGeom prst="rect">
            <a:avLst/>
          </a:prstGeom>
          <a:solidFill>
            <a:srgbClr val="3B41CD"/>
          </a:solidFill>
          <a:ln/>
        </p:spPr>
      </p:sp>
      <p:sp>
        <p:nvSpPr>
          <p:cNvPr id="30" name="Shape 28"/>
          <p:cNvSpPr/>
          <p:nvPr/>
        </p:nvSpPr>
        <p:spPr>
          <a:xfrm>
            <a:off x="548640" y="4019074"/>
            <a:ext cx="5464912" cy="67008"/>
          </a:xfrm>
          <a:prstGeom prst="rect">
            <a:avLst/>
          </a:prstGeom>
          <a:solidFill>
            <a:srgbClr val="3A42CE"/>
          </a:solidFill>
          <a:ln/>
        </p:spPr>
      </p:sp>
      <p:sp>
        <p:nvSpPr>
          <p:cNvPr id="31" name="Shape 29"/>
          <p:cNvSpPr/>
          <p:nvPr/>
        </p:nvSpPr>
        <p:spPr>
          <a:xfrm>
            <a:off x="548640" y="4076938"/>
            <a:ext cx="5464912" cy="67008"/>
          </a:xfrm>
          <a:prstGeom prst="rect">
            <a:avLst/>
          </a:prstGeom>
          <a:solidFill>
            <a:srgbClr val="3943CE"/>
          </a:solidFill>
          <a:ln/>
        </p:spPr>
      </p:sp>
      <p:sp>
        <p:nvSpPr>
          <p:cNvPr id="32" name="Shape 30"/>
          <p:cNvSpPr/>
          <p:nvPr/>
        </p:nvSpPr>
        <p:spPr>
          <a:xfrm>
            <a:off x="548640" y="4134802"/>
            <a:ext cx="5464912" cy="67008"/>
          </a:xfrm>
          <a:prstGeom prst="rect">
            <a:avLst/>
          </a:prstGeom>
          <a:solidFill>
            <a:srgbClr val="3844CE"/>
          </a:solidFill>
          <a:ln/>
        </p:spPr>
      </p:sp>
      <p:sp>
        <p:nvSpPr>
          <p:cNvPr id="33" name="Shape 31"/>
          <p:cNvSpPr/>
          <p:nvPr/>
        </p:nvSpPr>
        <p:spPr>
          <a:xfrm>
            <a:off x="548640" y="4192667"/>
            <a:ext cx="5464912" cy="67008"/>
          </a:xfrm>
          <a:prstGeom prst="rect">
            <a:avLst/>
          </a:prstGeom>
          <a:solidFill>
            <a:srgbClr val="3745CF"/>
          </a:solidFill>
          <a:ln/>
        </p:spPr>
      </p:sp>
      <p:sp>
        <p:nvSpPr>
          <p:cNvPr id="34" name="Shape 32"/>
          <p:cNvSpPr/>
          <p:nvPr/>
        </p:nvSpPr>
        <p:spPr>
          <a:xfrm>
            <a:off x="548640" y="4250531"/>
            <a:ext cx="5464912" cy="67008"/>
          </a:xfrm>
          <a:prstGeom prst="rect">
            <a:avLst/>
          </a:prstGeom>
          <a:solidFill>
            <a:srgbClr val="3646CF"/>
          </a:solidFill>
          <a:ln/>
        </p:spPr>
      </p:sp>
      <p:sp>
        <p:nvSpPr>
          <p:cNvPr id="35" name="Shape 33"/>
          <p:cNvSpPr/>
          <p:nvPr/>
        </p:nvSpPr>
        <p:spPr>
          <a:xfrm>
            <a:off x="548640" y="4308396"/>
            <a:ext cx="5464912" cy="67008"/>
          </a:xfrm>
          <a:prstGeom prst="rect">
            <a:avLst/>
          </a:prstGeom>
          <a:solidFill>
            <a:srgbClr val="3547D0"/>
          </a:solidFill>
          <a:ln/>
        </p:spPr>
      </p:sp>
      <p:sp>
        <p:nvSpPr>
          <p:cNvPr id="36" name="Shape 34"/>
          <p:cNvSpPr/>
          <p:nvPr/>
        </p:nvSpPr>
        <p:spPr>
          <a:xfrm>
            <a:off x="548640" y="4366260"/>
            <a:ext cx="5464912" cy="67008"/>
          </a:xfrm>
          <a:prstGeom prst="rect">
            <a:avLst/>
          </a:prstGeom>
          <a:solidFill>
            <a:srgbClr val="3549D0"/>
          </a:solidFill>
          <a:ln/>
        </p:spPr>
      </p:sp>
      <p:sp>
        <p:nvSpPr>
          <p:cNvPr id="37" name="Shape 35"/>
          <p:cNvSpPr/>
          <p:nvPr/>
        </p:nvSpPr>
        <p:spPr>
          <a:xfrm>
            <a:off x="548640" y="4424124"/>
            <a:ext cx="5464912" cy="67008"/>
          </a:xfrm>
          <a:prstGeom prst="rect">
            <a:avLst/>
          </a:prstGeom>
          <a:solidFill>
            <a:srgbClr val="344ACF"/>
          </a:solidFill>
          <a:ln/>
        </p:spPr>
      </p:sp>
      <p:sp>
        <p:nvSpPr>
          <p:cNvPr id="38" name="Shape 36"/>
          <p:cNvSpPr/>
          <p:nvPr/>
        </p:nvSpPr>
        <p:spPr>
          <a:xfrm>
            <a:off x="548640" y="4481989"/>
            <a:ext cx="5464912" cy="67008"/>
          </a:xfrm>
          <a:prstGeom prst="rect">
            <a:avLst/>
          </a:prstGeom>
          <a:solidFill>
            <a:srgbClr val="334BCF"/>
          </a:solidFill>
          <a:ln/>
        </p:spPr>
      </p:sp>
      <p:sp>
        <p:nvSpPr>
          <p:cNvPr id="39" name="Shape 37"/>
          <p:cNvSpPr/>
          <p:nvPr/>
        </p:nvSpPr>
        <p:spPr>
          <a:xfrm>
            <a:off x="548640" y="4539853"/>
            <a:ext cx="5464912" cy="67008"/>
          </a:xfrm>
          <a:prstGeom prst="rect">
            <a:avLst/>
          </a:prstGeom>
          <a:solidFill>
            <a:srgbClr val="324CCE"/>
          </a:solidFill>
          <a:ln/>
        </p:spPr>
      </p:sp>
      <p:sp>
        <p:nvSpPr>
          <p:cNvPr id="40" name="Shape 38"/>
          <p:cNvSpPr/>
          <p:nvPr/>
        </p:nvSpPr>
        <p:spPr>
          <a:xfrm>
            <a:off x="548640" y="4597717"/>
            <a:ext cx="5464912" cy="67008"/>
          </a:xfrm>
          <a:prstGeom prst="rect">
            <a:avLst/>
          </a:prstGeom>
          <a:solidFill>
            <a:srgbClr val="314ECD"/>
          </a:solidFill>
          <a:ln/>
        </p:spPr>
      </p:sp>
      <p:sp>
        <p:nvSpPr>
          <p:cNvPr id="41" name="Shape 39"/>
          <p:cNvSpPr/>
          <p:nvPr/>
        </p:nvSpPr>
        <p:spPr>
          <a:xfrm>
            <a:off x="548640" y="4655582"/>
            <a:ext cx="5464912" cy="67008"/>
          </a:xfrm>
          <a:prstGeom prst="rect">
            <a:avLst/>
          </a:prstGeom>
          <a:solidFill>
            <a:srgbClr val="304FCD"/>
          </a:solidFill>
          <a:ln/>
        </p:spPr>
      </p:sp>
      <p:sp>
        <p:nvSpPr>
          <p:cNvPr id="42" name="Shape 40"/>
          <p:cNvSpPr/>
          <p:nvPr/>
        </p:nvSpPr>
        <p:spPr>
          <a:xfrm>
            <a:off x="548640" y="4713446"/>
            <a:ext cx="5464912" cy="67008"/>
          </a:xfrm>
          <a:prstGeom prst="rect">
            <a:avLst/>
          </a:prstGeom>
          <a:solidFill>
            <a:srgbClr val="2F50CC"/>
          </a:solidFill>
          <a:ln/>
        </p:spPr>
      </p:sp>
      <p:sp>
        <p:nvSpPr>
          <p:cNvPr id="43" name="Shape 41"/>
          <p:cNvSpPr/>
          <p:nvPr/>
        </p:nvSpPr>
        <p:spPr>
          <a:xfrm>
            <a:off x="548640" y="4771311"/>
            <a:ext cx="5464912" cy="67008"/>
          </a:xfrm>
          <a:prstGeom prst="rect">
            <a:avLst/>
          </a:prstGeom>
          <a:solidFill>
            <a:srgbClr val="2F51CC"/>
          </a:solidFill>
          <a:ln/>
        </p:spPr>
      </p:sp>
      <p:sp>
        <p:nvSpPr>
          <p:cNvPr id="44" name="Shape 42"/>
          <p:cNvSpPr/>
          <p:nvPr/>
        </p:nvSpPr>
        <p:spPr>
          <a:xfrm>
            <a:off x="548640" y="4829175"/>
            <a:ext cx="5464912" cy="67008"/>
          </a:xfrm>
          <a:prstGeom prst="rect">
            <a:avLst/>
          </a:prstGeom>
          <a:solidFill>
            <a:srgbClr val="2E53CB"/>
          </a:solidFill>
          <a:ln/>
        </p:spPr>
      </p:sp>
      <p:sp>
        <p:nvSpPr>
          <p:cNvPr id="45" name="Shape 43"/>
          <p:cNvSpPr/>
          <p:nvPr/>
        </p:nvSpPr>
        <p:spPr>
          <a:xfrm>
            <a:off x="548640" y="4887039"/>
            <a:ext cx="5464912" cy="67008"/>
          </a:xfrm>
          <a:prstGeom prst="rect">
            <a:avLst/>
          </a:prstGeom>
          <a:solidFill>
            <a:srgbClr val="2D54CB"/>
          </a:solidFill>
          <a:ln/>
        </p:spPr>
      </p:sp>
      <p:sp>
        <p:nvSpPr>
          <p:cNvPr id="46" name="Shape 44"/>
          <p:cNvSpPr/>
          <p:nvPr/>
        </p:nvSpPr>
        <p:spPr>
          <a:xfrm>
            <a:off x="548640" y="4944904"/>
            <a:ext cx="5464912" cy="67008"/>
          </a:xfrm>
          <a:prstGeom prst="rect">
            <a:avLst/>
          </a:prstGeom>
          <a:solidFill>
            <a:srgbClr val="2C55CA"/>
          </a:solidFill>
          <a:ln/>
        </p:spPr>
      </p:sp>
      <p:sp>
        <p:nvSpPr>
          <p:cNvPr id="47" name="Shape 45"/>
          <p:cNvSpPr/>
          <p:nvPr/>
        </p:nvSpPr>
        <p:spPr>
          <a:xfrm>
            <a:off x="548640" y="5002768"/>
            <a:ext cx="5464912" cy="67008"/>
          </a:xfrm>
          <a:prstGeom prst="rect">
            <a:avLst/>
          </a:prstGeom>
          <a:solidFill>
            <a:srgbClr val="2B56C9"/>
          </a:solidFill>
          <a:ln/>
        </p:spPr>
      </p:sp>
      <p:sp>
        <p:nvSpPr>
          <p:cNvPr id="48" name="Shape 46"/>
          <p:cNvSpPr/>
          <p:nvPr/>
        </p:nvSpPr>
        <p:spPr>
          <a:xfrm>
            <a:off x="548640" y="5060633"/>
            <a:ext cx="5464912" cy="67008"/>
          </a:xfrm>
          <a:prstGeom prst="rect">
            <a:avLst/>
          </a:prstGeom>
          <a:solidFill>
            <a:srgbClr val="2A57C9"/>
          </a:solidFill>
          <a:ln/>
        </p:spPr>
      </p:sp>
      <p:sp>
        <p:nvSpPr>
          <p:cNvPr id="49" name="Shape 47"/>
          <p:cNvSpPr/>
          <p:nvPr/>
        </p:nvSpPr>
        <p:spPr>
          <a:xfrm>
            <a:off x="548640" y="5118497"/>
            <a:ext cx="5464912" cy="67008"/>
          </a:xfrm>
          <a:prstGeom prst="rect">
            <a:avLst/>
          </a:prstGeom>
          <a:solidFill>
            <a:srgbClr val="2959C8"/>
          </a:solidFill>
          <a:ln/>
        </p:spPr>
      </p:sp>
      <p:sp>
        <p:nvSpPr>
          <p:cNvPr id="50" name="Shape 48"/>
          <p:cNvSpPr/>
          <p:nvPr/>
        </p:nvSpPr>
        <p:spPr>
          <a:xfrm>
            <a:off x="548640" y="5176361"/>
            <a:ext cx="5464912" cy="67008"/>
          </a:xfrm>
          <a:prstGeom prst="rect">
            <a:avLst/>
          </a:prstGeom>
          <a:solidFill>
            <a:srgbClr val="295AC8"/>
          </a:solidFill>
          <a:ln/>
        </p:spPr>
      </p:sp>
      <p:sp>
        <p:nvSpPr>
          <p:cNvPr id="51" name="Shape 49"/>
          <p:cNvSpPr/>
          <p:nvPr/>
        </p:nvSpPr>
        <p:spPr>
          <a:xfrm>
            <a:off x="548640" y="5234226"/>
            <a:ext cx="5464912" cy="67008"/>
          </a:xfrm>
          <a:prstGeom prst="rect">
            <a:avLst/>
          </a:prstGeom>
          <a:solidFill>
            <a:srgbClr val="285BC7"/>
          </a:solidFill>
          <a:ln/>
        </p:spPr>
      </p:sp>
      <p:sp>
        <p:nvSpPr>
          <p:cNvPr id="52" name="Shape 50"/>
          <p:cNvSpPr/>
          <p:nvPr/>
        </p:nvSpPr>
        <p:spPr>
          <a:xfrm>
            <a:off x="548640" y="5292090"/>
            <a:ext cx="5464912" cy="67008"/>
          </a:xfrm>
          <a:prstGeom prst="rect">
            <a:avLst/>
          </a:prstGeom>
          <a:solidFill>
            <a:srgbClr val="275CC7"/>
          </a:solidFill>
          <a:ln/>
        </p:spPr>
      </p:sp>
      <p:sp>
        <p:nvSpPr>
          <p:cNvPr id="53" name="Shape 51"/>
          <p:cNvSpPr/>
          <p:nvPr/>
        </p:nvSpPr>
        <p:spPr>
          <a:xfrm>
            <a:off x="548640" y="5349954"/>
            <a:ext cx="5464912" cy="67008"/>
          </a:xfrm>
          <a:prstGeom prst="rect">
            <a:avLst/>
          </a:prstGeom>
          <a:solidFill>
            <a:srgbClr val="265EC6"/>
          </a:solidFill>
          <a:ln/>
        </p:spPr>
      </p:sp>
      <p:sp>
        <p:nvSpPr>
          <p:cNvPr id="54" name="Shape 52"/>
          <p:cNvSpPr/>
          <p:nvPr/>
        </p:nvSpPr>
        <p:spPr>
          <a:xfrm>
            <a:off x="548640" y="5407819"/>
            <a:ext cx="5464912" cy="67008"/>
          </a:xfrm>
          <a:prstGeom prst="rect">
            <a:avLst/>
          </a:prstGeom>
          <a:solidFill>
            <a:srgbClr val="255FC5"/>
          </a:solidFill>
          <a:ln/>
        </p:spPr>
      </p:sp>
      <p:sp>
        <p:nvSpPr>
          <p:cNvPr id="55" name="Shape 53"/>
          <p:cNvSpPr/>
          <p:nvPr/>
        </p:nvSpPr>
        <p:spPr>
          <a:xfrm>
            <a:off x="548640" y="5465683"/>
            <a:ext cx="5464912" cy="67008"/>
          </a:xfrm>
          <a:prstGeom prst="rect">
            <a:avLst/>
          </a:prstGeom>
          <a:solidFill>
            <a:srgbClr val="2460C5"/>
          </a:solidFill>
          <a:ln/>
        </p:spPr>
      </p:sp>
      <p:sp>
        <p:nvSpPr>
          <p:cNvPr id="56" name="Shape 54"/>
          <p:cNvSpPr/>
          <p:nvPr/>
        </p:nvSpPr>
        <p:spPr>
          <a:xfrm>
            <a:off x="548640" y="5523548"/>
            <a:ext cx="5464912" cy="67008"/>
          </a:xfrm>
          <a:prstGeom prst="rect">
            <a:avLst/>
          </a:prstGeom>
          <a:solidFill>
            <a:srgbClr val="2361C4"/>
          </a:solidFill>
          <a:ln/>
        </p:spPr>
      </p:sp>
      <p:sp>
        <p:nvSpPr>
          <p:cNvPr id="57" name="Shape 55"/>
          <p:cNvSpPr/>
          <p:nvPr/>
        </p:nvSpPr>
        <p:spPr>
          <a:xfrm>
            <a:off x="548640" y="5581412"/>
            <a:ext cx="5464912" cy="67008"/>
          </a:xfrm>
          <a:prstGeom prst="rect">
            <a:avLst/>
          </a:prstGeom>
          <a:solidFill>
            <a:srgbClr val="2363C4"/>
          </a:solidFill>
          <a:ln/>
        </p:spPr>
      </p:sp>
      <p:sp>
        <p:nvSpPr>
          <p:cNvPr id="58" name="Shape 56"/>
          <p:cNvSpPr/>
          <p:nvPr/>
        </p:nvSpPr>
        <p:spPr>
          <a:xfrm>
            <a:off x="548640" y="5639276"/>
            <a:ext cx="5464912" cy="67008"/>
          </a:xfrm>
          <a:prstGeom prst="rect">
            <a:avLst/>
          </a:prstGeom>
          <a:solidFill>
            <a:srgbClr val="2264C3"/>
          </a:solidFill>
          <a:ln/>
        </p:spPr>
      </p:sp>
      <p:sp>
        <p:nvSpPr>
          <p:cNvPr id="59" name="Shape 57"/>
          <p:cNvSpPr/>
          <p:nvPr/>
        </p:nvSpPr>
        <p:spPr>
          <a:xfrm>
            <a:off x="548640" y="5697141"/>
            <a:ext cx="5464912" cy="67008"/>
          </a:xfrm>
          <a:prstGeom prst="rect">
            <a:avLst/>
          </a:prstGeom>
          <a:solidFill>
            <a:srgbClr val="2165C3"/>
          </a:solidFill>
          <a:ln/>
        </p:spPr>
      </p:sp>
      <p:sp>
        <p:nvSpPr>
          <p:cNvPr id="60" name="Shape 58"/>
          <p:cNvSpPr/>
          <p:nvPr/>
        </p:nvSpPr>
        <p:spPr>
          <a:xfrm>
            <a:off x="548640" y="5755005"/>
            <a:ext cx="5464912" cy="67008"/>
          </a:xfrm>
          <a:prstGeom prst="rect">
            <a:avLst/>
          </a:prstGeom>
          <a:solidFill>
            <a:srgbClr val="2066C2"/>
          </a:solidFill>
          <a:ln/>
        </p:spPr>
      </p:sp>
      <p:sp>
        <p:nvSpPr>
          <p:cNvPr id="61" name="Shape 59"/>
          <p:cNvSpPr/>
          <p:nvPr/>
        </p:nvSpPr>
        <p:spPr>
          <a:xfrm>
            <a:off x="548640" y="5812869"/>
            <a:ext cx="5464912" cy="67008"/>
          </a:xfrm>
          <a:prstGeom prst="rect">
            <a:avLst/>
          </a:prstGeom>
          <a:solidFill>
            <a:srgbClr val="1F68C1"/>
          </a:solidFill>
          <a:ln/>
        </p:spPr>
      </p:sp>
      <p:sp>
        <p:nvSpPr>
          <p:cNvPr id="62" name="Shape 60"/>
          <p:cNvSpPr/>
          <p:nvPr/>
        </p:nvSpPr>
        <p:spPr>
          <a:xfrm>
            <a:off x="548640" y="5870734"/>
            <a:ext cx="5464912" cy="67008"/>
          </a:xfrm>
          <a:prstGeom prst="rect">
            <a:avLst/>
          </a:prstGeom>
          <a:solidFill>
            <a:srgbClr val="1E69C1"/>
          </a:solidFill>
          <a:ln/>
        </p:spPr>
      </p:sp>
      <p:sp>
        <p:nvSpPr>
          <p:cNvPr id="63" name="Shape 61"/>
          <p:cNvSpPr/>
          <p:nvPr/>
        </p:nvSpPr>
        <p:spPr>
          <a:xfrm>
            <a:off x="548640" y="5928598"/>
            <a:ext cx="5464912" cy="67008"/>
          </a:xfrm>
          <a:prstGeom prst="rect">
            <a:avLst/>
          </a:prstGeom>
          <a:solidFill>
            <a:srgbClr val="1D6AC0"/>
          </a:solidFill>
          <a:ln/>
        </p:spPr>
      </p:sp>
      <p:sp>
        <p:nvSpPr>
          <p:cNvPr id="64" name="Shape 62"/>
          <p:cNvSpPr/>
          <p:nvPr/>
        </p:nvSpPr>
        <p:spPr>
          <a:xfrm>
            <a:off x="548640" y="5986463"/>
            <a:ext cx="5464912" cy="67008"/>
          </a:xfrm>
          <a:prstGeom prst="rect">
            <a:avLst/>
          </a:prstGeom>
          <a:solidFill>
            <a:srgbClr val="1D6BC0"/>
          </a:solidFill>
          <a:ln/>
        </p:spPr>
      </p:sp>
      <p:sp>
        <p:nvSpPr>
          <p:cNvPr id="65" name="Shape 63"/>
          <p:cNvSpPr/>
          <p:nvPr/>
        </p:nvSpPr>
        <p:spPr>
          <a:xfrm>
            <a:off x="548640" y="6044327"/>
            <a:ext cx="5464912" cy="67008"/>
          </a:xfrm>
          <a:prstGeom prst="rect">
            <a:avLst/>
          </a:prstGeom>
          <a:solidFill>
            <a:srgbClr val="1C6DBF"/>
          </a:solidFill>
          <a:ln/>
        </p:spPr>
      </p:sp>
      <p:sp>
        <p:nvSpPr>
          <p:cNvPr id="66" name="Shape 64"/>
          <p:cNvSpPr/>
          <p:nvPr/>
        </p:nvSpPr>
        <p:spPr>
          <a:xfrm>
            <a:off x="548640" y="6102191"/>
            <a:ext cx="5464912" cy="67008"/>
          </a:xfrm>
          <a:prstGeom prst="rect">
            <a:avLst/>
          </a:prstGeom>
          <a:solidFill>
            <a:srgbClr val="1B6EBF"/>
          </a:solidFill>
          <a:ln/>
        </p:spPr>
      </p:sp>
      <p:sp>
        <p:nvSpPr>
          <p:cNvPr id="67" name="Shape 65"/>
          <p:cNvSpPr/>
          <p:nvPr/>
        </p:nvSpPr>
        <p:spPr>
          <a:xfrm>
            <a:off x="548640" y="6160056"/>
            <a:ext cx="5464912" cy="67008"/>
          </a:xfrm>
          <a:prstGeom prst="rect">
            <a:avLst/>
          </a:prstGeom>
          <a:solidFill>
            <a:srgbClr val="1A6FBE"/>
          </a:solidFill>
          <a:ln/>
        </p:spPr>
      </p:sp>
      <p:sp>
        <p:nvSpPr>
          <p:cNvPr id="68" name="Text 66"/>
          <p:cNvSpPr/>
          <p:nvPr/>
        </p:nvSpPr>
        <p:spPr>
          <a:xfrm>
            <a:off x="914400" y="2880360"/>
            <a:ext cx="4733392" cy="914400"/>
          </a:xfrm>
          <a:prstGeom prst="rect">
            <a:avLst/>
          </a:prstGeom>
          <a:noFill/>
          <a:ln/>
        </p:spPr>
        <p:txBody>
          <a:bodyPr wrap="square" lIns="0" tIns="0" rIns="0" bIns="0" rtlCol="0" anchor="t"/>
          <a:lstStyle/>
          <a:p>
            <a:pPr algn="l" indent="0" marL="0">
              <a:buNone/>
            </a:pPr>
            <a:r>
              <a:rPr lang="en-US" sz="1100" b="1" spc="300" kern="0" dirty="0">
                <a:solidFill>
                  <a:srgbClr val="FFFFFF"/>
                </a:solidFill>
                <a:latin typeface="Calibri" pitchFamily="34" charset="0"/>
                <a:ea typeface="Calibri" pitchFamily="34" charset="-122"/>
                <a:cs typeface="Calibri" pitchFamily="34" charset="-120"/>
              </a:rPr>
              <a:t>PAIN AT SCALE</a:t>
            </a:r>
            <a:endParaRPr lang="en-US" sz="1100" dirty="0"/>
          </a:p>
        </p:txBody>
      </p:sp>
      <p:sp>
        <p:nvSpPr>
          <p:cNvPr id="69" name="Text 67"/>
          <p:cNvSpPr/>
          <p:nvPr/>
        </p:nvSpPr>
        <p:spPr>
          <a:xfrm>
            <a:off x="914400" y="3383280"/>
            <a:ext cx="4733392" cy="2011680"/>
          </a:xfrm>
          <a:prstGeom prst="rect">
            <a:avLst/>
          </a:prstGeom>
          <a:noFill/>
          <a:ln/>
        </p:spPr>
        <p:txBody>
          <a:bodyPr wrap="square" lIns="0" tIns="0" rIns="0" bIns="0" rtlCol="0" anchor="t"/>
          <a:lstStyle/>
          <a:p>
            <a:pPr algn="l" indent="0" marL="0">
              <a:buNone/>
            </a:pPr>
            <a:r>
              <a:rPr lang="en-US" sz="3200" b="1" spc="-50" kern="0" dirty="0">
                <a:solidFill>
                  <a:srgbClr val="FFFFFF"/>
                </a:solidFill>
                <a:latin typeface="Calibri" pitchFamily="34" charset="0"/>
                <a:ea typeface="Calibri" pitchFamily="34" charset="-122"/>
                <a:cs typeface="Calibri" pitchFamily="34" charset="-120"/>
              </a:rPr>
              <a:t>$15,000+ per campaign, mostly in salaried time.</a:t>
            </a:r>
            <a:endParaRPr lang="en-US" sz="3200" dirty="0"/>
          </a:p>
        </p:txBody>
      </p:sp>
      <p:sp>
        <p:nvSpPr>
          <p:cNvPr id="70" name="Text 68"/>
          <p:cNvSpPr/>
          <p:nvPr/>
        </p:nvSpPr>
        <p:spPr>
          <a:xfrm>
            <a:off x="914400" y="5166360"/>
            <a:ext cx="4733392" cy="10972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At a $75K-fully-loaded BD hire, 100 hours of manual creator outreach costs roughly $3,750 in wages alone — repeated four times a year.</a:t>
            </a:r>
            <a:endParaRPr lang="en-US" sz="1300" dirty="0"/>
          </a:p>
        </p:txBody>
      </p:sp>
      <p:sp>
        <p:nvSpPr>
          <p:cNvPr id="71" name="Shape 69"/>
          <p:cNvSpPr/>
          <p:nvPr/>
        </p:nvSpPr>
        <p:spPr>
          <a:xfrm>
            <a:off x="6178144" y="2514600"/>
            <a:ext cx="5464912" cy="1124712"/>
          </a:xfrm>
          <a:prstGeom prst="roundRect">
            <a:avLst>
              <a:gd name="adj" fmla="val 9756"/>
            </a:avLst>
          </a:prstGeom>
          <a:solidFill>
            <a:srgbClr val="FFFFFF"/>
          </a:solidFill>
          <a:ln w="9525">
            <a:solidFill>
              <a:srgbClr val="E5E7F0"/>
            </a:solidFill>
            <a:prstDash val="solid"/>
          </a:ln>
        </p:spPr>
      </p:sp>
      <p:sp>
        <p:nvSpPr>
          <p:cNvPr id="72" name="Shape 70"/>
          <p:cNvSpPr/>
          <p:nvPr/>
        </p:nvSpPr>
        <p:spPr>
          <a:xfrm>
            <a:off x="6178144" y="2514600"/>
            <a:ext cx="73152" cy="1124712"/>
          </a:xfrm>
          <a:prstGeom prst="rect">
            <a:avLst/>
          </a:prstGeom>
          <a:solidFill>
            <a:srgbClr val="5028C2"/>
          </a:solidFill>
          <a:ln/>
        </p:spPr>
      </p:sp>
      <p:sp>
        <p:nvSpPr>
          <p:cNvPr id="73" name="Text 71"/>
          <p:cNvSpPr/>
          <p:nvPr/>
        </p:nvSpPr>
        <p:spPr>
          <a:xfrm>
            <a:off x="6434176" y="2697480"/>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Reply rate</a:t>
            </a:r>
            <a:endParaRPr lang="en-US" sz="1600" dirty="0"/>
          </a:p>
        </p:txBody>
      </p:sp>
      <p:sp>
        <p:nvSpPr>
          <p:cNvPr id="74" name="Text 72"/>
          <p:cNvSpPr/>
          <p:nvPr/>
        </p:nvSpPr>
        <p:spPr>
          <a:xfrm>
            <a:off x="6434176" y="3081528"/>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Falls from ~8% on careful outreach to ~2% on copy-pasted blasts.</a:t>
            </a:r>
            <a:endParaRPr lang="en-US" sz="1200" dirty="0"/>
          </a:p>
        </p:txBody>
      </p:sp>
      <p:sp>
        <p:nvSpPr>
          <p:cNvPr id="75" name="Shape 73"/>
          <p:cNvSpPr/>
          <p:nvPr/>
        </p:nvSpPr>
        <p:spPr>
          <a:xfrm>
            <a:off x="6178144" y="3803904"/>
            <a:ext cx="5464912" cy="1124712"/>
          </a:xfrm>
          <a:prstGeom prst="roundRect">
            <a:avLst>
              <a:gd name="adj" fmla="val 9756"/>
            </a:avLst>
          </a:prstGeom>
          <a:solidFill>
            <a:srgbClr val="FFFFFF"/>
          </a:solidFill>
          <a:ln w="9525">
            <a:solidFill>
              <a:srgbClr val="E5E7F0"/>
            </a:solidFill>
            <a:prstDash val="solid"/>
          </a:ln>
        </p:spPr>
      </p:sp>
      <p:sp>
        <p:nvSpPr>
          <p:cNvPr id="76" name="Shape 74"/>
          <p:cNvSpPr/>
          <p:nvPr/>
        </p:nvSpPr>
        <p:spPr>
          <a:xfrm>
            <a:off x="6178144" y="3803904"/>
            <a:ext cx="73152" cy="1124712"/>
          </a:xfrm>
          <a:prstGeom prst="rect">
            <a:avLst/>
          </a:prstGeom>
          <a:solidFill>
            <a:srgbClr val="3548D0"/>
          </a:solidFill>
          <a:ln/>
        </p:spPr>
      </p:sp>
      <p:sp>
        <p:nvSpPr>
          <p:cNvPr id="77" name="Text 75"/>
          <p:cNvSpPr/>
          <p:nvPr/>
        </p:nvSpPr>
        <p:spPr>
          <a:xfrm>
            <a:off x="6434176" y="3986784"/>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Bench depth</a:t>
            </a:r>
            <a:endParaRPr lang="en-US" sz="1600" dirty="0"/>
          </a:p>
        </p:txBody>
      </p:sp>
      <p:sp>
        <p:nvSpPr>
          <p:cNvPr id="78" name="Text 76"/>
          <p:cNvSpPr/>
          <p:nvPr/>
        </p:nvSpPr>
        <p:spPr>
          <a:xfrm>
            <a:off x="6434176" y="4370832"/>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Most teams can't spare one person for 100 hours. So they don't run the campaign.</a:t>
            </a:r>
            <a:endParaRPr lang="en-US" sz="1200" dirty="0"/>
          </a:p>
        </p:txBody>
      </p:sp>
      <p:sp>
        <p:nvSpPr>
          <p:cNvPr id="79" name="Shape 77"/>
          <p:cNvSpPr/>
          <p:nvPr/>
        </p:nvSpPr>
        <p:spPr>
          <a:xfrm>
            <a:off x="6178144" y="5093208"/>
            <a:ext cx="5464912" cy="1124712"/>
          </a:xfrm>
          <a:prstGeom prst="roundRect">
            <a:avLst>
              <a:gd name="adj" fmla="val 9756"/>
            </a:avLst>
          </a:prstGeom>
          <a:solidFill>
            <a:srgbClr val="FFFFFF"/>
          </a:solidFill>
          <a:ln w="9525">
            <a:solidFill>
              <a:srgbClr val="E5E7F0"/>
            </a:solidFill>
            <a:prstDash val="solid"/>
          </a:ln>
        </p:spPr>
      </p:sp>
      <p:sp>
        <p:nvSpPr>
          <p:cNvPr id="80" name="Shape 78"/>
          <p:cNvSpPr/>
          <p:nvPr/>
        </p:nvSpPr>
        <p:spPr>
          <a:xfrm>
            <a:off x="6178144" y="5093208"/>
            <a:ext cx="73152" cy="1124712"/>
          </a:xfrm>
          <a:prstGeom prst="rect">
            <a:avLst/>
          </a:prstGeom>
          <a:solidFill>
            <a:srgbClr val="1A6FBE"/>
          </a:solidFill>
          <a:ln/>
        </p:spPr>
      </p:sp>
      <p:sp>
        <p:nvSpPr>
          <p:cNvPr id="81" name="Text 79"/>
          <p:cNvSpPr/>
          <p:nvPr/>
        </p:nvSpPr>
        <p:spPr>
          <a:xfrm>
            <a:off x="6434176" y="5276088"/>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Learning</a:t>
            </a:r>
            <a:endParaRPr lang="en-US" sz="1600" dirty="0"/>
          </a:p>
        </p:txBody>
      </p:sp>
      <p:sp>
        <p:nvSpPr>
          <p:cNvPr id="82" name="Text 80"/>
          <p:cNvSpPr/>
          <p:nvPr/>
        </p:nvSpPr>
        <p:spPr>
          <a:xfrm>
            <a:off x="6434176" y="5660136"/>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Without a CRM, none of the work compounds into a system.</a:t>
            </a:r>
            <a:endParaRPr lang="en-US" sz="1200" dirty="0"/>
          </a:p>
        </p:txBody>
      </p:sp>
      <p:sp>
        <p:nvSpPr>
          <p:cNvPr id="83" name="Shape 81"/>
          <p:cNvSpPr/>
          <p:nvPr/>
        </p:nvSpPr>
        <p:spPr>
          <a:xfrm>
            <a:off x="548640" y="502920"/>
            <a:ext cx="292608" cy="292608"/>
          </a:xfrm>
          <a:prstGeom prst="roundRect">
            <a:avLst>
              <a:gd name="adj" fmla="val 25000"/>
            </a:avLst>
          </a:prstGeom>
          <a:solidFill>
            <a:srgbClr val="5028C2"/>
          </a:solidFill>
          <a:ln/>
        </p:spPr>
      </p:sp>
      <p:sp>
        <p:nvSpPr>
          <p:cNvPr id="84" name="Shape 82"/>
          <p:cNvSpPr/>
          <p:nvPr/>
        </p:nvSpPr>
        <p:spPr>
          <a:xfrm>
            <a:off x="548640" y="502920"/>
            <a:ext cx="292608" cy="292608"/>
          </a:xfrm>
          <a:prstGeom prst="roundRect">
            <a:avLst>
              <a:gd name="adj" fmla="val 25000"/>
            </a:avLst>
          </a:prstGeom>
          <a:solidFill>
            <a:srgbClr val="1A6FBE">
              <a:alpha val="50000"/>
            </a:srgbClr>
          </a:solidFill>
          <a:ln/>
        </p:spPr>
      </p:sp>
      <p:sp>
        <p:nvSpPr>
          <p:cNvPr id="85" name="Text 83"/>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86" name="Text 84"/>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87" name="Text 85"/>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03 · Pain at scale  ·  vG</a:t>
            </a:r>
            <a:endParaRPr lang="en-US" sz="900" dirty="0"/>
          </a:p>
        </p:txBody>
      </p:sp>
      <p:sp>
        <p:nvSpPr>
          <p:cNvPr id="88" name="Text 86"/>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89" name="Text 87"/>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021 / 126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80015" y="-914400"/>
            <a:ext cx="3200400" cy="3200400"/>
          </a:xfrm>
          <a:prstGeom prst="ellipse">
            <a:avLst/>
          </a:prstGeom>
          <a:solidFill>
            <a:srgbClr val="F1ECFF"/>
          </a:solidFill>
          <a:ln/>
        </p:spPr>
      </p:sp>
      <p:sp>
        <p:nvSpPr>
          <p:cNvPr id="3" name="Shape 1"/>
          <p:cNvSpPr/>
          <p:nvPr/>
        </p:nvSpPr>
        <p:spPr>
          <a:xfrm>
            <a:off x="10820095" y="-548640"/>
            <a:ext cx="2194560" cy="2194560"/>
          </a:xfrm>
          <a:prstGeom prst="ellipse">
            <a:avLst/>
          </a:prstGeom>
          <a:solidFill>
            <a:srgbClr val="E8F1FB">
              <a:alpha val="60000"/>
            </a:srgbClr>
          </a:solidFill>
          <a:ln/>
        </p:spPr>
      </p:sp>
      <p:sp>
        <p:nvSpPr>
          <p:cNvPr id="4" name="Shape 2"/>
          <p:cNvSpPr/>
          <p:nvPr/>
        </p:nvSpPr>
        <p:spPr>
          <a:xfrm>
            <a:off x="548640" y="5486400"/>
            <a:ext cx="54864" cy="54864"/>
          </a:xfrm>
          <a:prstGeom prst="ellipse">
            <a:avLst/>
          </a:prstGeom>
          <a:solidFill>
            <a:srgbClr val="5028C2">
              <a:alpha val="30000"/>
            </a:srgbClr>
          </a:solidFill>
          <a:ln/>
        </p:spPr>
      </p:sp>
      <p:sp>
        <p:nvSpPr>
          <p:cNvPr id="5" name="Shape 3"/>
          <p:cNvSpPr/>
          <p:nvPr/>
        </p:nvSpPr>
        <p:spPr>
          <a:xfrm>
            <a:off x="548640" y="5650992"/>
            <a:ext cx="54864" cy="54864"/>
          </a:xfrm>
          <a:prstGeom prst="ellipse">
            <a:avLst/>
          </a:prstGeom>
          <a:solidFill>
            <a:srgbClr val="5028C2">
              <a:alpha val="30000"/>
            </a:srgbClr>
          </a:solidFill>
          <a:ln/>
        </p:spPr>
      </p:sp>
      <p:sp>
        <p:nvSpPr>
          <p:cNvPr id="6" name="Shape 4"/>
          <p:cNvSpPr/>
          <p:nvPr/>
        </p:nvSpPr>
        <p:spPr>
          <a:xfrm>
            <a:off x="548640" y="5815584"/>
            <a:ext cx="54864" cy="54864"/>
          </a:xfrm>
          <a:prstGeom prst="ellipse">
            <a:avLst/>
          </a:prstGeom>
          <a:solidFill>
            <a:srgbClr val="5028C2">
              <a:alpha val="30000"/>
            </a:srgbClr>
          </a:solidFill>
          <a:ln/>
        </p:spPr>
      </p:sp>
      <p:sp>
        <p:nvSpPr>
          <p:cNvPr id="7" name="Shape 5"/>
          <p:cNvSpPr/>
          <p:nvPr/>
        </p:nvSpPr>
        <p:spPr>
          <a:xfrm>
            <a:off x="713232" y="5486400"/>
            <a:ext cx="54864" cy="54864"/>
          </a:xfrm>
          <a:prstGeom prst="ellipse">
            <a:avLst/>
          </a:prstGeom>
          <a:solidFill>
            <a:srgbClr val="5028C2">
              <a:alpha val="30000"/>
            </a:srgbClr>
          </a:solidFill>
          <a:ln/>
        </p:spPr>
      </p:sp>
      <p:sp>
        <p:nvSpPr>
          <p:cNvPr id="8" name="Shape 6"/>
          <p:cNvSpPr/>
          <p:nvPr/>
        </p:nvSpPr>
        <p:spPr>
          <a:xfrm>
            <a:off x="713232" y="5650992"/>
            <a:ext cx="54864" cy="54864"/>
          </a:xfrm>
          <a:prstGeom prst="ellipse">
            <a:avLst/>
          </a:prstGeom>
          <a:solidFill>
            <a:srgbClr val="5028C2">
              <a:alpha val="30000"/>
            </a:srgbClr>
          </a:solidFill>
          <a:ln/>
        </p:spPr>
      </p:sp>
      <p:sp>
        <p:nvSpPr>
          <p:cNvPr id="9" name="Shape 7"/>
          <p:cNvSpPr/>
          <p:nvPr/>
        </p:nvSpPr>
        <p:spPr>
          <a:xfrm>
            <a:off x="713232" y="5815584"/>
            <a:ext cx="54864" cy="54864"/>
          </a:xfrm>
          <a:prstGeom prst="ellipse">
            <a:avLst/>
          </a:prstGeom>
          <a:solidFill>
            <a:srgbClr val="5028C2">
              <a:alpha val="30000"/>
            </a:srgbClr>
          </a:solidFill>
          <a:ln/>
        </p:spPr>
      </p:sp>
      <p:sp>
        <p:nvSpPr>
          <p:cNvPr id="10" name="Shape 8"/>
          <p:cNvSpPr/>
          <p:nvPr/>
        </p:nvSpPr>
        <p:spPr>
          <a:xfrm>
            <a:off x="877824" y="5486400"/>
            <a:ext cx="54864" cy="54864"/>
          </a:xfrm>
          <a:prstGeom prst="ellipse">
            <a:avLst/>
          </a:prstGeom>
          <a:solidFill>
            <a:srgbClr val="5028C2">
              <a:alpha val="30000"/>
            </a:srgbClr>
          </a:solidFill>
          <a:ln/>
        </p:spPr>
      </p:sp>
      <p:sp>
        <p:nvSpPr>
          <p:cNvPr id="11" name="Shape 9"/>
          <p:cNvSpPr/>
          <p:nvPr/>
        </p:nvSpPr>
        <p:spPr>
          <a:xfrm>
            <a:off x="877824" y="5650992"/>
            <a:ext cx="54864" cy="54864"/>
          </a:xfrm>
          <a:prstGeom prst="ellipse">
            <a:avLst/>
          </a:prstGeom>
          <a:solidFill>
            <a:srgbClr val="5028C2">
              <a:alpha val="30000"/>
            </a:srgbClr>
          </a:solidFill>
          <a:ln/>
        </p:spPr>
      </p:sp>
      <p:sp>
        <p:nvSpPr>
          <p:cNvPr id="12" name="Shape 10"/>
          <p:cNvSpPr/>
          <p:nvPr/>
        </p:nvSpPr>
        <p:spPr>
          <a:xfrm>
            <a:off x="877824" y="5815584"/>
            <a:ext cx="54864" cy="54864"/>
          </a:xfrm>
          <a:prstGeom prst="ellipse">
            <a:avLst/>
          </a:prstGeom>
          <a:solidFill>
            <a:srgbClr val="5028C2">
              <a:alpha val="30000"/>
            </a:srgbClr>
          </a:solidFill>
          <a:ln/>
        </p:spPr>
      </p:sp>
      <p:sp>
        <p:nvSpPr>
          <p:cNvPr id="13" name="Shape 11"/>
          <p:cNvSpPr/>
          <p:nvPr/>
        </p:nvSpPr>
        <p:spPr>
          <a:xfrm>
            <a:off x="1042416" y="5486400"/>
            <a:ext cx="54864" cy="54864"/>
          </a:xfrm>
          <a:prstGeom prst="ellipse">
            <a:avLst/>
          </a:prstGeom>
          <a:solidFill>
            <a:srgbClr val="5028C2">
              <a:alpha val="30000"/>
            </a:srgbClr>
          </a:solidFill>
          <a:ln/>
        </p:spPr>
      </p:sp>
      <p:sp>
        <p:nvSpPr>
          <p:cNvPr id="14" name="Shape 12"/>
          <p:cNvSpPr/>
          <p:nvPr/>
        </p:nvSpPr>
        <p:spPr>
          <a:xfrm>
            <a:off x="1042416" y="5650992"/>
            <a:ext cx="54864" cy="54864"/>
          </a:xfrm>
          <a:prstGeom prst="ellipse">
            <a:avLst/>
          </a:prstGeom>
          <a:solidFill>
            <a:srgbClr val="5028C2">
              <a:alpha val="30000"/>
            </a:srgbClr>
          </a:solidFill>
          <a:ln/>
        </p:spPr>
      </p:sp>
      <p:sp>
        <p:nvSpPr>
          <p:cNvPr id="15" name="Shape 13"/>
          <p:cNvSpPr/>
          <p:nvPr/>
        </p:nvSpPr>
        <p:spPr>
          <a:xfrm>
            <a:off x="1042416" y="5815584"/>
            <a:ext cx="54864" cy="54864"/>
          </a:xfrm>
          <a:prstGeom prst="ellipse">
            <a:avLst/>
          </a:prstGeom>
          <a:solidFill>
            <a:srgbClr val="5028C2">
              <a:alpha val="30000"/>
            </a:srgbClr>
          </a:solidFill>
          <a:ln/>
        </p:spPr>
      </p:sp>
      <p:sp>
        <p:nvSpPr>
          <p:cNvPr id="16" name="Shape 14"/>
          <p:cNvSpPr/>
          <p:nvPr/>
        </p:nvSpPr>
        <p:spPr>
          <a:xfrm>
            <a:off x="1207008" y="5486400"/>
            <a:ext cx="54864" cy="54864"/>
          </a:xfrm>
          <a:prstGeom prst="ellipse">
            <a:avLst/>
          </a:prstGeom>
          <a:solidFill>
            <a:srgbClr val="5028C2">
              <a:alpha val="30000"/>
            </a:srgbClr>
          </a:solidFill>
          <a:ln/>
        </p:spPr>
      </p:sp>
      <p:sp>
        <p:nvSpPr>
          <p:cNvPr id="17" name="Shape 15"/>
          <p:cNvSpPr/>
          <p:nvPr/>
        </p:nvSpPr>
        <p:spPr>
          <a:xfrm>
            <a:off x="1207008" y="5650992"/>
            <a:ext cx="54864" cy="54864"/>
          </a:xfrm>
          <a:prstGeom prst="ellipse">
            <a:avLst/>
          </a:prstGeom>
          <a:solidFill>
            <a:srgbClr val="5028C2">
              <a:alpha val="30000"/>
            </a:srgbClr>
          </a:solidFill>
          <a:ln/>
        </p:spPr>
      </p:sp>
      <p:sp>
        <p:nvSpPr>
          <p:cNvPr id="18" name="Shape 16"/>
          <p:cNvSpPr/>
          <p:nvPr/>
        </p:nvSpPr>
        <p:spPr>
          <a:xfrm>
            <a:off x="1207008" y="5815584"/>
            <a:ext cx="54864" cy="54864"/>
          </a:xfrm>
          <a:prstGeom prst="ellipse">
            <a:avLst/>
          </a:prstGeom>
          <a:solidFill>
            <a:srgbClr val="5028C2">
              <a:alpha val="30000"/>
            </a:srgbClr>
          </a:solidFill>
          <a:ln/>
        </p:spPr>
      </p:sp>
      <p:sp>
        <p:nvSpPr>
          <p:cNvPr id="19" name="Shape 17"/>
          <p:cNvSpPr/>
          <p:nvPr/>
        </p:nvSpPr>
        <p:spPr>
          <a:xfrm>
            <a:off x="1371600" y="5486400"/>
            <a:ext cx="54864" cy="54864"/>
          </a:xfrm>
          <a:prstGeom prst="ellipse">
            <a:avLst/>
          </a:prstGeom>
          <a:solidFill>
            <a:srgbClr val="5028C2">
              <a:alpha val="30000"/>
            </a:srgbClr>
          </a:solidFill>
          <a:ln/>
        </p:spPr>
      </p:sp>
      <p:sp>
        <p:nvSpPr>
          <p:cNvPr id="20" name="Shape 18"/>
          <p:cNvSpPr/>
          <p:nvPr/>
        </p:nvSpPr>
        <p:spPr>
          <a:xfrm>
            <a:off x="1371600" y="5650992"/>
            <a:ext cx="54864" cy="54864"/>
          </a:xfrm>
          <a:prstGeom prst="ellipse">
            <a:avLst/>
          </a:prstGeom>
          <a:solidFill>
            <a:srgbClr val="5028C2">
              <a:alpha val="30000"/>
            </a:srgbClr>
          </a:solidFill>
          <a:ln/>
        </p:spPr>
      </p:sp>
      <p:sp>
        <p:nvSpPr>
          <p:cNvPr id="21" name="Shape 19"/>
          <p:cNvSpPr/>
          <p:nvPr/>
        </p:nvSpPr>
        <p:spPr>
          <a:xfrm>
            <a:off x="1371600" y="5815584"/>
            <a:ext cx="54864" cy="54864"/>
          </a:xfrm>
          <a:prstGeom prst="ellipse">
            <a:avLst/>
          </a:prstGeom>
          <a:solidFill>
            <a:srgbClr val="5028C2">
              <a:alpha val="30000"/>
            </a:srgbClr>
          </a:solidFill>
          <a:ln/>
        </p:spPr>
      </p:sp>
      <p:sp>
        <p:nvSpPr>
          <p:cNvPr id="22" name="Text 20"/>
          <p:cNvSpPr/>
          <p:nvPr/>
        </p:nvSpPr>
        <p:spPr>
          <a:xfrm>
            <a:off x="548640" y="1097280"/>
            <a:ext cx="11094415"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THE TOOLING GAP</a:t>
            </a:r>
            <a:endParaRPr lang="en-US" sz="1100" dirty="0"/>
          </a:p>
        </p:txBody>
      </p:sp>
      <p:sp>
        <p:nvSpPr>
          <p:cNvPr id="23" name="Text 21"/>
          <p:cNvSpPr/>
          <p:nvPr/>
        </p:nvSpPr>
        <p:spPr>
          <a:xfrm>
            <a:off x="548640" y="1554480"/>
            <a:ext cx="11094415" cy="3108960"/>
          </a:xfrm>
          <a:prstGeom prst="rect">
            <a:avLst/>
          </a:prstGeom>
          <a:noFill/>
          <a:ln/>
        </p:spPr>
        <p:txBody>
          <a:bodyPr wrap="square" lIns="0" tIns="0" rIns="0" bIns="0" rtlCol="0" anchor="t"/>
          <a:lstStyle/>
          <a:p>
            <a:pPr algn="l" indent="0" marL="0">
              <a:buNone/>
            </a:pPr>
            <a:r>
              <a:rPr lang="en-US" sz="4200" b="1" spc="-100" kern="0" dirty="0">
                <a:solidFill>
                  <a:srgbClr val="0F1733"/>
                </a:solidFill>
                <a:latin typeface="Calibri" pitchFamily="34" charset="0"/>
                <a:ea typeface="Calibri" pitchFamily="34" charset="-122"/>
                <a:cs typeface="Calibri" pitchFamily="34" charset="-120"/>
              </a:rPr>
              <a:t>Influencer platforms aren't built for B2B. CRMs aren't built for creators.</a:t>
            </a:r>
            <a:endParaRPr lang="en-US" sz="4200" dirty="0"/>
          </a:p>
        </p:txBody>
      </p:sp>
      <p:sp>
        <p:nvSpPr>
          <p:cNvPr id="24" name="Text 22"/>
          <p:cNvSpPr/>
          <p:nvPr/>
        </p:nvSpPr>
        <p:spPr>
          <a:xfrm>
            <a:off x="548640" y="4754880"/>
            <a:ext cx="9265615" cy="1097280"/>
          </a:xfrm>
          <a:prstGeom prst="rect">
            <a:avLst/>
          </a:prstGeom>
          <a:noFill/>
          <a:ln/>
        </p:spPr>
        <p:txBody>
          <a:bodyPr wrap="square" lIns="0" tIns="0" rIns="0" bIns="0" rtlCol="0" anchor="t"/>
          <a:lstStyle/>
          <a:p>
            <a:pPr algn="l" indent="0" marL="0">
              <a:buNone/>
            </a:pPr>
            <a:r>
              <a:rPr lang="en-US" sz="1800" dirty="0">
                <a:solidFill>
                  <a:srgbClr val="2A3358"/>
                </a:solidFill>
                <a:latin typeface="Calibri" pitchFamily="34" charset="0"/>
                <a:ea typeface="Calibri" pitchFamily="34" charset="-122"/>
                <a:cs typeface="Calibri" pitchFamily="34" charset="-120"/>
              </a:rPr>
              <a:t>Heepsy, Modash, and HypeAuditor are built for consumer brand campaigns. HubSpot, Pipedrive, and Attio are built for SDRs working a B2B funnel. No tool sits in the middle — where founders actually live.</a:t>
            </a:r>
            <a:endParaRPr lang="en-US" sz="1800" dirty="0"/>
          </a:p>
        </p:txBody>
      </p:sp>
      <p:sp>
        <p:nvSpPr>
          <p:cNvPr id="25" name="Shape 23"/>
          <p:cNvSpPr/>
          <p:nvPr/>
        </p:nvSpPr>
        <p:spPr>
          <a:xfrm>
            <a:off x="548640" y="502920"/>
            <a:ext cx="292608" cy="292608"/>
          </a:xfrm>
          <a:prstGeom prst="roundRect">
            <a:avLst>
              <a:gd name="adj" fmla="val 25000"/>
            </a:avLst>
          </a:prstGeom>
          <a:solidFill>
            <a:srgbClr val="5028C2"/>
          </a:solidFill>
          <a:ln/>
        </p:spPr>
      </p:sp>
      <p:sp>
        <p:nvSpPr>
          <p:cNvPr id="26" name="Shape 24"/>
          <p:cNvSpPr/>
          <p:nvPr/>
        </p:nvSpPr>
        <p:spPr>
          <a:xfrm>
            <a:off x="548640" y="502920"/>
            <a:ext cx="292608" cy="292608"/>
          </a:xfrm>
          <a:prstGeom prst="roundRect">
            <a:avLst>
              <a:gd name="adj" fmla="val 25000"/>
            </a:avLst>
          </a:prstGeom>
          <a:solidFill>
            <a:srgbClr val="1A6FBE">
              <a:alpha val="50000"/>
            </a:srgbClr>
          </a:solidFill>
          <a:ln/>
        </p:spPr>
      </p:sp>
      <p:sp>
        <p:nvSpPr>
          <p:cNvPr id="27" name="Text 25"/>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8" name="Text 26"/>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9" name="Text 27"/>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04 · Why existing tools fail  ·  vA</a:t>
            </a:r>
            <a:endParaRPr lang="en-US" sz="900" dirty="0"/>
          </a:p>
        </p:txBody>
      </p:sp>
      <p:sp>
        <p:nvSpPr>
          <p:cNvPr id="30" name="Text 28"/>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31" name="Text 29"/>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022 / 126</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071183" y="0"/>
            <a:ext cx="5120512" cy="116300"/>
          </a:xfrm>
          <a:prstGeom prst="rect">
            <a:avLst/>
          </a:prstGeom>
          <a:solidFill>
            <a:srgbClr val="5028C2"/>
          </a:solidFill>
          <a:ln/>
        </p:spPr>
      </p:sp>
      <p:sp>
        <p:nvSpPr>
          <p:cNvPr id="3" name="Shape 1"/>
          <p:cNvSpPr/>
          <p:nvPr/>
        </p:nvSpPr>
        <p:spPr>
          <a:xfrm>
            <a:off x="7071183" y="107156"/>
            <a:ext cx="5120512" cy="116300"/>
          </a:xfrm>
          <a:prstGeom prst="rect">
            <a:avLst/>
          </a:prstGeom>
          <a:solidFill>
            <a:srgbClr val="4F29C2"/>
          </a:solidFill>
          <a:ln/>
        </p:spPr>
      </p:sp>
      <p:sp>
        <p:nvSpPr>
          <p:cNvPr id="4" name="Shape 2"/>
          <p:cNvSpPr/>
          <p:nvPr/>
        </p:nvSpPr>
        <p:spPr>
          <a:xfrm>
            <a:off x="7071183" y="214313"/>
            <a:ext cx="5120512" cy="116300"/>
          </a:xfrm>
          <a:prstGeom prst="rect">
            <a:avLst/>
          </a:prstGeom>
          <a:solidFill>
            <a:srgbClr val="4E2AC3"/>
          </a:solidFill>
          <a:ln/>
        </p:spPr>
      </p:sp>
      <p:sp>
        <p:nvSpPr>
          <p:cNvPr id="5" name="Shape 3"/>
          <p:cNvSpPr/>
          <p:nvPr/>
        </p:nvSpPr>
        <p:spPr>
          <a:xfrm>
            <a:off x="7071183" y="321469"/>
            <a:ext cx="5120512" cy="116300"/>
          </a:xfrm>
          <a:prstGeom prst="rect">
            <a:avLst/>
          </a:prstGeom>
          <a:solidFill>
            <a:srgbClr val="4D2BC3"/>
          </a:solidFill>
          <a:ln/>
        </p:spPr>
      </p:sp>
      <p:sp>
        <p:nvSpPr>
          <p:cNvPr id="6" name="Shape 4"/>
          <p:cNvSpPr/>
          <p:nvPr/>
        </p:nvSpPr>
        <p:spPr>
          <a:xfrm>
            <a:off x="7071183" y="428625"/>
            <a:ext cx="5120512" cy="116300"/>
          </a:xfrm>
          <a:prstGeom prst="rect">
            <a:avLst/>
          </a:prstGeom>
          <a:solidFill>
            <a:srgbClr val="4D2CC4"/>
          </a:solidFill>
          <a:ln/>
        </p:spPr>
      </p:sp>
      <p:sp>
        <p:nvSpPr>
          <p:cNvPr id="7" name="Shape 5"/>
          <p:cNvSpPr/>
          <p:nvPr/>
        </p:nvSpPr>
        <p:spPr>
          <a:xfrm>
            <a:off x="7071183" y="535781"/>
            <a:ext cx="5120512" cy="116300"/>
          </a:xfrm>
          <a:prstGeom prst="rect">
            <a:avLst/>
          </a:prstGeom>
          <a:solidFill>
            <a:srgbClr val="4C2DC4"/>
          </a:solidFill>
          <a:ln/>
        </p:spPr>
      </p:sp>
      <p:sp>
        <p:nvSpPr>
          <p:cNvPr id="8" name="Shape 6"/>
          <p:cNvSpPr/>
          <p:nvPr/>
        </p:nvSpPr>
        <p:spPr>
          <a:xfrm>
            <a:off x="7071183" y="642938"/>
            <a:ext cx="5120512" cy="116300"/>
          </a:xfrm>
          <a:prstGeom prst="rect">
            <a:avLst/>
          </a:prstGeom>
          <a:solidFill>
            <a:srgbClr val="4B2EC5"/>
          </a:solidFill>
          <a:ln/>
        </p:spPr>
      </p:sp>
      <p:sp>
        <p:nvSpPr>
          <p:cNvPr id="9" name="Shape 7"/>
          <p:cNvSpPr/>
          <p:nvPr/>
        </p:nvSpPr>
        <p:spPr>
          <a:xfrm>
            <a:off x="7071183" y="750094"/>
            <a:ext cx="5120512" cy="116300"/>
          </a:xfrm>
          <a:prstGeom prst="rect">
            <a:avLst/>
          </a:prstGeom>
          <a:solidFill>
            <a:srgbClr val="4A2FC5"/>
          </a:solidFill>
          <a:ln/>
        </p:spPr>
      </p:sp>
      <p:sp>
        <p:nvSpPr>
          <p:cNvPr id="10" name="Shape 8"/>
          <p:cNvSpPr/>
          <p:nvPr/>
        </p:nvSpPr>
        <p:spPr>
          <a:xfrm>
            <a:off x="7071183" y="857250"/>
            <a:ext cx="5120512" cy="116300"/>
          </a:xfrm>
          <a:prstGeom prst="rect">
            <a:avLst/>
          </a:prstGeom>
          <a:solidFill>
            <a:srgbClr val="4930C6"/>
          </a:solidFill>
          <a:ln/>
        </p:spPr>
      </p:sp>
      <p:sp>
        <p:nvSpPr>
          <p:cNvPr id="11" name="Shape 9"/>
          <p:cNvSpPr/>
          <p:nvPr/>
        </p:nvSpPr>
        <p:spPr>
          <a:xfrm>
            <a:off x="7071183" y="964406"/>
            <a:ext cx="5120512" cy="116300"/>
          </a:xfrm>
          <a:prstGeom prst="rect">
            <a:avLst/>
          </a:prstGeom>
          <a:solidFill>
            <a:srgbClr val="4831C6"/>
          </a:solidFill>
          <a:ln/>
        </p:spPr>
      </p:sp>
      <p:sp>
        <p:nvSpPr>
          <p:cNvPr id="12" name="Shape 10"/>
          <p:cNvSpPr/>
          <p:nvPr/>
        </p:nvSpPr>
        <p:spPr>
          <a:xfrm>
            <a:off x="7071183" y="1071563"/>
            <a:ext cx="5120512" cy="116300"/>
          </a:xfrm>
          <a:prstGeom prst="rect">
            <a:avLst/>
          </a:prstGeom>
          <a:solidFill>
            <a:srgbClr val="4732C6"/>
          </a:solidFill>
          <a:ln/>
        </p:spPr>
      </p:sp>
      <p:sp>
        <p:nvSpPr>
          <p:cNvPr id="13" name="Shape 11"/>
          <p:cNvSpPr/>
          <p:nvPr/>
        </p:nvSpPr>
        <p:spPr>
          <a:xfrm>
            <a:off x="7071183" y="1178719"/>
            <a:ext cx="5120512" cy="116300"/>
          </a:xfrm>
          <a:prstGeom prst="rect">
            <a:avLst/>
          </a:prstGeom>
          <a:solidFill>
            <a:srgbClr val="4733C7"/>
          </a:solidFill>
          <a:ln/>
        </p:spPr>
      </p:sp>
      <p:sp>
        <p:nvSpPr>
          <p:cNvPr id="14" name="Shape 12"/>
          <p:cNvSpPr/>
          <p:nvPr/>
        </p:nvSpPr>
        <p:spPr>
          <a:xfrm>
            <a:off x="7071183" y="1285875"/>
            <a:ext cx="5120512" cy="116300"/>
          </a:xfrm>
          <a:prstGeom prst="rect">
            <a:avLst/>
          </a:prstGeom>
          <a:solidFill>
            <a:srgbClr val="4634C7"/>
          </a:solidFill>
          <a:ln/>
        </p:spPr>
      </p:sp>
      <p:sp>
        <p:nvSpPr>
          <p:cNvPr id="15" name="Shape 13"/>
          <p:cNvSpPr/>
          <p:nvPr/>
        </p:nvSpPr>
        <p:spPr>
          <a:xfrm>
            <a:off x="7071183" y="1393031"/>
            <a:ext cx="5120512" cy="116300"/>
          </a:xfrm>
          <a:prstGeom prst="rect">
            <a:avLst/>
          </a:prstGeom>
          <a:solidFill>
            <a:srgbClr val="4535C8"/>
          </a:solidFill>
          <a:ln/>
        </p:spPr>
      </p:sp>
      <p:sp>
        <p:nvSpPr>
          <p:cNvPr id="16" name="Shape 14"/>
          <p:cNvSpPr/>
          <p:nvPr/>
        </p:nvSpPr>
        <p:spPr>
          <a:xfrm>
            <a:off x="7071183" y="1500188"/>
            <a:ext cx="5120512" cy="116300"/>
          </a:xfrm>
          <a:prstGeom prst="rect">
            <a:avLst/>
          </a:prstGeom>
          <a:solidFill>
            <a:srgbClr val="4436C8"/>
          </a:solidFill>
          <a:ln/>
        </p:spPr>
      </p:sp>
      <p:sp>
        <p:nvSpPr>
          <p:cNvPr id="17" name="Shape 15"/>
          <p:cNvSpPr/>
          <p:nvPr/>
        </p:nvSpPr>
        <p:spPr>
          <a:xfrm>
            <a:off x="7071183" y="1607344"/>
            <a:ext cx="5120512" cy="116300"/>
          </a:xfrm>
          <a:prstGeom prst="rect">
            <a:avLst/>
          </a:prstGeom>
          <a:solidFill>
            <a:srgbClr val="4337C9"/>
          </a:solidFill>
          <a:ln/>
        </p:spPr>
      </p:sp>
      <p:sp>
        <p:nvSpPr>
          <p:cNvPr id="18" name="Shape 16"/>
          <p:cNvSpPr/>
          <p:nvPr/>
        </p:nvSpPr>
        <p:spPr>
          <a:xfrm>
            <a:off x="7071183" y="1714500"/>
            <a:ext cx="5120512" cy="116300"/>
          </a:xfrm>
          <a:prstGeom prst="rect">
            <a:avLst/>
          </a:prstGeom>
          <a:solidFill>
            <a:srgbClr val="4238C9"/>
          </a:solidFill>
          <a:ln/>
        </p:spPr>
      </p:sp>
      <p:sp>
        <p:nvSpPr>
          <p:cNvPr id="19" name="Shape 17"/>
          <p:cNvSpPr/>
          <p:nvPr/>
        </p:nvSpPr>
        <p:spPr>
          <a:xfrm>
            <a:off x="7071183" y="1821656"/>
            <a:ext cx="5120512" cy="116300"/>
          </a:xfrm>
          <a:prstGeom prst="rect">
            <a:avLst/>
          </a:prstGeom>
          <a:solidFill>
            <a:srgbClr val="4139CA"/>
          </a:solidFill>
          <a:ln/>
        </p:spPr>
      </p:sp>
      <p:sp>
        <p:nvSpPr>
          <p:cNvPr id="20" name="Shape 18"/>
          <p:cNvSpPr/>
          <p:nvPr/>
        </p:nvSpPr>
        <p:spPr>
          <a:xfrm>
            <a:off x="7071183" y="1928813"/>
            <a:ext cx="5120512" cy="116300"/>
          </a:xfrm>
          <a:prstGeom prst="rect">
            <a:avLst/>
          </a:prstGeom>
          <a:solidFill>
            <a:srgbClr val="413ACA"/>
          </a:solidFill>
          <a:ln/>
        </p:spPr>
      </p:sp>
      <p:sp>
        <p:nvSpPr>
          <p:cNvPr id="21" name="Shape 19"/>
          <p:cNvSpPr/>
          <p:nvPr/>
        </p:nvSpPr>
        <p:spPr>
          <a:xfrm>
            <a:off x="7071183" y="2035969"/>
            <a:ext cx="5120512" cy="116300"/>
          </a:xfrm>
          <a:prstGeom prst="rect">
            <a:avLst/>
          </a:prstGeom>
          <a:solidFill>
            <a:srgbClr val="403BCA"/>
          </a:solidFill>
          <a:ln/>
        </p:spPr>
      </p:sp>
      <p:sp>
        <p:nvSpPr>
          <p:cNvPr id="22" name="Shape 20"/>
          <p:cNvSpPr/>
          <p:nvPr/>
        </p:nvSpPr>
        <p:spPr>
          <a:xfrm>
            <a:off x="7071183" y="2143125"/>
            <a:ext cx="5120512" cy="116300"/>
          </a:xfrm>
          <a:prstGeom prst="rect">
            <a:avLst/>
          </a:prstGeom>
          <a:solidFill>
            <a:srgbClr val="3F3CCB"/>
          </a:solidFill>
          <a:ln/>
        </p:spPr>
      </p:sp>
      <p:sp>
        <p:nvSpPr>
          <p:cNvPr id="23" name="Shape 21"/>
          <p:cNvSpPr/>
          <p:nvPr/>
        </p:nvSpPr>
        <p:spPr>
          <a:xfrm>
            <a:off x="7071183" y="2250281"/>
            <a:ext cx="5120512" cy="116300"/>
          </a:xfrm>
          <a:prstGeom prst="rect">
            <a:avLst/>
          </a:prstGeom>
          <a:solidFill>
            <a:srgbClr val="3E3DCB"/>
          </a:solidFill>
          <a:ln/>
        </p:spPr>
      </p:sp>
      <p:sp>
        <p:nvSpPr>
          <p:cNvPr id="24" name="Shape 22"/>
          <p:cNvSpPr/>
          <p:nvPr/>
        </p:nvSpPr>
        <p:spPr>
          <a:xfrm>
            <a:off x="7071183" y="2357438"/>
            <a:ext cx="5120512" cy="116300"/>
          </a:xfrm>
          <a:prstGeom prst="rect">
            <a:avLst/>
          </a:prstGeom>
          <a:solidFill>
            <a:srgbClr val="3D3ECC"/>
          </a:solidFill>
          <a:ln/>
        </p:spPr>
      </p:sp>
      <p:sp>
        <p:nvSpPr>
          <p:cNvPr id="25" name="Shape 23"/>
          <p:cNvSpPr/>
          <p:nvPr/>
        </p:nvSpPr>
        <p:spPr>
          <a:xfrm>
            <a:off x="7071183" y="2464594"/>
            <a:ext cx="5120512" cy="116300"/>
          </a:xfrm>
          <a:prstGeom prst="rect">
            <a:avLst/>
          </a:prstGeom>
          <a:solidFill>
            <a:srgbClr val="3C3FCC"/>
          </a:solidFill>
          <a:ln/>
        </p:spPr>
      </p:sp>
      <p:sp>
        <p:nvSpPr>
          <p:cNvPr id="26" name="Shape 24"/>
          <p:cNvSpPr/>
          <p:nvPr/>
        </p:nvSpPr>
        <p:spPr>
          <a:xfrm>
            <a:off x="7071183" y="2571750"/>
            <a:ext cx="5120512" cy="116300"/>
          </a:xfrm>
          <a:prstGeom prst="rect">
            <a:avLst/>
          </a:prstGeom>
          <a:solidFill>
            <a:srgbClr val="3B40CD"/>
          </a:solidFill>
          <a:ln/>
        </p:spPr>
      </p:sp>
      <p:sp>
        <p:nvSpPr>
          <p:cNvPr id="27" name="Shape 25"/>
          <p:cNvSpPr/>
          <p:nvPr/>
        </p:nvSpPr>
        <p:spPr>
          <a:xfrm>
            <a:off x="7071183" y="2678906"/>
            <a:ext cx="5120512" cy="116300"/>
          </a:xfrm>
          <a:prstGeom prst="rect">
            <a:avLst/>
          </a:prstGeom>
          <a:solidFill>
            <a:srgbClr val="3B41CD"/>
          </a:solidFill>
          <a:ln/>
        </p:spPr>
      </p:sp>
      <p:sp>
        <p:nvSpPr>
          <p:cNvPr id="28" name="Shape 26"/>
          <p:cNvSpPr/>
          <p:nvPr/>
        </p:nvSpPr>
        <p:spPr>
          <a:xfrm>
            <a:off x="7071183" y="2786063"/>
            <a:ext cx="5120512" cy="116300"/>
          </a:xfrm>
          <a:prstGeom prst="rect">
            <a:avLst/>
          </a:prstGeom>
          <a:solidFill>
            <a:srgbClr val="3A42CE"/>
          </a:solidFill>
          <a:ln/>
        </p:spPr>
      </p:sp>
      <p:sp>
        <p:nvSpPr>
          <p:cNvPr id="29" name="Shape 27"/>
          <p:cNvSpPr/>
          <p:nvPr/>
        </p:nvSpPr>
        <p:spPr>
          <a:xfrm>
            <a:off x="7071183" y="2893219"/>
            <a:ext cx="5120512" cy="116300"/>
          </a:xfrm>
          <a:prstGeom prst="rect">
            <a:avLst/>
          </a:prstGeom>
          <a:solidFill>
            <a:srgbClr val="3943CE"/>
          </a:solidFill>
          <a:ln/>
        </p:spPr>
      </p:sp>
      <p:sp>
        <p:nvSpPr>
          <p:cNvPr id="30" name="Shape 28"/>
          <p:cNvSpPr/>
          <p:nvPr/>
        </p:nvSpPr>
        <p:spPr>
          <a:xfrm>
            <a:off x="7071183" y="3000375"/>
            <a:ext cx="5120512" cy="116300"/>
          </a:xfrm>
          <a:prstGeom prst="rect">
            <a:avLst/>
          </a:prstGeom>
          <a:solidFill>
            <a:srgbClr val="3844CE"/>
          </a:solidFill>
          <a:ln/>
        </p:spPr>
      </p:sp>
      <p:sp>
        <p:nvSpPr>
          <p:cNvPr id="31" name="Shape 29"/>
          <p:cNvSpPr/>
          <p:nvPr/>
        </p:nvSpPr>
        <p:spPr>
          <a:xfrm>
            <a:off x="7071183" y="3107531"/>
            <a:ext cx="5120512" cy="116300"/>
          </a:xfrm>
          <a:prstGeom prst="rect">
            <a:avLst/>
          </a:prstGeom>
          <a:solidFill>
            <a:srgbClr val="3745CF"/>
          </a:solidFill>
          <a:ln/>
        </p:spPr>
      </p:sp>
      <p:sp>
        <p:nvSpPr>
          <p:cNvPr id="32" name="Shape 30"/>
          <p:cNvSpPr/>
          <p:nvPr/>
        </p:nvSpPr>
        <p:spPr>
          <a:xfrm>
            <a:off x="7071183" y="3214688"/>
            <a:ext cx="5120512" cy="116300"/>
          </a:xfrm>
          <a:prstGeom prst="rect">
            <a:avLst/>
          </a:prstGeom>
          <a:solidFill>
            <a:srgbClr val="3646CF"/>
          </a:solidFill>
          <a:ln/>
        </p:spPr>
      </p:sp>
      <p:sp>
        <p:nvSpPr>
          <p:cNvPr id="33" name="Shape 31"/>
          <p:cNvSpPr/>
          <p:nvPr/>
        </p:nvSpPr>
        <p:spPr>
          <a:xfrm>
            <a:off x="7071183" y="3321844"/>
            <a:ext cx="5120512" cy="116300"/>
          </a:xfrm>
          <a:prstGeom prst="rect">
            <a:avLst/>
          </a:prstGeom>
          <a:solidFill>
            <a:srgbClr val="3547D0"/>
          </a:solidFill>
          <a:ln/>
        </p:spPr>
      </p:sp>
      <p:sp>
        <p:nvSpPr>
          <p:cNvPr id="34" name="Shape 32"/>
          <p:cNvSpPr/>
          <p:nvPr/>
        </p:nvSpPr>
        <p:spPr>
          <a:xfrm>
            <a:off x="7071183" y="3429000"/>
            <a:ext cx="5120512" cy="116300"/>
          </a:xfrm>
          <a:prstGeom prst="rect">
            <a:avLst/>
          </a:prstGeom>
          <a:solidFill>
            <a:srgbClr val="3549D0"/>
          </a:solidFill>
          <a:ln/>
        </p:spPr>
      </p:sp>
      <p:sp>
        <p:nvSpPr>
          <p:cNvPr id="35" name="Shape 33"/>
          <p:cNvSpPr/>
          <p:nvPr/>
        </p:nvSpPr>
        <p:spPr>
          <a:xfrm>
            <a:off x="7071183" y="3536156"/>
            <a:ext cx="5120512" cy="116300"/>
          </a:xfrm>
          <a:prstGeom prst="rect">
            <a:avLst/>
          </a:prstGeom>
          <a:solidFill>
            <a:srgbClr val="344ACF"/>
          </a:solidFill>
          <a:ln/>
        </p:spPr>
      </p:sp>
      <p:sp>
        <p:nvSpPr>
          <p:cNvPr id="36" name="Shape 34"/>
          <p:cNvSpPr/>
          <p:nvPr/>
        </p:nvSpPr>
        <p:spPr>
          <a:xfrm>
            <a:off x="7071183" y="3643313"/>
            <a:ext cx="5120512" cy="116300"/>
          </a:xfrm>
          <a:prstGeom prst="rect">
            <a:avLst/>
          </a:prstGeom>
          <a:solidFill>
            <a:srgbClr val="334BCF"/>
          </a:solidFill>
          <a:ln/>
        </p:spPr>
      </p:sp>
      <p:sp>
        <p:nvSpPr>
          <p:cNvPr id="37" name="Shape 35"/>
          <p:cNvSpPr/>
          <p:nvPr/>
        </p:nvSpPr>
        <p:spPr>
          <a:xfrm>
            <a:off x="7071183" y="3750469"/>
            <a:ext cx="5120512" cy="116300"/>
          </a:xfrm>
          <a:prstGeom prst="rect">
            <a:avLst/>
          </a:prstGeom>
          <a:solidFill>
            <a:srgbClr val="324CCE"/>
          </a:solidFill>
          <a:ln/>
        </p:spPr>
      </p:sp>
      <p:sp>
        <p:nvSpPr>
          <p:cNvPr id="38" name="Shape 36"/>
          <p:cNvSpPr/>
          <p:nvPr/>
        </p:nvSpPr>
        <p:spPr>
          <a:xfrm>
            <a:off x="7071183" y="3857625"/>
            <a:ext cx="5120512" cy="116300"/>
          </a:xfrm>
          <a:prstGeom prst="rect">
            <a:avLst/>
          </a:prstGeom>
          <a:solidFill>
            <a:srgbClr val="314ECD"/>
          </a:solidFill>
          <a:ln/>
        </p:spPr>
      </p:sp>
      <p:sp>
        <p:nvSpPr>
          <p:cNvPr id="39" name="Shape 37"/>
          <p:cNvSpPr/>
          <p:nvPr/>
        </p:nvSpPr>
        <p:spPr>
          <a:xfrm>
            <a:off x="7071183" y="3964781"/>
            <a:ext cx="5120512" cy="116300"/>
          </a:xfrm>
          <a:prstGeom prst="rect">
            <a:avLst/>
          </a:prstGeom>
          <a:solidFill>
            <a:srgbClr val="304FCD"/>
          </a:solidFill>
          <a:ln/>
        </p:spPr>
      </p:sp>
      <p:sp>
        <p:nvSpPr>
          <p:cNvPr id="40" name="Shape 38"/>
          <p:cNvSpPr/>
          <p:nvPr/>
        </p:nvSpPr>
        <p:spPr>
          <a:xfrm>
            <a:off x="7071183" y="4071938"/>
            <a:ext cx="5120512" cy="116300"/>
          </a:xfrm>
          <a:prstGeom prst="rect">
            <a:avLst/>
          </a:prstGeom>
          <a:solidFill>
            <a:srgbClr val="2F50CC"/>
          </a:solidFill>
          <a:ln/>
        </p:spPr>
      </p:sp>
      <p:sp>
        <p:nvSpPr>
          <p:cNvPr id="41" name="Shape 39"/>
          <p:cNvSpPr/>
          <p:nvPr/>
        </p:nvSpPr>
        <p:spPr>
          <a:xfrm>
            <a:off x="7071183" y="4179094"/>
            <a:ext cx="5120512" cy="116300"/>
          </a:xfrm>
          <a:prstGeom prst="rect">
            <a:avLst/>
          </a:prstGeom>
          <a:solidFill>
            <a:srgbClr val="2F51CC"/>
          </a:solidFill>
          <a:ln/>
        </p:spPr>
      </p:sp>
      <p:sp>
        <p:nvSpPr>
          <p:cNvPr id="42" name="Shape 40"/>
          <p:cNvSpPr/>
          <p:nvPr/>
        </p:nvSpPr>
        <p:spPr>
          <a:xfrm>
            <a:off x="7071183" y="4286250"/>
            <a:ext cx="5120512" cy="116300"/>
          </a:xfrm>
          <a:prstGeom prst="rect">
            <a:avLst/>
          </a:prstGeom>
          <a:solidFill>
            <a:srgbClr val="2E53CB"/>
          </a:solidFill>
          <a:ln/>
        </p:spPr>
      </p:sp>
      <p:sp>
        <p:nvSpPr>
          <p:cNvPr id="43" name="Shape 41"/>
          <p:cNvSpPr/>
          <p:nvPr/>
        </p:nvSpPr>
        <p:spPr>
          <a:xfrm>
            <a:off x="7071183" y="4393406"/>
            <a:ext cx="5120512" cy="116300"/>
          </a:xfrm>
          <a:prstGeom prst="rect">
            <a:avLst/>
          </a:prstGeom>
          <a:solidFill>
            <a:srgbClr val="2D54CB"/>
          </a:solidFill>
          <a:ln/>
        </p:spPr>
      </p:sp>
      <p:sp>
        <p:nvSpPr>
          <p:cNvPr id="44" name="Shape 42"/>
          <p:cNvSpPr/>
          <p:nvPr/>
        </p:nvSpPr>
        <p:spPr>
          <a:xfrm>
            <a:off x="7071183" y="4500563"/>
            <a:ext cx="5120512" cy="116300"/>
          </a:xfrm>
          <a:prstGeom prst="rect">
            <a:avLst/>
          </a:prstGeom>
          <a:solidFill>
            <a:srgbClr val="2C55CA"/>
          </a:solidFill>
          <a:ln/>
        </p:spPr>
      </p:sp>
      <p:sp>
        <p:nvSpPr>
          <p:cNvPr id="45" name="Shape 43"/>
          <p:cNvSpPr/>
          <p:nvPr/>
        </p:nvSpPr>
        <p:spPr>
          <a:xfrm>
            <a:off x="7071183" y="4607719"/>
            <a:ext cx="5120512" cy="116300"/>
          </a:xfrm>
          <a:prstGeom prst="rect">
            <a:avLst/>
          </a:prstGeom>
          <a:solidFill>
            <a:srgbClr val="2B56C9"/>
          </a:solidFill>
          <a:ln/>
        </p:spPr>
      </p:sp>
      <p:sp>
        <p:nvSpPr>
          <p:cNvPr id="46" name="Shape 44"/>
          <p:cNvSpPr/>
          <p:nvPr/>
        </p:nvSpPr>
        <p:spPr>
          <a:xfrm>
            <a:off x="7071183" y="4714875"/>
            <a:ext cx="5120512" cy="116300"/>
          </a:xfrm>
          <a:prstGeom prst="rect">
            <a:avLst/>
          </a:prstGeom>
          <a:solidFill>
            <a:srgbClr val="2A57C9"/>
          </a:solidFill>
          <a:ln/>
        </p:spPr>
      </p:sp>
      <p:sp>
        <p:nvSpPr>
          <p:cNvPr id="47" name="Shape 45"/>
          <p:cNvSpPr/>
          <p:nvPr/>
        </p:nvSpPr>
        <p:spPr>
          <a:xfrm>
            <a:off x="7071183" y="4822031"/>
            <a:ext cx="5120512" cy="116300"/>
          </a:xfrm>
          <a:prstGeom prst="rect">
            <a:avLst/>
          </a:prstGeom>
          <a:solidFill>
            <a:srgbClr val="2959C8"/>
          </a:solidFill>
          <a:ln/>
        </p:spPr>
      </p:sp>
      <p:sp>
        <p:nvSpPr>
          <p:cNvPr id="48" name="Shape 46"/>
          <p:cNvSpPr/>
          <p:nvPr/>
        </p:nvSpPr>
        <p:spPr>
          <a:xfrm>
            <a:off x="7071183" y="4929188"/>
            <a:ext cx="5120512" cy="116300"/>
          </a:xfrm>
          <a:prstGeom prst="rect">
            <a:avLst/>
          </a:prstGeom>
          <a:solidFill>
            <a:srgbClr val="295AC8"/>
          </a:solidFill>
          <a:ln/>
        </p:spPr>
      </p:sp>
      <p:sp>
        <p:nvSpPr>
          <p:cNvPr id="49" name="Shape 47"/>
          <p:cNvSpPr/>
          <p:nvPr/>
        </p:nvSpPr>
        <p:spPr>
          <a:xfrm>
            <a:off x="7071183" y="5036344"/>
            <a:ext cx="5120512" cy="116300"/>
          </a:xfrm>
          <a:prstGeom prst="rect">
            <a:avLst/>
          </a:prstGeom>
          <a:solidFill>
            <a:srgbClr val="285BC7"/>
          </a:solidFill>
          <a:ln/>
        </p:spPr>
      </p:sp>
      <p:sp>
        <p:nvSpPr>
          <p:cNvPr id="50" name="Shape 48"/>
          <p:cNvSpPr/>
          <p:nvPr/>
        </p:nvSpPr>
        <p:spPr>
          <a:xfrm>
            <a:off x="7071183" y="5143500"/>
            <a:ext cx="5120512" cy="116300"/>
          </a:xfrm>
          <a:prstGeom prst="rect">
            <a:avLst/>
          </a:prstGeom>
          <a:solidFill>
            <a:srgbClr val="275CC7"/>
          </a:solidFill>
          <a:ln/>
        </p:spPr>
      </p:sp>
      <p:sp>
        <p:nvSpPr>
          <p:cNvPr id="51" name="Shape 49"/>
          <p:cNvSpPr/>
          <p:nvPr/>
        </p:nvSpPr>
        <p:spPr>
          <a:xfrm>
            <a:off x="7071183" y="5250656"/>
            <a:ext cx="5120512" cy="116300"/>
          </a:xfrm>
          <a:prstGeom prst="rect">
            <a:avLst/>
          </a:prstGeom>
          <a:solidFill>
            <a:srgbClr val="265EC6"/>
          </a:solidFill>
          <a:ln/>
        </p:spPr>
      </p:sp>
      <p:sp>
        <p:nvSpPr>
          <p:cNvPr id="52" name="Shape 50"/>
          <p:cNvSpPr/>
          <p:nvPr/>
        </p:nvSpPr>
        <p:spPr>
          <a:xfrm>
            <a:off x="7071183" y="5357813"/>
            <a:ext cx="5120512" cy="116300"/>
          </a:xfrm>
          <a:prstGeom prst="rect">
            <a:avLst/>
          </a:prstGeom>
          <a:solidFill>
            <a:srgbClr val="255FC5"/>
          </a:solidFill>
          <a:ln/>
        </p:spPr>
      </p:sp>
      <p:sp>
        <p:nvSpPr>
          <p:cNvPr id="53" name="Shape 51"/>
          <p:cNvSpPr/>
          <p:nvPr/>
        </p:nvSpPr>
        <p:spPr>
          <a:xfrm>
            <a:off x="7071183" y="5464969"/>
            <a:ext cx="5120512" cy="116300"/>
          </a:xfrm>
          <a:prstGeom prst="rect">
            <a:avLst/>
          </a:prstGeom>
          <a:solidFill>
            <a:srgbClr val="2460C5"/>
          </a:solidFill>
          <a:ln/>
        </p:spPr>
      </p:sp>
      <p:sp>
        <p:nvSpPr>
          <p:cNvPr id="54" name="Shape 52"/>
          <p:cNvSpPr/>
          <p:nvPr/>
        </p:nvSpPr>
        <p:spPr>
          <a:xfrm>
            <a:off x="7071183" y="5572125"/>
            <a:ext cx="5120512" cy="116300"/>
          </a:xfrm>
          <a:prstGeom prst="rect">
            <a:avLst/>
          </a:prstGeom>
          <a:solidFill>
            <a:srgbClr val="2361C4"/>
          </a:solidFill>
          <a:ln/>
        </p:spPr>
      </p:sp>
      <p:sp>
        <p:nvSpPr>
          <p:cNvPr id="55" name="Shape 53"/>
          <p:cNvSpPr/>
          <p:nvPr/>
        </p:nvSpPr>
        <p:spPr>
          <a:xfrm>
            <a:off x="7071183" y="5679281"/>
            <a:ext cx="5120512" cy="116300"/>
          </a:xfrm>
          <a:prstGeom prst="rect">
            <a:avLst/>
          </a:prstGeom>
          <a:solidFill>
            <a:srgbClr val="2363C4"/>
          </a:solidFill>
          <a:ln/>
        </p:spPr>
      </p:sp>
      <p:sp>
        <p:nvSpPr>
          <p:cNvPr id="56" name="Shape 54"/>
          <p:cNvSpPr/>
          <p:nvPr/>
        </p:nvSpPr>
        <p:spPr>
          <a:xfrm>
            <a:off x="7071183" y="5786438"/>
            <a:ext cx="5120512" cy="116300"/>
          </a:xfrm>
          <a:prstGeom prst="rect">
            <a:avLst/>
          </a:prstGeom>
          <a:solidFill>
            <a:srgbClr val="2264C3"/>
          </a:solidFill>
          <a:ln/>
        </p:spPr>
      </p:sp>
      <p:sp>
        <p:nvSpPr>
          <p:cNvPr id="57" name="Shape 55"/>
          <p:cNvSpPr/>
          <p:nvPr/>
        </p:nvSpPr>
        <p:spPr>
          <a:xfrm>
            <a:off x="7071183" y="5893594"/>
            <a:ext cx="5120512" cy="116300"/>
          </a:xfrm>
          <a:prstGeom prst="rect">
            <a:avLst/>
          </a:prstGeom>
          <a:solidFill>
            <a:srgbClr val="2165C3"/>
          </a:solidFill>
          <a:ln/>
        </p:spPr>
      </p:sp>
      <p:sp>
        <p:nvSpPr>
          <p:cNvPr id="58" name="Shape 56"/>
          <p:cNvSpPr/>
          <p:nvPr/>
        </p:nvSpPr>
        <p:spPr>
          <a:xfrm>
            <a:off x="7071183" y="6000750"/>
            <a:ext cx="5120512" cy="116300"/>
          </a:xfrm>
          <a:prstGeom prst="rect">
            <a:avLst/>
          </a:prstGeom>
          <a:solidFill>
            <a:srgbClr val="2066C2"/>
          </a:solidFill>
          <a:ln/>
        </p:spPr>
      </p:sp>
      <p:sp>
        <p:nvSpPr>
          <p:cNvPr id="59" name="Shape 57"/>
          <p:cNvSpPr/>
          <p:nvPr/>
        </p:nvSpPr>
        <p:spPr>
          <a:xfrm>
            <a:off x="7071183" y="6107906"/>
            <a:ext cx="5120512" cy="116300"/>
          </a:xfrm>
          <a:prstGeom prst="rect">
            <a:avLst/>
          </a:prstGeom>
          <a:solidFill>
            <a:srgbClr val="1F68C1"/>
          </a:solidFill>
          <a:ln/>
        </p:spPr>
      </p:sp>
      <p:sp>
        <p:nvSpPr>
          <p:cNvPr id="60" name="Shape 58"/>
          <p:cNvSpPr/>
          <p:nvPr/>
        </p:nvSpPr>
        <p:spPr>
          <a:xfrm>
            <a:off x="7071183" y="6215063"/>
            <a:ext cx="5120512" cy="116300"/>
          </a:xfrm>
          <a:prstGeom prst="rect">
            <a:avLst/>
          </a:prstGeom>
          <a:solidFill>
            <a:srgbClr val="1E69C1"/>
          </a:solidFill>
          <a:ln/>
        </p:spPr>
      </p:sp>
      <p:sp>
        <p:nvSpPr>
          <p:cNvPr id="61" name="Shape 59"/>
          <p:cNvSpPr/>
          <p:nvPr/>
        </p:nvSpPr>
        <p:spPr>
          <a:xfrm>
            <a:off x="7071183" y="6322219"/>
            <a:ext cx="5120512" cy="116300"/>
          </a:xfrm>
          <a:prstGeom prst="rect">
            <a:avLst/>
          </a:prstGeom>
          <a:solidFill>
            <a:srgbClr val="1D6AC0"/>
          </a:solidFill>
          <a:ln/>
        </p:spPr>
      </p:sp>
      <p:sp>
        <p:nvSpPr>
          <p:cNvPr id="62" name="Shape 60"/>
          <p:cNvSpPr/>
          <p:nvPr/>
        </p:nvSpPr>
        <p:spPr>
          <a:xfrm>
            <a:off x="7071183" y="6429375"/>
            <a:ext cx="5120512" cy="116300"/>
          </a:xfrm>
          <a:prstGeom prst="rect">
            <a:avLst/>
          </a:prstGeom>
          <a:solidFill>
            <a:srgbClr val="1D6BC0"/>
          </a:solidFill>
          <a:ln/>
        </p:spPr>
      </p:sp>
      <p:sp>
        <p:nvSpPr>
          <p:cNvPr id="63" name="Shape 61"/>
          <p:cNvSpPr/>
          <p:nvPr/>
        </p:nvSpPr>
        <p:spPr>
          <a:xfrm>
            <a:off x="7071183" y="6536531"/>
            <a:ext cx="5120512" cy="116300"/>
          </a:xfrm>
          <a:prstGeom prst="rect">
            <a:avLst/>
          </a:prstGeom>
          <a:solidFill>
            <a:srgbClr val="1C6DBF"/>
          </a:solidFill>
          <a:ln/>
        </p:spPr>
      </p:sp>
      <p:sp>
        <p:nvSpPr>
          <p:cNvPr id="64" name="Shape 62"/>
          <p:cNvSpPr/>
          <p:nvPr/>
        </p:nvSpPr>
        <p:spPr>
          <a:xfrm>
            <a:off x="7071183" y="6643688"/>
            <a:ext cx="5120512" cy="116300"/>
          </a:xfrm>
          <a:prstGeom prst="rect">
            <a:avLst/>
          </a:prstGeom>
          <a:solidFill>
            <a:srgbClr val="1B6EBF"/>
          </a:solidFill>
          <a:ln/>
        </p:spPr>
      </p:sp>
      <p:sp>
        <p:nvSpPr>
          <p:cNvPr id="65" name="Shape 63"/>
          <p:cNvSpPr/>
          <p:nvPr/>
        </p:nvSpPr>
        <p:spPr>
          <a:xfrm>
            <a:off x="7071183" y="6750844"/>
            <a:ext cx="5120512" cy="116300"/>
          </a:xfrm>
          <a:prstGeom prst="rect">
            <a:avLst/>
          </a:prstGeom>
          <a:solidFill>
            <a:srgbClr val="1A6FBE"/>
          </a:solidFill>
          <a:ln/>
        </p:spPr>
      </p:sp>
      <p:sp>
        <p:nvSpPr>
          <p:cNvPr id="66" name="Text 64"/>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TWO CATEGORIES. NEITHER FITS.</a:t>
            </a:r>
            <a:endParaRPr lang="en-US" sz="1100" dirty="0"/>
          </a:p>
        </p:txBody>
      </p:sp>
      <p:sp>
        <p:nvSpPr>
          <p:cNvPr id="67" name="Text 65"/>
          <p:cNvSpPr/>
          <p:nvPr/>
        </p:nvSpPr>
        <p:spPr>
          <a:xfrm>
            <a:off x="548640" y="1417320"/>
            <a:ext cx="6156783" cy="2194560"/>
          </a:xfrm>
          <a:prstGeom prst="rect">
            <a:avLst/>
          </a:prstGeom>
          <a:noFill/>
          <a:ln/>
        </p:spPr>
        <p:txBody>
          <a:bodyPr wrap="square" lIns="0" tIns="0" rIns="0" bIns="0" rtlCol="0" anchor="t"/>
          <a:lstStyle/>
          <a:p>
            <a:pPr algn="l" indent="0" marL="0">
              <a:buNone/>
            </a:pPr>
            <a:r>
              <a:rPr lang="en-US" sz="4200" b="1" spc="-50" kern="0" dirty="0">
                <a:solidFill>
                  <a:srgbClr val="0F1733"/>
                </a:solidFill>
                <a:latin typeface="Calibri" pitchFamily="34" charset="0"/>
                <a:ea typeface="Calibri" pitchFamily="34" charset="-122"/>
                <a:cs typeface="Calibri" pitchFamily="34" charset="-120"/>
              </a:rPr>
              <a:t>B2B founders sit in a tooling gap nobody is serving.</a:t>
            </a:r>
            <a:endParaRPr lang="en-US" sz="4200" dirty="0"/>
          </a:p>
        </p:txBody>
      </p:sp>
      <p:sp>
        <p:nvSpPr>
          <p:cNvPr id="68" name="Text 66"/>
          <p:cNvSpPr/>
          <p:nvPr/>
        </p:nvSpPr>
        <p:spPr>
          <a:xfrm>
            <a:off x="548640" y="3657600"/>
            <a:ext cx="6156783" cy="2377440"/>
          </a:xfrm>
          <a:prstGeom prst="rect">
            <a:avLst/>
          </a:prstGeom>
          <a:noFill/>
          <a:ln/>
        </p:spPr>
        <p:txBody>
          <a:bodyPr wrap="square" lIns="0" tIns="0" rIns="0" bIns="0" rtlCol="0" anchor="t"/>
          <a:lstStyle/>
          <a:p>
            <a:pPr algn="l" indent="0" marL="0">
              <a:spcAft>
                <a:spcPts val="800"/>
              </a:spcAft>
              <a:buNone/>
            </a:pPr>
            <a:r>
              <a:rPr lang="en-US" sz="1500" dirty="0">
                <a:solidFill>
                  <a:srgbClr val="2A3358"/>
                </a:solidFill>
                <a:latin typeface="Calibri" pitchFamily="34" charset="0"/>
                <a:ea typeface="Calibri" pitchFamily="34" charset="-122"/>
                <a:cs typeface="Calibri" pitchFamily="34" charset="-120"/>
              </a:rPr>
              <a:t>Existing influencer platforms over-index on Instagram fashion creators and seven-figure budgets. Existing CRMs treat creators as random contacts with no enrichment, no platform context, and no native outreach. The shape of B2B creator outreach is its own product category.</a:t>
            </a:r>
            <a:endParaRPr lang="en-US" sz="1500" dirty="0"/>
          </a:p>
        </p:txBody>
      </p:sp>
      <p:sp>
        <p:nvSpPr>
          <p:cNvPr id="69" name="Text 67"/>
          <p:cNvSpPr/>
          <p:nvPr/>
        </p:nvSpPr>
        <p:spPr>
          <a:xfrm>
            <a:off x="7436943" y="1371600"/>
            <a:ext cx="4388992" cy="4114800"/>
          </a:xfrm>
          <a:prstGeom prst="rect">
            <a:avLst/>
          </a:prstGeom>
          <a:noFill/>
          <a:ln/>
        </p:spPr>
        <p:txBody>
          <a:bodyPr wrap="square" lIns="0" tIns="0" rIns="0" bIns="0" rtlCol="0" anchor="t"/>
          <a:lstStyle/>
          <a:p>
            <a:pPr algn="l" indent="0" marL="0">
              <a:buNone/>
            </a:pPr>
            <a:r>
              <a:rPr lang="en-US" sz="2800" i="1" dirty="0">
                <a:solidFill>
                  <a:srgbClr val="FFFFFF"/>
                </a:solidFill>
                <a:latin typeface="Calibri" pitchFamily="34" charset="0"/>
                <a:ea typeface="Calibri" pitchFamily="34" charset="-122"/>
                <a:cs typeface="Calibri" pitchFamily="34" charset="-120"/>
              </a:rPr>
              <a:t>Influencer</a:t>
            </a:r>
            <a:endParaRPr lang="en-US" sz="2800" dirty="0"/>
          </a:p>
          <a:p>
            <a:pPr algn="l" indent="0" marL="0">
              <a:buNone/>
            </a:pPr>
            <a:r>
              <a:rPr lang="en-US" sz="2800" i="1" dirty="0">
                <a:solidFill>
                  <a:srgbClr val="FFFFFF"/>
                </a:solidFill>
                <a:latin typeface="Calibri" pitchFamily="34" charset="0"/>
                <a:ea typeface="Calibri" pitchFamily="34" charset="-122"/>
                <a:cs typeface="Calibri" pitchFamily="34" charset="-120"/>
              </a:rPr>
              <a:t>tools</a:t>
            </a:r>
            <a:endParaRPr lang="en-US" sz="2800" dirty="0"/>
          </a:p>
          <a:p>
            <a:pPr algn="l" indent="0" marL="0">
              <a:buNone/>
            </a:pPr>
            <a:r>
              <a:rPr lang="en-US" sz="2800" i="1" dirty="0">
                <a:solidFill>
                  <a:srgbClr val="FFFFFF"/>
                </a:solidFill>
                <a:latin typeface="Calibri" pitchFamily="34" charset="0"/>
                <a:ea typeface="Calibri" pitchFamily="34" charset="-122"/>
                <a:cs typeface="Calibri" pitchFamily="34" charset="-120"/>
              </a:rPr>
              <a:t>+</a:t>
            </a:r>
            <a:endParaRPr lang="en-US" sz="2800" dirty="0"/>
          </a:p>
          <a:p>
            <a:pPr algn="l" indent="0" marL="0">
              <a:buNone/>
            </a:pPr>
            <a:r>
              <a:rPr lang="en-US" sz="2800" i="1" dirty="0">
                <a:solidFill>
                  <a:srgbClr val="FFFFFF"/>
                </a:solidFill>
                <a:latin typeface="Calibri" pitchFamily="34" charset="0"/>
                <a:ea typeface="Calibri" pitchFamily="34" charset="-122"/>
                <a:cs typeface="Calibri" pitchFamily="34" charset="-120"/>
              </a:rPr>
              <a:t>B2B CRMs</a:t>
            </a:r>
            <a:endParaRPr lang="en-US" sz="2800" dirty="0"/>
          </a:p>
          <a:p>
            <a:pPr algn="l" indent="0" marL="0">
              <a:buNone/>
            </a:pPr>
            <a:r>
              <a:rPr lang="en-US" sz="2800" i="1" dirty="0">
                <a:solidFill>
                  <a:srgbClr val="FFFFFF"/>
                </a:solidFill>
                <a:latin typeface="Calibri" pitchFamily="34" charset="0"/>
                <a:ea typeface="Calibri" pitchFamily="34" charset="-122"/>
                <a:cs typeface="Calibri" pitchFamily="34" charset="-120"/>
              </a:rPr>
              <a:t>=</a:t>
            </a:r>
            <a:endParaRPr lang="en-US" sz="2800" dirty="0"/>
          </a:p>
          <a:p>
            <a:pPr algn="l" indent="0" marL="0">
              <a:buNone/>
            </a:pPr>
            <a:r>
              <a:rPr lang="en-US" sz="2800" i="1" dirty="0">
                <a:solidFill>
                  <a:srgbClr val="FFFFFF"/>
                </a:solidFill>
                <a:latin typeface="Calibri" pitchFamily="34" charset="0"/>
                <a:ea typeface="Calibri" pitchFamily="34" charset="-122"/>
                <a:cs typeface="Calibri" pitchFamily="34" charset="-120"/>
              </a:rPr>
              <a:t>neither fits.</a:t>
            </a:r>
            <a:endParaRPr lang="en-US" sz="28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04 · Why existing tools fail  ·  vB</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023 / 126</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WHAT'S BROKEN</a:t>
            </a:r>
            <a:endParaRPr lang="en-US" sz="1100" dirty="0"/>
          </a:p>
        </p:txBody>
      </p:sp>
      <p:sp>
        <p:nvSpPr>
          <p:cNvPr id="3" name="Text 1"/>
          <p:cNvSpPr/>
          <p:nvPr/>
        </p:nvSpPr>
        <p:spPr>
          <a:xfrm>
            <a:off x="548640" y="1417320"/>
            <a:ext cx="11094415" cy="1188720"/>
          </a:xfrm>
          <a:prstGeom prst="rect">
            <a:avLst/>
          </a:prstGeom>
          <a:noFill/>
          <a:ln/>
        </p:spPr>
        <p:txBody>
          <a:bodyPr wrap="square" lIns="0" tIns="0" rIns="0" bIns="0" rtlCol="0" anchor="t"/>
          <a:lstStyle/>
          <a:p>
            <a:pPr algn="l" indent="0" marL="0">
              <a:buNone/>
            </a:pPr>
            <a:r>
              <a:rPr lang="en-US" sz="3800" b="1" spc="-50" kern="0" dirty="0">
                <a:solidFill>
                  <a:srgbClr val="0F1733"/>
                </a:solidFill>
                <a:latin typeface="Calibri" pitchFamily="34" charset="0"/>
                <a:ea typeface="Calibri" pitchFamily="34" charset="-122"/>
                <a:cs typeface="Calibri" pitchFamily="34" charset="-120"/>
              </a:rPr>
              <a:t>Three reasons every existing tool fails this workflow.</a:t>
            </a:r>
            <a:endParaRPr lang="en-US" sz="3800" dirty="0"/>
          </a:p>
        </p:txBody>
      </p:sp>
      <p:sp>
        <p:nvSpPr>
          <p:cNvPr id="4" name="Shape 2"/>
          <p:cNvSpPr/>
          <p:nvPr/>
        </p:nvSpPr>
        <p:spPr>
          <a:xfrm>
            <a:off x="548640" y="3108960"/>
            <a:ext cx="3545738" cy="3017520"/>
          </a:xfrm>
          <a:prstGeom prst="roundRect">
            <a:avLst>
              <a:gd name="adj" fmla="val 3636"/>
            </a:avLst>
          </a:prstGeom>
          <a:solidFill>
            <a:srgbClr val="FFFFFF"/>
          </a:solidFill>
          <a:ln w="9525">
            <a:solidFill>
              <a:srgbClr val="E5E7F0"/>
            </a:solidFill>
            <a:prstDash val="solid"/>
          </a:ln>
        </p:spPr>
      </p:sp>
      <p:sp>
        <p:nvSpPr>
          <p:cNvPr id="5" name="Shape 3"/>
          <p:cNvSpPr/>
          <p:nvPr/>
        </p:nvSpPr>
        <p:spPr>
          <a:xfrm>
            <a:off x="548640" y="3108960"/>
            <a:ext cx="3545738" cy="73152"/>
          </a:xfrm>
          <a:prstGeom prst="rect">
            <a:avLst/>
          </a:prstGeom>
          <a:solidFill>
            <a:srgbClr val="5028C2"/>
          </a:solidFill>
          <a:ln/>
        </p:spPr>
      </p:sp>
      <p:sp>
        <p:nvSpPr>
          <p:cNvPr id="6" name="Shape 4"/>
          <p:cNvSpPr/>
          <p:nvPr/>
        </p:nvSpPr>
        <p:spPr>
          <a:xfrm>
            <a:off x="868680" y="3474720"/>
            <a:ext cx="457200" cy="457200"/>
          </a:xfrm>
          <a:prstGeom prst="ellipse">
            <a:avLst/>
          </a:prstGeom>
          <a:solidFill>
            <a:srgbClr val="5028C2"/>
          </a:solidFill>
          <a:ln/>
        </p:spPr>
      </p:sp>
      <p:sp>
        <p:nvSpPr>
          <p:cNvPr id="7" name="Text 5"/>
          <p:cNvSpPr/>
          <p:nvPr/>
        </p:nvSpPr>
        <p:spPr>
          <a:xfrm>
            <a:off x="868680"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8" name="Text 6"/>
          <p:cNvSpPr/>
          <p:nvPr/>
        </p:nvSpPr>
        <p:spPr>
          <a:xfrm>
            <a:off x="868680"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Wrong audience</a:t>
            </a:r>
            <a:endParaRPr lang="en-US" sz="1800" dirty="0"/>
          </a:p>
        </p:txBody>
      </p:sp>
      <p:sp>
        <p:nvSpPr>
          <p:cNvPr id="9" name="Text 7"/>
          <p:cNvSpPr/>
          <p:nvPr/>
        </p:nvSpPr>
        <p:spPr>
          <a:xfrm>
            <a:off x="868680"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Built for enterprise brand teams running $100K+ campaigns — not founders sending 200 personalized messages.</a:t>
            </a:r>
            <a:endParaRPr lang="en-US" sz="1300" dirty="0"/>
          </a:p>
        </p:txBody>
      </p:sp>
      <p:sp>
        <p:nvSpPr>
          <p:cNvPr id="10" name="Shape 8"/>
          <p:cNvSpPr/>
          <p:nvPr/>
        </p:nvSpPr>
        <p:spPr>
          <a:xfrm>
            <a:off x="4322978" y="3108960"/>
            <a:ext cx="3545738" cy="3017520"/>
          </a:xfrm>
          <a:prstGeom prst="roundRect">
            <a:avLst>
              <a:gd name="adj" fmla="val 3636"/>
            </a:avLst>
          </a:prstGeom>
          <a:solidFill>
            <a:srgbClr val="FFFFFF"/>
          </a:solidFill>
          <a:ln w="9525">
            <a:solidFill>
              <a:srgbClr val="E5E7F0"/>
            </a:solidFill>
            <a:prstDash val="solid"/>
          </a:ln>
        </p:spPr>
      </p:sp>
      <p:sp>
        <p:nvSpPr>
          <p:cNvPr id="11" name="Shape 9"/>
          <p:cNvSpPr/>
          <p:nvPr/>
        </p:nvSpPr>
        <p:spPr>
          <a:xfrm>
            <a:off x="4322978" y="3108960"/>
            <a:ext cx="3545738" cy="73152"/>
          </a:xfrm>
          <a:prstGeom prst="rect">
            <a:avLst/>
          </a:prstGeom>
          <a:solidFill>
            <a:srgbClr val="3548D0"/>
          </a:solidFill>
          <a:ln/>
        </p:spPr>
      </p:sp>
      <p:sp>
        <p:nvSpPr>
          <p:cNvPr id="12" name="Shape 10"/>
          <p:cNvSpPr/>
          <p:nvPr/>
        </p:nvSpPr>
        <p:spPr>
          <a:xfrm>
            <a:off x="4643018" y="3474720"/>
            <a:ext cx="457200" cy="457200"/>
          </a:xfrm>
          <a:prstGeom prst="ellipse">
            <a:avLst/>
          </a:prstGeom>
          <a:solidFill>
            <a:srgbClr val="3548D0"/>
          </a:solidFill>
          <a:ln/>
        </p:spPr>
      </p:sp>
      <p:sp>
        <p:nvSpPr>
          <p:cNvPr id="13" name="Text 11"/>
          <p:cNvSpPr/>
          <p:nvPr/>
        </p:nvSpPr>
        <p:spPr>
          <a:xfrm>
            <a:off x="4643018"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4" name="Text 12"/>
          <p:cNvSpPr/>
          <p:nvPr/>
        </p:nvSpPr>
        <p:spPr>
          <a:xfrm>
            <a:off x="4643018"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Wrong platform mix</a:t>
            </a:r>
            <a:endParaRPr lang="en-US" sz="1800" dirty="0"/>
          </a:p>
        </p:txBody>
      </p:sp>
      <p:sp>
        <p:nvSpPr>
          <p:cNvPr id="15" name="Text 13"/>
          <p:cNvSpPr/>
          <p:nvPr/>
        </p:nvSpPr>
        <p:spPr>
          <a:xfrm>
            <a:off x="4643018"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Most tools cover Instagram and TikTok only. B2B creator outreach happens on LinkedIn, YouTube, and X.</a:t>
            </a:r>
            <a:endParaRPr lang="en-US" sz="1300" dirty="0"/>
          </a:p>
        </p:txBody>
      </p:sp>
      <p:sp>
        <p:nvSpPr>
          <p:cNvPr id="16" name="Shape 14"/>
          <p:cNvSpPr/>
          <p:nvPr/>
        </p:nvSpPr>
        <p:spPr>
          <a:xfrm>
            <a:off x="8097317" y="3108960"/>
            <a:ext cx="3545738" cy="3017520"/>
          </a:xfrm>
          <a:prstGeom prst="roundRect">
            <a:avLst>
              <a:gd name="adj" fmla="val 3636"/>
            </a:avLst>
          </a:prstGeom>
          <a:solidFill>
            <a:srgbClr val="FFFFFF"/>
          </a:solidFill>
          <a:ln w="9525">
            <a:solidFill>
              <a:srgbClr val="E5E7F0"/>
            </a:solidFill>
            <a:prstDash val="solid"/>
          </a:ln>
        </p:spPr>
      </p:sp>
      <p:sp>
        <p:nvSpPr>
          <p:cNvPr id="17" name="Shape 15"/>
          <p:cNvSpPr/>
          <p:nvPr/>
        </p:nvSpPr>
        <p:spPr>
          <a:xfrm>
            <a:off x="8097317" y="3108960"/>
            <a:ext cx="3545738" cy="73152"/>
          </a:xfrm>
          <a:prstGeom prst="rect">
            <a:avLst/>
          </a:prstGeom>
          <a:solidFill>
            <a:srgbClr val="1A6FBE"/>
          </a:solidFill>
          <a:ln/>
        </p:spPr>
      </p:sp>
      <p:sp>
        <p:nvSpPr>
          <p:cNvPr id="18" name="Shape 16"/>
          <p:cNvSpPr/>
          <p:nvPr/>
        </p:nvSpPr>
        <p:spPr>
          <a:xfrm>
            <a:off x="8417357" y="3474720"/>
            <a:ext cx="457200" cy="457200"/>
          </a:xfrm>
          <a:prstGeom prst="ellipse">
            <a:avLst/>
          </a:prstGeom>
          <a:solidFill>
            <a:srgbClr val="1A6FBE"/>
          </a:solidFill>
          <a:ln/>
        </p:spPr>
      </p:sp>
      <p:sp>
        <p:nvSpPr>
          <p:cNvPr id="19" name="Text 17"/>
          <p:cNvSpPr/>
          <p:nvPr/>
        </p:nvSpPr>
        <p:spPr>
          <a:xfrm>
            <a:off x="8417357"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0" name="Text 18"/>
          <p:cNvSpPr/>
          <p:nvPr/>
        </p:nvSpPr>
        <p:spPr>
          <a:xfrm>
            <a:off x="8417357"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Wrong workflow</a:t>
            </a:r>
            <a:endParaRPr lang="en-US" sz="1800" dirty="0"/>
          </a:p>
        </p:txBody>
      </p:sp>
      <p:sp>
        <p:nvSpPr>
          <p:cNvPr id="21" name="Text 19"/>
          <p:cNvSpPr/>
          <p:nvPr/>
        </p:nvSpPr>
        <p:spPr>
          <a:xfrm>
            <a:off x="8417357"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No qualification layer. No native send. No CRM. Just a creator directory with an export button.</a:t>
            </a:r>
            <a:endParaRPr lang="en-US" sz="1300" dirty="0"/>
          </a:p>
        </p:txBody>
      </p:sp>
      <p:sp>
        <p:nvSpPr>
          <p:cNvPr id="22" name="Shape 20"/>
          <p:cNvSpPr/>
          <p:nvPr/>
        </p:nvSpPr>
        <p:spPr>
          <a:xfrm>
            <a:off x="548640" y="502920"/>
            <a:ext cx="292608" cy="292608"/>
          </a:xfrm>
          <a:prstGeom prst="roundRect">
            <a:avLst>
              <a:gd name="adj" fmla="val 25000"/>
            </a:avLst>
          </a:prstGeom>
          <a:solidFill>
            <a:srgbClr val="5028C2"/>
          </a:solidFill>
          <a:ln/>
        </p:spPr>
      </p:sp>
      <p:sp>
        <p:nvSpPr>
          <p:cNvPr id="23" name="Shape 21"/>
          <p:cNvSpPr/>
          <p:nvPr/>
        </p:nvSpPr>
        <p:spPr>
          <a:xfrm>
            <a:off x="548640" y="502920"/>
            <a:ext cx="292608" cy="292608"/>
          </a:xfrm>
          <a:prstGeom prst="roundRect">
            <a:avLst>
              <a:gd name="adj" fmla="val 25000"/>
            </a:avLst>
          </a:prstGeom>
          <a:solidFill>
            <a:srgbClr val="1A6FBE">
              <a:alpha val="50000"/>
            </a:srgbClr>
          </a:solidFill>
          <a:ln/>
        </p:spPr>
      </p:sp>
      <p:sp>
        <p:nvSpPr>
          <p:cNvPr id="24" name="Text 22"/>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5" name="Text 23"/>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6" name="Text 24"/>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04 · Why existing tools fail  ·  vC</a:t>
            </a:r>
            <a:endParaRPr lang="en-US" sz="900" dirty="0"/>
          </a:p>
        </p:txBody>
      </p:sp>
      <p:sp>
        <p:nvSpPr>
          <p:cNvPr id="27" name="Text 25"/>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28" name="Text 26"/>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024 / 126</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320040" cy="116300"/>
          </a:xfrm>
          <a:prstGeom prst="rect">
            <a:avLst/>
          </a:prstGeom>
          <a:solidFill>
            <a:srgbClr val="5028C2"/>
          </a:solidFill>
          <a:ln/>
        </p:spPr>
      </p:sp>
      <p:sp>
        <p:nvSpPr>
          <p:cNvPr id="3" name="Shape 1"/>
          <p:cNvSpPr/>
          <p:nvPr/>
        </p:nvSpPr>
        <p:spPr>
          <a:xfrm>
            <a:off x="0" y="107156"/>
            <a:ext cx="320040" cy="116300"/>
          </a:xfrm>
          <a:prstGeom prst="rect">
            <a:avLst/>
          </a:prstGeom>
          <a:solidFill>
            <a:srgbClr val="4F29C2"/>
          </a:solidFill>
          <a:ln/>
        </p:spPr>
      </p:sp>
      <p:sp>
        <p:nvSpPr>
          <p:cNvPr id="4" name="Shape 2"/>
          <p:cNvSpPr/>
          <p:nvPr/>
        </p:nvSpPr>
        <p:spPr>
          <a:xfrm>
            <a:off x="0" y="214313"/>
            <a:ext cx="320040" cy="116300"/>
          </a:xfrm>
          <a:prstGeom prst="rect">
            <a:avLst/>
          </a:prstGeom>
          <a:solidFill>
            <a:srgbClr val="4E2AC3"/>
          </a:solidFill>
          <a:ln/>
        </p:spPr>
      </p:sp>
      <p:sp>
        <p:nvSpPr>
          <p:cNvPr id="5" name="Shape 3"/>
          <p:cNvSpPr/>
          <p:nvPr/>
        </p:nvSpPr>
        <p:spPr>
          <a:xfrm>
            <a:off x="0" y="321469"/>
            <a:ext cx="320040" cy="116300"/>
          </a:xfrm>
          <a:prstGeom prst="rect">
            <a:avLst/>
          </a:prstGeom>
          <a:solidFill>
            <a:srgbClr val="4D2BC3"/>
          </a:solidFill>
          <a:ln/>
        </p:spPr>
      </p:sp>
      <p:sp>
        <p:nvSpPr>
          <p:cNvPr id="6" name="Shape 4"/>
          <p:cNvSpPr/>
          <p:nvPr/>
        </p:nvSpPr>
        <p:spPr>
          <a:xfrm>
            <a:off x="0" y="428625"/>
            <a:ext cx="320040" cy="116300"/>
          </a:xfrm>
          <a:prstGeom prst="rect">
            <a:avLst/>
          </a:prstGeom>
          <a:solidFill>
            <a:srgbClr val="4D2CC4"/>
          </a:solidFill>
          <a:ln/>
        </p:spPr>
      </p:sp>
      <p:sp>
        <p:nvSpPr>
          <p:cNvPr id="7" name="Shape 5"/>
          <p:cNvSpPr/>
          <p:nvPr/>
        </p:nvSpPr>
        <p:spPr>
          <a:xfrm>
            <a:off x="0" y="535781"/>
            <a:ext cx="320040" cy="116300"/>
          </a:xfrm>
          <a:prstGeom prst="rect">
            <a:avLst/>
          </a:prstGeom>
          <a:solidFill>
            <a:srgbClr val="4C2DC4"/>
          </a:solidFill>
          <a:ln/>
        </p:spPr>
      </p:sp>
      <p:sp>
        <p:nvSpPr>
          <p:cNvPr id="8" name="Shape 6"/>
          <p:cNvSpPr/>
          <p:nvPr/>
        </p:nvSpPr>
        <p:spPr>
          <a:xfrm>
            <a:off x="0" y="642938"/>
            <a:ext cx="320040" cy="116300"/>
          </a:xfrm>
          <a:prstGeom prst="rect">
            <a:avLst/>
          </a:prstGeom>
          <a:solidFill>
            <a:srgbClr val="4B2EC5"/>
          </a:solidFill>
          <a:ln/>
        </p:spPr>
      </p:sp>
      <p:sp>
        <p:nvSpPr>
          <p:cNvPr id="9" name="Shape 7"/>
          <p:cNvSpPr/>
          <p:nvPr/>
        </p:nvSpPr>
        <p:spPr>
          <a:xfrm>
            <a:off x="0" y="750094"/>
            <a:ext cx="320040" cy="116300"/>
          </a:xfrm>
          <a:prstGeom prst="rect">
            <a:avLst/>
          </a:prstGeom>
          <a:solidFill>
            <a:srgbClr val="4A2FC5"/>
          </a:solidFill>
          <a:ln/>
        </p:spPr>
      </p:sp>
      <p:sp>
        <p:nvSpPr>
          <p:cNvPr id="10" name="Shape 8"/>
          <p:cNvSpPr/>
          <p:nvPr/>
        </p:nvSpPr>
        <p:spPr>
          <a:xfrm>
            <a:off x="0" y="857250"/>
            <a:ext cx="320040" cy="116300"/>
          </a:xfrm>
          <a:prstGeom prst="rect">
            <a:avLst/>
          </a:prstGeom>
          <a:solidFill>
            <a:srgbClr val="4930C6"/>
          </a:solidFill>
          <a:ln/>
        </p:spPr>
      </p:sp>
      <p:sp>
        <p:nvSpPr>
          <p:cNvPr id="11" name="Shape 9"/>
          <p:cNvSpPr/>
          <p:nvPr/>
        </p:nvSpPr>
        <p:spPr>
          <a:xfrm>
            <a:off x="0" y="964406"/>
            <a:ext cx="320040" cy="116300"/>
          </a:xfrm>
          <a:prstGeom prst="rect">
            <a:avLst/>
          </a:prstGeom>
          <a:solidFill>
            <a:srgbClr val="4831C6"/>
          </a:solidFill>
          <a:ln/>
        </p:spPr>
      </p:sp>
      <p:sp>
        <p:nvSpPr>
          <p:cNvPr id="12" name="Shape 10"/>
          <p:cNvSpPr/>
          <p:nvPr/>
        </p:nvSpPr>
        <p:spPr>
          <a:xfrm>
            <a:off x="0" y="1071563"/>
            <a:ext cx="320040" cy="116300"/>
          </a:xfrm>
          <a:prstGeom prst="rect">
            <a:avLst/>
          </a:prstGeom>
          <a:solidFill>
            <a:srgbClr val="4732C6"/>
          </a:solidFill>
          <a:ln/>
        </p:spPr>
      </p:sp>
      <p:sp>
        <p:nvSpPr>
          <p:cNvPr id="13" name="Shape 11"/>
          <p:cNvSpPr/>
          <p:nvPr/>
        </p:nvSpPr>
        <p:spPr>
          <a:xfrm>
            <a:off x="0" y="1178719"/>
            <a:ext cx="320040" cy="116300"/>
          </a:xfrm>
          <a:prstGeom prst="rect">
            <a:avLst/>
          </a:prstGeom>
          <a:solidFill>
            <a:srgbClr val="4733C7"/>
          </a:solidFill>
          <a:ln/>
        </p:spPr>
      </p:sp>
      <p:sp>
        <p:nvSpPr>
          <p:cNvPr id="14" name="Shape 12"/>
          <p:cNvSpPr/>
          <p:nvPr/>
        </p:nvSpPr>
        <p:spPr>
          <a:xfrm>
            <a:off x="0" y="1285875"/>
            <a:ext cx="320040" cy="116300"/>
          </a:xfrm>
          <a:prstGeom prst="rect">
            <a:avLst/>
          </a:prstGeom>
          <a:solidFill>
            <a:srgbClr val="4634C7"/>
          </a:solidFill>
          <a:ln/>
        </p:spPr>
      </p:sp>
      <p:sp>
        <p:nvSpPr>
          <p:cNvPr id="15" name="Shape 13"/>
          <p:cNvSpPr/>
          <p:nvPr/>
        </p:nvSpPr>
        <p:spPr>
          <a:xfrm>
            <a:off x="0" y="1393031"/>
            <a:ext cx="320040" cy="116300"/>
          </a:xfrm>
          <a:prstGeom prst="rect">
            <a:avLst/>
          </a:prstGeom>
          <a:solidFill>
            <a:srgbClr val="4535C8"/>
          </a:solidFill>
          <a:ln/>
        </p:spPr>
      </p:sp>
      <p:sp>
        <p:nvSpPr>
          <p:cNvPr id="16" name="Shape 14"/>
          <p:cNvSpPr/>
          <p:nvPr/>
        </p:nvSpPr>
        <p:spPr>
          <a:xfrm>
            <a:off x="0" y="1500188"/>
            <a:ext cx="320040" cy="116300"/>
          </a:xfrm>
          <a:prstGeom prst="rect">
            <a:avLst/>
          </a:prstGeom>
          <a:solidFill>
            <a:srgbClr val="4436C8"/>
          </a:solidFill>
          <a:ln/>
        </p:spPr>
      </p:sp>
      <p:sp>
        <p:nvSpPr>
          <p:cNvPr id="17" name="Shape 15"/>
          <p:cNvSpPr/>
          <p:nvPr/>
        </p:nvSpPr>
        <p:spPr>
          <a:xfrm>
            <a:off x="0" y="1607344"/>
            <a:ext cx="320040" cy="116300"/>
          </a:xfrm>
          <a:prstGeom prst="rect">
            <a:avLst/>
          </a:prstGeom>
          <a:solidFill>
            <a:srgbClr val="4337C9"/>
          </a:solidFill>
          <a:ln/>
        </p:spPr>
      </p:sp>
      <p:sp>
        <p:nvSpPr>
          <p:cNvPr id="18" name="Shape 16"/>
          <p:cNvSpPr/>
          <p:nvPr/>
        </p:nvSpPr>
        <p:spPr>
          <a:xfrm>
            <a:off x="0" y="1714500"/>
            <a:ext cx="320040" cy="116300"/>
          </a:xfrm>
          <a:prstGeom prst="rect">
            <a:avLst/>
          </a:prstGeom>
          <a:solidFill>
            <a:srgbClr val="4238C9"/>
          </a:solidFill>
          <a:ln/>
        </p:spPr>
      </p:sp>
      <p:sp>
        <p:nvSpPr>
          <p:cNvPr id="19" name="Shape 17"/>
          <p:cNvSpPr/>
          <p:nvPr/>
        </p:nvSpPr>
        <p:spPr>
          <a:xfrm>
            <a:off x="0" y="1821656"/>
            <a:ext cx="320040" cy="116300"/>
          </a:xfrm>
          <a:prstGeom prst="rect">
            <a:avLst/>
          </a:prstGeom>
          <a:solidFill>
            <a:srgbClr val="4139CA"/>
          </a:solidFill>
          <a:ln/>
        </p:spPr>
      </p:sp>
      <p:sp>
        <p:nvSpPr>
          <p:cNvPr id="20" name="Shape 18"/>
          <p:cNvSpPr/>
          <p:nvPr/>
        </p:nvSpPr>
        <p:spPr>
          <a:xfrm>
            <a:off x="0" y="1928813"/>
            <a:ext cx="320040" cy="116300"/>
          </a:xfrm>
          <a:prstGeom prst="rect">
            <a:avLst/>
          </a:prstGeom>
          <a:solidFill>
            <a:srgbClr val="413ACA"/>
          </a:solidFill>
          <a:ln/>
        </p:spPr>
      </p:sp>
      <p:sp>
        <p:nvSpPr>
          <p:cNvPr id="21" name="Shape 19"/>
          <p:cNvSpPr/>
          <p:nvPr/>
        </p:nvSpPr>
        <p:spPr>
          <a:xfrm>
            <a:off x="0" y="2035969"/>
            <a:ext cx="320040" cy="116300"/>
          </a:xfrm>
          <a:prstGeom prst="rect">
            <a:avLst/>
          </a:prstGeom>
          <a:solidFill>
            <a:srgbClr val="403BCA"/>
          </a:solidFill>
          <a:ln/>
        </p:spPr>
      </p:sp>
      <p:sp>
        <p:nvSpPr>
          <p:cNvPr id="22" name="Shape 20"/>
          <p:cNvSpPr/>
          <p:nvPr/>
        </p:nvSpPr>
        <p:spPr>
          <a:xfrm>
            <a:off x="0" y="2143125"/>
            <a:ext cx="320040" cy="116300"/>
          </a:xfrm>
          <a:prstGeom prst="rect">
            <a:avLst/>
          </a:prstGeom>
          <a:solidFill>
            <a:srgbClr val="3F3CCB"/>
          </a:solidFill>
          <a:ln/>
        </p:spPr>
      </p:sp>
      <p:sp>
        <p:nvSpPr>
          <p:cNvPr id="23" name="Shape 21"/>
          <p:cNvSpPr/>
          <p:nvPr/>
        </p:nvSpPr>
        <p:spPr>
          <a:xfrm>
            <a:off x="0" y="2250281"/>
            <a:ext cx="320040" cy="116300"/>
          </a:xfrm>
          <a:prstGeom prst="rect">
            <a:avLst/>
          </a:prstGeom>
          <a:solidFill>
            <a:srgbClr val="3E3DCB"/>
          </a:solidFill>
          <a:ln/>
        </p:spPr>
      </p:sp>
      <p:sp>
        <p:nvSpPr>
          <p:cNvPr id="24" name="Shape 22"/>
          <p:cNvSpPr/>
          <p:nvPr/>
        </p:nvSpPr>
        <p:spPr>
          <a:xfrm>
            <a:off x="0" y="2357438"/>
            <a:ext cx="320040" cy="116300"/>
          </a:xfrm>
          <a:prstGeom prst="rect">
            <a:avLst/>
          </a:prstGeom>
          <a:solidFill>
            <a:srgbClr val="3D3ECC"/>
          </a:solidFill>
          <a:ln/>
        </p:spPr>
      </p:sp>
      <p:sp>
        <p:nvSpPr>
          <p:cNvPr id="25" name="Shape 23"/>
          <p:cNvSpPr/>
          <p:nvPr/>
        </p:nvSpPr>
        <p:spPr>
          <a:xfrm>
            <a:off x="0" y="2464594"/>
            <a:ext cx="320040" cy="116300"/>
          </a:xfrm>
          <a:prstGeom prst="rect">
            <a:avLst/>
          </a:prstGeom>
          <a:solidFill>
            <a:srgbClr val="3C3FCC"/>
          </a:solidFill>
          <a:ln/>
        </p:spPr>
      </p:sp>
      <p:sp>
        <p:nvSpPr>
          <p:cNvPr id="26" name="Shape 24"/>
          <p:cNvSpPr/>
          <p:nvPr/>
        </p:nvSpPr>
        <p:spPr>
          <a:xfrm>
            <a:off x="0" y="2571750"/>
            <a:ext cx="320040" cy="116300"/>
          </a:xfrm>
          <a:prstGeom prst="rect">
            <a:avLst/>
          </a:prstGeom>
          <a:solidFill>
            <a:srgbClr val="3B40CD"/>
          </a:solidFill>
          <a:ln/>
        </p:spPr>
      </p:sp>
      <p:sp>
        <p:nvSpPr>
          <p:cNvPr id="27" name="Shape 25"/>
          <p:cNvSpPr/>
          <p:nvPr/>
        </p:nvSpPr>
        <p:spPr>
          <a:xfrm>
            <a:off x="0" y="2678906"/>
            <a:ext cx="320040" cy="116300"/>
          </a:xfrm>
          <a:prstGeom prst="rect">
            <a:avLst/>
          </a:prstGeom>
          <a:solidFill>
            <a:srgbClr val="3B41CD"/>
          </a:solidFill>
          <a:ln/>
        </p:spPr>
      </p:sp>
      <p:sp>
        <p:nvSpPr>
          <p:cNvPr id="28" name="Shape 26"/>
          <p:cNvSpPr/>
          <p:nvPr/>
        </p:nvSpPr>
        <p:spPr>
          <a:xfrm>
            <a:off x="0" y="2786063"/>
            <a:ext cx="320040" cy="116300"/>
          </a:xfrm>
          <a:prstGeom prst="rect">
            <a:avLst/>
          </a:prstGeom>
          <a:solidFill>
            <a:srgbClr val="3A42CE"/>
          </a:solidFill>
          <a:ln/>
        </p:spPr>
      </p:sp>
      <p:sp>
        <p:nvSpPr>
          <p:cNvPr id="29" name="Shape 27"/>
          <p:cNvSpPr/>
          <p:nvPr/>
        </p:nvSpPr>
        <p:spPr>
          <a:xfrm>
            <a:off x="0" y="2893219"/>
            <a:ext cx="320040" cy="116300"/>
          </a:xfrm>
          <a:prstGeom prst="rect">
            <a:avLst/>
          </a:prstGeom>
          <a:solidFill>
            <a:srgbClr val="3943CE"/>
          </a:solidFill>
          <a:ln/>
        </p:spPr>
      </p:sp>
      <p:sp>
        <p:nvSpPr>
          <p:cNvPr id="30" name="Shape 28"/>
          <p:cNvSpPr/>
          <p:nvPr/>
        </p:nvSpPr>
        <p:spPr>
          <a:xfrm>
            <a:off x="0" y="3000375"/>
            <a:ext cx="320040" cy="116300"/>
          </a:xfrm>
          <a:prstGeom prst="rect">
            <a:avLst/>
          </a:prstGeom>
          <a:solidFill>
            <a:srgbClr val="3844CE"/>
          </a:solidFill>
          <a:ln/>
        </p:spPr>
      </p:sp>
      <p:sp>
        <p:nvSpPr>
          <p:cNvPr id="31" name="Shape 29"/>
          <p:cNvSpPr/>
          <p:nvPr/>
        </p:nvSpPr>
        <p:spPr>
          <a:xfrm>
            <a:off x="0" y="3107531"/>
            <a:ext cx="320040" cy="116300"/>
          </a:xfrm>
          <a:prstGeom prst="rect">
            <a:avLst/>
          </a:prstGeom>
          <a:solidFill>
            <a:srgbClr val="3745CF"/>
          </a:solidFill>
          <a:ln/>
        </p:spPr>
      </p:sp>
      <p:sp>
        <p:nvSpPr>
          <p:cNvPr id="32" name="Shape 30"/>
          <p:cNvSpPr/>
          <p:nvPr/>
        </p:nvSpPr>
        <p:spPr>
          <a:xfrm>
            <a:off x="0" y="3214688"/>
            <a:ext cx="320040" cy="116300"/>
          </a:xfrm>
          <a:prstGeom prst="rect">
            <a:avLst/>
          </a:prstGeom>
          <a:solidFill>
            <a:srgbClr val="3646CF"/>
          </a:solidFill>
          <a:ln/>
        </p:spPr>
      </p:sp>
      <p:sp>
        <p:nvSpPr>
          <p:cNvPr id="33" name="Shape 31"/>
          <p:cNvSpPr/>
          <p:nvPr/>
        </p:nvSpPr>
        <p:spPr>
          <a:xfrm>
            <a:off x="0" y="3321844"/>
            <a:ext cx="320040" cy="116300"/>
          </a:xfrm>
          <a:prstGeom prst="rect">
            <a:avLst/>
          </a:prstGeom>
          <a:solidFill>
            <a:srgbClr val="3547D0"/>
          </a:solidFill>
          <a:ln/>
        </p:spPr>
      </p:sp>
      <p:sp>
        <p:nvSpPr>
          <p:cNvPr id="34" name="Shape 32"/>
          <p:cNvSpPr/>
          <p:nvPr/>
        </p:nvSpPr>
        <p:spPr>
          <a:xfrm>
            <a:off x="0" y="3429000"/>
            <a:ext cx="320040" cy="116300"/>
          </a:xfrm>
          <a:prstGeom prst="rect">
            <a:avLst/>
          </a:prstGeom>
          <a:solidFill>
            <a:srgbClr val="3549D0"/>
          </a:solidFill>
          <a:ln/>
        </p:spPr>
      </p:sp>
      <p:sp>
        <p:nvSpPr>
          <p:cNvPr id="35" name="Shape 33"/>
          <p:cNvSpPr/>
          <p:nvPr/>
        </p:nvSpPr>
        <p:spPr>
          <a:xfrm>
            <a:off x="0" y="3536156"/>
            <a:ext cx="320040" cy="116300"/>
          </a:xfrm>
          <a:prstGeom prst="rect">
            <a:avLst/>
          </a:prstGeom>
          <a:solidFill>
            <a:srgbClr val="344ACF"/>
          </a:solidFill>
          <a:ln/>
        </p:spPr>
      </p:sp>
      <p:sp>
        <p:nvSpPr>
          <p:cNvPr id="36" name="Shape 34"/>
          <p:cNvSpPr/>
          <p:nvPr/>
        </p:nvSpPr>
        <p:spPr>
          <a:xfrm>
            <a:off x="0" y="3643313"/>
            <a:ext cx="320040" cy="116300"/>
          </a:xfrm>
          <a:prstGeom prst="rect">
            <a:avLst/>
          </a:prstGeom>
          <a:solidFill>
            <a:srgbClr val="334BCF"/>
          </a:solidFill>
          <a:ln/>
        </p:spPr>
      </p:sp>
      <p:sp>
        <p:nvSpPr>
          <p:cNvPr id="37" name="Shape 35"/>
          <p:cNvSpPr/>
          <p:nvPr/>
        </p:nvSpPr>
        <p:spPr>
          <a:xfrm>
            <a:off x="0" y="3750469"/>
            <a:ext cx="320040" cy="116300"/>
          </a:xfrm>
          <a:prstGeom prst="rect">
            <a:avLst/>
          </a:prstGeom>
          <a:solidFill>
            <a:srgbClr val="324CCE"/>
          </a:solidFill>
          <a:ln/>
        </p:spPr>
      </p:sp>
      <p:sp>
        <p:nvSpPr>
          <p:cNvPr id="38" name="Shape 36"/>
          <p:cNvSpPr/>
          <p:nvPr/>
        </p:nvSpPr>
        <p:spPr>
          <a:xfrm>
            <a:off x="0" y="3857625"/>
            <a:ext cx="320040" cy="116300"/>
          </a:xfrm>
          <a:prstGeom prst="rect">
            <a:avLst/>
          </a:prstGeom>
          <a:solidFill>
            <a:srgbClr val="314ECD"/>
          </a:solidFill>
          <a:ln/>
        </p:spPr>
      </p:sp>
      <p:sp>
        <p:nvSpPr>
          <p:cNvPr id="39" name="Shape 37"/>
          <p:cNvSpPr/>
          <p:nvPr/>
        </p:nvSpPr>
        <p:spPr>
          <a:xfrm>
            <a:off x="0" y="3964781"/>
            <a:ext cx="320040" cy="116300"/>
          </a:xfrm>
          <a:prstGeom prst="rect">
            <a:avLst/>
          </a:prstGeom>
          <a:solidFill>
            <a:srgbClr val="304FCD"/>
          </a:solidFill>
          <a:ln/>
        </p:spPr>
      </p:sp>
      <p:sp>
        <p:nvSpPr>
          <p:cNvPr id="40" name="Shape 38"/>
          <p:cNvSpPr/>
          <p:nvPr/>
        </p:nvSpPr>
        <p:spPr>
          <a:xfrm>
            <a:off x="0" y="4071938"/>
            <a:ext cx="320040" cy="116300"/>
          </a:xfrm>
          <a:prstGeom prst="rect">
            <a:avLst/>
          </a:prstGeom>
          <a:solidFill>
            <a:srgbClr val="2F50CC"/>
          </a:solidFill>
          <a:ln/>
        </p:spPr>
      </p:sp>
      <p:sp>
        <p:nvSpPr>
          <p:cNvPr id="41" name="Shape 39"/>
          <p:cNvSpPr/>
          <p:nvPr/>
        </p:nvSpPr>
        <p:spPr>
          <a:xfrm>
            <a:off x="0" y="4179094"/>
            <a:ext cx="320040" cy="116300"/>
          </a:xfrm>
          <a:prstGeom prst="rect">
            <a:avLst/>
          </a:prstGeom>
          <a:solidFill>
            <a:srgbClr val="2F51CC"/>
          </a:solidFill>
          <a:ln/>
        </p:spPr>
      </p:sp>
      <p:sp>
        <p:nvSpPr>
          <p:cNvPr id="42" name="Shape 40"/>
          <p:cNvSpPr/>
          <p:nvPr/>
        </p:nvSpPr>
        <p:spPr>
          <a:xfrm>
            <a:off x="0" y="4286250"/>
            <a:ext cx="320040" cy="116300"/>
          </a:xfrm>
          <a:prstGeom prst="rect">
            <a:avLst/>
          </a:prstGeom>
          <a:solidFill>
            <a:srgbClr val="2E53CB"/>
          </a:solidFill>
          <a:ln/>
        </p:spPr>
      </p:sp>
      <p:sp>
        <p:nvSpPr>
          <p:cNvPr id="43" name="Shape 41"/>
          <p:cNvSpPr/>
          <p:nvPr/>
        </p:nvSpPr>
        <p:spPr>
          <a:xfrm>
            <a:off x="0" y="4393406"/>
            <a:ext cx="320040" cy="116300"/>
          </a:xfrm>
          <a:prstGeom prst="rect">
            <a:avLst/>
          </a:prstGeom>
          <a:solidFill>
            <a:srgbClr val="2D54CB"/>
          </a:solidFill>
          <a:ln/>
        </p:spPr>
      </p:sp>
      <p:sp>
        <p:nvSpPr>
          <p:cNvPr id="44" name="Shape 42"/>
          <p:cNvSpPr/>
          <p:nvPr/>
        </p:nvSpPr>
        <p:spPr>
          <a:xfrm>
            <a:off x="0" y="4500563"/>
            <a:ext cx="320040" cy="116300"/>
          </a:xfrm>
          <a:prstGeom prst="rect">
            <a:avLst/>
          </a:prstGeom>
          <a:solidFill>
            <a:srgbClr val="2C55CA"/>
          </a:solidFill>
          <a:ln/>
        </p:spPr>
      </p:sp>
      <p:sp>
        <p:nvSpPr>
          <p:cNvPr id="45" name="Shape 43"/>
          <p:cNvSpPr/>
          <p:nvPr/>
        </p:nvSpPr>
        <p:spPr>
          <a:xfrm>
            <a:off x="0" y="4607719"/>
            <a:ext cx="320040" cy="116300"/>
          </a:xfrm>
          <a:prstGeom prst="rect">
            <a:avLst/>
          </a:prstGeom>
          <a:solidFill>
            <a:srgbClr val="2B56C9"/>
          </a:solidFill>
          <a:ln/>
        </p:spPr>
      </p:sp>
      <p:sp>
        <p:nvSpPr>
          <p:cNvPr id="46" name="Shape 44"/>
          <p:cNvSpPr/>
          <p:nvPr/>
        </p:nvSpPr>
        <p:spPr>
          <a:xfrm>
            <a:off x="0" y="4714875"/>
            <a:ext cx="320040" cy="116300"/>
          </a:xfrm>
          <a:prstGeom prst="rect">
            <a:avLst/>
          </a:prstGeom>
          <a:solidFill>
            <a:srgbClr val="2A57C9"/>
          </a:solidFill>
          <a:ln/>
        </p:spPr>
      </p:sp>
      <p:sp>
        <p:nvSpPr>
          <p:cNvPr id="47" name="Shape 45"/>
          <p:cNvSpPr/>
          <p:nvPr/>
        </p:nvSpPr>
        <p:spPr>
          <a:xfrm>
            <a:off x="0" y="4822031"/>
            <a:ext cx="320040" cy="116300"/>
          </a:xfrm>
          <a:prstGeom prst="rect">
            <a:avLst/>
          </a:prstGeom>
          <a:solidFill>
            <a:srgbClr val="2959C8"/>
          </a:solidFill>
          <a:ln/>
        </p:spPr>
      </p:sp>
      <p:sp>
        <p:nvSpPr>
          <p:cNvPr id="48" name="Shape 46"/>
          <p:cNvSpPr/>
          <p:nvPr/>
        </p:nvSpPr>
        <p:spPr>
          <a:xfrm>
            <a:off x="0" y="4929188"/>
            <a:ext cx="320040" cy="116300"/>
          </a:xfrm>
          <a:prstGeom prst="rect">
            <a:avLst/>
          </a:prstGeom>
          <a:solidFill>
            <a:srgbClr val="295AC8"/>
          </a:solidFill>
          <a:ln/>
        </p:spPr>
      </p:sp>
      <p:sp>
        <p:nvSpPr>
          <p:cNvPr id="49" name="Shape 47"/>
          <p:cNvSpPr/>
          <p:nvPr/>
        </p:nvSpPr>
        <p:spPr>
          <a:xfrm>
            <a:off x="0" y="5036344"/>
            <a:ext cx="320040" cy="116300"/>
          </a:xfrm>
          <a:prstGeom prst="rect">
            <a:avLst/>
          </a:prstGeom>
          <a:solidFill>
            <a:srgbClr val="285BC7"/>
          </a:solidFill>
          <a:ln/>
        </p:spPr>
      </p:sp>
      <p:sp>
        <p:nvSpPr>
          <p:cNvPr id="50" name="Shape 48"/>
          <p:cNvSpPr/>
          <p:nvPr/>
        </p:nvSpPr>
        <p:spPr>
          <a:xfrm>
            <a:off x="0" y="5143500"/>
            <a:ext cx="320040" cy="116300"/>
          </a:xfrm>
          <a:prstGeom prst="rect">
            <a:avLst/>
          </a:prstGeom>
          <a:solidFill>
            <a:srgbClr val="275CC7"/>
          </a:solidFill>
          <a:ln/>
        </p:spPr>
      </p:sp>
      <p:sp>
        <p:nvSpPr>
          <p:cNvPr id="51" name="Shape 49"/>
          <p:cNvSpPr/>
          <p:nvPr/>
        </p:nvSpPr>
        <p:spPr>
          <a:xfrm>
            <a:off x="0" y="5250656"/>
            <a:ext cx="320040" cy="116300"/>
          </a:xfrm>
          <a:prstGeom prst="rect">
            <a:avLst/>
          </a:prstGeom>
          <a:solidFill>
            <a:srgbClr val="265EC6"/>
          </a:solidFill>
          <a:ln/>
        </p:spPr>
      </p:sp>
      <p:sp>
        <p:nvSpPr>
          <p:cNvPr id="52" name="Shape 50"/>
          <p:cNvSpPr/>
          <p:nvPr/>
        </p:nvSpPr>
        <p:spPr>
          <a:xfrm>
            <a:off x="0" y="5357813"/>
            <a:ext cx="320040" cy="116300"/>
          </a:xfrm>
          <a:prstGeom prst="rect">
            <a:avLst/>
          </a:prstGeom>
          <a:solidFill>
            <a:srgbClr val="255FC5"/>
          </a:solidFill>
          <a:ln/>
        </p:spPr>
      </p:sp>
      <p:sp>
        <p:nvSpPr>
          <p:cNvPr id="53" name="Shape 51"/>
          <p:cNvSpPr/>
          <p:nvPr/>
        </p:nvSpPr>
        <p:spPr>
          <a:xfrm>
            <a:off x="0" y="5464969"/>
            <a:ext cx="320040" cy="116300"/>
          </a:xfrm>
          <a:prstGeom prst="rect">
            <a:avLst/>
          </a:prstGeom>
          <a:solidFill>
            <a:srgbClr val="2460C5"/>
          </a:solidFill>
          <a:ln/>
        </p:spPr>
      </p:sp>
      <p:sp>
        <p:nvSpPr>
          <p:cNvPr id="54" name="Shape 52"/>
          <p:cNvSpPr/>
          <p:nvPr/>
        </p:nvSpPr>
        <p:spPr>
          <a:xfrm>
            <a:off x="0" y="5572125"/>
            <a:ext cx="320040" cy="116300"/>
          </a:xfrm>
          <a:prstGeom prst="rect">
            <a:avLst/>
          </a:prstGeom>
          <a:solidFill>
            <a:srgbClr val="2361C4"/>
          </a:solidFill>
          <a:ln/>
        </p:spPr>
      </p:sp>
      <p:sp>
        <p:nvSpPr>
          <p:cNvPr id="55" name="Shape 53"/>
          <p:cNvSpPr/>
          <p:nvPr/>
        </p:nvSpPr>
        <p:spPr>
          <a:xfrm>
            <a:off x="0" y="5679281"/>
            <a:ext cx="320040" cy="116300"/>
          </a:xfrm>
          <a:prstGeom prst="rect">
            <a:avLst/>
          </a:prstGeom>
          <a:solidFill>
            <a:srgbClr val="2363C4"/>
          </a:solidFill>
          <a:ln/>
        </p:spPr>
      </p:sp>
      <p:sp>
        <p:nvSpPr>
          <p:cNvPr id="56" name="Shape 54"/>
          <p:cNvSpPr/>
          <p:nvPr/>
        </p:nvSpPr>
        <p:spPr>
          <a:xfrm>
            <a:off x="0" y="5786438"/>
            <a:ext cx="320040" cy="116300"/>
          </a:xfrm>
          <a:prstGeom prst="rect">
            <a:avLst/>
          </a:prstGeom>
          <a:solidFill>
            <a:srgbClr val="2264C3"/>
          </a:solidFill>
          <a:ln/>
        </p:spPr>
      </p:sp>
      <p:sp>
        <p:nvSpPr>
          <p:cNvPr id="57" name="Shape 55"/>
          <p:cNvSpPr/>
          <p:nvPr/>
        </p:nvSpPr>
        <p:spPr>
          <a:xfrm>
            <a:off x="0" y="5893594"/>
            <a:ext cx="320040" cy="116300"/>
          </a:xfrm>
          <a:prstGeom prst="rect">
            <a:avLst/>
          </a:prstGeom>
          <a:solidFill>
            <a:srgbClr val="2165C3"/>
          </a:solidFill>
          <a:ln/>
        </p:spPr>
      </p:sp>
      <p:sp>
        <p:nvSpPr>
          <p:cNvPr id="58" name="Shape 56"/>
          <p:cNvSpPr/>
          <p:nvPr/>
        </p:nvSpPr>
        <p:spPr>
          <a:xfrm>
            <a:off x="0" y="6000750"/>
            <a:ext cx="320040" cy="116300"/>
          </a:xfrm>
          <a:prstGeom prst="rect">
            <a:avLst/>
          </a:prstGeom>
          <a:solidFill>
            <a:srgbClr val="2066C2"/>
          </a:solidFill>
          <a:ln/>
        </p:spPr>
      </p:sp>
      <p:sp>
        <p:nvSpPr>
          <p:cNvPr id="59" name="Shape 57"/>
          <p:cNvSpPr/>
          <p:nvPr/>
        </p:nvSpPr>
        <p:spPr>
          <a:xfrm>
            <a:off x="0" y="6107906"/>
            <a:ext cx="320040" cy="116300"/>
          </a:xfrm>
          <a:prstGeom prst="rect">
            <a:avLst/>
          </a:prstGeom>
          <a:solidFill>
            <a:srgbClr val="1F68C1"/>
          </a:solidFill>
          <a:ln/>
        </p:spPr>
      </p:sp>
      <p:sp>
        <p:nvSpPr>
          <p:cNvPr id="60" name="Shape 58"/>
          <p:cNvSpPr/>
          <p:nvPr/>
        </p:nvSpPr>
        <p:spPr>
          <a:xfrm>
            <a:off x="0" y="6215063"/>
            <a:ext cx="320040" cy="116300"/>
          </a:xfrm>
          <a:prstGeom prst="rect">
            <a:avLst/>
          </a:prstGeom>
          <a:solidFill>
            <a:srgbClr val="1E69C1"/>
          </a:solidFill>
          <a:ln/>
        </p:spPr>
      </p:sp>
      <p:sp>
        <p:nvSpPr>
          <p:cNvPr id="61" name="Shape 59"/>
          <p:cNvSpPr/>
          <p:nvPr/>
        </p:nvSpPr>
        <p:spPr>
          <a:xfrm>
            <a:off x="0" y="6322219"/>
            <a:ext cx="320040" cy="116300"/>
          </a:xfrm>
          <a:prstGeom prst="rect">
            <a:avLst/>
          </a:prstGeom>
          <a:solidFill>
            <a:srgbClr val="1D6AC0"/>
          </a:solidFill>
          <a:ln/>
        </p:spPr>
      </p:sp>
      <p:sp>
        <p:nvSpPr>
          <p:cNvPr id="62" name="Shape 60"/>
          <p:cNvSpPr/>
          <p:nvPr/>
        </p:nvSpPr>
        <p:spPr>
          <a:xfrm>
            <a:off x="0" y="6429375"/>
            <a:ext cx="320040" cy="116300"/>
          </a:xfrm>
          <a:prstGeom prst="rect">
            <a:avLst/>
          </a:prstGeom>
          <a:solidFill>
            <a:srgbClr val="1D6BC0"/>
          </a:solidFill>
          <a:ln/>
        </p:spPr>
      </p:sp>
      <p:sp>
        <p:nvSpPr>
          <p:cNvPr id="63" name="Shape 61"/>
          <p:cNvSpPr/>
          <p:nvPr/>
        </p:nvSpPr>
        <p:spPr>
          <a:xfrm>
            <a:off x="0" y="6536531"/>
            <a:ext cx="320040" cy="116300"/>
          </a:xfrm>
          <a:prstGeom prst="rect">
            <a:avLst/>
          </a:prstGeom>
          <a:solidFill>
            <a:srgbClr val="1C6DBF"/>
          </a:solidFill>
          <a:ln/>
        </p:spPr>
      </p:sp>
      <p:sp>
        <p:nvSpPr>
          <p:cNvPr id="64" name="Shape 62"/>
          <p:cNvSpPr/>
          <p:nvPr/>
        </p:nvSpPr>
        <p:spPr>
          <a:xfrm>
            <a:off x="0" y="6643688"/>
            <a:ext cx="320040" cy="116300"/>
          </a:xfrm>
          <a:prstGeom prst="rect">
            <a:avLst/>
          </a:prstGeom>
          <a:solidFill>
            <a:srgbClr val="1B6EBF"/>
          </a:solidFill>
          <a:ln/>
        </p:spPr>
      </p:sp>
      <p:sp>
        <p:nvSpPr>
          <p:cNvPr id="65" name="Shape 63"/>
          <p:cNvSpPr/>
          <p:nvPr/>
        </p:nvSpPr>
        <p:spPr>
          <a:xfrm>
            <a:off x="0" y="6750844"/>
            <a:ext cx="320040" cy="116300"/>
          </a:xfrm>
          <a:prstGeom prst="rect">
            <a:avLst/>
          </a:prstGeom>
          <a:solidFill>
            <a:srgbClr val="1A6FBE"/>
          </a:solidFill>
          <a:ln/>
        </p:spPr>
      </p:sp>
      <p:sp>
        <p:nvSpPr>
          <p:cNvPr id="66" name="Text 64"/>
          <p:cNvSpPr/>
          <p:nvPr/>
        </p:nvSpPr>
        <p:spPr>
          <a:xfrm>
            <a:off x="73152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PRICING REALITY</a:t>
            </a:r>
            <a:endParaRPr lang="en-US" sz="1100" dirty="0"/>
          </a:p>
        </p:txBody>
      </p:sp>
      <p:sp>
        <p:nvSpPr>
          <p:cNvPr id="67" name="Text 65"/>
          <p:cNvSpPr/>
          <p:nvPr/>
        </p:nvSpPr>
        <p:spPr>
          <a:xfrm>
            <a:off x="548640" y="1554480"/>
            <a:ext cx="11094415" cy="3200400"/>
          </a:xfrm>
          <a:prstGeom prst="rect">
            <a:avLst/>
          </a:prstGeom>
          <a:noFill/>
          <a:ln/>
        </p:spPr>
        <p:txBody>
          <a:bodyPr wrap="square" lIns="0" tIns="0" rIns="0" bIns="0" rtlCol="0" anchor="ctr"/>
          <a:lstStyle/>
          <a:p>
            <a:pPr algn="l" indent="0" marL="0">
              <a:buNone/>
            </a:pPr>
            <a:r>
              <a:rPr lang="en-US" sz="22000" b="1" spc="-600" kern="0" dirty="0">
                <a:solidFill>
                  <a:srgbClr val="5028C2"/>
                </a:solidFill>
                <a:latin typeface="Calibri" pitchFamily="34" charset="0"/>
                <a:ea typeface="Calibri" pitchFamily="34" charset="-122"/>
                <a:cs typeface="Calibri" pitchFamily="34" charset="-120"/>
              </a:rPr>
              <a:t>$10K</a:t>
            </a:r>
            <a:endParaRPr lang="en-US" sz="22000" dirty="0"/>
          </a:p>
        </p:txBody>
      </p:sp>
      <p:sp>
        <p:nvSpPr>
          <p:cNvPr id="68" name="Text 66"/>
          <p:cNvSpPr/>
          <p:nvPr/>
        </p:nvSpPr>
        <p:spPr>
          <a:xfrm>
            <a:off x="548640" y="4983480"/>
            <a:ext cx="11094415" cy="457200"/>
          </a:xfrm>
          <a:prstGeom prst="rect">
            <a:avLst/>
          </a:prstGeom>
          <a:noFill/>
          <a:ln/>
        </p:spPr>
        <p:txBody>
          <a:bodyPr wrap="square" lIns="0" tIns="0" rIns="0" bIns="0" rtlCol="0" anchor="t"/>
          <a:lstStyle/>
          <a:p>
            <a:pPr algn="l" indent="0" marL="0">
              <a:buNone/>
            </a:pPr>
            <a:r>
              <a:rPr lang="en-US" sz="2200" b="1" dirty="0">
                <a:solidFill>
                  <a:srgbClr val="0F1733"/>
                </a:solidFill>
                <a:latin typeface="Calibri" pitchFamily="34" charset="0"/>
                <a:ea typeface="Calibri" pitchFamily="34" charset="-122"/>
                <a:cs typeface="Calibri" pitchFamily="34" charset="-120"/>
              </a:rPr>
              <a:t>Average minimum annual contract for incumbent influencer platforms.</a:t>
            </a:r>
            <a:endParaRPr lang="en-US" sz="2200" dirty="0"/>
          </a:p>
        </p:txBody>
      </p:sp>
      <p:sp>
        <p:nvSpPr>
          <p:cNvPr id="69" name="Text 67"/>
          <p:cNvSpPr/>
          <p:nvPr/>
        </p:nvSpPr>
        <p:spPr>
          <a:xfrm>
            <a:off x="548640" y="5486400"/>
            <a:ext cx="10637215" cy="640080"/>
          </a:xfrm>
          <a:prstGeom prst="rect">
            <a:avLst/>
          </a:prstGeom>
          <a:noFill/>
          <a:ln/>
        </p:spPr>
        <p:txBody>
          <a:bodyPr wrap="square" lIns="0" tIns="0" rIns="0" bIns="0" rtlCol="0" anchor="t"/>
          <a:lstStyle/>
          <a:p>
            <a:pPr algn="l" indent="0" marL="0">
              <a:buNone/>
            </a:pPr>
            <a:r>
              <a:rPr lang="en-US" sz="1300" dirty="0">
                <a:solidFill>
                  <a:srgbClr val="2A3358"/>
                </a:solidFill>
                <a:latin typeface="Calibri" pitchFamily="34" charset="0"/>
                <a:ea typeface="Calibri" pitchFamily="34" charset="-122"/>
                <a:cs typeface="Calibri" pitchFamily="34" charset="-120"/>
              </a:rPr>
              <a:t>Heepsy starts around $89/month for limited features. Modash starts around $300/month. Real B2B-grade platforms are $10K+/year and built for enterprise brand teams. Nothing in the middle serves the founder running this work themselves.</a:t>
            </a:r>
            <a:endParaRPr lang="en-US" sz="13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04 · Why existing tools fail  ·  vD</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025 / 126</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1ECFF"/>
        </a:solidFill>
      </p:bgPr>
    </p:bg>
    <p:spTree>
      <p:nvGrpSpPr>
        <p:cNvPr id="1" name=""/>
        <p:cNvGrpSpPr/>
        <p:nvPr/>
      </p:nvGrpSpPr>
      <p:grpSpPr>
        <a:xfrm>
          <a:off x="0" y="0"/>
          <a:ext cx="0" cy="0"/>
          <a:chOff x="0" y="0"/>
          <a:chExt cx="0" cy="0"/>
        </a:xfrm>
      </p:grpSpPr>
      <p:sp>
        <p:nvSpPr>
          <p:cNvPr id="2" name="Text 0"/>
          <p:cNvSpPr/>
          <p:nvPr/>
        </p:nvSpPr>
        <p:spPr>
          <a:xfrm>
            <a:off x="457200" y="365760"/>
            <a:ext cx="2286000" cy="2286000"/>
          </a:xfrm>
          <a:prstGeom prst="rect">
            <a:avLst/>
          </a:prstGeom>
          <a:noFill/>
          <a:ln/>
        </p:spPr>
        <p:txBody>
          <a:bodyPr wrap="square" lIns="0" tIns="0" rIns="0" bIns="0" rtlCol="0" anchor="t"/>
          <a:lstStyle/>
          <a:p>
            <a:pPr algn="l" indent="0" marL="0">
              <a:buNone/>
            </a:pPr>
            <a:r>
              <a:rPr lang="en-US" sz="24000" b="1" dirty="0">
                <a:solidFill>
                  <a:srgbClr val="5028C2"/>
                </a:solidFill>
                <a:latin typeface="Georgia" pitchFamily="34" charset="0"/>
                <a:ea typeface="Georgia" pitchFamily="34" charset="-122"/>
                <a:cs typeface="Georgia" pitchFamily="34" charset="-120"/>
              </a:rPr>
              <a:t>"</a:t>
            </a:r>
            <a:endParaRPr lang="en-US" sz="24000" dirty="0"/>
          </a:p>
        </p:txBody>
      </p:sp>
      <p:sp>
        <p:nvSpPr>
          <p:cNvPr id="3" name="Text 1"/>
          <p:cNvSpPr/>
          <p:nvPr/>
        </p:nvSpPr>
        <p:spPr>
          <a:xfrm>
            <a:off x="1920240" y="1737360"/>
            <a:ext cx="9722815" cy="3108960"/>
          </a:xfrm>
          <a:prstGeom prst="rect">
            <a:avLst/>
          </a:prstGeom>
          <a:noFill/>
          <a:ln/>
        </p:spPr>
        <p:txBody>
          <a:bodyPr wrap="square" lIns="0" tIns="0" rIns="0" bIns="0" rtlCol="0" anchor="t"/>
          <a:lstStyle/>
          <a:p>
            <a:pPr algn="l" indent="0" marL="0">
              <a:buNone/>
            </a:pPr>
            <a:r>
              <a:rPr lang="en-US" sz="2800" i="1" dirty="0">
                <a:solidFill>
                  <a:srgbClr val="0F1733"/>
                </a:solidFill>
                <a:latin typeface="Georgia" pitchFamily="34" charset="0"/>
                <a:ea typeface="Georgia" pitchFamily="34" charset="-122"/>
                <a:cs typeface="Georgia" pitchFamily="34" charset="-120"/>
              </a:rPr>
              <a:t>We evaluated four influencer platforms. Every one of them was built for someone planning a Sephora campaign — not someone trying to find SaaS reviewers on YouTube.</a:t>
            </a:r>
            <a:endParaRPr lang="en-US" sz="2800" dirty="0"/>
          </a:p>
        </p:txBody>
      </p:sp>
      <p:sp>
        <p:nvSpPr>
          <p:cNvPr id="4" name="Shape 2"/>
          <p:cNvSpPr/>
          <p:nvPr/>
        </p:nvSpPr>
        <p:spPr>
          <a:xfrm>
            <a:off x="1920240" y="5120640"/>
            <a:ext cx="640080" cy="0"/>
          </a:xfrm>
          <a:prstGeom prst="line">
            <a:avLst/>
          </a:prstGeom>
          <a:noFill/>
          <a:ln w="25400">
            <a:solidFill>
              <a:srgbClr val="5028C2"/>
            </a:solidFill>
            <a:prstDash val="solid"/>
          </a:ln>
        </p:spPr>
      </p:sp>
      <p:sp>
        <p:nvSpPr>
          <p:cNvPr id="5" name="Text 3"/>
          <p:cNvSpPr/>
          <p:nvPr/>
        </p:nvSpPr>
        <p:spPr>
          <a:xfrm>
            <a:off x="1920240" y="5212080"/>
            <a:ext cx="9722815" cy="457200"/>
          </a:xfrm>
          <a:prstGeom prst="rect">
            <a:avLst/>
          </a:prstGeom>
          <a:noFill/>
          <a:ln/>
        </p:spPr>
        <p:txBody>
          <a:bodyPr wrap="square" lIns="0" tIns="0" rIns="0" bIns="0" rtlCol="0" anchor="t"/>
          <a:lstStyle/>
          <a:p>
            <a:pPr algn="l" indent="0" marL="0">
              <a:buNone/>
            </a:pPr>
            <a:r>
              <a:rPr lang="en-US" sz="1400" b="1" spc="100" kern="0" dirty="0">
                <a:solidFill>
                  <a:srgbClr val="3D1E96"/>
                </a:solidFill>
                <a:latin typeface="Calibri" pitchFamily="34" charset="0"/>
                <a:ea typeface="Calibri" pitchFamily="34" charset="-122"/>
                <a:cs typeface="Calibri" pitchFamily="34" charset="-120"/>
              </a:rPr>
              <a:t>Founder, early-stage B2B SaaS</a:t>
            </a:r>
            <a:endParaRPr lang="en-US" sz="1400" dirty="0"/>
          </a:p>
        </p:txBody>
      </p:sp>
      <p:sp>
        <p:nvSpPr>
          <p:cNvPr id="6" name="Text 4"/>
          <p:cNvSpPr/>
          <p:nvPr/>
        </p:nvSpPr>
        <p:spPr>
          <a:xfrm>
            <a:off x="1920240" y="5532120"/>
            <a:ext cx="9722815" cy="365760"/>
          </a:xfrm>
          <a:prstGeom prst="rect">
            <a:avLst/>
          </a:prstGeom>
          <a:noFill/>
          <a:ln/>
        </p:spPr>
        <p:txBody>
          <a:bodyPr wrap="square" lIns="0" tIns="0" rIns="0" bIns="0" rtlCol="0" anchor="t"/>
          <a:lstStyle/>
          <a:p>
            <a:pPr algn="l" indent="0" marL="0">
              <a:buNone/>
            </a:pPr>
            <a:r>
              <a:rPr lang="en-US" sz="1200" dirty="0">
                <a:solidFill>
                  <a:srgbClr val="6B7493"/>
                </a:solidFill>
                <a:latin typeface="Calibri" pitchFamily="34" charset="0"/>
                <a:ea typeface="Calibri" pitchFamily="34" charset="-122"/>
                <a:cs typeface="Calibri" pitchFamily="34" charset="-120"/>
              </a:rPr>
              <a:t>Customer discovery, April 2026</a:t>
            </a:r>
            <a:endParaRPr lang="en-US" sz="1200" dirty="0"/>
          </a:p>
        </p:txBody>
      </p:sp>
      <p:sp>
        <p:nvSpPr>
          <p:cNvPr id="7" name="Shape 5"/>
          <p:cNvSpPr/>
          <p:nvPr/>
        </p:nvSpPr>
        <p:spPr>
          <a:xfrm>
            <a:off x="548640" y="502920"/>
            <a:ext cx="292608" cy="292608"/>
          </a:xfrm>
          <a:prstGeom prst="roundRect">
            <a:avLst>
              <a:gd name="adj" fmla="val 25000"/>
            </a:avLst>
          </a:prstGeom>
          <a:solidFill>
            <a:srgbClr val="5028C2"/>
          </a:solidFill>
          <a:ln/>
        </p:spPr>
      </p:sp>
      <p:sp>
        <p:nvSpPr>
          <p:cNvPr id="8" name="Shape 6"/>
          <p:cNvSpPr/>
          <p:nvPr/>
        </p:nvSpPr>
        <p:spPr>
          <a:xfrm>
            <a:off x="548640" y="502920"/>
            <a:ext cx="292608" cy="292608"/>
          </a:xfrm>
          <a:prstGeom prst="roundRect">
            <a:avLst>
              <a:gd name="adj" fmla="val 25000"/>
            </a:avLst>
          </a:prstGeom>
          <a:solidFill>
            <a:srgbClr val="1A6FBE">
              <a:alpha val="50000"/>
            </a:srgbClr>
          </a:solidFill>
          <a:ln/>
        </p:spPr>
      </p:sp>
      <p:sp>
        <p:nvSpPr>
          <p:cNvPr id="9" name="Text 7"/>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0" name="Text 8"/>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1" name="Text 9"/>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04 · Why existing tools fail  ·  vE</a:t>
            </a:r>
            <a:endParaRPr lang="en-US" sz="900" dirty="0"/>
          </a:p>
        </p:txBody>
      </p:sp>
      <p:sp>
        <p:nvSpPr>
          <p:cNvPr id="12" name="Text 10"/>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3" name="Text 11"/>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026 / 126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a:off x="3047924" y="0"/>
            <a:ext cx="9143771" cy="6858000"/>
          </a:xfrm>
          <a:prstGeom prst="rtTriangle">
            <a:avLst/>
          </a:prstGeom>
          <a:solidFill>
            <a:srgbClr val="5028C2"/>
          </a:solidFill>
          <a:ln/>
        </p:spPr>
      </p:sp>
      <p:sp>
        <p:nvSpPr>
          <p:cNvPr id="3" name="Shape 1"/>
          <p:cNvSpPr/>
          <p:nvPr/>
        </p:nvSpPr>
        <p:spPr>
          <a:xfrm flipH="1">
            <a:off x="4876678" y="1028700"/>
            <a:ext cx="7924602" cy="6515100"/>
          </a:xfrm>
          <a:prstGeom prst="rtTriangle">
            <a:avLst/>
          </a:prstGeom>
          <a:solidFill>
            <a:srgbClr val="1A6FBE">
              <a:alpha val="75000"/>
            </a:srgbClr>
          </a:solidFill>
          <a:ln/>
        </p:spPr>
      </p:sp>
      <p:sp>
        <p:nvSpPr>
          <p:cNvPr id="4" name="Text 2"/>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THE GAP</a:t>
            </a:r>
            <a:endParaRPr lang="en-US" sz="1100" dirty="0"/>
          </a:p>
        </p:txBody>
      </p:sp>
      <p:sp>
        <p:nvSpPr>
          <p:cNvPr id="5" name="Text 3"/>
          <p:cNvSpPr/>
          <p:nvPr/>
        </p:nvSpPr>
        <p:spPr>
          <a:xfrm>
            <a:off x="548640" y="1417320"/>
            <a:ext cx="6095848" cy="2286000"/>
          </a:xfrm>
          <a:prstGeom prst="rect">
            <a:avLst/>
          </a:prstGeom>
          <a:noFill/>
          <a:ln/>
        </p:spPr>
        <p:txBody>
          <a:bodyPr wrap="square" lIns="0" tIns="0" rIns="0" bIns="0" rtlCol="0" anchor="t"/>
          <a:lstStyle/>
          <a:p>
            <a:pPr algn="l" indent="0" marL="0">
              <a:buNone/>
            </a:pPr>
            <a:r>
              <a:rPr lang="en-US" sz="4000" b="1" spc="-50" kern="0" dirty="0">
                <a:solidFill>
                  <a:srgbClr val="0F1733"/>
                </a:solidFill>
                <a:latin typeface="Calibri" pitchFamily="34" charset="0"/>
                <a:ea typeface="Calibri" pitchFamily="34" charset="-122"/>
                <a:cs typeface="Calibri" pitchFamily="34" charset="-120"/>
              </a:rPr>
              <a:t>Built for the wrong buyer. Priced for the wrong budget.</a:t>
            </a:r>
            <a:endParaRPr lang="en-US" sz="4000" dirty="0"/>
          </a:p>
        </p:txBody>
      </p:sp>
      <p:sp>
        <p:nvSpPr>
          <p:cNvPr id="6" name="Text 4"/>
          <p:cNvSpPr/>
          <p:nvPr/>
        </p:nvSpPr>
        <p:spPr>
          <a:xfrm>
            <a:off x="548640" y="3840480"/>
            <a:ext cx="5821528" cy="2103120"/>
          </a:xfrm>
          <a:prstGeom prst="rect">
            <a:avLst/>
          </a:prstGeom>
          <a:noFill/>
          <a:ln/>
        </p:spPr>
        <p:txBody>
          <a:bodyPr wrap="square" lIns="0" tIns="0" rIns="0" bIns="0" rtlCol="0" anchor="t"/>
          <a:lstStyle/>
          <a:p>
            <a:pPr algn="l" indent="0" marL="0">
              <a:spcAft>
                <a:spcPts val="600"/>
              </a:spcAft>
              <a:buNone/>
            </a:pPr>
            <a:r>
              <a:rPr lang="en-US" sz="1400" dirty="0">
                <a:solidFill>
                  <a:srgbClr val="2A3358"/>
                </a:solidFill>
                <a:latin typeface="Calibri" pitchFamily="34" charset="0"/>
                <a:ea typeface="Calibri" pitchFamily="34" charset="-122"/>
                <a:cs typeface="Calibri" pitchFamily="34" charset="-120"/>
              </a:rPr>
              <a:t>Every existing creator tool was designed around enterprise brand marketers. The founder running B2B outreach themselves — with a $0–$500/month tool budget and a need for LinkedIn-first workflows — has been ignored.</a:t>
            </a:r>
            <a:endParaRPr lang="en-US" sz="1400" dirty="0"/>
          </a:p>
        </p:txBody>
      </p:sp>
      <p:sp>
        <p:nvSpPr>
          <p:cNvPr id="7" name="Text 5"/>
          <p:cNvSpPr/>
          <p:nvPr/>
        </p:nvSpPr>
        <p:spPr>
          <a:xfrm>
            <a:off x="6705432" y="2926080"/>
            <a:ext cx="4876678" cy="3291840"/>
          </a:xfrm>
          <a:prstGeom prst="rect">
            <a:avLst/>
          </a:prstGeom>
          <a:noFill/>
          <a:ln/>
        </p:spPr>
        <p:txBody>
          <a:bodyPr wrap="square" lIns="0" tIns="0" rIns="0" bIns="0" rtlCol="0" anchor="ctr"/>
          <a:lstStyle/>
          <a:p>
            <a:pPr algn="r" indent="0" marL="0">
              <a:buNone/>
            </a:pPr>
            <a:r>
              <a:rPr lang="en-US" sz="3200" b="1" spc="-50" kern="0" dirty="0">
                <a:solidFill>
                  <a:srgbClr val="FFFFFF"/>
                </a:solidFill>
                <a:latin typeface="Calibri" pitchFamily="34" charset="0"/>
                <a:ea typeface="Calibri" pitchFamily="34" charset="-122"/>
                <a:cs typeface="Calibri" pitchFamily="34" charset="-120"/>
              </a:rPr>
              <a:t>Tools for</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them.</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Not tools</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for us.</a:t>
            </a:r>
            <a:endParaRPr lang="en-US" sz="3200" dirty="0"/>
          </a:p>
        </p:txBody>
      </p:sp>
      <p:sp>
        <p:nvSpPr>
          <p:cNvPr id="8" name="Shape 6"/>
          <p:cNvSpPr/>
          <p:nvPr/>
        </p:nvSpPr>
        <p:spPr>
          <a:xfrm>
            <a:off x="548640" y="502920"/>
            <a:ext cx="292608" cy="292608"/>
          </a:xfrm>
          <a:prstGeom prst="roundRect">
            <a:avLst>
              <a:gd name="adj" fmla="val 25000"/>
            </a:avLst>
          </a:prstGeom>
          <a:solidFill>
            <a:srgbClr val="5028C2"/>
          </a:solidFill>
          <a:ln/>
        </p:spPr>
      </p:sp>
      <p:sp>
        <p:nvSpPr>
          <p:cNvPr id="9" name="Shape 7"/>
          <p:cNvSpPr/>
          <p:nvPr/>
        </p:nvSpPr>
        <p:spPr>
          <a:xfrm>
            <a:off x="548640" y="502920"/>
            <a:ext cx="292608" cy="292608"/>
          </a:xfrm>
          <a:prstGeom prst="roundRect">
            <a:avLst>
              <a:gd name="adj" fmla="val 25000"/>
            </a:avLst>
          </a:prstGeom>
          <a:solidFill>
            <a:srgbClr val="1A6FBE">
              <a:alpha val="50000"/>
            </a:srgbClr>
          </a:solidFill>
          <a:ln/>
        </p:spPr>
      </p:sp>
      <p:sp>
        <p:nvSpPr>
          <p:cNvPr id="10" name="Text 8"/>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1" name="Text 9"/>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2" name="Text 10"/>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04 · Why existing tools fail  ·  vF</a:t>
            </a:r>
            <a:endParaRPr lang="en-US" sz="900" dirty="0"/>
          </a:p>
        </p:txBody>
      </p:sp>
      <p:sp>
        <p:nvSpPr>
          <p:cNvPr id="13" name="Text 11"/>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4" name="Text 12"/>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027 / 126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CFAF6"/>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WHY TOOLS FAIL</a:t>
            </a:r>
            <a:endParaRPr lang="en-US" sz="1100" dirty="0"/>
          </a:p>
        </p:txBody>
      </p:sp>
      <p:sp>
        <p:nvSpPr>
          <p:cNvPr id="3" name="Text 1"/>
          <p:cNvSpPr/>
          <p:nvPr/>
        </p:nvSpPr>
        <p:spPr>
          <a:xfrm>
            <a:off x="548640" y="1417320"/>
            <a:ext cx="11094415" cy="914400"/>
          </a:xfrm>
          <a:prstGeom prst="rect">
            <a:avLst/>
          </a:prstGeom>
          <a:noFill/>
          <a:ln/>
        </p:spPr>
        <p:txBody>
          <a:bodyPr wrap="square" lIns="0" tIns="0" rIns="0" bIns="0" rtlCol="0" anchor="t"/>
          <a:lstStyle/>
          <a:p>
            <a:pPr algn="l" indent="0" marL="0">
              <a:buNone/>
            </a:pPr>
            <a:r>
              <a:rPr lang="en-US" sz="3400" b="1" spc="-50" kern="0" dirty="0">
                <a:solidFill>
                  <a:srgbClr val="0F1733"/>
                </a:solidFill>
                <a:latin typeface="Calibri" pitchFamily="34" charset="0"/>
                <a:ea typeface="Calibri" pitchFamily="34" charset="-122"/>
                <a:cs typeface="Calibri" pitchFamily="34" charset="-120"/>
              </a:rPr>
              <a:t>Three categories. None of them fit the workflow.</a:t>
            </a:r>
            <a:endParaRPr lang="en-US" sz="3400" dirty="0"/>
          </a:p>
        </p:txBody>
      </p:sp>
      <p:sp>
        <p:nvSpPr>
          <p:cNvPr id="4" name="Shape 2"/>
          <p:cNvSpPr/>
          <p:nvPr/>
        </p:nvSpPr>
        <p:spPr>
          <a:xfrm>
            <a:off x="548640" y="2514600"/>
            <a:ext cx="5464912" cy="67008"/>
          </a:xfrm>
          <a:prstGeom prst="rect">
            <a:avLst/>
          </a:prstGeom>
          <a:solidFill>
            <a:srgbClr val="5028C2"/>
          </a:solidFill>
          <a:ln/>
        </p:spPr>
      </p:sp>
      <p:sp>
        <p:nvSpPr>
          <p:cNvPr id="5" name="Shape 3"/>
          <p:cNvSpPr/>
          <p:nvPr/>
        </p:nvSpPr>
        <p:spPr>
          <a:xfrm>
            <a:off x="548640" y="2572464"/>
            <a:ext cx="5464912" cy="67008"/>
          </a:xfrm>
          <a:prstGeom prst="rect">
            <a:avLst/>
          </a:prstGeom>
          <a:solidFill>
            <a:srgbClr val="4F29C2"/>
          </a:solidFill>
          <a:ln/>
        </p:spPr>
      </p:sp>
      <p:sp>
        <p:nvSpPr>
          <p:cNvPr id="6" name="Shape 4"/>
          <p:cNvSpPr/>
          <p:nvPr/>
        </p:nvSpPr>
        <p:spPr>
          <a:xfrm>
            <a:off x="548640" y="2630329"/>
            <a:ext cx="5464912" cy="67008"/>
          </a:xfrm>
          <a:prstGeom prst="rect">
            <a:avLst/>
          </a:prstGeom>
          <a:solidFill>
            <a:srgbClr val="4E2AC3"/>
          </a:solidFill>
          <a:ln/>
        </p:spPr>
      </p:sp>
      <p:sp>
        <p:nvSpPr>
          <p:cNvPr id="7" name="Shape 5"/>
          <p:cNvSpPr/>
          <p:nvPr/>
        </p:nvSpPr>
        <p:spPr>
          <a:xfrm>
            <a:off x="548640" y="2688193"/>
            <a:ext cx="5464912" cy="67008"/>
          </a:xfrm>
          <a:prstGeom prst="rect">
            <a:avLst/>
          </a:prstGeom>
          <a:solidFill>
            <a:srgbClr val="4D2BC3"/>
          </a:solidFill>
          <a:ln/>
        </p:spPr>
      </p:sp>
      <p:sp>
        <p:nvSpPr>
          <p:cNvPr id="8" name="Shape 6"/>
          <p:cNvSpPr/>
          <p:nvPr/>
        </p:nvSpPr>
        <p:spPr>
          <a:xfrm>
            <a:off x="548640" y="2746058"/>
            <a:ext cx="5464912" cy="67008"/>
          </a:xfrm>
          <a:prstGeom prst="rect">
            <a:avLst/>
          </a:prstGeom>
          <a:solidFill>
            <a:srgbClr val="4D2CC4"/>
          </a:solidFill>
          <a:ln/>
        </p:spPr>
      </p:sp>
      <p:sp>
        <p:nvSpPr>
          <p:cNvPr id="9" name="Shape 7"/>
          <p:cNvSpPr/>
          <p:nvPr/>
        </p:nvSpPr>
        <p:spPr>
          <a:xfrm>
            <a:off x="548640" y="2803922"/>
            <a:ext cx="5464912" cy="67008"/>
          </a:xfrm>
          <a:prstGeom prst="rect">
            <a:avLst/>
          </a:prstGeom>
          <a:solidFill>
            <a:srgbClr val="4C2DC4"/>
          </a:solidFill>
          <a:ln/>
        </p:spPr>
      </p:sp>
      <p:sp>
        <p:nvSpPr>
          <p:cNvPr id="10" name="Shape 8"/>
          <p:cNvSpPr/>
          <p:nvPr/>
        </p:nvSpPr>
        <p:spPr>
          <a:xfrm>
            <a:off x="548640" y="2861786"/>
            <a:ext cx="5464912" cy="67008"/>
          </a:xfrm>
          <a:prstGeom prst="rect">
            <a:avLst/>
          </a:prstGeom>
          <a:solidFill>
            <a:srgbClr val="4B2EC5"/>
          </a:solidFill>
          <a:ln/>
        </p:spPr>
      </p:sp>
      <p:sp>
        <p:nvSpPr>
          <p:cNvPr id="11" name="Shape 9"/>
          <p:cNvSpPr/>
          <p:nvPr/>
        </p:nvSpPr>
        <p:spPr>
          <a:xfrm>
            <a:off x="548640" y="2919651"/>
            <a:ext cx="5464912" cy="67008"/>
          </a:xfrm>
          <a:prstGeom prst="rect">
            <a:avLst/>
          </a:prstGeom>
          <a:solidFill>
            <a:srgbClr val="4A2FC5"/>
          </a:solidFill>
          <a:ln/>
        </p:spPr>
      </p:sp>
      <p:sp>
        <p:nvSpPr>
          <p:cNvPr id="12" name="Shape 10"/>
          <p:cNvSpPr/>
          <p:nvPr/>
        </p:nvSpPr>
        <p:spPr>
          <a:xfrm>
            <a:off x="548640" y="2977515"/>
            <a:ext cx="5464912" cy="67008"/>
          </a:xfrm>
          <a:prstGeom prst="rect">
            <a:avLst/>
          </a:prstGeom>
          <a:solidFill>
            <a:srgbClr val="4930C6"/>
          </a:solidFill>
          <a:ln/>
        </p:spPr>
      </p:sp>
      <p:sp>
        <p:nvSpPr>
          <p:cNvPr id="13" name="Shape 11"/>
          <p:cNvSpPr/>
          <p:nvPr/>
        </p:nvSpPr>
        <p:spPr>
          <a:xfrm>
            <a:off x="548640" y="3035379"/>
            <a:ext cx="5464912" cy="67008"/>
          </a:xfrm>
          <a:prstGeom prst="rect">
            <a:avLst/>
          </a:prstGeom>
          <a:solidFill>
            <a:srgbClr val="4831C6"/>
          </a:solidFill>
          <a:ln/>
        </p:spPr>
      </p:sp>
      <p:sp>
        <p:nvSpPr>
          <p:cNvPr id="14" name="Shape 12"/>
          <p:cNvSpPr/>
          <p:nvPr/>
        </p:nvSpPr>
        <p:spPr>
          <a:xfrm>
            <a:off x="548640" y="3093244"/>
            <a:ext cx="5464912" cy="67008"/>
          </a:xfrm>
          <a:prstGeom prst="rect">
            <a:avLst/>
          </a:prstGeom>
          <a:solidFill>
            <a:srgbClr val="4732C6"/>
          </a:solidFill>
          <a:ln/>
        </p:spPr>
      </p:sp>
      <p:sp>
        <p:nvSpPr>
          <p:cNvPr id="15" name="Shape 13"/>
          <p:cNvSpPr/>
          <p:nvPr/>
        </p:nvSpPr>
        <p:spPr>
          <a:xfrm>
            <a:off x="548640" y="3151108"/>
            <a:ext cx="5464912" cy="67008"/>
          </a:xfrm>
          <a:prstGeom prst="rect">
            <a:avLst/>
          </a:prstGeom>
          <a:solidFill>
            <a:srgbClr val="4733C7"/>
          </a:solidFill>
          <a:ln/>
        </p:spPr>
      </p:sp>
      <p:sp>
        <p:nvSpPr>
          <p:cNvPr id="16" name="Shape 14"/>
          <p:cNvSpPr/>
          <p:nvPr/>
        </p:nvSpPr>
        <p:spPr>
          <a:xfrm>
            <a:off x="548640" y="3208973"/>
            <a:ext cx="5464912" cy="67008"/>
          </a:xfrm>
          <a:prstGeom prst="rect">
            <a:avLst/>
          </a:prstGeom>
          <a:solidFill>
            <a:srgbClr val="4634C7"/>
          </a:solidFill>
          <a:ln/>
        </p:spPr>
      </p:sp>
      <p:sp>
        <p:nvSpPr>
          <p:cNvPr id="17" name="Shape 15"/>
          <p:cNvSpPr/>
          <p:nvPr/>
        </p:nvSpPr>
        <p:spPr>
          <a:xfrm>
            <a:off x="548640" y="3266837"/>
            <a:ext cx="5464912" cy="67008"/>
          </a:xfrm>
          <a:prstGeom prst="rect">
            <a:avLst/>
          </a:prstGeom>
          <a:solidFill>
            <a:srgbClr val="4535C8"/>
          </a:solidFill>
          <a:ln/>
        </p:spPr>
      </p:sp>
      <p:sp>
        <p:nvSpPr>
          <p:cNvPr id="18" name="Shape 16"/>
          <p:cNvSpPr/>
          <p:nvPr/>
        </p:nvSpPr>
        <p:spPr>
          <a:xfrm>
            <a:off x="548640" y="3324701"/>
            <a:ext cx="5464912" cy="67008"/>
          </a:xfrm>
          <a:prstGeom prst="rect">
            <a:avLst/>
          </a:prstGeom>
          <a:solidFill>
            <a:srgbClr val="4436C8"/>
          </a:solidFill>
          <a:ln/>
        </p:spPr>
      </p:sp>
      <p:sp>
        <p:nvSpPr>
          <p:cNvPr id="19" name="Shape 17"/>
          <p:cNvSpPr/>
          <p:nvPr/>
        </p:nvSpPr>
        <p:spPr>
          <a:xfrm>
            <a:off x="548640" y="3382566"/>
            <a:ext cx="5464912" cy="67008"/>
          </a:xfrm>
          <a:prstGeom prst="rect">
            <a:avLst/>
          </a:prstGeom>
          <a:solidFill>
            <a:srgbClr val="4337C9"/>
          </a:solidFill>
          <a:ln/>
        </p:spPr>
      </p:sp>
      <p:sp>
        <p:nvSpPr>
          <p:cNvPr id="20" name="Shape 18"/>
          <p:cNvSpPr/>
          <p:nvPr/>
        </p:nvSpPr>
        <p:spPr>
          <a:xfrm>
            <a:off x="548640" y="3440430"/>
            <a:ext cx="5464912" cy="67008"/>
          </a:xfrm>
          <a:prstGeom prst="rect">
            <a:avLst/>
          </a:prstGeom>
          <a:solidFill>
            <a:srgbClr val="4238C9"/>
          </a:solidFill>
          <a:ln/>
        </p:spPr>
      </p:sp>
      <p:sp>
        <p:nvSpPr>
          <p:cNvPr id="21" name="Shape 19"/>
          <p:cNvSpPr/>
          <p:nvPr/>
        </p:nvSpPr>
        <p:spPr>
          <a:xfrm>
            <a:off x="548640" y="3498294"/>
            <a:ext cx="5464912" cy="67008"/>
          </a:xfrm>
          <a:prstGeom prst="rect">
            <a:avLst/>
          </a:prstGeom>
          <a:solidFill>
            <a:srgbClr val="4139CA"/>
          </a:solidFill>
          <a:ln/>
        </p:spPr>
      </p:sp>
      <p:sp>
        <p:nvSpPr>
          <p:cNvPr id="22" name="Shape 20"/>
          <p:cNvSpPr/>
          <p:nvPr/>
        </p:nvSpPr>
        <p:spPr>
          <a:xfrm>
            <a:off x="548640" y="3556159"/>
            <a:ext cx="5464912" cy="67008"/>
          </a:xfrm>
          <a:prstGeom prst="rect">
            <a:avLst/>
          </a:prstGeom>
          <a:solidFill>
            <a:srgbClr val="413ACA"/>
          </a:solidFill>
          <a:ln/>
        </p:spPr>
      </p:sp>
      <p:sp>
        <p:nvSpPr>
          <p:cNvPr id="23" name="Shape 21"/>
          <p:cNvSpPr/>
          <p:nvPr/>
        </p:nvSpPr>
        <p:spPr>
          <a:xfrm>
            <a:off x="548640" y="3614023"/>
            <a:ext cx="5464912" cy="67008"/>
          </a:xfrm>
          <a:prstGeom prst="rect">
            <a:avLst/>
          </a:prstGeom>
          <a:solidFill>
            <a:srgbClr val="403BCA"/>
          </a:solidFill>
          <a:ln/>
        </p:spPr>
      </p:sp>
      <p:sp>
        <p:nvSpPr>
          <p:cNvPr id="24" name="Shape 22"/>
          <p:cNvSpPr/>
          <p:nvPr/>
        </p:nvSpPr>
        <p:spPr>
          <a:xfrm>
            <a:off x="548640" y="3671888"/>
            <a:ext cx="5464912" cy="67008"/>
          </a:xfrm>
          <a:prstGeom prst="rect">
            <a:avLst/>
          </a:prstGeom>
          <a:solidFill>
            <a:srgbClr val="3F3CCB"/>
          </a:solidFill>
          <a:ln/>
        </p:spPr>
      </p:sp>
      <p:sp>
        <p:nvSpPr>
          <p:cNvPr id="25" name="Shape 23"/>
          <p:cNvSpPr/>
          <p:nvPr/>
        </p:nvSpPr>
        <p:spPr>
          <a:xfrm>
            <a:off x="548640" y="3729752"/>
            <a:ext cx="5464912" cy="67008"/>
          </a:xfrm>
          <a:prstGeom prst="rect">
            <a:avLst/>
          </a:prstGeom>
          <a:solidFill>
            <a:srgbClr val="3E3DCB"/>
          </a:solidFill>
          <a:ln/>
        </p:spPr>
      </p:sp>
      <p:sp>
        <p:nvSpPr>
          <p:cNvPr id="26" name="Shape 24"/>
          <p:cNvSpPr/>
          <p:nvPr/>
        </p:nvSpPr>
        <p:spPr>
          <a:xfrm>
            <a:off x="548640" y="3787616"/>
            <a:ext cx="5464912" cy="67008"/>
          </a:xfrm>
          <a:prstGeom prst="rect">
            <a:avLst/>
          </a:prstGeom>
          <a:solidFill>
            <a:srgbClr val="3D3ECC"/>
          </a:solidFill>
          <a:ln/>
        </p:spPr>
      </p:sp>
      <p:sp>
        <p:nvSpPr>
          <p:cNvPr id="27" name="Shape 25"/>
          <p:cNvSpPr/>
          <p:nvPr/>
        </p:nvSpPr>
        <p:spPr>
          <a:xfrm>
            <a:off x="548640" y="3845481"/>
            <a:ext cx="5464912" cy="67008"/>
          </a:xfrm>
          <a:prstGeom prst="rect">
            <a:avLst/>
          </a:prstGeom>
          <a:solidFill>
            <a:srgbClr val="3C3FCC"/>
          </a:solidFill>
          <a:ln/>
        </p:spPr>
      </p:sp>
      <p:sp>
        <p:nvSpPr>
          <p:cNvPr id="28" name="Shape 26"/>
          <p:cNvSpPr/>
          <p:nvPr/>
        </p:nvSpPr>
        <p:spPr>
          <a:xfrm>
            <a:off x="548640" y="3903345"/>
            <a:ext cx="5464912" cy="67008"/>
          </a:xfrm>
          <a:prstGeom prst="rect">
            <a:avLst/>
          </a:prstGeom>
          <a:solidFill>
            <a:srgbClr val="3B40CD"/>
          </a:solidFill>
          <a:ln/>
        </p:spPr>
      </p:sp>
      <p:sp>
        <p:nvSpPr>
          <p:cNvPr id="29" name="Shape 27"/>
          <p:cNvSpPr/>
          <p:nvPr/>
        </p:nvSpPr>
        <p:spPr>
          <a:xfrm>
            <a:off x="548640" y="3961209"/>
            <a:ext cx="5464912" cy="67008"/>
          </a:xfrm>
          <a:prstGeom prst="rect">
            <a:avLst/>
          </a:prstGeom>
          <a:solidFill>
            <a:srgbClr val="3B41CD"/>
          </a:solidFill>
          <a:ln/>
        </p:spPr>
      </p:sp>
      <p:sp>
        <p:nvSpPr>
          <p:cNvPr id="30" name="Shape 28"/>
          <p:cNvSpPr/>
          <p:nvPr/>
        </p:nvSpPr>
        <p:spPr>
          <a:xfrm>
            <a:off x="548640" y="4019074"/>
            <a:ext cx="5464912" cy="67008"/>
          </a:xfrm>
          <a:prstGeom prst="rect">
            <a:avLst/>
          </a:prstGeom>
          <a:solidFill>
            <a:srgbClr val="3A42CE"/>
          </a:solidFill>
          <a:ln/>
        </p:spPr>
      </p:sp>
      <p:sp>
        <p:nvSpPr>
          <p:cNvPr id="31" name="Shape 29"/>
          <p:cNvSpPr/>
          <p:nvPr/>
        </p:nvSpPr>
        <p:spPr>
          <a:xfrm>
            <a:off x="548640" y="4076938"/>
            <a:ext cx="5464912" cy="67008"/>
          </a:xfrm>
          <a:prstGeom prst="rect">
            <a:avLst/>
          </a:prstGeom>
          <a:solidFill>
            <a:srgbClr val="3943CE"/>
          </a:solidFill>
          <a:ln/>
        </p:spPr>
      </p:sp>
      <p:sp>
        <p:nvSpPr>
          <p:cNvPr id="32" name="Shape 30"/>
          <p:cNvSpPr/>
          <p:nvPr/>
        </p:nvSpPr>
        <p:spPr>
          <a:xfrm>
            <a:off x="548640" y="4134802"/>
            <a:ext cx="5464912" cy="67008"/>
          </a:xfrm>
          <a:prstGeom prst="rect">
            <a:avLst/>
          </a:prstGeom>
          <a:solidFill>
            <a:srgbClr val="3844CE"/>
          </a:solidFill>
          <a:ln/>
        </p:spPr>
      </p:sp>
      <p:sp>
        <p:nvSpPr>
          <p:cNvPr id="33" name="Shape 31"/>
          <p:cNvSpPr/>
          <p:nvPr/>
        </p:nvSpPr>
        <p:spPr>
          <a:xfrm>
            <a:off x="548640" y="4192667"/>
            <a:ext cx="5464912" cy="67008"/>
          </a:xfrm>
          <a:prstGeom prst="rect">
            <a:avLst/>
          </a:prstGeom>
          <a:solidFill>
            <a:srgbClr val="3745CF"/>
          </a:solidFill>
          <a:ln/>
        </p:spPr>
      </p:sp>
      <p:sp>
        <p:nvSpPr>
          <p:cNvPr id="34" name="Shape 32"/>
          <p:cNvSpPr/>
          <p:nvPr/>
        </p:nvSpPr>
        <p:spPr>
          <a:xfrm>
            <a:off x="548640" y="4250531"/>
            <a:ext cx="5464912" cy="67008"/>
          </a:xfrm>
          <a:prstGeom prst="rect">
            <a:avLst/>
          </a:prstGeom>
          <a:solidFill>
            <a:srgbClr val="3646CF"/>
          </a:solidFill>
          <a:ln/>
        </p:spPr>
      </p:sp>
      <p:sp>
        <p:nvSpPr>
          <p:cNvPr id="35" name="Shape 33"/>
          <p:cNvSpPr/>
          <p:nvPr/>
        </p:nvSpPr>
        <p:spPr>
          <a:xfrm>
            <a:off x="548640" y="4308396"/>
            <a:ext cx="5464912" cy="67008"/>
          </a:xfrm>
          <a:prstGeom prst="rect">
            <a:avLst/>
          </a:prstGeom>
          <a:solidFill>
            <a:srgbClr val="3547D0"/>
          </a:solidFill>
          <a:ln/>
        </p:spPr>
      </p:sp>
      <p:sp>
        <p:nvSpPr>
          <p:cNvPr id="36" name="Shape 34"/>
          <p:cNvSpPr/>
          <p:nvPr/>
        </p:nvSpPr>
        <p:spPr>
          <a:xfrm>
            <a:off x="548640" y="4366260"/>
            <a:ext cx="5464912" cy="67008"/>
          </a:xfrm>
          <a:prstGeom prst="rect">
            <a:avLst/>
          </a:prstGeom>
          <a:solidFill>
            <a:srgbClr val="3549D0"/>
          </a:solidFill>
          <a:ln/>
        </p:spPr>
      </p:sp>
      <p:sp>
        <p:nvSpPr>
          <p:cNvPr id="37" name="Shape 35"/>
          <p:cNvSpPr/>
          <p:nvPr/>
        </p:nvSpPr>
        <p:spPr>
          <a:xfrm>
            <a:off x="548640" y="4424124"/>
            <a:ext cx="5464912" cy="67008"/>
          </a:xfrm>
          <a:prstGeom prst="rect">
            <a:avLst/>
          </a:prstGeom>
          <a:solidFill>
            <a:srgbClr val="344ACF"/>
          </a:solidFill>
          <a:ln/>
        </p:spPr>
      </p:sp>
      <p:sp>
        <p:nvSpPr>
          <p:cNvPr id="38" name="Shape 36"/>
          <p:cNvSpPr/>
          <p:nvPr/>
        </p:nvSpPr>
        <p:spPr>
          <a:xfrm>
            <a:off x="548640" y="4481989"/>
            <a:ext cx="5464912" cy="67008"/>
          </a:xfrm>
          <a:prstGeom prst="rect">
            <a:avLst/>
          </a:prstGeom>
          <a:solidFill>
            <a:srgbClr val="334BCF"/>
          </a:solidFill>
          <a:ln/>
        </p:spPr>
      </p:sp>
      <p:sp>
        <p:nvSpPr>
          <p:cNvPr id="39" name="Shape 37"/>
          <p:cNvSpPr/>
          <p:nvPr/>
        </p:nvSpPr>
        <p:spPr>
          <a:xfrm>
            <a:off x="548640" y="4539853"/>
            <a:ext cx="5464912" cy="67008"/>
          </a:xfrm>
          <a:prstGeom prst="rect">
            <a:avLst/>
          </a:prstGeom>
          <a:solidFill>
            <a:srgbClr val="324CCE"/>
          </a:solidFill>
          <a:ln/>
        </p:spPr>
      </p:sp>
      <p:sp>
        <p:nvSpPr>
          <p:cNvPr id="40" name="Shape 38"/>
          <p:cNvSpPr/>
          <p:nvPr/>
        </p:nvSpPr>
        <p:spPr>
          <a:xfrm>
            <a:off x="548640" y="4597717"/>
            <a:ext cx="5464912" cy="67008"/>
          </a:xfrm>
          <a:prstGeom prst="rect">
            <a:avLst/>
          </a:prstGeom>
          <a:solidFill>
            <a:srgbClr val="314ECD"/>
          </a:solidFill>
          <a:ln/>
        </p:spPr>
      </p:sp>
      <p:sp>
        <p:nvSpPr>
          <p:cNvPr id="41" name="Shape 39"/>
          <p:cNvSpPr/>
          <p:nvPr/>
        </p:nvSpPr>
        <p:spPr>
          <a:xfrm>
            <a:off x="548640" y="4655582"/>
            <a:ext cx="5464912" cy="67008"/>
          </a:xfrm>
          <a:prstGeom prst="rect">
            <a:avLst/>
          </a:prstGeom>
          <a:solidFill>
            <a:srgbClr val="304FCD"/>
          </a:solidFill>
          <a:ln/>
        </p:spPr>
      </p:sp>
      <p:sp>
        <p:nvSpPr>
          <p:cNvPr id="42" name="Shape 40"/>
          <p:cNvSpPr/>
          <p:nvPr/>
        </p:nvSpPr>
        <p:spPr>
          <a:xfrm>
            <a:off x="548640" y="4713446"/>
            <a:ext cx="5464912" cy="67008"/>
          </a:xfrm>
          <a:prstGeom prst="rect">
            <a:avLst/>
          </a:prstGeom>
          <a:solidFill>
            <a:srgbClr val="2F50CC"/>
          </a:solidFill>
          <a:ln/>
        </p:spPr>
      </p:sp>
      <p:sp>
        <p:nvSpPr>
          <p:cNvPr id="43" name="Shape 41"/>
          <p:cNvSpPr/>
          <p:nvPr/>
        </p:nvSpPr>
        <p:spPr>
          <a:xfrm>
            <a:off x="548640" y="4771311"/>
            <a:ext cx="5464912" cy="67008"/>
          </a:xfrm>
          <a:prstGeom prst="rect">
            <a:avLst/>
          </a:prstGeom>
          <a:solidFill>
            <a:srgbClr val="2F51CC"/>
          </a:solidFill>
          <a:ln/>
        </p:spPr>
      </p:sp>
      <p:sp>
        <p:nvSpPr>
          <p:cNvPr id="44" name="Shape 42"/>
          <p:cNvSpPr/>
          <p:nvPr/>
        </p:nvSpPr>
        <p:spPr>
          <a:xfrm>
            <a:off x="548640" y="4829175"/>
            <a:ext cx="5464912" cy="67008"/>
          </a:xfrm>
          <a:prstGeom prst="rect">
            <a:avLst/>
          </a:prstGeom>
          <a:solidFill>
            <a:srgbClr val="2E53CB"/>
          </a:solidFill>
          <a:ln/>
        </p:spPr>
      </p:sp>
      <p:sp>
        <p:nvSpPr>
          <p:cNvPr id="45" name="Shape 43"/>
          <p:cNvSpPr/>
          <p:nvPr/>
        </p:nvSpPr>
        <p:spPr>
          <a:xfrm>
            <a:off x="548640" y="4887039"/>
            <a:ext cx="5464912" cy="67008"/>
          </a:xfrm>
          <a:prstGeom prst="rect">
            <a:avLst/>
          </a:prstGeom>
          <a:solidFill>
            <a:srgbClr val="2D54CB"/>
          </a:solidFill>
          <a:ln/>
        </p:spPr>
      </p:sp>
      <p:sp>
        <p:nvSpPr>
          <p:cNvPr id="46" name="Shape 44"/>
          <p:cNvSpPr/>
          <p:nvPr/>
        </p:nvSpPr>
        <p:spPr>
          <a:xfrm>
            <a:off x="548640" y="4944904"/>
            <a:ext cx="5464912" cy="67008"/>
          </a:xfrm>
          <a:prstGeom prst="rect">
            <a:avLst/>
          </a:prstGeom>
          <a:solidFill>
            <a:srgbClr val="2C55CA"/>
          </a:solidFill>
          <a:ln/>
        </p:spPr>
      </p:sp>
      <p:sp>
        <p:nvSpPr>
          <p:cNvPr id="47" name="Shape 45"/>
          <p:cNvSpPr/>
          <p:nvPr/>
        </p:nvSpPr>
        <p:spPr>
          <a:xfrm>
            <a:off x="548640" y="5002768"/>
            <a:ext cx="5464912" cy="67008"/>
          </a:xfrm>
          <a:prstGeom prst="rect">
            <a:avLst/>
          </a:prstGeom>
          <a:solidFill>
            <a:srgbClr val="2B56C9"/>
          </a:solidFill>
          <a:ln/>
        </p:spPr>
      </p:sp>
      <p:sp>
        <p:nvSpPr>
          <p:cNvPr id="48" name="Shape 46"/>
          <p:cNvSpPr/>
          <p:nvPr/>
        </p:nvSpPr>
        <p:spPr>
          <a:xfrm>
            <a:off x="548640" y="5060633"/>
            <a:ext cx="5464912" cy="67008"/>
          </a:xfrm>
          <a:prstGeom prst="rect">
            <a:avLst/>
          </a:prstGeom>
          <a:solidFill>
            <a:srgbClr val="2A57C9"/>
          </a:solidFill>
          <a:ln/>
        </p:spPr>
      </p:sp>
      <p:sp>
        <p:nvSpPr>
          <p:cNvPr id="49" name="Shape 47"/>
          <p:cNvSpPr/>
          <p:nvPr/>
        </p:nvSpPr>
        <p:spPr>
          <a:xfrm>
            <a:off x="548640" y="5118497"/>
            <a:ext cx="5464912" cy="67008"/>
          </a:xfrm>
          <a:prstGeom prst="rect">
            <a:avLst/>
          </a:prstGeom>
          <a:solidFill>
            <a:srgbClr val="2959C8"/>
          </a:solidFill>
          <a:ln/>
        </p:spPr>
      </p:sp>
      <p:sp>
        <p:nvSpPr>
          <p:cNvPr id="50" name="Shape 48"/>
          <p:cNvSpPr/>
          <p:nvPr/>
        </p:nvSpPr>
        <p:spPr>
          <a:xfrm>
            <a:off x="548640" y="5176361"/>
            <a:ext cx="5464912" cy="67008"/>
          </a:xfrm>
          <a:prstGeom prst="rect">
            <a:avLst/>
          </a:prstGeom>
          <a:solidFill>
            <a:srgbClr val="295AC8"/>
          </a:solidFill>
          <a:ln/>
        </p:spPr>
      </p:sp>
      <p:sp>
        <p:nvSpPr>
          <p:cNvPr id="51" name="Shape 49"/>
          <p:cNvSpPr/>
          <p:nvPr/>
        </p:nvSpPr>
        <p:spPr>
          <a:xfrm>
            <a:off x="548640" y="5234226"/>
            <a:ext cx="5464912" cy="67008"/>
          </a:xfrm>
          <a:prstGeom prst="rect">
            <a:avLst/>
          </a:prstGeom>
          <a:solidFill>
            <a:srgbClr val="285BC7"/>
          </a:solidFill>
          <a:ln/>
        </p:spPr>
      </p:sp>
      <p:sp>
        <p:nvSpPr>
          <p:cNvPr id="52" name="Shape 50"/>
          <p:cNvSpPr/>
          <p:nvPr/>
        </p:nvSpPr>
        <p:spPr>
          <a:xfrm>
            <a:off x="548640" y="5292090"/>
            <a:ext cx="5464912" cy="67008"/>
          </a:xfrm>
          <a:prstGeom prst="rect">
            <a:avLst/>
          </a:prstGeom>
          <a:solidFill>
            <a:srgbClr val="275CC7"/>
          </a:solidFill>
          <a:ln/>
        </p:spPr>
      </p:sp>
      <p:sp>
        <p:nvSpPr>
          <p:cNvPr id="53" name="Shape 51"/>
          <p:cNvSpPr/>
          <p:nvPr/>
        </p:nvSpPr>
        <p:spPr>
          <a:xfrm>
            <a:off x="548640" y="5349954"/>
            <a:ext cx="5464912" cy="67008"/>
          </a:xfrm>
          <a:prstGeom prst="rect">
            <a:avLst/>
          </a:prstGeom>
          <a:solidFill>
            <a:srgbClr val="265EC6"/>
          </a:solidFill>
          <a:ln/>
        </p:spPr>
      </p:sp>
      <p:sp>
        <p:nvSpPr>
          <p:cNvPr id="54" name="Shape 52"/>
          <p:cNvSpPr/>
          <p:nvPr/>
        </p:nvSpPr>
        <p:spPr>
          <a:xfrm>
            <a:off x="548640" y="5407819"/>
            <a:ext cx="5464912" cy="67008"/>
          </a:xfrm>
          <a:prstGeom prst="rect">
            <a:avLst/>
          </a:prstGeom>
          <a:solidFill>
            <a:srgbClr val="255FC5"/>
          </a:solidFill>
          <a:ln/>
        </p:spPr>
      </p:sp>
      <p:sp>
        <p:nvSpPr>
          <p:cNvPr id="55" name="Shape 53"/>
          <p:cNvSpPr/>
          <p:nvPr/>
        </p:nvSpPr>
        <p:spPr>
          <a:xfrm>
            <a:off x="548640" y="5465683"/>
            <a:ext cx="5464912" cy="67008"/>
          </a:xfrm>
          <a:prstGeom prst="rect">
            <a:avLst/>
          </a:prstGeom>
          <a:solidFill>
            <a:srgbClr val="2460C5"/>
          </a:solidFill>
          <a:ln/>
        </p:spPr>
      </p:sp>
      <p:sp>
        <p:nvSpPr>
          <p:cNvPr id="56" name="Shape 54"/>
          <p:cNvSpPr/>
          <p:nvPr/>
        </p:nvSpPr>
        <p:spPr>
          <a:xfrm>
            <a:off x="548640" y="5523548"/>
            <a:ext cx="5464912" cy="67008"/>
          </a:xfrm>
          <a:prstGeom prst="rect">
            <a:avLst/>
          </a:prstGeom>
          <a:solidFill>
            <a:srgbClr val="2361C4"/>
          </a:solidFill>
          <a:ln/>
        </p:spPr>
      </p:sp>
      <p:sp>
        <p:nvSpPr>
          <p:cNvPr id="57" name="Shape 55"/>
          <p:cNvSpPr/>
          <p:nvPr/>
        </p:nvSpPr>
        <p:spPr>
          <a:xfrm>
            <a:off x="548640" y="5581412"/>
            <a:ext cx="5464912" cy="67008"/>
          </a:xfrm>
          <a:prstGeom prst="rect">
            <a:avLst/>
          </a:prstGeom>
          <a:solidFill>
            <a:srgbClr val="2363C4"/>
          </a:solidFill>
          <a:ln/>
        </p:spPr>
      </p:sp>
      <p:sp>
        <p:nvSpPr>
          <p:cNvPr id="58" name="Shape 56"/>
          <p:cNvSpPr/>
          <p:nvPr/>
        </p:nvSpPr>
        <p:spPr>
          <a:xfrm>
            <a:off x="548640" y="5639276"/>
            <a:ext cx="5464912" cy="67008"/>
          </a:xfrm>
          <a:prstGeom prst="rect">
            <a:avLst/>
          </a:prstGeom>
          <a:solidFill>
            <a:srgbClr val="2264C3"/>
          </a:solidFill>
          <a:ln/>
        </p:spPr>
      </p:sp>
      <p:sp>
        <p:nvSpPr>
          <p:cNvPr id="59" name="Shape 57"/>
          <p:cNvSpPr/>
          <p:nvPr/>
        </p:nvSpPr>
        <p:spPr>
          <a:xfrm>
            <a:off x="548640" y="5697141"/>
            <a:ext cx="5464912" cy="67008"/>
          </a:xfrm>
          <a:prstGeom prst="rect">
            <a:avLst/>
          </a:prstGeom>
          <a:solidFill>
            <a:srgbClr val="2165C3"/>
          </a:solidFill>
          <a:ln/>
        </p:spPr>
      </p:sp>
      <p:sp>
        <p:nvSpPr>
          <p:cNvPr id="60" name="Shape 58"/>
          <p:cNvSpPr/>
          <p:nvPr/>
        </p:nvSpPr>
        <p:spPr>
          <a:xfrm>
            <a:off x="548640" y="5755005"/>
            <a:ext cx="5464912" cy="67008"/>
          </a:xfrm>
          <a:prstGeom prst="rect">
            <a:avLst/>
          </a:prstGeom>
          <a:solidFill>
            <a:srgbClr val="2066C2"/>
          </a:solidFill>
          <a:ln/>
        </p:spPr>
      </p:sp>
      <p:sp>
        <p:nvSpPr>
          <p:cNvPr id="61" name="Shape 59"/>
          <p:cNvSpPr/>
          <p:nvPr/>
        </p:nvSpPr>
        <p:spPr>
          <a:xfrm>
            <a:off x="548640" y="5812869"/>
            <a:ext cx="5464912" cy="67008"/>
          </a:xfrm>
          <a:prstGeom prst="rect">
            <a:avLst/>
          </a:prstGeom>
          <a:solidFill>
            <a:srgbClr val="1F68C1"/>
          </a:solidFill>
          <a:ln/>
        </p:spPr>
      </p:sp>
      <p:sp>
        <p:nvSpPr>
          <p:cNvPr id="62" name="Shape 60"/>
          <p:cNvSpPr/>
          <p:nvPr/>
        </p:nvSpPr>
        <p:spPr>
          <a:xfrm>
            <a:off x="548640" y="5870734"/>
            <a:ext cx="5464912" cy="67008"/>
          </a:xfrm>
          <a:prstGeom prst="rect">
            <a:avLst/>
          </a:prstGeom>
          <a:solidFill>
            <a:srgbClr val="1E69C1"/>
          </a:solidFill>
          <a:ln/>
        </p:spPr>
      </p:sp>
      <p:sp>
        <p:nvSpPr>
          <p:cNvPr id="63" name="Shape 61"/>
          <p:cNvSpPr/>
          <p:nvPr/>
        </p:nvSpPr>
        <p:spPr>
          <a:xfrm>
            <a:off x="548640" y="5928598"/>
            <a:ext cx="5464912" cy="67008"/>
          </a:xfrm>
          <a:prstGeom prst="rect">
            <a:avLst/>
          </a:prstGeom>
          <a:solidFill>
            <a:srgbClr val="1D6AC0"/>
          </a:solidFill>
          <a:ln/>
        </p:spPr>
      </p:sp>
      <p:sp>
        <p:nvSpPr>
          <p:cNvPr id="64" name="Shape 62"/>
          <p:cNvSpPr/>
          <p:nvPr/>
        </p:nvSpPr>
        <p:spPr>
          <a:xfrm>
            <a:off x="548640" y="5986463"/>
            <a:ext cx="5464912" cy="67008"/>
          </a:xfrm>
          <a:prstGeom prst="rect">
            <a:avLst/>
          </a:prstGeom>
          <a:solidFill>
            <a:srgbClr val="1D6BC0"/>
          </a:solidFill>
          <a:ln/>
        </p:spPr>
      </p:sp>
      <p:sp>
        <p:nvSpPr>
          <p:cNvPr id="65" name="Shape 63"/>
          <p:cNvSpPr/>
          <p:nvPr/>
        </p:nvSpPr>
        <p:spPr>
          <a:xfrm>
            <a:off x="548640" y="6044327"/>
            <a:ext cx="5464912" cy="67008"/>
          </a:xfrm>
          <a:prstGeom prst="rect">
            <a:avLst/>
          </a:prstGeom>
          <a:solidFill>
            <a:srgbClr val="1C6DBF"/>
          </a:solidFill>
          <a:ln/>
        </p:spPr>
      </p:sp>
      <p:sp>
        <p:nvSpPr>
          <p:cNvPr id="66" name="Shape 64"/>
          <p:cNvSpPr/>
          <p:nvPr/>
        </p:nvSpPr>
        <p:spPr>
          <a:xfrm>
            <a:off x="548640" y="6102191"/>
            <a:ext cx="5464912" cy="67008"/>
          </a:xfrm>
          <a:prstGeom prst="rect">
            <a:avLst/>
          </a:prstGeom>
          <a:solidFill>
            <a:srgbClr val="1B6EBF"/>
          </a:solidFill>
          <a:ln/>
        </p:spPr>
      </p:sp>
      <p:sp>
        <p:nvSpPr>
          <p:cNvPr id="67" name="Shape 65"/>
          <p:cNvSpPr/>
          <p:nvPr/>
        </p:nvSpPr>
        <p:spPr>
          <a:xfrm>
            <a:off x="548640" y="6160056"/>
            <a:ext cx="5464912" cy="67008"/>
          </a:xfrm>
          <a:prstGeom prst="rect">
            <a:avLst/>
          </a:prstGeom>
          <a:solidFill>
            <a:srgbClr val="1A6FBE"/>
          </a:solidFill>
          <a:ln/>
        </p:spPr>
      </p:sp>
      <p:sp>
        <p:nvSpPr>
          <p:cNvPr id="68" name="Text 66"/>
          <p:cNvSpPr/>
          <p:nvPr/>
        </p:nvSpPr>
        <p:spPr>
          <a:xfrm>
            <a:off x="914400" y="2880360"/>
            <a:ext cx="4733392" cy="914400"/>
          </a:xfrm>
          <a:prstGeom prst="rect">
            <a:avLst/>
          </a:prstGeom>
          <a:noFill/>
          <a:ln/>
        </p:spPr>
        <p:txBody>
          <a:bodyPr wrap="square" lIns="0" tIns="0" rIns="0" bIns="0" rtlCol="0" anchor="t"/>
          <a:lstStyle/>
          <a:p>
            <a:pPr algn="l" indent="0" marL="0">
              <a:buNone/>
            </a:pPr>
            <a:r>
              <a:rPr lang="en-US" sz="1100" b="1" spc="300" kern="0" dirty="0">
                <a:solidFill>
                  <a:srgbClr val="FFFFFF"/>
                </a:solidFill>
                <a:latin typeface="Calibri" pitchFamily="34" charset="0"/>
                <a:ea typeface="Calibri" pitchFamily="34" charset="-122"/>
                <a:cs typeface="Calibri" pitchFamily="34" charset="-120"/>
              </a:rPr>
              <a:t>WHAT EXISTS TODAY</a:t>
            </a:r>
            <a:endParaRPr lang="en-US" sz="1100" dirty="0"/>
          </a:p>
        </p:txBody>
      </p:sp>
      <p:sp>
        <p:nvSpPr>
          <p:cNvPr id="69" name="Text 67"/>
          <p:cNvSpPr/>
          <p:nvPr/>
        </p:nvSpPr>
        <p:spPr>
          <a:xfrm>
            <a:off x="914400" y="3383280"/>
            <a:ext cx="4733392" cy="2011680"/>
          </a:xfrm>
          <a:prstGeom prst="rect">
            <a:avLst/>
          </a:prstGeom>
          <a:noFill/>
          <a:ln/>
        </p:spPr>
        <p:txBody>
          <a:bodyPr wrap="square" lIns="0" tIns="0" rIns="0" bIns="0" rtlCol="0" anchor="t"/>
          <a:lstStyle/>
          <a:p>
            <a:pPr algn="l" indent="0" marL="0">
              <a:buNone/>
            </a:pPr>
            <a:r>
              <a:rPr lang="en-US" sz="3200" b="1" spc="-50" kern="0" dirty="0">
                <a:solidFill>
                  <a:srgbClr val="FFFFFF"/>
                </a:solidFill>
                <a:latin typeface="Calibri" pitchFamily="34" charset="0"/>
                <a:ea typeface="Calibri" pitchFamily="34" charset="-122"/>
                <a:cs typeface="Calibri" pitchFamily="34" charset="-120"/>
              </a:rPr>
              <a:t>Influencer platforms or generic CRMs — never the middle.</a:t>
            </a:r>
            <a:endParaRPr lang="en-US" sz="3200" dirty="0"/>
          </a:p>
        </p:txBody>
      </p:sp>
      <p:sp>
        <p:nvSpPr>
          <p:cNvPr id="70" name="Text 68"/>
          <p:cNvSpPr/>
          <p:nvPr/>
        </p:nvSpPr>
        <p:spPr>
          <a:xfrm>
            <a:off x="914400" y="5166360"/>
            <a:ext cx="4733392" cy="10972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Heepsy, Modash, and HypeAuditor are built for brand teams. HubSpot, Pipedrive, and Attio are built for SDRs. B2B creator outreach is a third workflow no one is building.</a:t>
            </a:r>
            <a:endParaRPr lang="en-US" sz="1300" dirty="0"/>
          </a:p>
        </p:txBody>
      </p:sp>
      <p:sp>
        <p:nvSpPr>
          <p:cNvPr id="71" name="Shape 69"/>
          <p:cNvSpPr/>
          <p:nvPr/>
        </p:nvSpPr>
        <p:spPr>
          <a:xfrm>
            <a:off x="6178144" y="2514600"/>
            <a:ext cx="5464912" cy="1124712"/>
          </a:xfrm>
          <a:prstGeom prst="roundRect">
            <a:avLst>
              <a:gd name="adj" fmla="val 9756"/>
            </a:avLst>
          </a:prstGeom>
          <a:solidFill>
            <a:srgbClr val="FFFFFF"/>
          </a:solidFill>
          <a:ln w="9525">
            <a:solidFill>
              <a:srgbClr val="E5E7F0"/>
            </a:solidFill>
            <a:prstDash val="solid"/>
          </a:ln>
        </p:spPr>
      </p:sp>
      <p:sp>
        <p:nvSpPr>
          <p:cNvPr id="72" name="Shape 70"/>
          <p:cNvSpPr/>
          <p:nvPr/>
        </p:nvSpPr>
        <p:spPr>
          <a:xfrm>
            <a:off x="6178144" y="2514600"/>
            <a:ext cx="73152" cy="1124712"/>
          </a:xfrm>
          <a:prstGeom prst="rect">
            <a:avLst/>
          </a:prstGeom>
          <a:solidFill>
            <a:srgbClr val="5028C2"/>
          </a:solidFill>
          <a:ln/>
        </p:spPr>
      </p:sp>
      <p:sp>
        <p:nvSpPr>
          <p:cNvPr id="73" name="Text 71"/>
          <p:cNvSpPr/>
          <p:nvPr/>
        </p:nvSpPr>
        <p:spPr>
          <a:xfrm>
            <a:off x="6434176" y="2697480"/>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Influencer platforms</a:t>
            </a:r>
            <a:endParaRPr lang="en-US" sz="1600" dirty="0"/>
          </a:p>
        </p:txBody>
      </p:sp>
      <p:sp>
        <p:nvSpPr>
          <p:cNvPr id="74" name="Text 72"/>
          <p:cNvSpPr/>
          <p:nvPr/>
        </p:nvSpPr>
        <p:spPr>
          <a:xfrm>
            <a:off x="6434176" y="3081528"/>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Wrong buyer. Wrong platforms. Priced for enterprise brand budgets.</a:t>
            </a:r>
            <a:endParaRPr lang="en-US" sz="1200" dirty="0"/>
          </a:p>
        </p:txBody>
      </p:sp>
      <p:sp>
        <p:nvSpPr>
          <p:cNvPr id="75" name="Shape 73"/>
          <p:cNvSpPr/>
          <p:nvPr/>
        </p:nvSpPr>
        <p:spPr>
          <a:xfrm>
            <a:off x="6178144" y="3803904"/>
            <a:ext cx="5464912" cy="1124712"/>
          </a:xfrm>
          <a:prstGeom prst="roundRect">
            <a:avLst>
              <a:gd name="adj" fmla="val 9756"/>
            </a:avLst>
          </a:prstGeom>
          <a:solidFill>
            <a:srgbClr val="FFFFFF"/>
          </a:solidFill>
          <a:ln w="9525">
            <a:solidFill>
              <a:srgbClr val="E5E7F0"/>
            </a:solidFill>
            <a:prstDash val="solid"/>
          </a:ln>
        </p:spPr>
      </p:sp>
      <p:sp>
        <p:nvSpPr>
          <p:cNvPr id="76" name="Shape 74"/>
          <p:cNvSpPr/>
          <p:nvPr/>
        </p:nvSpPr>
        <p:spPr>
          <a:xfrm>
            <a:off x="6178144" y="3803904"/>
            <a:ext cx="73152" cy="1124712"/>
          </a:xfrm>
          <a:prstGeom prst="rect">
            <a:avLst/>
          </a:prstGeom>
          <a:solidFill>
            <a:srgbClr val="3548D0"/>
          </a:solidFill>
          <a:ln/>
        </p:spPr>
      </p:sp>
      <p:sp>
        <p:nvSpPr>
          <p:cNvPr id="77" name="Text 75"/>
          <p:cNvSpPr/>
          <p:nvPr/>
        </p:nvSpPr>
        <p:spPr>
          <a:xfrm>
            <a:off x="6434176" y="3986784"/>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Generic CRMs</a:t>
            </a:r>
            <a:endParaRPr lang="en-US" sz="1600" dirty="0"/>
          </a:p>
        </p:txBody>
      </p:sp>
      <p:sp>
        <p:nvSpPr>
          <p:cNvPr id="78" name="Text 76"/>
          <p:cNvSpPr/>
          <p:nvPr/>
        </p:nvSpPr>
        <p:spPr>
          <a:xfrm>
            <a:off x="6434176" y="4370832"/>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No creator data. No native DM. No public-platform search.</a:t>
            </a:r>
            <a:endParaRPr lang="en-US" sz="1200" dirty="0"/>
          </a:p>
        </p:txBody>
      </p:sp>
      <p:sp>
        <p:nvSpPr>
          <p:cNvPr id="79" name="Shape 77"/>
          <p:cNvSpPr/>
          <p:nvPr/>
        </p:nvSpPr>
        <p:spPr>
          <a:xfrm>
            <a:off x="6178144" y="5093208"/>
            <a:ext cx="5464912" cy="1124712"/>
          </a:xfrm>
          <a:prstGeom prst="roundRect">
            <a:avLst>
              <a:gd name="adj" fmla="val 9756"/>
            </a:avLst>
          </a:prstGeom>
          <a:solidFill>
            <a:srgbClr val="FFFFFF"/>
          </a:solidFill>
          <a:ln w="9525">
            <a:solidFill>
              <a:srgbClr val="E5E7F0"/>
            </a:solidFill>
            <a:prstDash val="solid"/>
          </a:ln>
        </p:spPr>
      </p:sp>
      <p:sp>
        <p:nvSpPr>
          <p:cNvPr id="80" name="Shape 78"/>
          <p:cNvSpPr/>
          <p:nvPr/>
        </p:nvSpPr>
        <p:spPr>
          <a:xfrm>
            <a:off x="6178144" y="5093208"/>
            <a:ext cx="73152" cy="1124712"/>
          </a:xfrm>
          <a:prstGeom prst="rect">
            <a:avLst/>
          </a:prstGeom>
          <a:solidFill>
            <a:srgbClr val="1A6FBE"/>
          </a:solidFill>
          <a:ln/>
        </p:spPr>
      </p:sp>
      <p:sp>
        <p:nvSpPr>
          <p:cNvPr id="81" name="Text 79"/>
          <p:cNvSpPr/>
          <p:nvPr/>
        </p:nvSpPr>
        <p:spPr>
          <a:xfrm>
            <a:off x="6434176" y="5276088"/>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Spreadsheets</a:t>
            </a:r>
            <a:endParaRPr lang="en-US" sz="1600" dirty="0"/>
          </a:p>
        </p:txBody>
      </p:sp>
      <p:sp>
        <p:nvSpPr>
          <p:cNvPr id="82" name="Text 80"/>
          <p:cNvSpPr/>
          <p:nvPr/>
        </p:nvSpPr>
        <p:spPr>
          <a:xfrm>
            <a:off x="6434176" y="5660136"/>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What everyone actually uses. Slow, brittle, no learning.</a:t>
            </a:r>
            <a:endParaRPr lang="en-US" sz="1200" dirty="0"/>
          </a:p>
        </p:txBody>
      </p:sp>
      <p:sp>
        <p:nvSpPr>
          <p:cNvPr id="83" name="Shape 81"/>
          <p:cNvSpPr/>
          <p:nvPr/>
        </p:nvSpPr>
        <p:spPr>
          <a:xfrm>
            <a:off x="548640" y="502920"/>
            <a:ext cx="292608" cy="292608"/>
          </a:xfrm>
          <a:prstGeom prst="roundRect">
            <a:avLst>
              <a:gd name="adj" fmla="val 25000"/>
            </a:avLst>
          </a:prstGeom>
          <a:solidFill>
            <a:srgbClr val="5028C2"/>
          </a:solidFill>
          <a:ln/>
        </p:spPr>
      </p:sp>
      <p:sp>
        <p:nvSpPr>
          <p:cNvPr id="84" name="Shape 82"/>
          <p:cNvSpPr/>
          <p:nvPr/>
        </p:nvSpPr>
        <p:spPr>
          <a:xfrm>
            <a:off x="548640" y="502920"/>
            <a:ext cx="292608" cy="292608"/>
          </a:xfrm>
          <a:prstGeom prst="roundRect">
            <a:avLst>
              <a:gd name="adj" fmla="val 25000"/>
            </a:avLst>
          </a:prstGeom>
          <a:solidFill>
            <a:srgbClr val="1A6FBE">
              <a:alpha val="50000"/>
            </a:srgbClr>
          </a:solidFill>
          <a:ln/>
        </p:spPr>
      </p:sp>
      <p:sp>
        <p:nvSpPr>
          <p:cNvPr id="85" name="Text 83"/>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86" name="Text 84"/>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87" name="Text 85"/>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04 · Why existing tools fail  ·  vG</a:t>
            </a:r>
            <a:endParaRPr lang="en-US" sz="900" dirty="0"/>
          </a:p>
        </p:txBody>
      </p:sp>
      <p:sp>
        <p:nvSpPr>
          <p:cNvPr id="88" name="Text 86"/>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89" name="Text 87"/>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028 / 126</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80015" y="-914400"/>
            <a:ext cx="3200400" cy="3200400"/>
          </a:xfrm>
          <a:prstGeom prst="ellipse">
            <a:avLst/>
          </a:prstGeom>
          <a:solidFill>
            <a:srgbClr val="F1ECFF"/>
          </a:solidFill>
          <a:ln/>
        </p:spPr>
      </p:sp>
      <p:sp>
        <p:nvSpPr>
          <p:cNvPr id="3" name="Shape 1"/>
          <p:cNvSpPr/>
          <p:nvPr/>
        </p:nvSpPr>
        <p:spPr>
          <a:xfrm>
            <a:off x="10820095" y="-548640"/>
            <a:ext cx="2194560" cy="2194560"/>
          </a:xfrm>
          <a:prstGeom prst="ellipse">
            <a:avLst/>
          </a:prstGeom>
          <a:solidFill>
            <a:srgbClr val="E8F1FB">
              <a:alpha val="60000"/>
            </a:srgbClr>
          </a:solidFill>
          <a:ln/>
        </p:spPr>
      </p:sp>
      <p:sp>
        <p:nvSpPr>
          <p:cNvPr id="4" name="Shape 2"/>
          <p:cNvSpPr/>
          <p:nvPr/>
        </p:nvSpPr>
        <p:spPr>
          <a:xfrm>
            <a:off x="548640" y="5486400"/>
            <a:ext cx="54864" cy="54864"/>
          </a:xfrm>
          <a:prstGeom prst="ellipse">
            <a:avLst/>
          </a:prstGeom>
          <a:solidFill>
            <a:srgbClr val="5028C2">
              <a:alpha val="30000"/>
            </a:srgbClr>
          </a:solidFill>
          <a:ln/>
        </p:spPr>
      </p:sp>
      <p:sp>
        <p:nvSpPr>
          <p:cNvPr id="5" name="Shape 3"/>
          <p:cNvSpPr/>
          <p:nvPr/>
        </p:nvSpPr>
        <p:spPr>
          <a:xfrm>
            <a:off x="548640" y="5650992"/>
            <a:ext cx="54864" cy="54864"/>
          </a:xfrm>
          <a:prstGeom prst="ellipse">
            <a:avLst/>
          </a:prstGeom>
          <a:solidFill>
            <a:srgbClr val="5028C2">
              <a:alpha val="30000"/>
            </a:srgbClr>
          </a:solidFill>
          <a:ln/>
        </p:spPr>
      </p:sp>
      <p:sp>
        <p:nvSpPr>
          <p:cNvPr id="6" name="Shape 4"/>
          <p:cNvSpPr/>
          <p:nvPr/>
        </p:nvSpPr>
        <p:spPr>
          <a:xfrm>
            <a:off x="548640" y="5815584"/>
            <a:ext cx="54864" cy="54864"/>
          </a:xfrm>
          <a:prstGeom prst="ellipse">
            <a:avLst/>
          </a:prstGeom>
          <a:solidFill>
            <a:srgbClr val="5028C2">
              <a:alpha val="30000"/>
            </a:srgbClr>
          </a:solidFill>
          <a:ln/>
        </p:spPr>
      </p:sp>
      <p:sp>
        <p:nvSpPr>
          <p:cNvPr id="7" name="Shape 5"/>
          <p:cNvSpPr/>
          <p:nvPr/>
        </p:nvSpPr>
        <p:spPr>
          <a:xfrm>
            <a:off x="713232" y="5486400"/>
            <a:ext cx="54864" cy="54864"/>
          </a:xfrm>
          <a:prstGeom prst="ellipse">
            <a:avLst/>
          </a:prstGeom>
          <a:solidFill>
            <a:srgbClr val="5028C2">
              <a:alpha val="30000"/>
            </a:srgbClr>
          </a:solidFill>
          <a:ln/>
        </p:spPr>
      </p:sp>
      <p:sp>
        <p:nvSpPr>
          <p:cNvPr id="8" name="Shape 6"/>
          <p:cNvSpPr/>
          <p:nvPr/>
        </p:nvSpPr>
        <p:spPr>
          <a:xfrm>
            <a:off x="713232" y="5650992"/>
            <a:ext cx="54864" cy="54864"/>
          </a:xfrm>
          <a:prstGeom prst="ellipse">
            <a:avLst/>
          </a:prstGeom>
          <a:solidFill>
            <a:srgbClr val="5028C2">
              <a:alpha val="30000"/>
            </a:srgbClr>
          </a:solidFill>
          <a:ln/>
        </p:spPr>
      </p:sp>
      <p:sp>
        <p:nvSpPr>
          <p:cNvPr id="9" name="Shape 7"/>
          <p:cNvSpPr/>
          <p:nvPr/>
        </p:nvSpPr>
        <p:spPr>
          <a:xfrm>
            <a:off x="713232" y="5815584"/>
            <a:ext cx="54864" cy="54864"/>
          </a:xfrm>
          <a:prstGeom prst="ellipse">
            <a:avLst/>
          </a:prstGeom>
          <a:solidFill>
            <a:srgbClr val="5028C2">
              <a:alpha val="30000"/>
            </a:srgbClr>
          </a:solidFill>
          <a:ln/>
        </p:spPr>
      </p:sp>
      <p:sp>
        <p:nvSpPr>
          <p:cNvPr id="10" name="Shape 8"/>
          <p:cNvSpPr/>
          <p:nvPr/>
        </p:nvSpPr>
        <p:spPr>
          <a:xfrm>
            <a:off x="877824" y="5486400"/>
            <a:ext cx="54864" cy="54864"/>
          </a:xfrm>
          <a:prstGeom prst="ellipse">
            <a:avLst/>
          </a:prstGeom>
          <a:solidFill>
            <a:srgbClr val="5028C2">
              <a:alpha val="30000"/>
            </a:srgbClr>
          </a:solidFill>
          <a:ln/>
        </p:spPr>
      </p:sp>
      <p:sp>
        <p:nvSpPr>
          <p:cNvPr id="11" name="Shape 9"/>
          <p:cNvSpPr/>
          <p:nvPr/>
        </p:nvSpPr>
        <p:spPr>
          <a:xfrm>
            <a:off x="877824" y="5650992"/>
            <a:ext cx="54864" cy="54864"/>
          </a:xfrm>
          <a:prstGeom prst="ellipse">
            <a:avLst/>
          </a:prstGeom>
          <a:solidFill>
            <a:srgbClr val="5028C2">
              <a:alpha val="30000"/>
            </a:srgbClr>
          </a:solidFill>
          <a:ln/>
        </p:spPr>
      </p:sp>
      <p:sp>
        <p:nvSpPr>
          <p:cNvPr id="12" name="Shape 10"/>
          <p:cNvSpPr/>
          <p:nvPr/>
        </p:nvSpPr>
        <p:spPr>
          <a:xfrm>
            <a:off x="877824" y="5815584"/>
            <a:ext cx="54864" cy="54864"/>
          </a:xfrm>
          <a:prstGeom prst="ellipse">
            <a:avLst/>
          </a:prstGeom>
          <a:solidFill>
            <a:srgbClr val="5028C2">
              <a:alpha val="30000"/>
            </a:srgbClr>
          </a:solidFill>
          <a:ln/>
        </p:spPr>
      </p:sp>
      <p:sp>
        <p:nvSpPr>
          <p:cNvPr id="13" name="Shape 11"/>
          <p:cNvSpPr/>
          <p:nvPr/>
        </p:nvSpPr>
        <p:spPr>
          <a:xfrm>
            <a:off x="1042416" y="5486400"/>
            <a:ext cx="54864" cy="54864"/>
          </a:xfrm>
          <a:prstGeom prst="ellipse">
            <a:avLst/>
          </a:prstGeom>
          <a:solidFill>
            <a:srgbClr val="5028C2">
              <a:alpha val="30000"/>
            </a:srgbClr>
          </a:solidFill>
          <a:ln/>
        </p:spPr>
      </p:sp>
      <p:sp>
        <p:nvSpPr>
          <p:cNvPr id="14" name="Shape 12"/>
          <p:cNvSpPr/>
          <p:nvPr/>
        </p:nvSpPr>
        <p:spPr>
          <a:xfrm>
            <a:off x="1042416" y="5650992"/>
            <a:ext cx="54864" cy="54864"/>
          </a:xfrm>
          <a:prstGeom prst="ellipse">
            <a:avLst/>
          </a:prstGeom>
          <a:solidFill>
            <a:srgbClr val="5028C2">
              <a:alpha val="30000"/>
            </a:srgbClr>
          </a:solidFill>
          <a:ln/>
        </p:spPr>
      </p:sp>
      <p:sp>
        <p:nvSpPr>
          <p:cNvPr id="15" name="Shape 13"/>
          <p:cNvSpPr/>
          <p:nvPr/>
        </p:nvSpPr>
        <p:spPr>
          <a:xfrm>
            <a:off x="1042416" y="5815584"/>
            <a:ext cx="54864" cy="54864"/>
          </a:xfrm>
          <a:prstGeom prst="ellipse">
            <a:avLst/>
          </a:prstGeom>
          <a:solidFill>
            <a:srgbClr val="5028C2">
              <a:alpha val="30000"/>
            </a:srgbClr>
          </a:solidFill>
          <a:ln/>
        </p:spPr>
      </p:sp>
      <p:sp>
        <p:nvSpPr>
          <p:cNvPr id="16" name="Shape 14"/>
          <p:cNvSpPr/>
          <p:nvPr/>
        </p:nvSpPr>
        <p:spPr>
          <a:xfrm>
            <a:off x="1207008" y="5486400"/>
            <a:ext cx="54864" cy="54864"/>
          </a:xfrm>
          <a:prstGeom prst="ellipse">
            <a:avLst/>
          </a:prstGeom>
          <a:solidFill>
            <a:srgbClr val="5028C2">
              <a:alpha val="30000"/>
            </a:srgbClr>
          </a:solidFill>
          <a:ln/>
        </p:spPr>
      </p:sp>
      <p:sp>
        <p:nvSpPr>
          <p:cNvPr id="17" name="Shape 15"/>
          <p:cNvSpPr/>
          <p:nvPr/>
        </p:nvSpPr>
        <p:spPr>
          <a:xfrm>
            <a:off x="1207008" y="5650992"/>
            <a:ext cx="54864" cy="54864"/>
          </a:xfrm>
          <a:prstGeom prst="ellipse">
            <a:avLst/>
          </a:prstGeom>
          <a:solidFill>
            <a:srgbClr val="5028C2">
              <a:alpha val="30000"/>
            </a:srgbClr>
          </a:solidFill>
          <a:ln/>
        </p:spPr>
      </p:sp>
      <p:sp>
        <p:nvSpPr>
          <p:cNvPr id="18" name="Shape 16"/>
          <p:cNvSpPr/>
          <p:nvPr/>
        </p:nvSpPr>
        <p:spPr>
          <a:xfrm>
            <a:off x="1207008" y="5815584"/>
            <a:ext cx="54864" cy="54864"/>
          </a:xfrm>
          <a:prstGeom prst="ellipse">
            <a:avLst/>
          </a:prstGeom>
          <a:solidFill>
            <a:srgbClr val="5028C2">
              <a:alpha val="30000"/>
            </a:srgbClr>
          </a:solidFill>
          <a:ln/>
        </p:spPr>
      </p:sp>
      <p:sp>
        <p:nvSpPr>
          <p:cNvPr id="19" name="Shape 17"/>
          <p:cNvSpPr/>
          <p:nvPr/>
        </p:nvSpPr>
        <p:spPr>
          <a:xfrm>
            <a:off x="1371600" y="5486400"/>
            <a:ext cx="54864" cy="54864"/>
          </a:xfrm>
          <a:prstGeom prst="ellipse">
            <a:avLst/>
          </a:prstGeom>
          <a:solidFill>
            <a:srgbClr val="5028C2">
              <a:alpha val="30000"/>
            </a:srgbClr>
          </a:solidFill>
          <a:ln/>
        </p:spPr>
      </p:sp>
      <p:sp>
        <p:nvSpPr>
          <p:cNvPr id="20" name="Shape 18"/>
          <p:cNvSpPr/>
          <p:nvPr/>
        </p:nvSpPr>
        <p:spPr>
          <a:xfrm>
            <a:off x="1371600" y="5650992"/>
            <a:ext cx="54864" cy="54864"/>
          </a:xfrm>
          <a:prstGeom prst="ellipse">
            <a:avLst/>
          </a:prstGeom>
          <a:solidFill>
            <a:srgbClr val="5028C2">
              <a:alpha val="30000"/>
            </a:srgbClr>
          </a:solidFill>
          <a:ln/>
        </p:spPr>
      </p:sp>
      <p:sp>
        <p:nvSpPr>
          <p:cNvPr id="21" name="Shape 19"/>
          <p:cNvSpPr/>
          <p:nvPr/>
        </p:nvSpPr>
        <p:spPr>
          <a:xfrm>
            <a:off x="1371600" y="5815584"/>
            <a:ext cx="54864" cy="54864"/>
          </a:xfrm>
          <a:prstGeom prst="ellipse">
            <a:avLst/>
          </a:prstGeom>
          <a:solidFill>
            <a:srgbClr val="5028C2">
              <a:alpha val="30000"/>
            </a:srgbClr>
          </a:solidFill>
          <a:ln/>
        </p:spPr>
      </p:sp>
      <p:sp>
        <p:nvSpPr>
          <p:cNvPr id="22" name="Text 20"/>
          <p:cNvSpPr/>
          <p:nvPr/>
        </p:nvSpPr>
        <p:spPr>
          <a:xfrm>
            <a:off x="548640" y="1097280"/>
            <a:ext cx="11094415"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INTRODUCING</a:t>
            </a:r>
            <a:endParaRPr lang="en-US" sz="1100" dirty="0"/>
          </a:p>
        </p:txBody>
      </p:sp>
      <p:sp>
        <p:nvSpPr>
          <p:cNvPr id="23" name="Text 21"/>
          <p:cNvSpPr/>
          <p:nvPr/>
        </p:nvSpPr>
        <p:spPr>
          <a:xfrm>
            <a:off x="548640" y="1554480"/>
            <a:ext cx="11094415" cy="3108960"/>
          </a:xfrm>
          <a:prstGeom prst="rect">
            <a:avLst/>
          </a:prstGeom>
          <a:noFill/>
          <a:ln/>
        </p:spPr>
        <p:txBody>
          <a:bodyPr wrap="square" lIns="0" tIns="0" rIns="0" bIns="0" rtlCol="0" anchor="t"/>
          <a:lstStyle/>
          <a:p>
            <a:pPr algn="l" indent="0" marL="0">
              <a:buNone/>
            </a:pPr>
            <a:r>
              <a:rPr lang="en-US" sz="9600" b="1" spc="-100" kern="0" dirty="0">
                <a:solidFill>
                  <a:srgbClr val="0F1733"/>
                </a:solidFill>
                <a:latin typeface="Calibri" pitchFamily="34" charset="0"/>
                <a:ea typeface="Calibri" pitchFamily="34" charset="-122"/>
                <a:cs typeface="Calibri" pitchFamily="34" charset="-120"/>
              </a:rPr>
              <a:t>Creator Outreach.</a:t>
            </a:r>
            <a:endParaRPr lang="en-US" sz="9600" dirty="0"/>
          </a:p>
        </p:txBody>
      </p:sp>
      <p:sp>
        <p:nvSpPr>
          <p:cNvPr id="24" name="Text 22"/>
          <p:cNvSpPr/>
          <p:nvPr/>
        </p:nvSpPr>
        <p:spPr>
          <a:xfrm>
            <a:off x="548640" y="4754880"/>
            <a:ext cx="9265615" cy="1097280"/>
          </a:xfrm>
          <a:prstGeom prst="rect">
            <a:avLst/>
          </a:prstGeom>
          <a:noFill/>
          <a:ln/>
        </p:spPr>
        <p:txBody>
          <a:bodyPr wrap="square" lIns="0" tIns="0" rIns="0" bIns="0" rtlCol="0" anchor="t"/>
          <a:lstStyle/>
          <a:p>
            <a:pPr algn="l" indent="0" marL="0">
              <a:buNone/>
            </a:pPr>
            <a:r>
              <a:rPr lang="en-US" sz="1800" dirty="0">
                <a:solidFill>
                  <a:srgbClr val="2A3358"/>
                </a:solidFill>
                <a:latin typeface="Calibri" pitchFamily="34" charset="0"/>
                <a:ea typeface="Calibri" pitchFamily="34" charset="-122"/>
                <a:cs typeface="Calibri" pitchFamily="34" charset="-120"/>
              </a:rPr>
              <a:t>A single workspace for finding, scoring, and reaching creators across YouTube, Instagram, TikTok, X, and LinkedIn — built for the founder doing the work.</a:t>
            </a:r>
            <a:endParaRPr lang="en-US" sz="1800" dirty="0"/>
          </a:p>
        </p:txBody>
      </p:sp>
      <p:sp>
        <p:nvSpPr>
          <p:cNvPr id="25" name="Shape 23"/>
          <p:cNvSpPr/>
          <p:nvPr/>
        </p:nvSpPr>
        <p:spPr>
          <a:xfrm>
            <a:off x="548640" y="502920"/>
            <a:ext cx="292608" cy="292608"/>
          </a:xfrm>
          <a:prstGeom prst="roundRect">
            <a:avLst>
              <a:gd name="adj" fmla="val 25000"/>
            </a:avLst>
          </a:prstGeom>
          <a:solidFill>
            <a:srgbClr val="5028C2"/>
          </a:solidFill>
          <a:ln/>
        </p:spPr>
      </p:sp>
      <p:sp>
        <p:nvSpPr>
          <p:cNvPr id="26" name="Shape 24"/>
          <p:cNvSpPr/>
          <p:nvPr/>
        </p:nvSpPr>
        <p:spPr>
          <a:xfrm>
            <a:off x="548640" y="502920"/>
            <a:ext cx="292608" cy="292608"/>
          </a:xfrm>
          <a:prstGeom prst="roundRect">
            <a:avLst>
              <a:gd name="adj" fmla="val 25000"/>
            </a:avLst>
          </a:prstGeom>
          <a:solidFill>
            <a:srgbClr val="1A6FBE">
              <a:alpha val="50000"/>
            </a:srgbClr>
          </a:solidFill>
          <a:ln/>
        </p:spPr>
      </p:sp>
      <p:sp>
        <p:nvSpPr>
          <p:cNvPr id="27" name="Text 25"/>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8" name="Text 26"/>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9" name="Text 27"/>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05 · Introducing Creator Outreach  ·  vA</a:t>
            </a:r>
            <a:endParaRPr lang="en-US" sz="900" dirty="0"/>
          </a:p>
        </p:txBody>
      </p:sp>
      <p:sp>
        <p:nvSpPr>
          <p:cNvPr id="30" name="Text 28"/>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31" name="Text 29"/>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029 / 126</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071183" y="0"/>
            <a:ext cx="5120512" cy="116300"/>
          </a:xfrm>
          <a:prstGeom prst="rect">
            <a:avLst/>
          </a:prstGeom>
          <a:solidFill>
            <a:srgbClr val="5028C2"/>
          </a:solidFill>
          <a:ln/>
        </p:spPr>
      </p:sp>
      <p:sp>
        <p:nvSpPr>
          <p:cNvPr id="3" name="Shape 1"/>
          <p:cNvSpPr/>
          <p:nvPr/>
        </p:nvSpPr>
        <p:spPr>
          <a:xfrm>
            <a:off x="7071183" y="107156"/>
            <a:ext cx="5120512" cy="116300"/>
          </a:xfrm>
          <a:prstGeom prst="rect">
            <a:avLst/>
          </a:prstGeom>
          <a:solidFill>
            <a:srgbClr val="4F29C2"/>
          </a:solidFill>
          <a:ln/>
        </p:spPr>
      </p:sp>
      <p:sp>
        <p:nvSpPr>
          <p:cNvPr id="4" name="Shape 2"/>
          <p:cNvSpPr/>
          <p:nvPr/>
        </p:nvSpPr>
        <p:spPr>
          <a:xfrm>
            <a:off x="7071183" y="214313"/>
            <a:ext cx="5120512" cy="116300"/>
          </a:xfrm>
          <a:prstGeom prst="rect">
            <a:avLst/>
          </a:prstGeom>
          <a:solidFill>
            <a:srgbClr val="4E2AC3"/>
          </a:solidFill>
          <a:ln/>
        </p:spPr>
      </p:sp>
      <p:sp>
        <p:nvSpPr>
          <p:cNvPr id="5" name="Shape 3"/>
          <p:cNvSpPr/>
          <p:nvPr/>
        </p:nvSpPr>
        <p:spPr>
          <a:xfrm>
            <a:off x="7071183" y="321469"/>
            <a:ext cx="5120512" cy="116300"/>
          </a:xfrm>
          <a:prstGeom prst="rect">
            <a:avLst/>
          </a:prstGeom>
          <a:solidFill>
            <a:srgbClr val="4D2BC3"/>
          </a:solidFill>
          <a:ln/>
        </p:spPr>
      </p:sp>
      <p:sp>
        <p:nvSpPr>
          <p:cNvPr id="6" name="Shape 4"/>
          <p:cNvSpPr/>
          <p:nvPr/>
        </p:nvSpPr>
        <p:spPr>
          <a:xfrm>
            <a:off x="7071183" y="428625"/>
            <a:ext cx="5120512" cy="116300"/>
          </a:xfrm>
          <a:prstGeom prst="rect">
            <a:avLst/>
          </a:prstGeom>
          <a:solidFill>
            <a:srgbClr val="4D2CC4"/>
          </a:solidFill>
          <a:ln/>
        </p:spPr>
      </p:sp>
      <p:sp>
        <p:nvSpPr>
          <p:cNvPr id="7" name="Shape 5"/>
          <p:cNvSpPr/>
          <p:nvPr/>
        </p:nvSpPr>
        <p:spPr>
          <a:xfrm>
            <a:off x="7071183" y="535781"/>
            <a:ext cx="5120512" cy="116300"/>
          </a:xfrm>
          <a:prstGeom prst="rect">
            <a:avLst/>
          </a:prstGeom>
          <a:solidFill>
            <a:srgbClr val="4C2DC4"/>
          </a:solidFill>
          <a:ln/>
        </p:spPr>
      </p:sp>
      <p:sp>
        <p:nvSpPr>
          <p:cNvPr id="8" name="Shape 6"/>
          <p:cNvSpPr/>
          <p:nvPr/>
        </p:nvSpPr>
        <p:spPr>
          <a:xfrm>
            <a:off x="7071183" y="642938"/>
            <a:ext cx="5120512" cy="116300"/>
          </a:xfrm>
          <a:prstGeom prst="rect">
            <a:avLst/>
          </a:prstGeom>
          <a:solidFill>
            <a:srgbClr val="4B2EC5"/>
          </a:solidFill>
          <a:ln/>
        </p:spPr>
      </p:sp>
      <p:sp>
        <p:nvSpPr>
          <p:cNvPr id="9" name="Shape 7"/>
          <p:cNvSpPr/>
          <p:nvPr/>
        </p:nvSpPr>
        <p:spPr>
          <a:xfrm>
            <a:off x="7071183" y="750094"/>
            <a:ext cx="5120512" cy="116300"/>
          </a:xfrm>
          <a:prstGeom prst="rect">
            <a:avLst/>
          </a:prstGeom>
          <a:solidFill>
            <a:srgbClr val="4A2FC5"/>
          </a:solidFill>
          <a:ln/>
        </p:spPr>
      </p:sp>
      <p:sp>
        <p:nvSpPr>
          <p:cNvPr id="10" name="Shape 8"/>
          <p:cNvSpPr/>
          <p:nvPr/>
        </p:nvSpPr>
        <p:spPr>
          <a:xfrm>
            <a:off x="7071183" y="857250"/>
            <a:ext cx="5120512" cy="116300"/>
          </a:xfrm>
          <a:prstGeom prst="rect">
            <a:avLst/>
          </a:prstGeom>
          <a:solidFill>
            <a:srgbClr val="4930C6"/>
          </a:solidFill>
          <a:ln/>
        </p:spPr>
      </p:sp>
      <p:sp>
        <p:nvSpPr>
          <p:cNvPr id="11" name="Shape 9"/>
          <p:cNvSpPr/>
          <p:nvPr/>
        </p:nvSpPr>
        <p:spPr>
          <a:xfrm>
            <a:off x="7071183" y="964406"/>
            <a:ext cx="5120512" cy="116300"/>
          </a:xfrm>
          <a:prstGeom prst="rect">
            <a:avLst/>
          </a:prstGeom>
          <a:solidFill>
            <a:srgbClr val="4831C6"/>
          </a:solidFill>
          <a:ln/>
        </p:spPr>
      </p:sp>
      <p:sp>
        <p:nvSpPr>
          <p:cNvPr id="12" name="Shape 10"/>
          <p:cNvSpPr/>
          <p:nvPr/>
        </p:nvSpPr>
        <p:spPr>
          <a:xfrm>
            <a:off x="7071183" y="1071563"/>
            <a:ext cx="5120512" cy="116300"/>
          </a:xfrm>
          <a:prstGeom prst="rect">
            <a:avLst/>
          </a:prstGeom>
          <a:solidFill>
            <a:srgbClr val="4732C6"/>
          </a:solidFill>
          <a:ln/>
        </p:spPr>
      </p:sp>
      <p:sp>
        <p:nvSpPr>
          <p:cNvPr id="13" name="Shape 11"/>
          <p:cNvSpPr/>
          <p:nvPr/>
        </p:nvSpPr>
        <p:spPr>
          <a:xfrm>
            <a:off x="7071183" y="1178719"/>
            <a:ext cx="5120512" cy="116300"/>
          </a:xfrm>
          <a:prstGeom prst="rect">
            <a:avLst/>
          </a:prstGeom>
          <a:solidFill>
            <a:srgbClr val="4733C7"/>
          </a:solidFill>
          <a:ln/>
        </p:spPr>
      </p:sp>
      <p:sp>
        <p:nvSpPr>
          <p:cNvPr id="14" name="Shape 12"/>
          <p:cNvSpPr/>
          <p:nvPr/>
        </p:nvSpPr>
        <p:spPr>
          <a:xfrm>
            <a:off x="7071183" y="1285875"/>
            <a:ext cx="5120512" cy="116300"/>
          </a:xfrm>
          <a:prstGeom prst="rect">
            <a:avLst/>
          </a:prstGeom>
          <a:solidFill>
            <a:srgbClr val="4634C7"/>
          </a:solidFill>
          <a:ln/>
        </p:spPr>
      </p:sp>
      <p:sp>
        <p:nvSpPr>
          <p:cNvPr id="15" name="Shape 13"/>
          <p:cNvSpPr/>
          <p:nvPr/>
        </p:nvSpPr>
        <p:spPr>
          <a:xfrm>
            <a:off x="7071183" y="1393031"/>
            <a:ext cx="5120512" cy="116300"/>
          </a:xfrm>
          <a:prstGeom prst="rect">
            <a:avLst/>
          </a:prstGeom>
          <a:solidFill>
            <a:srgbClr val="4535C8"/>
          </a:solidFill>
          <a:ln/>
        </p:spPr>
      </p:sp>
      <p:sp>
        <p:nvSpPr>
          <p:cNvPr id="16" name="Shape 14"/>
          <p:cNvSpPr/>
          <p:nvPr/>
        </p:nvSpPr>
        <p:spPr>
          <a:xfrm>
            <a:off x="7071183" y="1500188"/>
            <a:ext cx="5120512" cy="116300"/>
          </a:xfrm>
          <a:prstGeom prst="rect">
            <a:avLst/>
          </a:prstGeom>
          <a:solidFill>
            <a:srgbClr val="4436C8"/>
          </a:solidFill>
          <a:ln/>
        </p:spPr>
      </p:sp>
      <p:sp>
        <p:nvSpPr>
          <p:cNvPr id="17" name="Shape 15"/>
          <p:cNvSpPr/>
          <p:nvPr/>
        </p:nvSpPr>
        <p:spPr>
          <a:xfrm>
            <a:off x="7071183" y="1607344"/>
            <a:ext cx="5120512" cy="116300"/>
          </a:xfrm>
          <a:prstGeom prst="rect">
            <a:avLst/>
          </a:prstGeom>
          <a:solidFill>
            <a:srgbClr val="4337C9"/>
          </a:solidFill>
          <a:ln/>
        </p:spPr>
      </p:sp>
      <p:sp>
        <p:nvSpPr>
          <p:cNvPr id="18" name="Shape 16"/>
          <p:cNvSpPr/>
          <p:nvPr/>
        </p:nvSpPr>
        <p:spPr>
          <a:xfrm>
            <a:off x="7071183" y="1714500"/>
            <a:ext cx="5120512" cy="116300"/>
          </a:xfrm>
          <a:prstGeom prst="rect">
            <a:avLst/>
          </a:prstGeom>
          <a:solidFill>
            <a:srgbClr val="4238C9"/>
          </a:solidFill>
          <a:ln/>
        </p:spPr>
      </p:sp>
      <p:sp>
        <p:nvSpPr>
          <p:cNvPr id="19" name="Shape 17"/>
          <p:cNvSpPr/>
          <p:nvPr/>
        </p:nvSpPr>
        <p:spPr>
          <a:xfrm>
            <a:off x="7071183" y="1821656"/>
            <a:ext cx="5120512" cy="116300"/>
          </a:xfrm>
          <a:prstGeom prst="rect">
            <a:avLst/>
          </a:prstGeom>
          <a:solidFill>
            <a:srgbClr val="4139CA"/>
          </a:solidFill>
          <a:ln/>
        </p:spPr>
      </p:sp>
      <p:sp>
        <p:nvSpPr>
          <p:cNvPr id="20" name="Shape 18"/>
          <p:cNvSpPr/>
          <p:nvPr/>
        </p:nvSpPr>
        <p:spPr>
          <a:xfrm>
            <a:off x="7071183" y="1928813"/>
            <a:ext cx="5120512" cy="116300"/>
          </a:xfrm>
          <a:prstGeom prst="rect">
            <a:avLst/>
          </a:prstGeom>
          <a:solidFill>
            <a:srgbClr val="413ACA"/>
          </a:solidFill>
          <a:ln/>
        </p:spPr>
      </p:sp>
      <p:sp>
        <p:nvSpPr>
          <p:cNvPr id="21" name="Shape 19"/>
          <p:cNvSpPr/>
          <p:nvPr/>
        </p:nvSpPr>
        <p:spPr>
          <a:xfrm>
            <a:off x="7071183" y="2035969"/>
            <a:ext cx="5120512" cy="116300"/>
          </a:xfrm>
          <a:prstGeom prst="rect">
            <a:avLst/>
          </a:prstGeom>
          <a:solidFill>
            <a:srgbClr val="403BCA"/>
          </a:solidFill>
          <a:ln/>
        </p:spPr>
      </p:sp>
      <p:sp>
        <p:nvSpPr>
          <p:cNvPr id="22" name="Shape 20"/>
          <p:cNvSpPr/>
          <p:nvPr/>
        </p:nvSpPr>
        <p:spPr>
          <a:xfrm>
            <a:off x="7071183" y="2143125"/>
            <a:ext cx="5120512" cy="116300"/>
          </a:xfrm>
          <a:prstGeom prst="rect">
            <a:avLst/>
          </a:prstGeom>
          <a:solidFill>
            <a:srgbClr val="3F3CCB"/>
          </a:solidFill>
          <a:ln/>
        </p:spPr>
      </p:sp>
      <p:sp>
        <p:nvSpPr>
          <p:cNvPr id="23" name="Shape 21"/>
          <p:cNvSpPr/>
          <p:nvPr/>
        </p:nvSpPr>
        <p:spPr>
          <a:xfrm>
            <a:off x="7071183" y="2250281"/>
            <a:ext cx="5120512" cy="116300"/>
          </a:xfrm>
          <a:prstGeom prst="rect">
            <a:avLst/>
          </a:prstGeom>
          <a:solidFill>
            <a:srgbClr val="3E3DCB"/>
          </a:solidFill>
          <a:ln/>
        </p:spPr>
      </p:sp>
      <p:sp>
        <p:nvSpPr>
          <p:cNvPr id="24" name="Shape 22"/>
          <p:cNvSpPr/>
          <p:nvPr/>
        </p:nvSpPr>
        <p:spPr>
          <a:xfrm>
            <a:off x="7071183" y="2357438"/>
            <a:ext cx="5120512" cy="116300"/>
          </a:xfrm>
          <a:prstGeom prst="rect">
            <a:avLst/>
          </a:prstGeom>
          <a:solidFill>
            <a:srgbClr val="3D3ECC"/>
          </a:solidFill>
          <a:ln/>
        </p:spPr>
      </p:sp>
      <p:sp>
        <p:nvSpPr>
          <p:cNvPr id="25" name="Shape 23"/>
          <p:cNvSpPr/>
          <p:nvPr/>
        </p:nvSpPr>
        <p:spPr>
          <a:xfrm>
            <a:off x="7071183" y="2464594"/>
            <a:ext cx="5120512" cy="116300"/>
          </a:xfrm>
          <a:prstGeom prst="rect">
            <a:avLst/>
          </a:prstGeom>
          <a:solidFill>
            <a:srgbClr val="3C3FCC"/>
          </a:solidFill>
          <a:ln/>
        </p:spPr>
      </p:sp>
      <p:sp>
        <p:nvSpPr>
          <p:cNvPr id="26" name="Shape 24"/>
          <p:cNvSpPr/>
          <p:nvPr/>
        </p:nvSpPr>
        <p:spPr>
          <a:xfrm>
            <a:off x="7071183" y="2571750"/>
            <a:ext cx="5120512" cy="116300"/>
          </a:xfrm>
          <a:prstGeom prst="rect">
            <a:avLst/>
          </a:prstGeom>
          <a:solidFill>
            <a:srgbClr val="3B40CD"/>
          </a:solidFill>
          <a:ln/>
        </p:spPr>
      </p:sp>
      <p:sp>
        <p:nvSpPr>
          <p:cNvPr id="27" name="Shape 25"/>
          <p:cNvSpPr/>
          <p:nvPr/>
        </p:nvSpPr>
        <p:spPr>
          <a:xfrm>
            <a:off x="7071183" y="2678906"/>
            <a:ext cx="5120512" cy="116300"/>
          </a:xfrm>
          <a:prstGeom prst="rect">
            <a:avLst/>
          </a:prstGeom>
          <a:solidFill>
            <a:srgbClr val="3B41CD"/>
          </a:solidFill>
          <a:ln/>
        </p:spPr>
      </p:sp>
      <p:sp>
        <p:nvSpPr>
          <p:cNvPr id="28" name="Shape 26"/>
          <p:cNvSpPr/>
          <p:nvPr/>
        </p:nvSpPr>
        <p:spPr>
          <a:xfrm>
            <a:off x="7071183" y="2786063"/>
            <a:ext cx="5120512" cy="116300"/>
          </a:xfrm>
          <a:prstGeom prst="rect">
            <a:avLst/>
          </a:prstGeom>
          <a:solidFill>
            <a:srgbClr val="3A42CE"/>
          </a:solidFill>
          <a:ln/>
        </p:spPr>
      </p:sp>
      <p:sp>
        <p:nvSpPr>
          <p:cNvPr id="29" name="Shape 27"/>
          <p:cNvSpPr/>
          <p:nvPr/>
        </p:nvSpPr>
        <p:spPr>
          <a:xfrm>
            <a:off x="7071183" y="2893219"/>
            <a:ext cx="5120512" cy="116300"/>
          </a:xfrm>
          <a:prstGeom prst="rect">
            <a:avLst/>
          </a:prstGeom>
          <a:solidFill>
            <a:srgbClr val="3943CE"/>
          </a:solidFill>
          <a:ln/>
        </p:spPr>
      </p:sp>
      <p:sp>
        <p:nvSpPr>
          <p:cNvPr id="30" name="Shape 28"/>
          <p:cNvSpPr/>
          <p:nvPr/>
        </p:nvSpPr>
        <p:spPr>
          <a:xfrm>
            <a:off x="7071183" y="3000375"/>
            <a:ext cx="5120512" cy="116300"/>
          </a:xfrm>
          <a:prstGeom prst="rect">
            <a:avLst/>
          </a:prstGeom>
          <a:solidFill>
            <a:srgbClr val="3844CE"/>
          </a:solidFill>
          <a:ln/>
        </p:spPr>
      </p:sp>
      <p:sp>
        <p:nvSpPr>
          <p:cNvPr id="31" name="Shape 29"/>
          <p:cNvSpPr/>
          <p:nvPr/>
        </p:nvSpPr>
        <p:spPr>
          <a:xfrm>
            <a:off x="7071183" y="3107531"/>
            <a:ext cx="5120512" cy="116300"/>
          </a:xfrm>
          <a:prstGeom prst="rect">
            <a:avLst/>
          </a:prstGeom>
          <a:solidFill>
            <a:srgbClr val="3745CF"/>
          </a:solidFill>
          <a:ln/>
        </p:spPr>
      </p:sp>
      <p:sp>
        <p:nvSpPr>
          <p:cNvPr id="32" name="Shape 30"/>
          <p:cNvSpPr/>
          <p:nvPr/>
        </p:nvSpPr>
        <p:spPr>
          <a:xfrm>
            <a:off x="7071183" y="3214688"/>
            <a:ext cx="5120512" cy="116300"/>
          </a:xfrm>
          <a:prstGeom prst="rect">
            <a:avLst/>
          </a:prstGeom>
          <a:solidFill>
            <a:srgbClr val="3646CF"/>
          </a:solidFill>
          <a:ln/>
        </p:spPr>
      </p:sp>
      <p:sp>
        <p:nvSpPr>
          <p:cNvPr id="33" name="Shape 31"/>
          <p:cNvSpPr/>
          <p:nvPr/>
        </p:nvSpPr>
        <p:spPr>
          <a:xfrm>
            <a:off x="7071183" y="3321844"/>
            <a:ext cx="5120512" cy="116300"/>
          </a:xfrm>
          <a:prstGeom prst="rect">
            <a:avLst/>
          </a:prstGeom>
          <a:solidFill>
            <a:srgbClr val="3547D0"/>
          </a:solidFill>
          <a:ln/>
        </p:spPr>
      </p:sp>
      <p:sp>
        <p:nvSpPr>
          <p:cNvPr id="34" name="Shape 32"/>
          <p:cNvSpPr/>
          <p:nvPr/>
        </p:nvSpPr>
        <p:spPr>
          <a:xfrm>
            <a:off x="7071183" y="3429000"/>
            <a:ext cx="5120512" cy="116300"/>
          </a:xfrm>
          <a:prstGeom prst="rect">
            <a:avLst/>
          </a:prstGeom>
          <a:solidFill>
            <a:srgbClr val="3549D0"/>
          </a:solidFill>
          <a:ln/>
        </p:spPr>
      </p:sp>
      <p:sp>
        <p:nvSpPr>
          <p:cNvPr id="35" name="Shape 33"/>
          <p:cNvSpPr/>
          <p:nvPr/>
        </p:nvSpPr>
        <p:spPr>
          <a:xfrm>
            <a:off x="7071183" y="3536156"/>
            <a:ext cx="5120512" cy="116300"/>
          </a:xfrm>
          <a:prstGeom prst="rect">
            <a:avLst/>
          </a:prstGeom>
          <a:solidFill>
            <a:srgbClr val="344ACF"/>
          </a:solidFill>
          <a:ln/>
        </p:spPr>
      </p:sp>
      <p:sp>
        <p:nvSpPr>
          <p:cNvPr id="36" name="Shape 34"/>
          <p:cNvSpPr/>
          <p:nvPr/>
        </p:nvSpPr>
        <p:spPr>
          <a:xfrm>
            <a:off x="7071183" y="3643313"/>
            <a:ext cx="5120512" cy="116300"/>
          </a:xfrm>
          <a:prstGeom prst="rect">
            <a:avLst/>
          </a:prstGeom>
          <a:solidFill>
            <a:srgbClr val="334BCF"/>
          </a:solidFill>
          <a:ln/>
        </p:spPr>
      </p:sp>
      <p:sp>
        <p:nvSpPr>
          <p:cNvPr id="37" name="Shape 35"/>
          <p:cNvSpPr/>
          <p:nvPr/>
        </p:nvSpPr>
        <p:spPr>
          <a:xfrm>
            <a:off x="7071183" y="3750469"/>
            <a:ext cx="5120512" cy="116300"/>
          </a:xfrm>
          <a:prstGeom prst="rect">
            <a:avLst/>
          </a:prstGeom>
          <a:solidFill>
            <a:srgbClr val="324CCE"/>
          </a:solidFill>
          <a:ln/>
        </p:spPr>
      </p:sp>
      <p:sp>
        <p:nvSpPr>
          <p:cNvPr id="38" name="Shape 36"/>
          <p:cNvSpPr/>
          <p:nvPr/>
        </p:nvSpPr>
        <p:spPr>
          <a:xfrm>
            <a:off x="7071183" y="3857625"/>
            <a:ext cx="5120512" cy="116300"/>
          </a:xfrm>
          <a:prstGeom prst="rect">
            <a:avLst/>
          </a:prstGeom>
          <a:solidFill>
            <a:srgbClr val="314ECD"/>
          </a:solidFill>
          <a:ln/>
        </p:spPr>
      </p:sp>
      <p:sp>
        <p:nvSpPr>
          <p:cNvPr id="39" name="Shape 37"/>
          <p:cNvSpPr/>
          <p:nvPr/>
        </p:nvSpPr>
        <p:spPr>
          <a:xfrm>
            <a:off x="7071183" y="3964781"/>
            <a:ext cx="5120512" cy="116300"/>
          </a:xfrm>
          <a:prstGeom prst="rect">
            <a:avLst/>
          </a:prstGeom>
          <a:solidFill>
            <a:srgbClr val="304FCD"/>
          </a:solidFill>
          <a:ln/>
        </p:spPr>
      </p:sp>
      <p:sp>
        <p:nvSpPr>
          <p:cNvPr id="40" name="Shape 38"/>
          <p:cNvSpPr/>
          <p:nvPr/>
        </p:nvSpPr>
        <p:spPr>
          <a:xfrm>
            <a:off x="7071183" y="4071938"/>
            <a:ext cx="5120512" cy="116300"/>
          </a:xfrm>
          <a:prstGeom prst="rect">
            <a:avLst/>
          </a:prstGeom>
          <a:solidFill>
            <a:srgbClr val="2F50CC"/>
          </a:solidFill>
          <a:ln/>
        </p:spPr>
      </p:sp>
      <p:sp>
        <p:nvSpPr>
          <p:cNvPr id="41" name="Shape 39"/>
          <p:cNvSpPr/>
          <p:nvPr/>
        </p:nvSpPr>
        <p:spPr>
          <a:xfrm>
            <a:off x="7071183" y="4179094"/>
            <a:ext cx="5120512" cy="116300"/>
          </a:xfrm>
          <a:prstGeom prst="rect">
            <a:avLst/>
          </a:prstGeom>
          <a:solidFill>
            <a:srgbClr val="2F51CC"/>
          </a:solidFill>
          <a:ln/>
        </p:spPr>
      </p:sp>
      <p:sp>
        <p:nvSpPr>
          <p:cNvPr id="42" name="Shape 40"/>
          <p:cNvSpPr/>
          <p:nvPr/>
        </p:nvSpPr>
        <p:spPr>
          <a:xfrm>
            <a:off x="7071183" y="4286250"/>
            <a:ext cx="5120512" cy="116300"/>
          </a:xfrm>
          <a:prstGeom prst="rect">
            <a:avLst/>
          </a:prstGeom>
          <a:solidFill>
            <a:srgbClr val="2E53CB"/>
          </a:solidFill>
          <a:ln/>
        </p:spPr>
      </p:sp>
      <p:sp>
        <p:nvSpPr>
          <p:cNvPr id="43" name="Shape 41"/>
          <p:cNvSpPr/>
          <p:nvPr/>
        </p:nvSpPr>
        <p:spPr>
          <a:xfrm>
            <a:off x="7071183" y="4393406"/>
            <a:ext cx="5120512" cy="116300"/>
          </a:xfrm>
          <a:prstGeom prst="rect">
            <a:avLst/>
          </a:prstGeom>
          <a:solidFill>
            <a:srgbClr val="2D54CB"/>
          </a:solidFill>
          <a:ln/>
        </p:spPr>
      </p:sp>
      <p:sp>
        <p:nvSpPr>
          <p:cNvPr id="44" name="Shape 42"/>
          <p:cNvSpPr/>
          <p:nvPr/>
        </p:nvSpPr>
        <p:spPr>
          <a:xfrm>
            <a:off x="7071183" y="4500563"/>
            <a:ext cx="5120512" cy="116300"/>
          </a:xfrm>
          <a:prstGeom prst="rect">
            <a:avLst/>
          </a:prstGeom>
          <a:solidFill>
            <a:srgbClr val="2C55CA"/>
          </a:solidFill>
          <a:ln/>
        </p:spPr>
      </p:sp>
      <p:sp>
        <p:nvSpPr>
          <p:cNvPr id="45" name="Shape 43"/>
          <p:cNvSpPr/>
          <p:nvPr/>
        </p:nvSpPr>
        <p:spPr>
          <a:xfrm>
            <a:off x="7071183" y="4607719"/>
            <a:ext cx="5120512" cy="116300"/>
          </a:xfrm>
          <a:prstGeom prst="rect">
            <a:avLst/>
          </a:prstGeom>
          <a:solidFill>
            <a:srgbClr val="2B56C9"/>
          </a:solidFill>
          <a:ln/>
        </p:spPr>
      </p:sp>
      <p:sp>
        <p:nvSpPr>
          <p:cNvPr id="46" name="Shape 44"/>
          <p:cNvSpPr/>
          <p:nvPr/>
        </p:nvSpPr>
        <p:spPr>
          <a:xfrm>
            <a:off x="7071183" y="4714875"/>
            <a:ext cx="5120512" cy="116300"/>
          </a:xfrm>
          <a:prstGeom prst="rect">
            <a:avLst/>
          </a:prstGeom>
          <a:solidFill>
            <a:srgbClr val="2A57C9"/>
          </a:solidFill>
          <a:ln/>
        </p:spPr>
      </p:sp>
      <p:sp>
        <p:nvSpPr>
          <p:cNvPr id="47" name="Shape 45"/>
          <p:cNvSpPr/>
          <p:nvPr/>
        </p:nvSpPr>
        <p:spPr>
          <a:xfrm>
            <a:off x="7071183" y="4822031"/>
            <a:ext cx="5120512" cy="116300"/>
          </a:xfrm>
          <a:prstGeom prst="rect">
            <a:avLst/>
          </a:prstGeom>
          <a:solidFill>
            <a:srgbClr val="2959C8"/>
          </a:solidFill>
          <a:ln/>
        </p:spPr>
      </p:sp>
      <p:sp>
        <p:nvSpPr>
          <p:cNvPr id="48" name="Shape 46"/>
          <p:cNvSpPr/>
          <p:nvPr/>
        </p:nvSpPr>
        <p:spPr>
          <a:xfrm>
            <a:off x="7071183" y="4929188"/>
            <a:ext cx="5120512" cy="116300"/>
          </a:xfrm>
          <a:prstGeom prst="rect">
            <a:avLst/>
          </a:prstGeom>
          <a:solidFill>
            <a:srgbClr val="295AC8"/>
          </a:solidFill>
          <a:ln/>
        </p:spPr>
      </p:sp>
      <p:sp>
        <p:nvSpPr>
          <p:cNvPr id="49" name="Shape 47"/>
          <p:cNvSpPr/>
          <p:nvPr/>
        </p:nvSpPr>
        <p:spPr>
          <a:xfrm>
            <a:off x="7071183" y="5036344"/>
            <a:ext cx="5120512" cy="116300"/>
          </a:xfrm>
          <a:prstGeom prst="rect">
            <a:avLst/>
          </a:prstGeom>
          <a:solidFill>
            <a:srgbClr val="285BC7"/>
          </a:solidFill>
          <a:ln/>
        </p:spPr>
      </p:sp>
      <p:sp>
        <p:nvSpPr>
          <p:cNvPr id="50" name="Shape 48"/>
          <p:cNvSpPr/>
          <p:nvPr/>
        </p:nvSpPr>
        <p:spPr>
          <a:xfrm>
            <a:off x="7071183" y="5143500"/>
            <a:ext cx="5120512" cy="116300"/>
          </a:xfrm>
          <a:prstGeom prst="rect">
            <a:avLst/>
          </a:prstGeom>
          <a:solidFill>
            <a:srgbClr val="275CC7"/>
          </a:solidFill>
          <a:ln/>
        </p:spPr>
      </p:sp>
      <p:sp>
        <p:nvSpPr>
          <p:cNvPr id="51" name="Shape 49"/>
          <p:cNvSpPr/>
          <p:nvPr/>
        </p:nvSpPr>
        <p:spPr>
          <a:xfrm>
            <a:off x="7071183" y="5250656"/>
            <a:ext cx="5120512" cy="116300"/>
          </a:xfrm>
          <a:prstGeom prst="rect">
            <a:avLst/>
          </a:prstGeom>
          <a:solidFill>
            <a:srgbClr val="265EC6"/>
          </a:solidFill>
          <a:ln/>
        </p:spPr>
      </p:sp>
      <p:sp>
        <p:nvSpPr>
          <p:cNvPr id="52" name="Shape 50"/>
          <p:cNvSpPr/>
          <p:nvPr/>
        </p:nvSpPr>
        <p:spPr>
          <a:xfrm>
            <a:off x="7071183" y="5357813"/>
            <a:ext cx="5120512" cy="116300"/>
          </a:xfrm>
          <a:prstGeom prst="rect">
            <a:avLst/>
          </a:prstGeom>
          <a:solidFill>
            <a:srgbClr val="255FC5"/>
          </a:solidFill>
          <a:ln/>
        </p:spPr>
      </p:sp>
      <p:sp>
        <p:nvSpPr>
          <p:cNvPr id="53" name="Shape 51"/>
          <p:cNvSpPr/>
          <p:nvPr/>
        </p:nvSpPr>
        <p:spPr>
          <a:xfrm>
            <a:off x="7071183" y="5464969"/>
            <a:ext cx="5120512" cy="116300"/>
          </a:xfrm>
          <a:prstGeom prst="rect">
            <a:avLst/>
          </a:prstGeom>
          <a:solidFill>
            <a:srgbClr val="2460C5"/>
          </a:solidFill>
          <a:ln/>
        </p:spPr>
      </p:sp>
      <p:sp>
        <p:nvSpPr>
          <p:cNvPr id="54" name="Shape 52"/>
          <p:cNvSpPr/>
          <p:nvPr/>
        </p:nvSpPr>
        <p:spPr>
          <a:xfrm>
            <a:off x="7071183" y="5572125"/>
            <a:ext cx="5120512" cy="116300"/>
          </a:xfrm>
          <a:prstGeom prst="rect">
            <a:avLst/>
          </a:prstGeom>
          <a:solidFill>
            <a:srgbClr val="2361C4"/>
          </a:solidFill>
          <a:ln/>
        </p:spPr>
      </p:sp>
      <p:sp>
        <p:nvSpPr>
          <p:cNvPr id="55" name="Shape 53"/>
          <p:cNvSpPr/>
          <p:nvPr/>
        </p:nvSpPr>
        <p:spPr>
          <a:xfrm>
            <a:off x="7071183" y="5679281"/>
            <a:ext cx="5120512" cy="116300"/>
          </a:xfrm>
          <a:prstGeom prst="rect">
            <a:avLst/>
          </a:prstGeom>
          <a:solidFill>
            <a:srgbClr val="2363C4"/>
          </a:solidFill>
          <a:ln/>
        </p:spPr>
      </p:sp>
      <p:sp>
        <p:nvSpPr>
          <p:cNvPr id="56" name="Shape 54"/>
          <p:cNvSpPr/>
          <p:nvPr/>
        </p:nvSpPr>
        <p:spPr>
          <a:xfrm>
            <a:off x="7071183" y="5786438"/>
            <a:ext cx="5120512" cy="116300"/>
          </a:xfrm>
          <a:prstGeom prst="rect">
            <a:avLst/>
          </a:prstGeom>
          <a:solidFill>
            <a:srgbClr val="2264C3"/>
          </a:solidFill>
          <a:ln/>
        </p:spPr>
      </p:sp>
      <p:sp>
        <p:nvSpPr>
          <p:cNvPr id="57" name="Shape 55"/>
          <p:cNvSpPr/>
          <p:nvPr/>
        </p:nvSpPr>
        <p:spPr>
          <a:xfrm>
            <a:off x="7071183" y="5893594"/>
            <a:ext cx="5120512" cy="116300"/>
          </a:xfrm>
          <a:prstGeom prst="rect">
            <a:avLst/>
          </a:prstGeom>
          <a:solidFill>
            <a:srgbClr val="2165C3"/>
          </a:solidFill>
          <a:ln/>
        </p:spPr>
      </p:sp>
      <p:sp>
        <p:nvSpPr>
          <p:cNvPr id="58" name="Shape 56"/>
          <p:cNvSpPr/>
          <p:nvPr/>
        </p:nvSpPr>
        <p:spPr>
          <a:xfrm>
            <a:off x="7071183" y="6000750"/>
            <a:ext cx="5120512" cy="116300"/>
          </a:xfrm>
          <a:prstGeom prst="rect">
            <a:avLst/>
          </a:prstGeom>
          <a:solidFill>
            <a:srgbClr val="2066C2"/>
          </a:solidFill>
          <a:ln/>
        </p:spPr>
      </p:sp>
      <p:sp>
        <p:nvSpPr>
          <p:cNvPr id="59" name="Shape 57"/>
          <p:cNvSpPr/>
          <p:nvPr/>
        </p:nvSpPr>
        <p:spPr>
          <a:xfrm>
            <a:off x="7071183" y="6107906"/>
            <a:ext cx="5120512" cy="116300"/>
          </a:xfrm>
          <a:prstGeom prst="rect">
            <a:avLst/>
          </a:prstGeom>
          <a:solidFill>
            <a:srgbClr val="1F68C1"/>
          </a:solidFill>
          <a:ln/>
        </p:spPr>
      </p:sp>
      <p:sp>
        <p:nvSpPr>
          <p:cNvPr id="60" name="Shape 58"/>
          <p:cNvSpPr/>
          <p:nvPr/>
        </p:nvSpPr>
        <p:spPr>
          <a:xfrm>
            <a:off x="7071183" y="6215063"/>
            <a:ext cx="5120512" cy="116300"/>
          </a:xfrm>
          <a:prstGeom prst="rect">
            <a:avLst/>
          </a:prstGeom>
          <a:solidFill>
            <a:srgbClr val="1E69C1"/>
          </a:solidFill>
          <a:ln/>
        </p:spPr>
      </p:sp>
      <p:sp>
        <p:nvSpPr>
          <p:cNvPr id="61" name="Shape 59"/>
          <p:cNvSpPr/>
          <p:nvPr/>
        </p:nvSpPr>
        <p:spPr>
          <a:xfrm>
            <a:off x="7071183" y="6322219"/>
            <a:ext cx="5120512" cy="116300"/>
          </a:xfrm>
          <a:prstGeom prst="rect">
            <a:avLst/>
          </a:prstGeom>
          <a:solidFill>
            <a:srgbClr val="1D6AC0"/>
          </a:solidFill>
          <a:ln/>
        </p:spPr>
      </p:sp>
      <p:sp>
        <p:nvSpPr>
          <p:cNvPr id="62" name="Shape 60"/>
          <p:cNvSpPr/>
          <p:nvPr/>
        </p:nvSpPr>
        <p:spPr>
          <a:xfrm>
            <a:off x="7071183" y="6429375"/>
            <a:ext cx="5120512" cy="116300"/>
          </a:xfrm>
          <a:prstGeom prst="rect">
            <a:avLst/>
          </a:prstGeom>
          <a:solidFill>
            <a:srgbClr val="1D6BC0"/>
          </a:solidFill>
          <a:ln/>
        </p:spPr>
      </p:sp>
      <p:sp>
        <p:nvSpPr>
          <p:cNvPr id="63" name="Shape 61"/>
          <p:cNvSpPr/>
          <p:nvPr/>
        </p:nvSpPr>
        <p:spPr>
          <a:xfrm>
            <a:off x="7071183" y="6536531"/>
            <a:ext cx="5120512" cy="116300"/>
          </a:xfrm>
          <a:prstGeom prst="rect">
            <a:avLst/>
          </a:prstGeom>
          <a:solidFill>
            <a:srgbClr val="1C6DBF"/>
          </a:solidFill>
          <a:ln/>
        </p:spPr>
      </p:sp>
      <p:sp>
        <p:nvSpPr>
          <p:cNvPr id="64" name="Shape 62"/>
          <p:cNvSpPr/>
          <p:nvPr/>
        </p:nvSpPr>
        <p:spPr>
          <a:xfrm>
            <a:off x="7071183" y="6643688"/>
            <a:ext cx="5120512" cy="116300"/>
          </a:xfrm>
          <a:prstGeom prst="rect">
            <a:avLst/>
          </a:prstGeom>
          <a:solidFill>
            <a:srgbClr val="1B6EBF"/>
          </a:solidFill>
          <a:ln/>
        </p:spPr>
      </p:sp>
      <p:sp>
        <p:nvSpPr>
          <p:cNvPr id="65" name="Shape 63"/>
          <p:cNvSpPr/>
          <p:nvPr/>
        </p:nvSpPr>
        <p:spPr>
          <a:xfrm>
            <a:off x="7071183" y="6750844"/>
            <a:ext cx="5120512" cy="116300"/>
          </a:xfrm>
          <a:prstGeom prst="rect">
            <a:avLst/>
          </a:prstGeom>
          <a:solidFill>
            <a:srgbClr val="1A6FBE"/>
          </a:solidFill>
          <a:ln/>
        </p:spPr>
      </p:sp>
      <p:sp>
        <p:nvSpPr>
          <p:cNvPr id="66" name="Text 64"/>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THE PRODUCT</a:t>
            </a:r>
            <a:endParaRPr lang="en-US" sz="1100" dirty="0"/>
          </a:p>
        </p:txBody>
      </p:sp>
      <p:sp>
        <p:nvSpPr>
          <p:cNvPr id="67" name="Text 65"/>
          <p:cNvSpPr/>
          <p:nvPr/>
        </p:nvSpPr>
        <p:spPr>
          <a:xfrm>
            <a:off x="548640" y="1417320"/>
            <a:ext cx="6156783" cy="2194560"/>
          </a:xfrm>
          <a:prstGeom prst="rect">
            <a:avLst/>
          </a:prstGeom>
          <a:noFill/>
          <a:ln/>
        </p:spPr>
        <p:txBody>
          <a:bodyPr wrap="square" lIns="0" tIns="0" rIns="0" bIns="0" rtlCol="0" anchor="t"/>
          <a:lstStyle/>
          <a:p>
            <a:pPr algn="l" indent="0" marL="0">
              <a:buNone/>
            </a:pPr>
            <a:r>
              <a:rPr lang="en-US" sz="4200" b="1" spc="-50" kern="0" dirty="0">
                <a:solidFill>
                  <a:srgbClr val="0F1733"/>
                </a:solidFill>
                <a:latin typeface="Calibri" pitchFamily="34" charset="0"/>
                <a:ea typeface="Calibri" pitchFamily="34" charset="-122"/>
                <a:cs typeface="Calibri" pitchFamily="34" charset="-120"/>
              </a:rPr>
              <a:t>One tool. Five platforms. Built for the founder.</a:t>
            </a:r>
            <a:endParaRPr lang="en-US" sz="4200" dirty="0"/>
          </a:p>
        </p:txBody>
      </p:sp>
      <p:sp>
        <p:nvSpPr>
          <p:cNvPr id="68" name="Text 66"/>
          <p:cNvSpPr/>
          <p:nvPr/>
        </p:nvSpPr>
        <p:spPr>
          <a:xfrm>
            <a:off x="548640" y="3657600"/>
            <a:ext cx="6156783" cy="1097280"/>
          </a:xfrm>
          <a:prstGeom prst="rect">
            <a:avLst/>
          </a:prstGeom>
          <a:noFill/>
          <a:ln/>
        </p:spPr>
        <p:txBody>
          <a:bodyPr wrap="square" lIns="0" tIns="0" rIns="0" bIns="0" rtlCol="0" anchor="t"/>
          <a:lstStyle/>
          <a:p>
            <a:pPr algn="l" indent="0" marL="0">
              <a:spcAft>
                <a:spcPts val="600"/>
              </a:spcAft>
              <a:buNone/>
            </a:pPr>
            <a:r>
              <a:rPr lang="en-US" sz="1400" dirty="0">
                <a:solidFill>
                  <a:srgbClr val="2A3358"/>
                </a:solidFill>
                <a:latin typeface="Calibri" pitchFamily="34" charset="0"/>
                <a:ea typeface="Calibri" pitchFamily="34" charset="-122"/>
                <a:cs typeface="Calibri" pitchFamily="34" charset="-120"/>
              </a:rPr>
              <a:t>Creator Outreach unifies discovery, AI qualification, native outreach, and a creator CRM into a single workspace. It replaces the spreadsheets, browser tabs, and disconnected DMs that every team patches together today.</a:t>
            </a:r>
            <a:endParaRPr lang="en-US" sz="1400" dirty="0"/>
          </a:p>
        </p:txBody>
      </p:sp>
      <p:sp>
        <p:nvSpPr>
          <p:cNvPr id="69" name="Text 67"/>
          <p:cNvSpPr/>
          <p:nvPr/>
        </p:nvSpPr>
        <p:spPr>
          <a:xfrm>
            <a:off x="548640" y="4846320"/>
            <a:ext cx="6156783" cy="1463040"/>
          </a:xfrm>
          <a:prstGeom prst="rect">
            <a:avLst/>
          </a:prstGeom>
          <a:noFill/>
          <a:ln/>
        </p:spPr>
        <p:txBody>
          <a:bodyPr wrap="square" lIns="0" tIns="0" rIns="0" bIns="0" rtlCol="0" anchor="t"/>
          <a:lstStyle/>
          <a:p>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Unified search across YouTube, Instagram, TikTok, X, LinkedIn</a:t>
            </a:r>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AI fit score against your ICP, in seconds</a:t>
            </a:r>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Native send via Gmail, IG, LinkedIn — with reply tracking</a:t>
            </a:r>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A purpose-built CRM that captures the full creator lifecycle</a:t>
            </a:r>
            <a:endParaRPr lang="en-US" sz="13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05 · Introducing Creator Outreach  ·  vB</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030 / 126</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WHAT WE BUILT</a:t>
            </a:r>
            <a:endParaRPr lang="en-US" sz="1100" dirty="0"/>
          </a:p>
        </p:txBody>
      </p:sp>
      <p:sp>
        <p:nvSpPr>
          <p:cNvPr id="3" name="Text 1"/>
          <p:cNvSpPr/>
          <p:nvPr/>
        </p:nvSpPr>
        <p:spPr>
          <a:xfrm>
            <a:off x="548640" y="1417320"/>
            <a:ext cx="11094415" cy="1188720"/>
          </a:xfrm>
          <a:prstGeom prst="rect">
            <a:avLst/>
          </a:prstGeom>
          <a:noFill/>
          <a:ln/>
        </p:spPr>
        <p:txBody>
          <a:bodyPr wrap="square" lIns="0" tIns="0" rIns="0" bIns="0" rtlCol="0" anchor="t"/>
          <a:lstStyle/>
          <a:p>
            <a:pPr algn="l" indent="0" marL="0">
              <a:buNone/>
            </a:pPr>
            <a:r>
              <a:rPr lang="en-US" sz="3800" b="1" spc="-50" kern="0" dirty="0">
                <a:solidFill>
                  <a:srgbClr val="0F1733"/>
                </a:solidFill>
                <a:latin typeface="Calibri" pitchFamily="34" charset="0"/>
                <a:ea typeface="Calibri" pitchFamily="34" charset="-122"/>
                <a:cs typeface="Calibri" pitchFamily="34" charset="-120"/>
              </a:rPr>
              <a:t>Three core surfaces. One workflow.</a:t>
            </a:r>
            <a:endParaRPr lang="en-US" sz="3800" dirty="0"/>
          </a:p>
        </p:txBody>
      </p:sp>
      <p:sp>
        <p:nvSpPr>
          <p:cNvPr id="4" name="Text 2"/>
          <p:cNvSpPr/>
          <p:nvPr/>
        </p:nvSpPr>
        <p:spPr>
          <a:xfrm>
            <a:off x="548640" y="2606040"/>
            <a:ext cx="8534187" cy="457200"/>
          </a:xfrm>
          <a:prstGeom prst="rect">
            <a:avLst/>
          </a:prstGeom>
          <a:noFill/>
          <a:ln/>
        </p:spPr>
        <p:txBody>
          <a:bodyPr wrap="square" lIns="0" tIns="0" rIns="0" bIns="0" rtlCol="0" anchor="t"/>
          <a:lstStyle/>
          <a:p>
            <a:pPr algn="l" indent="0" marL="0">
              <a:buNone/>
            </a:pPr>
            <a:r>
              <a:rPr lang="en-US" sz="1600" dirty="0">
                <a:solidFill>
                  <a:srgbClr val="2A3358"/>
                </a:solidFill>
                <a:latin typeface="Calibri" pitchFamily="34" charset="0"/>
                <a:ea typeface="Calibri" pitchFamily="34" charset="-122"/>
                <a:cs typeface="Calibri" pitchFamily="34" charset="-120"/>
              </a:rPr>
              <a:t>Each surface compounds with the next — and the whole is the product.</a:t>
            </a:r>
            <a:endParaRPr lang="en-US" sz="1600" dirty="0"/>
          </a:p>
        </p:txBody>
      </p:sp>
      <p:sp>
        <p:nvSpPr>
          <p:cNvPr id="5" name="Shape 3"/>
          <p:cNvSpPr/>
          <p:nvPr/>
        </p:nvSpPr>
        <p:spPr>
          <a:xfrm>
            <a:off x="548640" y="3108960"/>
            <a:ext cx="3545738" cy="3017520"/>
          </a:xfrm>
          <a:prstGeom prst="roundRect">
            <a:avLst>
              <a:gd name="adj" fmla="val 3636"/>
            </a:avLst>
          </a:prstGeom>
          <a:solidFill>
            <a:srgbClr val="FFFFFF"/>
          </a:solidFill>
          <a:ln w="9525">
            <a:solidFill>
              <a:srgbClr val="E5E7F0"/>
            </a:solidFill>
            <a:prstDash val="solid"/>
          </a:ln>
        </p:spPr>
      </p:sp>
      <p:sp>
        <p:nvSpPr>
          <p:cNvPr id="6" name="Shape 4"/>
          <p:cNvSpPr/>
          <p:nvPr/>
        </p:nvSpPr>
        <p:spPr>
          <a:xfrm>
            <a:off x="548640" y="3108960"/>
            <a:ext cx="3545738" cy="73152"/>
          </a:xfrm>
          <a:prstGeom prst="rect">
            <a:avLst/>
          </a:prstGeom>
          <a:solidFill>
            <a:srgbClr val="5028C2"/>
          </a:solidFill>
          <a:ln/>
        </p:spPr>
      </p:sp>
      <p:sp>
        <p:nvSpPr>
          <p:cNvPr id="7" name="Shape 5"/>
          <p:cNvSpPr/>
          <p:nvPr/>
        </p:nvSpPr>
        <p:spPr>
          <a:xfrm>
            <a:off x="868680" y="3474720"/>
            <a:ext cx="457200" cy="457200"/>
          </a:xfrm>
          <a:prstGeom prst="ellipse">
            <a:avLst/>
          </a:prstGeom>
          <a:solidFill>
            <a:srgbClr val="5028C2"/>
          </a:solidFill>
          <a:ln/>
        </p:spPr>
      </p:sp>
      <p:sp>
        <p:nvSpPr>
          <p:cNvPr id="8" name="Text 6"/>
          <p:cNvSpPr/>
          <p:nvPr/>
        </p:nvSpPr>
        <p:spPr>
          <a:xfrm>
            <a:off x="868680"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9" name="Text 7"/>
          <p:cNvSpPr/>
          <p:nvPr/>
        </p:nvSpPr>
        <p:spPr>
          <a:xfrm>
            <a:off x="868680"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Discovery</a:t>
            </a:r>
            <a:endParaRPr lang="en-US" sz="1800" dirty="0"/>
          </a:p>
        </p:txBody>
      </p:sp>
      <p:sp>
        <p:nvSpPr>
          <p:cNvPr id="10" name="Text 8"/>
          <p:cNvSpPr/>
          <p:nvPr/>
        </p:nvSpPr>
        <p:spPr>
          <a:xfrm>
            <a:off x="868680"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Search across five platforms from one query. Surface every public creator who fits your criteria.</a:t>
            </a:r>
            <a:endParaRPr lang="en-US" sz="1300" dirty="0"/>
          </a:p>
        </p:txBody>
      </p:sp>
      <p:sp>
        <p:nvSpPr>
          <p:cNvPr id="11" name="Shape 9"/>
          <p:cNvSpPr/>
          <p:nvPr/>
        </p:nvSpPr>
        <p:spPr>
          <a:xfrm>
            <a:off x="4322978" y="3108960"/>
            <a:ext cx="3545738" cy="3017520"/>
          </a:xfrm>
          <a:prstGeom prst="roundRect">
            <a:avLst>
              <a:gd name="adj" fmla="val 3636"/>
            </a:avLst>
          </a:prstGeom>
          <a:solidFill>
            <a:srgbClr val="FFFFFF"/>
          </a:solidFill>
          <a:ln w="9525">
            <a:solidFill>
              <a:srgbClr val="E5E7F0"/>
            </a:solidFill>
            <a:prstDash val="solid"/>
          </a:ln>
        </p:spPr>
      </p:sp>
      <p:sp>
        <p:nvSpPr>
          <p:cNvPr id="12" name="Shape 10"/>
          <p:cNvSpPr/>
          <p:nvPr/>
        </p:nvSpPr>
        <p:spPr>
          <a:xfrm>
            <a:off x="4322978" y="3108960"/>
            <a:ext cx="3545738" cy="73152"/>
          </a:xfrm>
          <a:prstGeom prst="rect">
            <a:avLst/>
          </a:prstGeom>
          <a:solidFill>
            <a:srgbClr val="3548D0"/>
          </a:solidFill>
          <a:ln/>
        </p:spPr>
      </p:sp>
      <p:sp>
        <p:nvSpPr>
          <p:cNvPr id="13" name="Shape 11"/>
          <p:cNvSpPr/>
          <p:nvPr/>
        </p:nvSpPr>
        <p:spPr>
          <a:xfrm>
            <a:off x="4643018" y="3474720"/>
            <a:ext cx="457200" cy="457200"/>
          </a:xfrm>
          <a:prstGeom prst="ellipse">
            <a:avLst/>
          </a:prstGeom>
          <a:solidFill>
            <a:srgbClr val="3548D0"/>
          </a:solidFill>
          <a:ln/>
        </p:spPr>
      </p:sp>
      <p:sp>
        <p:nvSpPr>
          <p:cNvPr id="14" name="Text 12"/>
          <p:cNvSpPr/>
          <p:nvPr/>
        </p:nvSpPr>
        <p:spPr>
          <a:xfrm>
            <a:off x="4643018"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5" name="Text 13"/>
          <p:cNvSpPr/>
          <p:nvPr/>
        </p:nvSpPr>
        <p:spPr>
          <a:xfrm>
            <a:off x="4643018"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Qualification</a:t>
            </a:r>
            <a:endParaRPr lang="en-US" sz="1800" dirty="0"/>
          </a:p>
        </p:txBody>
      </p:sp>
      <p:sp>
        <p:nvSpPr>
          <p:cNvPr id="16" name="Text 14"/>
          <p:cNvSpPr/>
          <p:nvPr/>
        </p:nvSpPr>
        <p:spPr>
          <a:xfrm>
            <a:off x="4643018"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AI fit score reads each creator's public footprint and rates them against your ICP. Sort by score, not by guesswork.</a:t>
            </a:r>
            <a:endParaRPr lang="en-US" sz="1300" dirty="0"/>
          </a:p>
        </p:txBody>
      </p:sp>
      <p:sp>
        <p:nvSpPr>
          <p:cNvPr id="17" name="Shape 15"/>
          <p:cNvSpPr/>
          <p:nvPr/>
        </p:nvSpPr>
        <p:spPr>
          <a:xfrm>
            <a:off x="8097317" y="3108960"/>
            <a:ext cx="3545738" cy="3017520"/>
          </a:xfrm>
          <a:prstGeom prst="roundRect">
            <a:avLst>
              <a:gd name="adj" fmla="val 3636"/>
            </a:avLst>
          </a:prstGeom>
          <a:solidFill>
            <a:srgbClr val="FFFFFF"/>
          </a:solidFill>
          <a:ln w="9525">
            <a:solidFill>
              <a:srgbClr val="E5E7F0"/>
            </a:solidFill>
            <a:prstDash val="solid"/>
          </a:ln>
        </p:spPr>
      </p:sp>
      <p:sp>
        <p:nvSpPr>
          <p:cNvPr id="18" name="Shape 16"/>
          <p:cNvSpPr/>
          <p:nvPr/>
        </p:nvSpPr>
        <p:spPr>
          <a:xfrm>
            <a:off x="8097317" y="3108960"/>
            <a:ext cx="3545738" cy="73152"/>
          </a:xfrm>
          <a:prstGeom prst="rect">
            <a:avLst/>
          </a:prstGeom>
          <a:solidFill>
            <a:srgbClr val="1A6FBE"/>
          </a:solidFill>
          <a:ln/>
        </p:spPr>
      </p:sp>
      <p:sp>
        <p:nvSpPr>
          <p:cNvPr id="19" name="Shape 17"/>
          <p:cNvSpPr/>
          <p:nvPr/>
        </p:nvSpPr>
        <p:spPr>
          <a:xfrm>
            <a:off x="8417357" y="3474720"/>
            <a:ext cx="457200" cy="457200"/>
          </a:xfrm>
          <a:prstGeom prst="ellipse">
            <a:avLst/>
          </a:prstGeom>
          <a:solidFill>
            <a:srgbClr val="1A6FBE"/>
          </a:solidFill>
          <a:ln/>
        </p:spPr>
      </p:sp>
      <p:sp>
        <p:nvSpPr>
          <p:cNvPr id="20" name="Text 18"/>
          <p:cNvSpPr/>
          <p:nvPr/>
        </p:nvSpPr>
        <p:spPr>
          <a:xfrm>
            <a:off x="8417357"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9"/>
          <p:cNvSpPr/>
          <p:nvPr/>
        </p:nvSpPr>
        <p:spPr>
          <a:xfrm>
            <a:off x="8417357"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Outreach + CRM</a:t>
            </a:r>
            <a:endParaRPr lang="en-US" sz="1800" dirty="0"/>
          </a:p>
        </p:txBody>
      </p:sp>
      <p:sp>
        <p:nvSpPr>
          <p:cNvPr id="22" name="Text 20"/>
          <p:cNvSpPr/>
          <p:nvPr/>
        </p:nvSpPr>
        <p:spPr>
          <a:xfrm>
            <a:off x="8417357"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Send through your own Gmail, IG, or LinkedIn — and we log every reply, follow-up, and status change automatically.</a:t>
            </a:r>
            <a:endParaRPr lang="en-US" sz="1300" dirty="0"/>
          </a:p>
        </p:txBody>
      </p:sp>
      <p:sp>
        <p:nvSpPr>
          <p:cNvPr id="23" name="Shape 21"/>
          <p:cNvSpPr/>
          <p:nvPr/>
        </p:nvSpPr>
        <p:spPr>
          <a:xfrm>
            <a:off x="548640" y="502920"/>
            <a:ext cx="292608" cy="292608"/>
          </a:xfrm>
          <a:prstGeom prst="roundRect">
            <a:avLst>
              <a:gd name="adj" fmla="val 25000"/>
            </a:avLst>
          </a:prstGeom>
          <a:solidFill>
            <a:srgbClr val="5028C2"/>
          </a:solidFill>
          <a:ln/>
        </p:spPr>
      </p:sp>
      <p:sp>
        <p:nvSpPr>
          <p:cNvPr id="24" name="Shape 22"/>
          <p:cNvSpPr/>
          <p:nvPr/>
        </p:nvSpPr>
        <p:spPr>
          <a:xfrm>
            <a:off x="548640" y="502920"/>
            <a:ext cx="292608" cy="292608"/>
          </a:xfrm>
          <a:prstGeom prst="roundRect">
            <a:avLst>
              <a:gd name="adj" fmla="val 25000"/>
            </a:avLst>
          </a:prstGeom>
          <a:solidFill>
            <a:srgbClr val="1A6FBE">
              <a:alpha val="50000"/>
            </a:srgbClr>
          </a:solidFill>
          <a:ln/>
        </p:spPr>
      </p:sp>
      <p:sp>
        <p:nvSpPr>
          <p:cNvPr id="25" name="Text 23"/>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6" name="Text 24"/>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7" name="Text 25"/>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05 · Introducing Creator Outreach  ·  vC</a:t>
            </a:r>
            <a:endParaRPr lang="en-US" sz="900" dirty="0"/>
          </a:p>
        </p:txBody>
      </p:sp>
      <p:sp>
        <p:nvSpPr>
          <p:cNvPr id="28" name="Text 26"/>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29" name="Text 27"/>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031 / 126</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320040" cy="116300"/>
          </a:xfrm>
          <a:prstGeom prst="rect">
            <a:avLst/>
          </a:prstGeom>
          <a:solidFill>
            <a:srgbClr val="5028C2"/>
          </a:solidFill>
          <a:ln/>
        </p:spPr>
      </p:sp>
      <p:sp>
        <p:nvSpPr>
          <p:cNvPr id="3" name="Shape 1"/>
          <p:cNvSpPr/>
          <p:nvPr/>
        </p:nvSpPr>
        <p:spPr>
          <a:xfrm>
            <a:off x="0" y="107156"/>
            <a:ext cx="320040" cy="116300"/>
          </a:xfrm>
          <a:prstGeom prst="rect">
            <a:avLst/>
          </a:prstGeom>
          <a:solidFill>
            <a:srgbClr val="4F29C2"/>
          </a:solidFill>
          <a:ln/>
        </p:spPr>
      </p:sp>
      <p:sp>
        <p:nvSpPr>
          <p:cNvPr id="4" name="Shape 2"/>
          <p:cNvSpPr/>
          <p:nvPr/>
        </p:nvSpPr>
        <p:spPr>
          <a:xfrm>
            <a:off x="0" y="214313"/>
            <a:ext cx="320040" cy="116300"/>
          </a:xfrm>
          <a:prstGeom prst="rect">
            <a:avLst/>
          </a:prstGeom>
          <a:solidFill>
            <a:srgbClr val="4E2AC3"/>
          </a:solidFill>
          <a:ln/>
        </p:spPr>
      </p:sp>
      <p:sp>
        <p:nvSpPr>
          <p:cNvPr id="5" name="Shape 3"/>
          <p:cNvSpPr/>
          <p:nvPr/>
        </p:nvSpPr>
        <p:spPr>
          <a:xfrm>
            <a:off x="0" y="321469"/>
            <a:ext cx="320040" cy="116300"/>
          </a:xfrm>
          <a:prstGeom prst="rect">
            <a:avLst/>
          </a:prstGeom>
          <a:solidFill>
            <a:srgbClr val="4D2BC3"/>
          </a:solidFill>
          <a:ln/>
        </p:spPr>
      </p:sp>
      <p:sp>
        <p:nvSpPr>
          <p:cNvPr id="6" name="Shape 4"/>
          <p:cNvSpPr/>
          <p:nvPr/>
        </p:nvSpPr>
        <p:spPr>
          <a:xfrm>
            <a:off x="0" y="428625"/>
            <a:ext cx="320040" cy="116300"/>
          </a:xfrm>
          <a:prstGeom prst="rect">
            <a:avLst/>
          </a:prstGeom>
          <a:solidFill>
            <a:srgbClr val="4D2CC4"/>
          </a:solidFill>
          <a:ln/>
        </p:spPr>
      </p:sp>
      <p:sp>
        <p:nvSpPr>
          <p:cNvPr id="7" name="Shape 5"/>
          <p:cNvSpPr/>
          <p:nvPr/>
        </p:nvSpPr>
        <p:spPr>
          <a:xfrm>
            <a:off x="0" y="535781"/>
            <a:ext cx="320040" cy="116300"/>
          </a:xfrm>
          <a:prstGeom prst="rect">
            <a:avLst/>
          </a:prstGeom>
          <a:solidFill>
            <a:srgbClr val="4C2DC4"/>
          </a:solidFill>
          <a:ln/>
        </p:spPr>
      </p:sp>
      <p:sp>
        <p:nvSpPr>
          <p:cNvPr id="8" name="Shape 6"/>
          <p:cNvSpPr/>
          <p:nvPr/>
        </p:nvSpPr>
        <p:spPr>
          <a:xfrm>
            <a:off x="0" y="642938"/>
            <a:ext cx="320040" cy="116300"/>
          </a:xfrm>
          <a:prstGeom prst="rect">
            <a:avLst/>
          </a:prstGeom>
          <a:solidFill>
            <a:srgbClr val="4B2EC5"/>
          </a:solidFill>
          <a:ln/>
        </p:spPr>
      </p:sp>
      <p:sp>
        <p:nvSpPr>
          <p:cNvPr id="9" name="Shape 7"/>
          <p:cNvSpPr/>
          <p:nvPr/>
        </p:nvSpPr>
        <p:spPr>
          <a:xfrm>
            <a:off x="0" y="750094"/>
            <a:ext cx="320040" cy="116300"/>
          </a:xfrm>
          <a:prstGeom prst="rect">
            <a:avLst/>
          </a:prstGeom>
          <a:solidFill>
            <a:srgbClr val="4A2FC5"/>
          </a:solidFill>
          <a:ln/>
        </p:spPr>
      </p:sp>
      <p:sp>
        <p:nvSpPr>
          <p:cNvPr id="10" name="Shape 8"/>
          <p:cNvSpPr/>
          <p:nvPr/>
        </p:nvSpPr>
        <p:spPr>
          <a:xfrm>
            <a:off x="0" y="857250"/>
            <a:ext cx="320040" cy="116300"/>
          </a:xfrm>
          <a:prstGeom prst="rect">
            <a:avLst/>
          </a:prstGeom>
          <a:solidFill>
            <a:srgbClr val="4930C6"/>
          </a:solidFill>
          <a:ln/>
        </p:spPr>
      </p:sp>
      <p:sp>
        <p:nvSpPr>
          <p:cNvPr id="11" name="Shape 9"/>
          <p:cNvSpPr/>
          <p:nvPr/>
        </p:nvSpPr>
        <p:spPr>
          <a:xfrm>
            <a:off x="0" y="964406"/>
            <a:ext cx="320040" cy="116300"/>
          </a:xfrm>
          <a:prstGeom prst="rect">
            <a:avLst/>
          </a:prstGeom>
          <a:solidFill>
            <a:srgbClr val="4831C6"/>
          </a:solidFill>
          <a:ln/>
        </p:spPr>
      </p:sp>
      <p:sp>
        <p:nvSpPr>
          <p:cNvPr id="12" name="Shape 10"/>
          <p:cNvSpPr/>
          <p:nvPr/>
        </p:nvSpPr>
        <p:spPr>
          <a:xfrm>
            <a:off x="0" y="1071563"/>
            <a:ext cx="320040" cy="116300"/>
          </a:xfrm>
          <a:prstGeom prst="rect">
            <a:avLst/>
          </a:prstGeom>
          <a:solidFill>
            <a:srgbClr val="4732C6"/>
          </a:solidFill>
          <a:ln/>
        </p:spPr>
      </p:sp>
      <p:sp>
        <p:nvSpPr>
          <p:cNvPr id="13" name="Shape 11"/>
          <p:cNvSpPr/>
          <p:nvPr/>
        </p:nvSpPr>
        <p:spPr>
          <a:xfrm>
            <a:off x="0" y="1178719"/>
            <a:ext cx="320040" cy="116300"/>
          </a:xfrm>
          <a:prstGeom prst="rect">
            <a:avLst/>
          </a:prstGeom>
          <a:solidFill>
            <a:srgbClr val="4733C7"/>
          </a:solidFill>
          <a:ln/>
        </p:spPr>
      </p:sp>
      <p:sp>
        <p:nvSpPr>
          <p:cNvPr id="14" name="Shape 12"/>
          <p:cNvSpPr/>
          <p:nvPr/>
        </p:nvSpPr>
        <p:spPr>
          <a:xfrm>
            <a:off x="0" y="1285875"/>
            <a:ext cx="320040" cy="116300"/>
          </a:xfrm>
          <a:prstGeom prst="rect">
            <a:avLst/>
          </a:prstGeom>
          <a:solidFill>
            <a:srgbClr val="4634C7"/>
          </a:solidFill>
          <a:ln/>
        </p:spPr>
      </p:sp>
      <p:sp>
        <p:nvSpPr>
          <p:cNvPr id="15" name="Shape 13"/>
          <p:cNvSpPr/>
          <p:nvPr/>
        </p:nvSpPr>
        <p:spPr>
          <a:xfrm>
            <a:off x="0" y="1393031"/>
            <a:ext cx="320040" cy="116300"/>
          </a:xfrm>
          <a:prstGeom prst="rect">
            <a:avLst/>
          </a:prstGeom>
          <a:solidFill>
            <a:srgbClr val="4535C8"/>
          </a:solidFill>
          <a:ln/>
        </p:spPr>
      </p:sp>
      <p:sp>
        <p:nvSpPr>
          <p:cNvPr id="16" name="Shape 14"/>
          <p:cNvSpPr/>
          <p:nvPr/>
        </p:nvSpPr>
        <p:spPr>
          <a:xfrm>
            <a:off x="0" y="1500188"/>
            <a:ext cx="320040" cy="116300"/>
          </a:xfrm>
          <a:prstGeom prst="rect">
            <a:avLst/>
          </a:prstGeom>
          <a:solidFill>
            <a:srgbClr val="4436C8"/>
          </a:solidFill>
          <a:ln/>
        </p:spPr>
      </p:sp>
      <p:sp>
        <p:nvSpPr>
          <p:cNvPr id="17" name="Shape 15"/>
          <p:cNvSpPr/>
          <p:nvPr/>
        </p:nvSpPr>
        <p:spPr>
          <a:xfrm>
            <a:off x="0" y="1607344"/>
            <a:ext cx="320040" cy="116300"/>
          </a:xfrm>
          <a:prstGeom prst="rect">
            <a:avLst/>
          </a:prstGeom>
          <a:solidFill>
            <a:srgbClr val="4337C9"/>
          </a:solidFill>
          <a:ln/>
        </p:spPr>
      </p:sp>
      <p:sp>
        <p:nvSpPr>
          <p:cNvPr id="18" name="Shape 16"/>
          <p:cNvSpPr/>
          <p:nvPr/>
        </p:nvSpPr>
        <p:spPr>
          <a:xfrm>
            <a:off x="0" y="1714500"/>
            <a:ext cx="320040" cy="116300"/>
          </a:xfrm>
          <a:prstGeom prst="rect">
            <a:avLst/>
          </a:prstGeom>
          <a:solidFill>
            <a:srgbClr val="4238C9"/>
          </a:solidFill>
          <a:ln/>
        </p:spPr>
      </p:sp>
      <p:sp>
        <p:nvSpPr>
          <p:cNvPr id="19" name="Shape 17"/>
          <p:cNvSpPr/>
          <p:nvPr/>
        </p:nvSpPr>
        <p:spPr>
          <a:xfrm>
            <a:off x="0" y="1821656"/>
            <a:ext cx="320040" cy="116300"/>
          </a:xfrm>
          <a:prstGeom prst="rect">
            <a:avLst/>
          </a:prstGeom>
          <a:solidFill>
            <a:srgbClr val="4139CA"/>
          </a:solidFill>
          <a:ln/>
        </p:spPr>
      </p:sp>
      <p:sp>
        <p:nvSpPr>
          <p:cNvPr id="20" name="Shape 18"/>
          <p:cNvSpPr/>
          <p:nvPr/>
        </p:nvSpPr>
        <p:spPr>
          <a:xfrm>
            <a:off x="0" y="1928813"/>
            <a:ext cx="320040" cy="116300"/>
          </a:xfrm>
          <a:prstGeom prst="rect">
            <a:avLst/>
          </a:prstGeom>
          <a:solidFill>
            <a:srgbClr val="413ACA"/>
          </a:solidFill>
          <a:ln/>
        </p:spPr>
      </p:sp>
      <p:sp>
        <p:nvSpPr>
          <p:cNvPr id="21" name="Shape 19"/>
          <p:cNvSpPr/>
          <p:nvPr/>
        </p:nvSpPr>
        <p:spPr>
          <a:xfrm>
            <a:off x="0" y="2035969"/>
            <a:ext cx="320040" cy="116300"/>
          </a:xfrm>
          <a:prstGeom prst="rect">
            <a:avLst/>
          </a:prstGeom>
          <a:solidFill>
            <a:srgbClr val="403BCA"/>
          </a:solidFill>
          <a:ln/>
        </p:spPr>
      </p:sp>
      <p:sp>
        <p:nvSpPr>
          <p:cNvPr id="22" name="Shape 20"/>
          <p:cNvSpPr/>
          <p:nvPr/>
        </p:nvSpPr>
        <p:spPr>
          <a:xfrm>
            <a:off x="0" y="2143125"/>
            <a:ext cx="320040" cy="116300"/>
          </a:xfrm>
          <a:prstGeom prst="rect">
            <a:avLst/>
          </a:prstGeom>
          <a:solidFill>
            <a:srgbClr val="3F3CCB"/>
          </a:solidFill>
          <a:ln/>
        </p:spPr>
      </p:sp>
      <p:sp>
        <p:nvSpPr>
          <p:cNvPr id="23" name="Shape 21"/>
          <p:cNvSpPr/>
          <p:nvPr/>
        </p:nvSpPr>
        <p:spPr>
          <a:xfrm>
            <a:off x="0" y="2250281"/>
            <a:ext cx="320040" cy="116300"/>
          </a:xfrm>
          <a:prstGeom prst="rect">
            <a:avLst/>
          </a:prstGeom>
          <a:solidFill>
            <a:srgbClr val="3E3DCB"/>
          </a:solidFill>
          <a:ln/>
        </p:spPr>
      </p:sp>
      <p:sp>
        <p:nvSpPr>
          <p:cNvPr id="24" name="Shape 22"/>
          <p:cNvSpPr/>
          <p:nvPr/>
        </p:nvSpPr>
        <p:spPr>
          <a:xfrm>
            <a:off x="0" y="2357438"/>
            <a:ext cx="320040" cy="116300"/>
          </a:xfrm>
          <a:prstGeom prst="rect">
            <a:avLst/>
          </a:prstGeom>
          <a:solidFill>
            <a:srgbClr val="3D3ECC"/>
          </a:solidFill>
          <a:ln/>
        </p:spPr>
      </p:sp>
      <p:sp>
        <p:nvSpPr>
          <p:cNvPr id="25" name="Shape 23"/>
          <p:cNvSpPr/>
          <p:nvPr/>
        </p:nvSpPr>
        <p:spPr>
          <a:xfrm>
            <a:off x="0" y="2464594"/>
            <a:ext cx="320040" cy="116300"/>
          </a:xfrm>
          <a:prstGeom prst="rect">
            <a:avLst/>
          </a:prstGeom>
          <a:solidFill>
            <a:srgbClr val="3C3FCC"/>
          </a:solidFill>
          <a:ln/>
        </p:spPr>
      </p:sp>
      <p:sp>
        <p:nvSpPr>
          <p:cNvPr id="26" name="Shape 24"/>
          <p:cNvSpPr/>
          <p:nvPr/>
        </p:nvSpPr>
        <p:spPr>
          <a:xfrm>
            <a:off x="0" y="2571750"/>
            <a:ext cx="320040" cy="116300"/>
          </a:xfrm>
          <a:prstGeom prst="rect">
            <a:avLst/>
          </a:prstGeom>
          <a:solidFill>
            <a:srgbClr val="3B40CD"/>
          </a:solidFill>
          <a:ln/>
        </p:spPr>
      </p:sp>
      <p:sp>
        <p:nvSpPr>
          <p:cNvPr id="27" name="Shape 25"/>
          <p:cNvSpPr/>
          <p:nvPr/>
        </p:nvSpPr>
        <p:spPr>
          <a:xfrm>
            <a:off x="0" y="2678906"/>
            <a:ext cx="320040" cy="116300"/>
          </a:xfrm>
          <a:prstGeom prst="rect">
            <a:avLst/>
          </a:prstGeom>
          <a:solidFill>
            <a:srgbClr val="3B41CD"/>
          </a:solidFill>
          <a:ln/>
        </p:spPr>
      </p:sp>
      <p:sp>
        <p:nvSpPr>
          <p:cNvPr id="28" name="Shape 26"/>
          <p:cNvSpPr/>
          <p:nvPr/>
        </p:nvSpPr>
        <p:spPr>
          <a:xfrm>
            <a:off x="0" y="2786063"/>
            <a:ext cx="320040" cy="116300"/>
          </a:xfrm>
          <a:prstGeom prst="rect">
            <a:avLst/>
          </a:prstGeom>
          <a:solidFill>
            <a:srgbClr val="3A42CE"/>
          </a:solidFill>
          <a:ln/>
        </p:spPr>
      </p:sp>
      <p:sp>
        <p:nvSpPr>
          <p:cNvPr id="29" name="Shape 27"/>
          <p:cNvSpPr/>
          <p:nvPr/>
        </p:nvSpPr>
        <p:spPr>
          <a:xfrm>
            <a:off x="0" y="2893219"/>
            <a:ext cx="320040" cy="116300"/>
          </a:xfrm>
          <a:prstGeom prst="rect">
            <a:avLst/>
          </a:prstGeom>
          <a:solidFill>
            <a:srgbClr val="3943CE"/>
          </a:solidFill>
          <a:ln/>
        </p:spPr>
      </p:sp>
      <p:sp>
        <p:nvSpPr>
          <p:cNvPr id="30" name="Shape 28"/>
          <p:cNvSpPr/>
          <p:nvPr/>
        </p:nvSpPr>
        <p:spPr>
          <a:xfrm>
            <a:off x="0" y="3000375"/>
            <a:ext cx="320040" cy="116300"/>
          </a:xfrm>
          <a:prstGeom prst="rect">
            <a:avLst/>
          </a:prstGeom>
          <a:solidFill>
            <a:srgbClr val="3844CE"/>
          </a:solidFill>
          <a:ln/>
        </p:spPr>
      </p:sp>
      <p:sp>
        <p:nvSpPr>
          <p:cNvPr id="31" name="Shape 29"/>
          <p:cNvSpPr/>
          <p:nvPr/>
        </p:nvSpPr>
        <p:spPr>
          <a:xfrm>
            <a:off x="0" y="3107531"/>
            <a:ext cx="320040" cy="116300"/>
          </a:xfrm>
          <a:prstGeom prst="rect">
            <a:avLst/>
          </a:prstGeom>
          <a:solidFill>
            <a:srgbClr val="3745CF"/>
          </a:solidFill>
          <a:ln/>
        </p:spPr>
      </p:sp>
      <p:sp>
        <p:nvSpPr>
          <p:cNvPr id="32" name="Shape 30"/>
          <p:cNvSpPr/>
          <p:nvPr/>
        </p:nvSpPr>
        <p:spPr>
          <a:xfrm>
            <a:off x="0" y="3214688"/>
            <a:ext cx="320040" cy="116300"/>
          </a:xfrm>
          <a:prstGeom prst="rect">
            <a:avLst/>
          </a:prstGeom>
          <a:solidFill>
            <a:srgbClr val="3646CF"/>
          </a:solidFill>
          <a:ln/>
        </p:spPr>
      </p:sp>
      <p:sp>
        <p:nvSpPr>
          <p:cNvPr id="33" name="Shape 31"/>
          <p:cNvSpPr/>
          <p:nvPr/>
        </p:nvSpPr>
        <p:spPr>
          <a:xfrm>
            <a:off x="0" y="3321844"/>
            <a:ext cx="320040" cy="116300"/>
          </a:xfrm>
          <a:prstGeom prst="rect">
            <a:avLst/>
          </a:prstGeom>
          <a:solidFill>
            <a:srgbClr val="3547D0"/>
          </a:solidFill>
          <a:ln/>
        </p:spPr>
      </p:sp>
      <p:sp>
        <p:nvSpPr>
          <p:cNvPr id="34" name="Shape 32"/>
          <p:cNvSpPr/>
          <p:nvPr/>
        </p:nvSpPr>
        <p:spPr>
          <a:xfrm>
            <a:off x="0" y="3429000"/>
            <a:ext cx="320040" cy="116300"/>
          </a:xfrm>
          <a:prstGeom prst="rect">
            <a:avLst/>
          </a:prstGeom>
          <a:solidFill>
            <a:srgbClr val="3549D0"/>
          </a:solidFill>
          <a:ln/>
        </p:spPr>
      </p:sp>
      <p:sp>
        <p:nvSpPr>
          <p:cNvPr id="35" name="Shape 33"/>
          <p:cNvSpPr/>
          <p:nvPr/>
        </p:nvSpPr>
        <p:spPr>
          <a:xfrm>
            <a:off x="0" y="3536156"/>
            <a:ext cx="320040" cy="116300"/>
          </a:xfrm>
          <a:prstGeom prst="rect">
            <a:avLst/>
          </a:prstGeom>
          <a:solidFill>
            <a:srgbClr val="344ACF"/>
          </a:solidFill>
          <a:ln/>
        </p:spPr>
      </p:sp>
      <p:sp>
        <p:nvSpPr>
          <p:cNvPr id="36" name="Shape 34"/>
          <p:cNvSpPr/>
          <p:nvPr/>
        </p:nvSpPr>
        <p:spPr>
          <a:xfrm>
            <a:off x="0" y="3643313"/>
            <a:ext cx="320040" cy="116300"/>
          </a:xfrm>
          <a:prstGeom prst="rect">
            <a:avLst/>
          </a:prstGeom>
          <a:solidFill>
            <a:srgbClr val="334BCF"/>
          </a:solidFill>
          <a:ln/>
        </p:spPr>
      </p:sp>
      <p:sp>
        <p:nvSpPr>
          <p:cNvPr id="37" name="Shape 35"/>
          <p:cNvSpPr/>
          <p:nvPr/>
        </p:nvSpPr>
        <p:spPr>
          <a:xfrm>
            <a:off x="0" y="3750469"/>
            <a:ext cx="320040" cy="116300"/>
          </a:xfrm>
          <a:prstGeom prst="rect">
            <a:avLst/>
          </a:prstGeom>
          <a:solidFill>
            <a:srgbClr val="324CCE"/>
          </a:solidFill>
          <a:ln/>
        </p:spPr>
      </p:sp>
      <p:sp>
        <p:nvSpPr>
          <p:cNvPr id="38" name="Shape 36"/>
          <p:cNvSpPr/>
          <p:nvPr/>
        </p:nvSpPr>
        <p:spPr>
          <a:xfrm>
            <a:off x="0" y="3857625"/>
            <a:ext cx="320040" cy="116300"/>
          </a:xfrm>
          <a:prstGeom prst="rect">
            <a:avLst/>
          </a:prstGeom>
          <a:solidFill>
            <a:srgbClr val="314ECD"/>
          </a:solidFill>
          <a:ln/>
        </p:spPr>
      </p:sp>
      <p:sp>
        <p:nvSpPr>
          <p:cNvPr id="39" name="Shape 37"/>
          <p:cNvSpPr/>
          <p:nvPr/>
        </p:nvSpPr>
        <p:spPr>
          <a:xfrm>
            <a:off x="0" y="3964781"/>
            <a:ext cx="320040" cy="116300"/>
          </a:xfrm>
          <a:prstGeom prst="rect">
            <a:avLst/>
          </a:prstGeom>
          <a:solidFill>
            <a:srgbClr val="304FCD"/>
          </a:solidFill>
          <a:ln/>
        </p:spPr>
      </p:sp>
      <p:sp>
        <p:nvSpPr>
          <p:cNvPr id="40" name="Shape 38"/>
          <p:cNvSpPr/>
          <p:nvPr/>
        </p:nvSpPr>
        <p:spPr>
          <a:xfrm>
            <a:off x="0" y="4071938"/>
            <a:ext cx="320040" cy="116300"/>
          </a:xfrm>
          <a:prstGeom prst="rect">
            <a:avLst/>
          </a:prstGeom>
          <a:solidFill>
            <a:srgbClr val="2F50CC"/>
          </a:solidFill>
          <a:ln/>
        </p:spPr>
      </p:sp>
      <p:sp>
        <p:nvSpPr>
          <p:cNvPr id="41" name="Shape 39"/>
          <p:cNvSpPr/>
          <p:nvPr/>
        </p:nvSpPr>
        <p:spPr>
          <a:xfrm>
            <a:off x="0" y="4179094"/>
            <a:ext cx="320040" cy="116300"/>
          </a:xfrm>
          <a:prstGeom prst="rect">
            <a:avLst/>
          </a:prstGeom>
          <a:solidFill>
            <a:srgbClr val="2F51CC"/>
          </a:solidFill>
          <a:ln/>
        </p:spPr>
      </p:sp>
      <p:sp>
        <p:nvSpPr>
          <p:cNvPr id="42" name="Shape 40"/>
          <p:cNvSpPr/>
          <p:nvPr/>
        </p:nvSpPr>
        <p:spPr>
          <a:xfrm>
            <a:off x="0" y="4286250"/>
            <a:ext cx="320040" cy="116300"/>
          </a:xfrm>
          <a:prstGeom prst="rect">
            <a:avLst/>
          </a:prstGeom>
          <a:solidFill>
            <a:srgbClr val="2E53CB"/>
          </a:solidFill>
          <a:ln/>
        </p:spPr>
      </p:sp>
      <p:sp>
        <p:nvSpPr>
          <p:cNvPr id="43" name="Shape 41"/>
          <p:cNvSpPr/>
          <p:nvPr/>
        </p:nvSpPr>
        <p:spPr>
          <a:xfrm>
            <a:off x="0" y="4393406"/>
            <a:ext cx="320040" cy="116300"/>
          </a:xfrm>
          <a:prstGeom prst="rect">
            <a:avLst/>
          </a:prstGeom>
          <a:solidFill>
            <a:srgbClr val="2D54CB"/>
          </a:solidFill>
          <a:ln/>
        </p:spPr>
      </p:sp>
      <p:sp>
        <p:nvSpPr>
          <p:cNvPr id="44" name="Shape 42"/>
          <p:cNvSpPr/>
          <p:nvPr/>
        </p:nvSpPr>
        <p:spPr>
          <a:xfrm>
            <a:off x="0" y="4500563"/>
            <a:ext cx="320040" cy="116300"/>
          </a:xfrm>
          <a:prstGeom prst="rect">
            <a:avLst/>
          </a:prstGeom>
          <a:solidFill>
            <a:srgbClr val="2C55CA"/>
          </a:solidFill>
          <a:ln/>
        </p:spPr>
      </p:sp>
      <p:sp>
        <p:nvSpPr>
          <p:cNvPr id="45" name="Shape 43"/>
          <p:cNvSpPr/>
          <p:nvPr/>
        </p:nvSpPr>
        <p:spPr>
          <a:xfrm>
            <a:off x="0" y="4607719"/>
            <a:ext cx="320040" cy="116300"/>
          </a:xfrm>
          <a:prstGeom prst="rect">
            <a:avLst/>
          </a:prstGeom>
          <a:solidFill>
            <a:srgbClr val="2B56C9"/>
          </a:solidFill>
          <a:ln/>
        </p:spPr>
      </p:sp>
      <p:sp>
        <p:nvSpPr>
          <p:cNvPr id="46" name="Shape 44"/>
          <p:cNvSpPr/>
          <p:nvPr/>
        </p:nvSpPr>
        <p:spPr>
          <a:xfrm>
            <a:off x="0" y="4714875"/>
            <a:ext cx="320040" cy="116300"/>
          </a:xfrm>
          <a:prstGeom prst="rect">
            <a:avLst/>
          </a:prstGeom>
          <a:solidFill>
            <a:srgbClr val="2A57C9"/>
          </a:solidFill>
          <a:ln/>
        </p:spPr>
      </p:sp>
      <p:sp>
        <p:nvSpPr>
          <p:cNvPr id="47" name="Shape 45"/>
          <p:cNvSpPr/>
          <p:nvPr/>
        </p:nvSpPr>
        <p:spPr>
          <a:xfrm>
            <a:off x="0" y="4822031"/>
            <a:ext cx="320040" cy="116300"/>
          </a:xfrm>
          <a:prstGeom prst="rect">
            <a:avLst/>
          </a:prstGeom>
          <a:solidFill>
            <a:srgbClr val="2959C8"/>
          </a:solidFill>
          <a:ln/>
        </p:spPr>
      </p:sp>
      <p:sp>
        <p:nvSpPr>
          <p:cNvPr id="48" name="Shape 46"/>
          <p:cNvSpPr/>
          <p:nvPr/>
        </p:nvSpPr>
        <p:spPr>
          <a:xfrm>
            <a:off x="0" y="4929188"/>
            <a:ext cx="320040" cy="116300"/>
          </a:xfrm>
          <a:prstGeom prst="rect">
            <a:avLst/>
          </a:prstGeom>
          <a:solidFill>
            <a:srgbClr val="295AC8"/>
          </a:solidFill>
          <a:ln/>
        </p:spPr>
      </p:sp>
      <p:sp>
        <p:nvSpPr>
          <p:cNvPr id="49" name="Shape 47"/>
          <p:cNvSpPr/>
          <p:nvPr/>
        </p:nvSpPr>
        <p:spPr>
          <a:xfrm>
            <a:off x="0" y="5036344"/>
            <a:ext cx="320040" cy="116300"/>
          </a:xfrm>
          <a:prstGeom prst="rect">
            <a:avLst/>
          </a:prstGeom>
          <a:solidFill>
            <a:srgbClr val="285BC7"/>
          </a:solidFill>
          <a:ln/>
        </p:spPr>
      </p:sp>
      <p:sp>
        <p:nvSpPr>
          <p:cNvPr id="50" name="Shape 48"/>
          <p:cNvSpPr/>
          <p:nvPr/>
        </p:nvSpPr>
        <p:spPr>
          <a:xfrm>
            <a:off x="0" y="5143500"/>
            <a:ext cx="320040" cy="116300"/>
          </a:xfrm>
          <a:prstGeom prst="rect">
            <a:avLst/>
          </a:prstGeom>
          <a:solidFill>
            <a:srgbClr val="275CC7"/>
          </a:solidFill>
          <a:ln/>
        </p:spPr>
      </p:sp>
      <p:sp>
        <p:nvSpPr>
          <p:cNvPr id="51" name="Shape 49"/>
          <p:cNvSpPr/>
          <p:nvPr/>
        </p:nvSpPr>
        <p:spPr>
          <a:xfrm>
            <a:off x="0" y="5250656"/>
            <a:ext cx="320040" cy="116300"/>
          </a:xfrm>
          <a:prstGeom prst="rect">
            <a:avLst/>
          </a:prstGeom>
          <a:solidFill>
            <a:srgbClr val="265EC6"/>
          </a:solidFill>
          <a:ln/>
        </p:spPr>
      </p:sp>
      <p:sp>
        <p:nvSpPr>
          <p:cNvPr id="52" name="Shape 50"/>
          <p:cNvSpPr/>
          <p:nvPr/>
        </p:nvSpPr>
        <p:spPr>
          <a:xfrm>
            <a:off x="0" y="5357813"/>
            <a:ext cx="320040" cy="116300"/>
          </a:xfrm>
          <a:prstGeom prst="rect">
            <a:avLst/>
          </a:prstGeom>
          <a:solidFill>
            <a:srgbClr val="255FC5"/>
          </a:solidFill>
          <a:ln/>
        </p:spPr>
      </p:sp>
      <p:sp>
        <p:nvSpPr>
          <p:cNvPr id="53" name="Shape 51"/>
          <p:cNvSpPr/>
          <p:nvPr/>
        </p:nvSpPr>
        <p:spPr>
          <a:xfrm>
            <a:off x="0" y="5464969"/>
            <a:ext cx="320040" cy="116300"/>
          </a:xfrm>
          <a:prstGeom prst="rect">
            <a:avLst/>
          </a:prstGeom>
          <a:solidFill>
            <a:srgbClr val="2460C5"/>
          </a:solidFill>
          <a:ln/>
        </p:spPr>
      </p:sp>
      <p:sp>
        <p:nvSpPr>
          <p:cNvPr id="54" name="Shape 52"/>
          <p:cNvSpPr/>
          <p:nvPr/>
        </p:nvSpPr>
        <p:spPr>
          <a:xfrm>
            <a:off x="0" y="5572125"/>
            <a:ext cx="320040" cy="116300"/>
          </a:xfrm>
          <a:prstGeom prst="rect">
            <a:avLst/>
          </a:prstGeom>
          <a:solidFill>
            <a:srgbClr val="2361C4"/>
          </a:solidFill>
          <a:ln/>
        </p:spPr>
      </p:sp>
      <p:sp>
        <p:nvSpPr>
          <p:cNvPr id="55" name="Shape 53"/>
          <p:cNvSpPr/>
          <p:nvPr/>
        </p:nvSpPr>
        <p:spPr>
          <a:xfrm>
            <a:off x="0" y="5679281"/>
            <a:ext cx="320040" cy="116300"/>
          </a:xfrm>
          <a:prstGeom prst="rect">
            <a:avLst/>
          </a:prstGeom>
          <a:solidFill>
            <a:srgbClr val="2363C4"/>
          </a:solidFill>
          <a:ln/>
        </p:spPr>
      </p:sp>
      <p:sp>
        <p:nvSpPr>
          <p:cNvPr id="56" name="Shape 54"/>
          <p:cNvSpPr/>
          <p:nvPr/>
        </p:nvSpPr>
        <p:spPr>
          <a:xfrm>
            <a:off x="0" y="5786438"/>
            <a:ext cx="320040" cy="116300"/>
          </a:xfrm>
          <a:prstGeom prst="rect">
            <a:avLst/>
          </a:prstGeom>
          <a:solidFill>
            <a:srgbClr val="2264C3"/>
          </a:solidFill>
          <a:ln/>
        </p:spPr>
      </p:sp>
      <p:sp>
        <p:nvSpPr>
          <p:cNvPr id="57" name="Shape 55"/>
          <p:cNvSpPr/>
          <p:nvPr/>
        </p:nvSpPr>
        <p:spPr>
          <a:xfrm>
            <a:off x="0" y="5893594"/>
            <a:ext cx="320040" cy="116300"/>
          </a:xfrm>
          <a:prstGeom prst="rect">
            <a:avLst/>
          </a:prstGeom>
          <a:solidFill>
            <a:srgbClr val="2165C3"/>
          </a:solidFill>
          <a:ln/>
        </p:spPr>
      </p:sp>
      <p:sp>
        <p:nvSpPr>
          <p:cNvPr id="58" name="Shape 56"/>
          <p:cNvSpPr/>
          <p:nvPr/>
        </p:nvSpPr>
        <p:spPr>
          <a:xfrm>
            <a:off x="0" y="6000750"/>
            <a:ext cx="320040" cy="116300"/>
          </a:xfrm>
          <a:prstGeom prst="rect">
            <a:avLst/>
          </a:prstGeom>
          <a:solidFill>
            <a:srgbClr val="2066C2"/>
          </a:solidFill>
          <a:ln/>
        </p:spPr>
      </p:sp>
      <p:sp>
        <p:nvSpPr>
          <p:cNvPr id="59" name="Shape 57"/>
          <p:cNvSpPr/>
          <p:nvPr/>
        </p:nvSpPr>
        <p:spPr>
          <a:xfrm>
            <a:off x="0" y="6107906"/>
            <a:ext cx="320040" cy="116300"/>
          </a:xfrm>
          <a:prstGeom prst="rect">
            <a:avLst/>
          </a:prstGeom>
          <a:solidFill>
            <a:srgbClr val="1F68C1"/>
          </a:solidFill>
          <a:ln/>
        </p:spPr>
      </p:sp>
      <p:sp>
        <p:nvSpPr>
          <p:cNvPr id="60" name="Shape 58"/>
          <p:cNvSpPr/>
          <p:nvPr/>
        </p:nvSpPr>
        <p:spPr>
          <a:xfrm>
            <a:off x="0" y="6215063"/>
            <a:ext cx="320040" cy="116300"/>
          </a:xfrm>
          <a:prstGeom prst="rect">
            <a:avLst/>
          </a:prstGeom>
          <a:solidFill>
            <a:srgbClr val="1E69C1"/>
          </a:solidFill>
          <a:ln/>
        </p:spPr>
      </p:sp>
      <p:sp>
        <p:nvSpPr>
          <p:cNvPr id="61" name="Shape 59"/>
          <p:cNvSpPr/>
          <p:nvPr/>
        </p:nvSpPr>
        <p:spPr>
          <a:xfrm>
            <a:off x="0" y="6322219"/>
            <a:ext cx="320040" cy="116300"/>
          </a:xfrm>
          <a:prstGeom prst="rect">
            <a:avLst/>
          </a:prstGeom>
          <a:solidFill>
            <a:srgbClr val="1D6AC0"/>
          </a:solidFill>
          <a:ln/>
        </p:spPr>
      </p:sp>
      <p:sp>
        <p:nvSpPr>
          <p:cNvPr id="62" name="Shape 60"/>
          <p:cNvSpPr/>
          <p:nvPr/>
        </p:nvSpPr>
        <p:spPr>
          <a:xfrm>
            <a:off x="0" y="6429375"/>
            <a:ext cx="320040" cy="116300"/>
          </a:xfrm>
          <a:prstGeom prst="rect">
            <a:avLst/>
          </a:prstGeom>
          <a:solidFill>
            <a:srgbClr val="1D6BC0"/>
          </a:solidFill>
          <a:ln/>
        </p:spPr>
      </p:sp>
      <p:sp>
        <p:nvSpPr>
          <p:cNvPr id="63" name="Shape 61"/>
          <p:cNvSpPr/>
          <p:nvPr/>
        </p:nvSpPr>
        <p:spPr>
          <a:xfrm>
            <a:off x="0" y="6536531"/>
            <a:ext cx="320040" cy="116300"/>
          </a:xfrm>
          <a:prstGeom prst="rect">
            <a:avLst/>
          </a:prstGeom>
          <a:solidFill>
            <a:srgbClr val="1C6DBF"/>
          </a:solidFill>
          <a:ln/>
        </p:spPr>
      </p:sp>
      <p:sp>
        <p:nvSpPr>
          <p:cNvPr id="64" name="Shape 62"/>
          <p:cNvSpPr/>
          <p:nvPr/>
        </p:nvSpPr>
        <p:spPr>
          <a:xfrm>
            <a:off x="0" y="6643688"/>
            <a:ext cx="320040" cy="116300"/>
          </a:xfrm>
          <a:prstGeom prst="rect">
            <a:avLst/>
          </a:prstGeom>
          <a:solidFill>
            <a:srgbClr val="1B6EBF"/>
          </a:solidFill>
          <a:ln/>
        </p:spPr>
      </p:sp>
      <p:sp>
        <p:nvSpPr>
          <p:cNvPr id="65" name="Shape 63"/>
          <p:cNvSpPr/>
          <p:nvPr/>
        </p:nvSpPr>
        <p:spPr>
          <a:xfrm>
            <a:off x="0" y="6750844"/>
            <a:ext cx="320040" cy="116300"/>
          </a:xfrm>
          <a:prstGeom prst="rect">
            <a:avLst/>
          </a:prstGeom>
          <a:solidFill>
            <a:srgbClr val="1A6FBE"/>
          </a:solidFill>
          <a:ln/>
        </p:spPr>
      </p:sp>
      <p:sp>
        <p:nvSpPr>
          <p:cNvPr id="66" name="Text 64"/>
          <p:cNvSpPr/>
          <p:nvPr/>
        </p:nvSpPr>
        <p:spPr>
          <a:xfrm>
            <a:off x="73152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THE NUMBERS</a:t>
            </a:r>
            <a:endParaRPr lang="en-US" sz="1100" dirty="0"/>
          </a:p>
        </p:txBody>
      </p:sp>
      <p:sp>
        <p:nvSpPr>
          <p:cNvPr id="67" name="Text 65"/>
          <p:cNvSpPr/>
          <p:nvPr/>
        </p:nvSpPr>
        <p:spPr>
          <a:xfrm>
            <a:off x="548640" y="1554480"/>
            <a:ext cx="11094415" cy="3200400"/>
          </a:xfrm>
          <a:prstGeom prst="rect">
            <a:avLst/>
          </a:prstGeom>
          <a:noFill/>
          <a:ln/>
        </p:spPr>
        <p:txBody>
          <a:bodyPr wrap="square" lIns="0" tIns="0" rIns="0" bIns="0" rtlCol="0" anchor="ctr"/>
          <a:lstStyle/>
          <a:p>
            <a:pPr algn="l" indent="0" marL="0">
              <a:buNone/>
            </a:pPr>
            <a:r>
              <a:rPr lang="en-US" sz="22000" b="1" spc="-600" kern="0" dirty="0">
                <a:solidFill>
                  <a:srgbClr val="5028C2"/>
                </a:solidFill>
                <a:latin typeface="Calibri" pitchFamily="34" charset="0"/>
                <a:ea typeface="Calibri" pitchFamily="34" charset="-122"/>
                <a:cs typeface="Calibri" pitchFamily="34" charset="-120"/>
              </a:rPr>
              <a:t>5</a:t>
            </a:r>
            <a:endParaRPr lang="en-US" sz="22000" dirty="0"/>
          </a:p>
        </p:txBody>
      </p:sp>
      <p:sp>
        <p:nvSpPr>
          <p:cNvPr id="68" name="Text 66"/>
          <p:cNvSpPr/>
          <p:nvPr/>
        </p:nvSpPr>
        <p:spPr>
          <a:xfrm>
            <a:off x="548640" y="4983480"/>
            <a:ext cx="11094415" cy="457200"/>
          </a:xfrm>
          <a:prstGeom prst="rect">
            <a:avLst/>
          </a:prstGeom>
          <a:noFill/>
          <a:ln/>
        </p:spPr>
        <p:txBody>
          <a:bodyPr wrap="square" lIns="0" tIns="0" rIns="0" bIns="0" rtlCol="0" anchor="t"/>
          <a:lstStyle/>
          <a:p>
            <a:pPr algn="l" indent="0" marL="0">
              <a:buNone/>
            </a:pPr>
            <a:r>
              <a:rPr lang="en-US" sz="2200" b="1" dirty="0">
                <a:solidFill>
                  <a:srgbClr val="0F1733"/>
                </a:solidFill>
                <a:latin typeface="Calibri" pitchFamily="34" charset="0"/>
                <a:ea typeface="Calibri" pitchFamily="34" charset="-122"/>
                <a:cs typeface="Calibri" pitchFamily="34" charset="-120"/>
              </a:rPr>
              <a:t>Platforms. One workflow. Built into one tool.</a:t>
            </a:r>
            <a:endParaRPr lang="en-US" sz="2200" dirty="0"/>
          </a:p>
        </p:txBody>
      </p:sp>
      <p:sp>
        <p:nvSpPr>
          <p:cNvPr id="69" name="Text 67"/>
          <p:cNvSpPr/>
          <p:nvPr/>
        </p:nvSpPr>
        <p:spPr>
          <a:xfrm>
            <a:off x="548640" y="5486400"/>
            <a:ext cx="10637215" cy="640080"/>
          </a:xfrm>
          <a:prstGeom prst="rect">
            <a:avLst/>
          </a:prstGeom>
          <a:noFill/>
          <a:ln/>
        </p:spPr>
        <p:txBody>
          <a:bodyPr wrap="square" lIns="0" tIns="0" rIns="0" bIns="0" rtlCol="0" anchor="t"/>
          <a:lstStyle/>
          <a:p>
            <a:pPr algn="l" indent="0" marL="0">
              <a:buNone/>
            </a:pPr>
            <a:r>
              <a:rPr lang="en-US" sz="1300" dirty="0">
                <a:solidFill>
                  <a:srgbClr val="2A3358"/>
                </a:solidFill>
                <a:latin typeface="Calibri" pitchFamily="34" charset="0"/>
                <a:ea typeface="Calibri" pitchFamily="34" charset="-122"/>
                <a:cs typeface="Calibri" pitchFamily="34" charset="-120"/>
              </a:rPr>
              <a:t>YouTube. Instagram. TikTok. X. LinkedIn. The five public platforms where B2B-relevant creators actually live — finally searchable from one place.</a:t>
            </a:r>
            <a:endParaRPr lang="en-US" sz="13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05 · Introducing Creator Outreach  ·  vD</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032 / 126</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1ECFF"/>
        </a:solidFill>
      </p:bgPr>
    </p:bg>
    <p:spTree>
      <p:nvGrpSpPr>
        <p:cNvPr id="1" name=""/>
        <p:cNvGrpSpPr/>
        <p:nvPr/>
      </p:nvGrpSpPr>
      <p:grpSpPr>
        <a:xfrm>
          <a:off x="0" y="0"/>
          <a:ext cx="0" cy="0"/>
          <a:chOff x="0" y="0"/>
          <a:chExt cx="0" cy="0"/>
        </a:xfrm>
      </p:grpSpPr>
      <p:sp>
        <p:nvSpPr>
          <p:cNvPr id="2" name="Text 0"/>
          <p:cNvSpPr/>
          <p:nvPr/>
        </p:nvSpPr>
        <p:spPr>
          <a:xfrm>
            <a:off x="457200" y="365760"/>
            <a:ext cx="2286000" cy="2286000"/>
          </a:xfrm>
          <a:prstGeom prst="rect">
            <a:avLst/>
          </a:prstGeom>
          <a:noFill/>
          <a:ln/>
        </p:spPr>
        <p:txBody>
          <a:bodyPr wrap="square" lIns="0" tIns="0" rIns="0" bIns="0" rtlCol="0" anchor="t"/>
          <a:lstStyle/>
          <a:p>
            <a:pPr algn="l" indent="0" marL="0">
              <a:buNone/>
            </a:pPr>
            <a:r>
              <a:rPr lang="en-US" sz="24000" b="1" dirty="0">
                <a:solidFill>
                  <a:srgbClr val="5028C2"/>
                </a:solidFill>
                <a:latin typeface="Georgia" pitchFamily="34" charset="0"/>
                <a:ea typeface="Georgia" pitchFamily="34" charset="-122"/>
                <a:cs typeface="Georgia" pitchFamily="34" charset="-120"/>
              </a:rPr>
              <a:t>"</a:t>
            </a:r>
            <a:endParaRPr lang="en-US" sz="24000" dirty="0"/>
          </a:p>
        </p:txBody>
      </p:sp>
      <p:sp>
        <p:nvSpPr>
          <p:cNvPr id="3" name="Text 1"/>
          <p:cNvSpPr/>
          <p:nvPr/>
        </p:nvSpPr>
        <p:spPr>
          <a:xfrm>
            <a:off x="1920240" y="1737360"/>
            <a:ext cx="9722815" cy="3108960"/>
          </a:xfrm>
          <a:prstGeom prst="rect">
            <a:avLst/>
          </a:prstGeom>
          <a:noFill/>
          <a:ln/>
        </p:spPr>
        <p:txBody>
          <a:bodyPr wrap="square" lIns="0" tIns="0" rIns="0" bIns="0" rtlCol="0" anchor="t"/>
          <a:lstStyle/>
          <a:p>
            <a:pPr algn="l" indent="0" marL="0">
              <a:buNone/>
            </a:pPr>
            <a:r>
              <a:rPr lang="en-US" sz="3200" i="1" dirty="0">
                <a:solidFill>
                  <a:srgbClr val="0F1733"/>
                </a:solidFill>
                <a:latin typeface="Georgia" pitchFamily="34" charset="0"/>
                <a:ea typeface="Georgia" pitchFamily="34" charset="-122"/>
                <a:cs typeface="Georgia" pitchFamily="34" charset="-120"/>
              </a:rPr>
              <a:t>Creator Outreach is what happens when the person who burned out doing this work for a year sits down and rebuilds it as software.</a:t>
            </a:r>
            <a:endParaRPr lang="en-US" sz="3200" dirty="0"/>
          </a:p>
        </p:txBody>
      </p:sp>
      <p:sp>
        <p:nvSpPr>
          <p:cNvPr id="4" name="Shape 2"/>
          <p:cNvSpPr/>
          <p:nvPr/>
        </p:nvSpPr>
        <p:spPr>
          <a:xfrm>
            <a:off x="1920240" y="5120640"/>
            <a:ext cx="640080" cy="0"/>
          </a:xfrm>
          <a:prstGeom prst="line">
            <a:avLst/>
          </a:prstGeom>
          <a:noFill/>
          <a:ln w="25400">
            <a:solidFill>
              <a:srgbClr val="5028C2"/>
            </a:solidFill>
            <a:prstDash val="solid"/>
          </a:ln>
        </p:spPr>
      </p:sp>
      <p:sp>
        <p:nvSpPr>
          <p:cNvPr id="5" name="Text 3"/>
          <p:cNvSpPr/>
          <p:nvPr/>
        </p:nvSpPr>
        <p:spPr>
          <a:xfrm>
            <a:off x="1920240" y="5212080"/>
            <a:ext cx="9722815" cy="457200"/>
          </a:xfrm>
          <a:prstGeom prst="rect">
            <a:avLst/>
          </a:prstGeom>
          <a:noFill/>
          <a:ln/>
        </p:spPr>
        <p:txBody>
          <a:bodyPr wrap="square" lIns="0" tIns="0" rIns="0" bIns="0" rtlCol="0" anchor="t"/>
          <a:lstStyle/>
          <a:p>
            <a:pPr algn="l" indent="0" marL="0">
              <a:buNone/>
            </a:pPr>
            <a:r>
              <a:rPr lang="en-US" sz="1400" b="1" spc="100" kern="0" dirty="0">
                <a:solidFill>
                  <a:srgbClr val="3D1E96"/>
                </a:solidFill>
                <a:latin typeface="Calibri" pitchFamily="34" charset="0"/>
                <a:ea typeface="Calibri" pitchFamily="34" charset="-122"/>
                <a:cs typeface="Calibri" pitchFamily="34" charset="-120"/>
              </a:rPr>
              <a:t>Product positioning</a:t>
            </a:r>
            <a:endParaRPr lang="en-US" sz="1400" dirty="0"/>
          </a:p>
        </p:txBody>
      </p:sp>
      <p:sp>
        <p:nvSpPr>
          <p:cNvPr id="6" name="Text 4"/>
          <p:cNvSpPr/>
          <p:nvPr/>
        </p:nvSpPr>
        <p:spPr>
          <a:xfrm>
            <a:off x="1920240" y="5532120"/>
            <a:ext cx="9722815" cy="365760"/>
          </a:xfrm>
          <a:prstGeom prst="rect">
            <a:avLst/>
          </a:prstGeom>
          <a:noFill/>
          <a:ln/>
        </p:spPr>
        <p:txBody>
          <a:bodyPr wrap="square" lIns="0" tIns="0" rIns="0" bIns="0" rtlCol="0" anchor="t"/>
          <a:lstStyle/>
          <a:p>
            <a:pPr algn="l" indent="0" marL="0">
              <a:buNone/>
            </a:pPr>
            <a:r>
              <a:rPr lang="en-US" sz="1200" dirty="0">
                <a:solidFill>
                  <a:srgbClr val="6B7493"/>
                </a:solidFill>
                <a:latin typeface="Calibri" pitchFamily="34" charset="0"/>
                <a:ea typeface="Calibri" pitchFamily="34" charset="-122"/>
                <a:cs typeface="Calibri" pitchFamily="34" charset="-120"/>
              </a:rPr>
              <a:t>Operator-built, not VC-prompted.</a:t>
            </a:r>
            <a:endParaRPr lang="en-US" sz="1200" dirty="0"/>
          </a:p>
        </p:txBody>
      </p:sp>
      <p:sp>
        <p:nvSpPr>
          <p:cNvPr id="7" name="Shape 5"/>
          <p:cNvSpPr/>
          <p:nvPr/>
        </p:nvSpPr>
        <p:spPr>
          <a:xfrm>
            <a:off x="548640" y="502920"/>
            <a:ext cx="292608" cy="292608"/>
          </a:xfrm>
          <a:prstGeom prst="roundRect">
            <a:avLst>
              <a:gd name="adj" fmla="val 25000"/>
            </a:avLst>
          </a:prstGeom>
          <a:solidFill>
            <a:srgbClr val="5028C2"/>
          </a:solidFill>
          <a:ln/>
        </p:spPr>
      </p:sp>
      <p:sp>
        <p:nvSpPr>
          <p:cNvPr id="8" name="Shape 6"/>
          <p:cNvSpPr/>
          <p:nvPr/>
        </p:nvSpPr>
        <p:spPr>
          <a:xfrm>
            <a:off x="548640" y="502920"/>
            <a:ext cx="292608" cy="292608"/>
          </a:xfrm>
          <a:prstGeom prst="roundRect">
            <a:avLst>
              <a:gd name="adj" fmla="val 25000"/>
            </a:avLst>
          </a:prstGeom>
          <a:solidFill>
            <a:srgbClr val="1A6FBE">
              <a:alpha val="50000"/>
            </a:srgbClr>
          </a:solidFill>
          <a:ln/>
        </p:spPr>
      </p:sp>
      <p:sp>
        <p:nvSpPr>
          <p:cNvPr id="9" name="Text 7"/>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0" name="Text 8"/>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1" name="Text 9"/>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05 · Introducing Creator Outreach  ·  vE</a:t>
            </a:r>
            <a:endParaRPr lang="en-US" sz="900" dirty="0"/>
          </a:p>
        </p:txBody>
      </p:sp>
      <p:sp>
        <p:nvSpPr>
          <p:cNvPr id="12" name="Text 10"/>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3" name="Text 11"/>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033 / 126</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a:off x="3047924" y="0"/>
            <a:ext cx="9143771" cy="6858000"/>
          </a:xfrm>
          <a:prstGeom prst="rtTriangle">
            <a:avLst/>
          </a:prstGeom>
          <a:solidFill>
            <a:srgbClr val="5028C2"/>
          </a:solidFill>
          <a:ln/>
        </p:spPr>
      </p:sp>
      <p:sp>
        <p:nvSpPr>
          <p:cNvPr id="3" name="Shape 1"/>
          <p:cNvSpPr/>
          <p:nvPr/>
        </p:nvSpPr>
        <p:spPr>
          <a:xfrm flipH="1">
            <a:off x="4876678" y="1028700"/>
            <a:ext cx="7924602" cy="6515100"/>
          </a:xfrm>
          <a:prstGeom prst="rtTriangle">
            <a:avLst/>
          </a:prstGeom>
          <a:solidFill>
            <a:srgbClr val="1A6FBE">
              <a:alpha val="75000"/>
            </a:srgbClr>
          </a:solidFill>
          <a:ln/>
        </p:spPr>
      </p:sp>
      <p:sp>
        <p:nvSpPr>
          <p:cNvPr id="4" name="Text 2"/>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INTRODUCING</a:t>
            </a:r>
            <a:endParaRPr lang="en-US" sz="1100" dirty="0"/>
          </a:p>
        </p:txBody>
      </p:sp>
      <p:sp>
        <p:nvSpPr>
          <p:cNvPr id="5" name="Text 3"/>
          <p:cNvSpPr/>
          <p:nvPr/>
        </p:nvSpPr>
        <p:spPr>
          <a:xfrm>
            <a:off x="548640" y="1417320"/>
            <a:ext cx="6095848" cy="2286000"/>
          </a:xfrm>
          <a:prstGeom prst="rect">
            <a:avLst/>
          </a:prstGeom>
          <a:noFill/>
          <a:ln/>
        </p:spPr>
        <p:txBody>
          <a:bodyPr wrap="square" lIns="0" tIns="0" rIns="0" bIns="0" rtlCol="0" anchor="t"/>
          <a:lstStyle/>
          <a:p>
            <a:pPr algn="l" indent="0" marL="0">
              <a:buNone/>
            </a:pPr>
            <a:r>
              <a:rPr lang="en-US" sz="4000" b="1" spc="-50" kern="0" dirty="0">
                <a:solidFill>
                  <a:srgbClr val="0F1733"/>
                </a:solidFill>
                <a:latin typeface="Calibri" pitchFamily="34" charset="0"/>
                <a:ea typeface="Calibri" pitchFamily="34" charset="-122"/>
                <a:cs typeface="Calibri" pitchFamily="34" charset="-120"/>
              </a:rPr>
              <a:t>The B2B creator workflow, finally as software.</a:t>
            </a:r>
            <a:endParaRPr lang="en-US" sz="4000" dirty="0"/>
          </a:p>
        </p:txBody>
      </p:sp>
      <p:sp>
        <p:nvSpPr>
          <p:cNvPr id="6" name="Text 4"/>
          <p:cNvSpPr/>
          <p:nvPr/>
        </p:nvSpPr>
        <p:spPr>
          <a:xfrm>
            <a:off x="548640" y="3840480"/>
            <a:ext cx="5821528" cy="2103120"/>
          </a:xfrm>
          <a:prstGeom prst="rect">
            <a:avLst/>
          </a:prstGeom>
          <a:noFill/>
          <a:ln/>
        </p:spPr>
        <p:txBody>
          <a:bodyPr wrap="square" lIns="0" tIns="0" rIns="0" bIns="0" rtlCol="0" anchor="t"/>
          <a:lstStyle/>
          <a:p>
            <a:pPr algn="l" indent="0" marL="0">
              <a:spcAft>
                <a:spcPts val="600"/>
              </a:spcAft>
              <a:buNone/>
            </a:pPr>
            <a:r>
              <a:rPr lang="en-US" sz="1400" dirty="0">
                <a:solidFill>
                  <a:srgbClr val="2A3358"/>
                </a:solidFill>
                <a:latin typeface="Calibri" pitchFamily="34" charset="0"/>
                <a:ea typeface="Calibri" pitchFamily="34" charset="-122"/>
                <a:cs typeface="Calibri" pitchFamily="34" charset="-120"/>
              </a:rPr>
              <a:t>Everything an operator was doing in 12 browser tabs and one fraying spreadsheet — now one fluent workflow. Built around how the work actually happens, not how an analyst thinks it should.</a:t>
            </a:r>
            <a:endParaRPr lang="en-US" sz="1400" dirty="0"/>
          </a:p>
        </p:txBody>
      </p:sp>
      <p:sp>
        <p:nvSpPr>
          <p:cNvPr id="7" name="Text 5"/>
          <p:cNvSpPr/>
          <p:nvPr/>
        </p:nvSpPr>
        <p:spPr>
          <a:xfrm>
            <a:off x="6705432" y="2926080"/>
            <a:ext cx="4876678" cy="3291840"/>
          </a:xfrm>
          <a:prstGeom prst="rect">
            <a:avLst/>
          </a:prstGeom>
          <a:noFill/>
          <a:ln/>
        </p:spPr>
        <p:txBody>
          <a:bodyPr wrap="square" lIns="0" tIns="0" rIns="0" bIns="0" rtlCol="0" anchor="ctr"/>
          <a:lstStyle/>
          <a:p>
            <a:pPr algn="r" indent="0" marL="0">
              <a:buNone/>
            </a:pPr>
            <a:r>
              <a:rPr lang="en-US" sz="3200" b="1" spc="-50" kern="0" dirty="0">
                <a:solidFill>
                  <a:srgbClr val="FFFFFF"/>
                </a:solidFill>
                <a:latin typeface="Calibri" pitchFamily="34" charset="0"/>
                <a:ea typeface="Calibri" pitchFamily="34" charset="-122"/>
                <a:cs typeface="Calibri" pitchFamily="34" charset="-120"/>
              </a:rPr>
              <a:t>Creator</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Outreach.</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v1.0</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live now.</a:t>
            </a:r>
            <a:endParaRPr lang="en-US" sz="3200" dirty="0"/>
          </a:p>
        </p:txBody>
      </p:sp>
      <p:sp>
        <p:nvSpPr>
          <p:cNvPr id="8" name="Shape 6"/>
          <p:cNvSpPr/>
          <p:nvPr/>
        </p:nvSpPr>
        <p:spPr>
          <a:xfrm>
            <a:off x="548640" y="502920"/>
            <a:ext cx="292608" cy="292608"/>
          </a:xfrm>
          <a:prstGeom prst="roundRect">
            <a:avLst>
              <a:gd name="adj" fmla="val 25000"/>
            </a:avLst>
          </a:prstGeom>
          <a:solidFill>
            <a:srgbClr val="5028C2"/>
          </a:solidFill>
          <a:ln/>
        </p:spPr>
      </p:sp>
      <p:sp>
        <p:nvSpPr>
          <p:cNvPr id="9" name="Shape 7"/>
          <p:cNvSpPr/>
          <p:nvPr/>
        </p:nvSpPr>
        <p:spPr>
          <a:xfrm>
            <a:off x="548640" y="502920"/>
            <a:ext cx="292608" cy="292608"/>
          </a:xfrm>
          <a:prstGeom prst="roundRect">
            <a:avLst>
              <a:gd name="adj" fmla="val 25000"/>
            </a:avLst>
          </a:prstGeom>
          <a:solidFill>
            <a:srgbClr val="1A6FBE">
              <a:alpha val="50000"/>
            </a:srgbClr>
          </a:solidFill>
          <a:ln/>
        </p:spPr>
      </p:sp>
      <p:sp>
        <p:nvSpPr>
          <p:cNvPr id="10" name="Text 8"/>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1" name="Text 9"/>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2" name="Text 10"/>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05 · Introducing Creator Outreach  ·  vF</a:t>
            </a:r>
            <a:endParaRPr lang="en-US" sz="900" dirty="0"/>
          </a:p>
        </p:txBody>
      </p:sp>
      <p:sp>
        <p:nvSpPr>
          <p:cNvPr id="13" name="Text 11"/>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4" name="Text 12"/>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034 / 126</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CFAF6"/>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THE PRODUCT</a:t>
            </a:r>
            <a:endParaRPr lang="en-US" sz="1100" dirty="0"/>
          </a:p>
        </p:txBody>
      </p:sp>
      <p:sp>
        <p:nvSpPr>
          <p:cNvPr id="3" name="Text 1"/>
          <p:cNvSpPr/>
          <p:nvPr/>
        </p:nvSpPr>
        <p:spPr>
          <a:xfrm>
            <a:off x="548640" y="1417320"/>
            <a:ext cx="11094415" cy="914400"/>
          </a:xfrm>
          <a:prstGeom prst="rect">
            <a:avLst/>
          </a:prstGeom>
          <a:noFill/>
          <a:ln/>
        </p:spPr>
        <p:txBody>
          <a:bodyPr wrap="square" lIns="0" tIns="0" rIns="0" bIns="0" rtlCol="0" anchor="t"/>
          <a:lstStyle/>
          <a:p>
            <a:pPr algn="l" indent="0" marL="0">
              <a:buNone/>
            </a:pPr>
            <a:r>
              <a:rPr lang="en-US" sz="3400" b="1" spc="-50" kern="0" dirty="0">
                <a:solidFill>
                  <a:srgbClr val="0F1733"/>
                </a:solidFill>
                <a:latin typeface="Calibri" pitchFamily="34" charset="0"/>
                <a:ea typeface="Calibri" pitchFamily="34" charset="-122"/>
                <a:cs typeface="Calibri" pitchFamily="34" charset="-120"/>
              </a:rPr>
              <a:t>Built around the four moments of creator outreach.</a:t>
            </a:r>
            <a:endParaRPr lang="en-US" sz="3400" dirty="0"/>
          </a:p>
        </p:txBody>
      </p:sp>
      <p:sp>
        <p:nvSpPr>
          <p:cNvPr id="4" name="Shape 2"/>
          <p:cNvSpPr/>
          <p:nvPr/>
        </p:nvSpPr>
        <p:spPr>
          <a:xfrm>
            <a:off x="548640" y="2514600"/>
            <a:ext cx="5464912" cy="67008"/>
          </a:xfrm>
          <a:prstGeom prst="rect">
            <a:avLst/>
          </a:prstGeom>
          <a:solidFill>
            <a:srgbClr val="5028C2"/>
          </a:solidFill>
          <a:ln/>
        </p:spPr>
      </p:sp>
      <p:sp>
        <p:nvSpPr>
          <p:cNvPr id="5" name="Shape 3"/>
          <p:cNvSpPr/>
          <p:nvPr/>
        </p:nvSpPr>
        <p:spPr>
          <a:xfrm>
            <a:off x="548640" y="2572464"/>
            <a:ext cx="5464912" cy="67008"/>
          </a:xfrm>
          <a:prstGeom prst="rect">
            <a:avLst/>
          </a:prstGeom>
          <a:solidFill>
            <a:srgbClr val="4F29C2"/>
          </a:solidFill>
          <a:ln/>
        </p:spPr>
      </p:sp>
      <p:sp>
        <p:nvSpPr>
          <p:cNvPr id="6" name="Shape 4"/>
          <p:cNvSpPr/>
          <p:nvPr/>
        </p:nvSpPr>
        <p:spPr>
          <a:xfrm>
            <a:off x="548640" y="2630329"/>
            <a:ext cx="5464912" cy="67008"/>
          </a:xfrm>
          <a:prstGeom prst="rect">
            <a:avLst/>
          </a:prstGeom>
          <a:solidFill>
            <a:srgbClr val="4E2AC3"/>
          </a:solidFill>
          <a:ln/>
        </p:spPr>
      </p:sp>
      <p:sp>
        <p:nvSpPr>
          <p:cNvPr id="7" name="Shape 5"/>
          <p:cNvSpPr/>
          <p:nvPr/>
        </p:nvSpPr>
        <p:spPr>
          <a:xfrm>
            <a:off x="548640" y="2688193"/>
            <a:ext cx="5464912" cy="67008"/>
          </a:xfrm>
          <a:prstGeom prst="rect">
            <a:avLst/>
          </a:prstGeom>
          <a:solidFill>
            <a:srgbClr val="4D2BC3"/>
          </a:solidFill>
          <a:ln/>
        </p:spPr>
      </p:sp>
      <p:sp>
        <p:nvSpPr>
          <p:cNvPr id="8" name="Shape 6"/>
          <p:cNvSpPr/>
          <p:nvPr/>
        </p:nvSpPr>
        <p:spPr>
          <a:xfrm>
            <a:off x="548640" y="2746058"/>
            <a:ext cx="5464912" cy="67008"/>
          </a:xfrm>
          <a:prstGeom prst="rect">
            <a:avLst/>
          </a:prstGeom>
          <a:solidFill>
            <a:srgbClr val="4D2CC4"/>
          </a:solidFill>
          <a:ln/>
        </p:spPr>
      </p:sp>
      <p:sp>
        <p:nvSpPr>
          <p:cNvPr id="9" name="Shape 7"/>
          <p:cNvSpPr/>
          <p:nvPr/>
        </p:nvSpPr>
        <p:spPr>
          <a:xfrm>
            <a:off x="548640" y="2803922"/>
            <a:ext cx="5464912" cy="67008"/>
          </a:xfrm>
          <a:prstGeom prst="rect">
            <a:avLst/>
          </a:prstGeom>
          <a:solidFill>
            <a:srgbClr val="4C2DC4"/>
          </a:solidFill>
          <a:ln/>
        </p:spPr>
      </p:sp>
      <p:sp>
        <p:nvSpPr>
          <p:cNvPr id="10" name="Shape 8"/>
          <p:cNvSpPr/>
          <p:nvPr/>
        </p:nvSpPr>
        <p:spPr>
          <a:xfrm>
            <a:off x="548640" y="2861786"/>
            <a:ext cx="5464912" cy="67008"/>
          </a:xfrm>
          <a:prstGeom prst="rect">
            <a:avLst/>
          </a:prstGeom>
          <a:solidFill>
            <a:srgbClr val="4B2EC5"/>
          </a:solidFill>
          <a:ln/>
        </p:spPr>
      </p:sp>
      <p:sp>
        <p:nvSpPr>
          <p:cNvPr id="11" name="Shape 9"/>
          <p:cNvSpPr/>
          <p:nvPr/>
        </p:nvSpPr>
        <p:spPr>
          <a:xfrm>
            <a:off x="548640" y="2919651"/>
            <a:ext cx="5464912" cy="67008"/>
          </a:xfrm>
          <a:prstGeom prst="rect">
            <a:avLst/>
          </a:prstGeom>
          <a:solidFill>
            <a:srgbClr val="4A2FC5"/>
          </a:solidFill>
          <a:ln/>
        </p:spPr>
      </p:sp>
      <p:sp>
        <p:nvSpPr>
          <p:cNvPr id="12" name="Shape 10"/>
          <p:cNvSpPr/>
          <p:nvPr/>
        </p:nvSpPr>
        <p:spPr>
          <a:xfrm>
            <a:off x="548640" y="2977515"/>
            <a:ext cx="5464912" cy="67008"/>
          </a:xfrm>
          <a:prstGeom prst="rect">
            <a:avLst/>
          </a:prstGeom>
          <a:solidFill>
            <a:srgbClr val="4930C6"/>
          </a:solidFill>
          <a:ln/>
        </p:spPr>
      </p:sp>
      <p:sp>
        <p:nvSpPr>
          <p:cNvPr id="13" name="Shape 11"/>
          <p:cNvSpPr/>
          <p:nvPr/>
        </p:nvSpPr>
        <p:spPr>
          <a:xfrm>
            <a:off x="548640" y="3035379"/>
            <a:ext cx="5464912" cy="67008"/>
          </a:xfrm>
          <a:prstGeom prst="rect">
            <a:avLst/>
          </a:prstGeom>
          <a:solidFill>
            <a:srgbClr val="4831C6"/>
          </a:solidFill>
          <a:ln/>
        </p:spPr>
      </p:sp>
      <p:sp>
        <p:nvSpPr>
          <p:cNvPr id="14" name="Shape 12"/>
          <p:cNvSpPr/>
          <p:nvPr/>
        </p:nvSpPr>
        <p:spPr>
          <a:xfrm>
            <a:off x="548640" y="3093244"/>
            <a:ext cx="5464912" cy="67008"/>
          </a:xfrm>
          <a:prstGeom prst="rect">
            <a:avLst/>
          </a:prstGeom>
          <a:solidFill>
            <a:srgbClr val="4732C6"/>
          </a:solidFill>
          <a:ln/>
        </p:spPr>
      </p:sp>
      <p:sp>
        <p:nvSpPr>
          <p:cNvPr id="15" name="Shape 13"/>
          <p:cNvSpPr/>
          <p:nvPr/>
        </p:nvSpPr>
        <p:spPr>
          <a:xfrm>
            <a:off x="548640" y="3151108"/>
            <a:ext cx="5464912" cy="67008"/>
          </a:xfrm>
          <a:prstGeom prst="rect">
            <a:avLst/>
          </a:prstGeom>
          <a:solidFill>
            <a:srgbClr val="4733C7"/>
          </a:solidFill>
          <a:ln/>
        </p:spPr>
      </p:sp>
      <p:sp>
        <p:nvSpPr>
          <p:cNvPr id="16" name="Shape 14"/>
          <p:cNvSpPr/>
          <p:nvPr/>
        </p:nvSpPr>
        <p:spPr>
          <a:xfrm>
            <a:off x="548640" y="3208973"/>
            <a:ext cx="5464912" cy="67008"/>
          </a:xfrm>
          <a:prstGeom prst="rect">
            <a:avLst/>
          </a:prstGeom>
          <a:solidFill>
            <a:srgbClr val="4634C7"/>
          </a:solidFill>
          <a:ln/>
        </p:spPr>
      </p:sp>
      <p:sp>
        <p:nvSpPr>
          <p:cNvPr id="17" name="Shape 15"/>
          <p:cNvSpPr/>
          <p:nvPr/>
        </p:nvSpPr>
        <p:spPr>
          <a:xfrm>
            <a:off x="548640" y="3266837"/>
            <a:ext cx="5464912" cy="67008"/>
          </a:xfrm>
          <a:prstGeom prst="rect">
            <a:avLst/>
          </a:prstGeom>
          <a:solidFill>
            <a:srgbClr val="4535C8"/>
          </a:solidFill>
          <a:ln/>
        </p:spPr>
      </p:sp>
      <p:sp>
        <p:nvSpPr>
          <p:cNvPr id="18" name="Shape 16"/>
          <p:cNvSpPr/>
          <p:nvPr/>
        </p:nvSpPr>
        <p:spPr>
          <a:xfrm>
            <a:off x="548640" y="3324701"/>
            <a:ext cx="5464912" cy="67008"/>
          </a:xfrm>
          <a:prstGeom prst="rect">
            <a:avLst/>
          </a:prstGeom>
          <a:solidFill>
            <a:srgbClr val="4436C8"/>
          </a:solidFill>
          <a:ln/>
        </p:spPr>
      </p:sp>
      <p:sp>
        <p:nvSpPr>
          <p:cNvPr id="19" name="Shape 17"/>
          <p:cNvSpPr/>
          <p:nvPr/>
        </p:nvSpPr>
        <p:spPr>
          <a:xfrm>
            <a:off x="548640" y="3382566"/>
            <a:ext cx="5464912" cy="67008"/>
          </a:xfrm>
          <a:prstGeom prst="rect">
            <a:avLst/>
          </a:prstGeom>
          <a:solidFill>
            <a:srgbClr val="4337C9"/>
          </a:solidFill>
          <a:ln/>
        </p:spPr>
      </p:sp>
      <p:sp>
        <p:nvSpPr>
          <p:cNvPr id="20" name="Shape 18"/>
          <p:cNvSpPr/>
          <p:nvPr/>
        </p:nvSpPr>
        <p:spPr>
          <a:xfrm>
            <a:off x="548640" y="3440430"/>
            <a:ext cx="5464912" cy="67008"/>
          </a:xfrm>
          <a:prstGeom prst="rect">
            <a:avLst/>
          </a:prstGeom>
          <a:solidFill>
            <a:srgbClr val="4238C9"/>
          </a:solidFill>
          <a:ln/>
        </p:spPr>
      </p:sp>
      <p:sp>
        <p:nvSpPr>
          <p:cNvPr id="21" name="Shape 19"/>
          <p:cNvSpPr/>
          <p:nvPr/>
        </p:nvSpPr>
        <p:spPr>
          <a:xfrm>
            <a:off x="548640" y="3498294"/>
            <a:ext cx="5464912" cy="67008"/>
          </a:xfrm>
          <a:prstGeom prst="rect">
            <a:avLst/>
          </a:prstGeom>
          <a:solidFill>
            <a:srgbClr val="4139CA"/>
          </a:solidFill>
          <a:ln/>
        </p:spPr>
      </p:sp>
      <p:sp>
        <p:nvSpPr>
          <p:cNvPr id="22" name="Shape 20"/>
          <p:cNvSpPr/>
          <p:nvPr/>
        </p:nvSpPr>
        <p:spPr>
          <a:xfrm>
            <a:off x="548640" y="3556159"/>
            <a:ext cx="5464912" cy="67008"/>
          </a:xfrm>
          <a:prstGeom prst="rect">
            <a:avLst/>
          </a:prstGeom>
          <a:solidFill>
            <a:srgbClr val="413ACA"/>
          </a:solidFill>
          <a:ln/>
        </p:spPr>
      </p:sp>
      <p:sp>
        <p:nvSpPr>
          <p:cNvPr id="23" name="Shape 21"/>
          <p:cNvSpPr/>
          <p:nvPr/>
        </p:nvSpPr>
        <p:spPr>
          <a:xfrm>
            <a:off x="548640" y="3614023"/>
            <a:ext cx="5464912" cy="67008"/>
          </a:xfrm>
          <a:prstGeom prst="rect">
            <a:avLst/>
          </a:prstGeom>
          <a:solidFill>
            <a:srgbClr val="403BCA"/>
          </a:solidFill>
          <a:ln/>
        </p:spPr>
      </p:sp>
      <p:sp>
        <p:nvSpPr>
          <p:cNvPr id="24" name="Shape 22"/>
          <p:cNvSpPr/>
          <p:nvPr/>
        </p:nvSpPr>
        <p:spPr>
          <a:xfrm>
            <a:off x="548640" y="3671888"/>
            <a:ext cx="5464912" cy="67008"/>
          </a:xfrm>
          <a:prstGeom prst="rect">
            <a:avLst/>
          </a:prstGeom>
          <a:solidFill>
            <a:srgbClr val="3F3CCB"/>
          </a:solidFill>
          <a:ln/>
        </p:spPr>
      </p:sp>
      <p:sp>
        <p:nvSpPr>
          <p:cNvPr id="25" name="Shape 23"/>
          <p:cNvSpPr/>
          <p:nvPr/>
        </p:nvSpPr>
        <p:spPr>
          <a:xfrm>
            <a:off x="548640" y="3729752"/>
            <a:ext cx="5464912" cy="67008"/>
          </a:xfrm>
          <a:prstGeom prst="rect">
            <a:avLst/>
          </a:prstGeom>
          <a:solidFill>
            <a:srgbClr val="3E3DCB"/>
          </a:solidFill>
          <a:ln/>
        </p:spPr>
      </p:sp>
      <p:sp>
        <p:nvSpPr>
          <p:cNvPr id="26" name="Shape 24"/>
          <p:cNvSpPr/>
          <p:nvPr/>
        </p:nvSpPr>
        <p:spPr>
          <a:xfrm>
            <a:off x="548640" y="3787616"/>
            <a:ext cx="5464912" cy="67008"/>
          </a:xfrm>
          <a:prstGeom prst="rect">
            <a:avLst/>
          </a:prstGeom>
          <a:solidFill>
            <a:srgbClr val="3D3ECC"/>
          </a:solidFill>
          <a:ln/>
        </p:spPr>
      </p:sp>
      <p:sp>
        <p:nvSpPr>
          <p:cNvPr id="27" name="Shape 25"/>
          <p:cNvSpPr/>
          <p:nvPr/>
        </p:nvSpPr>
        <p:spPr>
          <a:xfrm>
            <a:off x="548640" y="3845481"/>
            <a:ext cx="5464912" cy="67008"/>
          </a:xfrm>
          <a:prstGeom prst="rect">
            <a:avLst/>
          </a:prstGeom>
          <a:solidFill>
            <a:srgbClr val="3C3FCC"/>
          </a:solidFill>
          <a:ln/>
        </p:spPr>
      </p:sp>
      <p:sp>
        <p:nvSpPr>
          <p:cNvPr id="28" name="Shape 26"/>
          <p:cNvSpPr/>
          <p:nvPr/>
        </p:nvSpPr>
        <p:spPr>
          <a:xfrm>
            <a:off x="548640" y="3903345"/>
            <a:ext cx="5464912" cy="67008"/>
          </a:xfrm>
          <a:prstGeom prst="rect">
            <a:avLst/>
          </a:prstGeom>
          <a:solidFill>
            <a:srgbClr val="3B40CD"/>
          </a:solidFill>
          <a:ln/>
        </p:spPr>
      </p:sp>
      <p:sp>
        <p:nvSpPr>
          <p:cNvPr id="29" name="Shape 27"/>
          <p:cNvSpPr/>
          <p:nvPr/>
        </p:nvSpPr>
        <p:spPr>
          <a:xfrm>
            <a:off x="548640" y="3961209"/>
            <a:ext cx="5464912" cy="67008"/>
          </a:xfrm>
          <a:prstGeom prst="rect">
            <a:avLst/>
          </a:prstGeom>
          <a:solidFill>
            <a:srgbClr val="3B41CD"/>
          </a:solidFill>
          <a:ln/>
        </p:spPr>
      </p:sp>
      <p:sp>
        <p:nvSpPr>
          <p:cNvPr id="30" name="Shape 28"/>
          <p:cNvSpPr/>
          <p:nvPr/>
        </p:nvSpPr>
        <p:spPr>
          <a:xfrm>
            <a:off x="548640" y="4019074"/>
            <a:ext cx="5464912" cy="67008"/>
          </a:xfrm>
          <a:prstGeom prst="rect">
            <a:avLst/>
          </a:prstGeom>
          <a:solidFill>
            <a:srgbClr val="3A42CE"/>
          </a:solidFill>
          <a:ln/>
        </p:spPr>
      </p:sp>
      <p:sp>
        <p:nvSpPr>
          <p:cNvPr id="31" name="Shape 29"/>
          <p:cNvSpPr/>
          <p:nvPr/>
        </p:nvSpPr>
        <p:spPr>
          <a:xfrm>
            <a:off x="548640" y="4076938"/>
            <a:ext cx="5464912" cy="67008"/>
          </a:xfrm>
          <a:prstGeom prst="rect">
            <a:avLst/>
          </a:prstGeom>
          <a:solidFill>
            <a:srgbClr val="3943CE"/>
          </a:solidFill>
          <a:ln/>
        </p:spPr>
      </p:sp>
      <p:sp>
        <p:nvSpPr>
          <p:cNvPr id="32" name="Shape 30"/>
          <p:cNvSpPr/>
          <p:nvPr/>
        </p:nvSpPr>
        <p:spPr>
          <a:xfrm>
            <a:off x="548640" y="4134802"/>
            <a:ext cx="5464912" cy="67008"/>
          </a:xfrm>
          <a:prstGeom prst="rect">
            <a:avLst/>
          </a:prstGeom>
          <a:solidFill>
            <a:srgbClr val="3844CE"/>
          </a:solidFill>
          <a:ln/>
        </p:spPr>
      </p:sp>
      <p:sp>
        <p:nvSpPr>
          <p:cNvPr id="33" name="Shape 31"/>
          <p:cNvSpPr/>
          <p:nvPr/>
        </p:nvSpPr>
        <p:spPr>
          <a:xfrm>
            <a:off x="548640" y="4192667"/>
            <a:ext cx="5464912" cy="67008"/>
          </a:xfrm>
          <a:prstGeom prst="rect">
            <a:avLst/>
          </a:prstGeom>
          <a:solidFill>
            <a:srgbClr val="3745CF"/>
          </a:solidFill>
          <a:ln/>
        </p:spPr>
      </p:sp>
      <p:sp>
        <p:nvSpPr>
          <p:cNvPr id="34" name="Shape 32"/>
          <p:cNvSpPr/>
          <p:nvPr/>
        </p:nvSpPr>
        <p:spPr>
          <a:xfrm>
            <a:off x="548640" y="4250531"/>
            <a:ext cx="5464912" cy="67008"/>
          </a:xfrm>
          <a:prstGeom prst="rect">
            <a:avLst/>
          </a:prstGeom>
          <a:solidFill>
            <a:srgbClr val="3646CF"/>
          </a:solidFill>
          <a:ln/>
        </p:spPr>
      </p:sp>
      <p:sp>
        <p:nvSpPr>
          <p:cNvPr id="35" name="Shape 33"/>
          <p:cNvSpPr/>
          <p:nvPr/>
        </p:nvSpPr>
        <p:spPr>
          <a:xfrm>
            <a:off x="548640" y="4308396"/>
            <a:ext cx="5464912" cy="67008"/>
          </a:xfrm>
          <a:prstGeom prst="rect">
            <a:avLst/>
          </a:prstGeom>
          <a:solidFill>
            <a:srgbClr val="3547D0"/>
          </a:solidFill>
          <a:ln/>
        </p:spPr>
      </p:sp>
      <p:sp>
        <p:nvSpPr>
          <p:cNvPr id="36" name="Shape 34"/>
          <p:cNvSpPr/>
          <p:nvPr/>
        </p:nvSpPr>
        <p:spPr>
          <a:xfrm>
            <a:off x="548640" y="4366260"/>
            <a:ext cx="5464912" cy="67008"/>
          </a:xfrm>
          <a:prstGeom prst="rect">
            <a:avLst/>
          </a:prstGeom>
          <a:solidFill>
            <a:srgbClr val="3549D0"/>
          </a:solidFill>
          <a:ln/>
        </p:spPr>
      </p:sp>
      <p:sp>
        <p:nvSpPr>
          <p:cNvPr id="37" name="Shape 35"/>
          <p:cNvSpPr/>
          <p:nvPr/>
        </p:nvSpPr>
        <p:spPr>
          <a:xfrm>
            <a:off x="548640" y="4424124"/>
            <a:ext cx="5464912" cy="67008"/>
          </a:xfrm>
          <a:prstGeom prst="rect">
            <a:avLst/>
          </a:prstGeom>
          <a:solidFill>
            <a:srgbClr val="344ACF"/>
          </a:solidFill>
          <a:ln/>
        </p:spPr>
      </p:sp>
      <p:sp>
        <p:nvSpPr>
          <p:cNvPr id="38" name="Shape 36"/>
          <p:cNvSpPr/>
          <p:nvPr/>
        </p:nvSpPr>
        <p:spPr>
          <a:xfrm>
            <a:off x="548640" y="4481989"/>
            <a:ext cx="5464912" cy="67008"/>
          </a:xfrm>
          <a:prstGeom prst="rect">
            <a:avLst/>
          </a:prstGeom>
          <a:solidFill>
            <a:srgbClr val="334BCF"/>
          </a:solidFill>
          <a:ln/>
        </p:spPr>
      </p:sp>
      <p:sp>
        <p:nvSpPr>
          <p:cNvPr id="39" name="Shape 37"/>
          <p:cNvSpPr/>
          <p:nvPr/>
        </p:nvSpPr>
        <p:spPr>
          <a:xfrm>
            <a:off x="548640" y="4539853"/>
            <a:ext cx="5464912" cy="67008"/>
          </a:xfrm>
          <a:prstGeom prst="rect">
            <a:avLst/>
          </a:prstGeom>
          <a:solidFill>
            <a:srgbClr val="324CCE"/>
          </a:solidFill>
          <a:ln/>
        </p:spPr>
      </p:sp>
      <p:sp>
        <p:nvSpPr>
          <p:cNvPr id="40" name="Shape 38"/>
          <p:cNvSpPr/>
          <p:nvPr/>
        </p:nvSpPr>
        <p:spPr>
          <a:xfrm>
            <a:off x="548640" y="4597717"/>
            <a:ext cx="5464912" cy="67008"/>
          </a:xfrm>
          <a:prstGeom prst="rect">
            <a:avLst/>
          </a:prstGeom>
          <a:solidFill>
            <a:srgbClr val="314ECD"/>
          </a:solidFill>
          <a:ln/>
        </p:spPr>
      </p:sp>
      <p:sp>
        <p:nvSpPr>
          <p:cNvPr id="41" name="Shape 39"/>
          <p:cNvSpPr/>
          <p:nvPr/>
        </p:nvSpPr>
        <p:spPr>
          <a:xfrm>
            <a:off x="548640" y="4655582"/>
            <a:ext cx="5464912" cy="67008"/>
          </a:xfrm>
          <a:prstGeom prst="rect">
            <a:avLst/>
          </a:prstGeom>
          <a:solidFill>
            <a:srgbClr val="304FCD"/>
          </a:solidFill>
          <a:ln/>
        </p:spPr>
      </p:sp>
      <p:sp>
        <p:nvSpPr>
          <p:cNvPr id="42" name="Shape 40"/>
          <p:cNvSpPr/>
          <p:nvPr/>
        </p:nvSpPr>
        <p:spPr>
          <a:xfrm>
            <a:off x="548640" y="4713446"/>
            <a:ext cx="5464912" cy="67008"/>
          </a:xfrm>
          <a:prstGeom prst="rect">
            <a:avLst/>
          </a:prstGeom>
          <a:solidFill>
            <a:srgbClr val="2F50CC"/>
          </a:solidFill>
          <a:ln/>
        </p:spPr>
      </p:sp>
      <p:sp>
        <p:nvSpPr>
          <p:cNvPr id="43" name="Shape 41"/>
          <p:cNvSpPr/>
          <p:nvPr/>
        </p:nvSpPr>
        <p:spPr>
          <a:xfrm>
            <a:off x="548640" y="4771311"/>
            <a:ext cx="5464912" cy="67008"/>
          </a:xfrm>
          <a:prstGeom prst="rect">
            <a:avLst/>
          </a:prstGeom>
          <a:solidFill>
            <a:srgbClr val="2F51CC"/>
          </a:solidFill>
          <a:ln/>
        </p:spPr>
      </p:sp>
      <p:sp>
        <p:nvSpPr>
          <p:cNvPr id="44" name="Shape 42"/>
          <p:cNvSpPr/>
          <p:nvPr/>
        </p:nvSpPr>
        <p:spPr>
          <a:xfrm>
            <a:off x="548640" y="4829175"/>
            <a:ext cx="5464912" cy="67008"/>
          </a:xfrm>
          <a:prstGeom prst="rect">
            <a:avLst/>
          </a:prstGeom>
          <a:solidFill>
            <a:srgbClr val="2E53CB"/>
          </a:solidFill>
          <a:ln/>
        </p:spPr>
      </p:sp>
      <p:sp>
        <p:nvSpPr>
          <p:cNvPr id="45" name="Shape 43"/>
          <p:cNvSpPr/>
          <p:nvPr/>
        </p:nvSpPr>
        <p:spPr>
          <a:xfrm>
            <a:off x="548640" y="4887039"/>
            <a:ext cx="5464912" cy="67008"/>
          </a:xfrm>
          <a:prstGeom prst="rect">
            <a:avLst/>
          </a:prstGeom>
          <a:solidFill>
            <a:srgbClr val="2D54CB"/>
          </a:solidFill>
          <a:ln/>
        </p:spPr>
      </p:sp>
      <p:sp>
        <p:nvSpPr>
          <p:cNvPr id="46" name="Shape 44"/>
          <p:cNvSpPr/>
          <p:nvPr/>
        </p:nvSpPr>
        <p:spPr>
          <a:xfrm>
            <a:off x="548640" y="4944904"/>
            <a:ext cx="5464912" cy="67008"/>
          </a:xfrm>
          <a:prstGeom prst="rect">
            <a:avLst/>
          </a:prstGeom>
          <a:solidFill>
            <a:srgbClr val="2C55CA"/>
          </a:solidFill>
          <a:ln/>
        </p:spPr>
      </p:sp>
      <p:sp>
        <p:nvSpPr>
          <p:cNvPr id="47" name="Shape 45"/>
          <p:cNvSpPr/>
          <p:nvPr/>
        </p:nvSpPr>
        <p:spPr>
          <a:xfrm>
            <a:off x="548640" y="5002768"/>
            <a:ext cx="5464912" cy="67008"/>
          </a:xfrm>
          <a:prstGeom prst="rect">
            <a:avLst/>
          </a:prstGeom>
          <a:solidFill>
            <a:srgbClr val="2B56C9"/>
          </a:solidFill>
          <a:ln/>
        </p:spPr>
      </p:sp>
      <p:sp>
        <p:nvSpPr>
          <p:cNvPr id="48" name="Shape 46"/>
          <p:cNvSpPr/>
          <p:nvPr/>
        </p:nvSpPr>
        <p:spPr>
          <a:xfrm>
            <a:off x="548640" y="5060633"/>
            <a:ext cx="5464912" cy="67008"/>
          </a:xfrm>
          <a:prstGeom prst="rect">
            <a:avLst/>
          </a:prstGeom>
          <a:solidFill>
            <a:srgbClr val="2A57C9"/>
          </a:solidFill>
          <a:ln/>
        </p:spPr>
      </p:sp>
      <p:sp>
        <p:nvSpPr>
          <p:cNvPr id="49" name="Shape 47"/>
          <p:cNvSpPr/>
          <p:nvPr/>
        </p:nvSpPr>
        <p:spPr>
          <a:xfrm>
            <a:off x="548640" y="5118497"/>
            <a:ext cx="5464912" cy="67008"/>
          </a:xfrm>
          <a:prstGeom prst="rect">
            <a:avLst/>
          </a:prstGeom>
          <a:solidFill>
            <a:srgbClr val="2959C8"/>
          </a:solidFill>
          <a:ln/>
        </p:spPr>
      </p:sp>
      <p:sp>
        <p:nvSpPr>
          <p:cNvPr id="50" name="Shape 48"/>
          <p:cNvSpPr/>
          <p:nvPr/>
        </p:nvSpPr>
        <p:spPr>
          <a:xfrm>
            <a:off x="548640" y="5176361"/>
            <a:ext cx="5464912" cy="67008"/>
          </a:xfrm>
          <a:prstGeom prst="rect">
            <a:avLst/>
          </a:prstGeom>
          <a:solidFill>
            <a:srgbClr val="295AC8"/>
          </a:solidFill>
          <a:ln/>
        </p:spPr>
      </p:sp>
      <p:sp>
        <p:nvSpPr>
          <p:cNvPr id="51" name="Shape 49"/>
          <p:cNvSpPr/>
          <p:nvPr/>
        </p:nvSpPr>
        <p:spPr>
          <a:xfrm>
            <a:off x="548640" y="5234226"/>
            <a:ext cx="5464912" cy="67008"/>
          </a:xfrm>
          <a:prstGeom prst="rect">
            <a:avLst/>
          </a:prstGeom>
          <a:solidFill>
            <a:srgbClr val="285BC7"/>
          </a:solidFill>
          <a:ln/>
        </p:spPr>
      </p:sp>
      <p:sp>
        <p:nvSpPr>
          <p:cNvPr id="52" name="Shape 50"/>
          <p:cNvSpPr/>
          <p:nvPr/>
        </p:nvSpPr>
        <p:spPr>
          <a:xfrm>
            <a:off x="548640" y="5292090"/>
            <a:ext cx="5464912" cy="67008"/>
          </a:xfrm>
          <a:prstGeom prst="rect">
            <a:avLst/>
          </a:prstGeom>
          <a:solidFill>
            <a:srgbClr val="275CC7"/>
          </a:solidFill>
          <a:ln/>
        </p:spPr>
      </p:sp>
      <p:sp>
        <p:nvSpPr>
          <p:cNvPr id="53" name="Shape 51"/>
          <p:cNvSpPr/>
          <p:nvPr/>
        </p:nvSpPr>
        <p:spPr>
          <a:xfrm>
            <a:off x="548640" y="5349954"/>
            <a:ext cx="5464912" cy="67008"/>
          </a:xfrm>
          <a:prstGeom prst="rect">
            <a:avLst/>
          </a:prstGeom>
          <a:solidFill>
            <a:srgbClr val="265EC6"/>
          </a:solidFill>
          <a:ln/>
        </p:spPr>
      </p:sp>
      <p:sp>
        <p:nvSpPr>
          <p:cNvPr id="54" name="Shape 52"/>
          <p:cNvSpPr/>
          <p:nvPr/>
        </p:nvSpPr>
        <p:spPr>
          <a:xfrm>
            <a:off x="548640" y="5407819"/>
            <a:ext cx="5464912" cy="67008"/>
          </a:xfrm>
          <a:prstGeom prst="rect">
            <a:avLst/>
          </a:prstGeom>
          <a:solidFill>
            <a:srgbClr val="255FC5"/>
          </a:solidFill>
          <a:ln/>
        </p:spPr>
      </p:sp>
      <p:sp>
        <p:nvSpPr>
          <p:cNvPr id="55" name="Shape 53"/>
          <p:cNvSpPr/>
          <p:nvPr/>
        </p:nvSpPr>
        <p:spPr>
          <a:xfrm>
            <a:off x="548640" y="5465683"/>
            <a:ext cx="5464912" cy="67008"/>
          </a:xfrm>
          <a:prstGeom prst="rect">
            <a:avLst/>
          </a:prstGeom>
          <a:solidFill>
            <a:srgbClr val="2460C5"/>
          </a:solidFill>
          <a:ln/>
        </p:spPr>
      </p:sp>
      <p:sp>
        <p:nvSpPr>
          <p:cNvPr id="56" name="Shape 54"/>
          <p:cNvSpPr/>
          <p:nvPr/>
        </p:nvSpPr>
        <p:spPr>
          <a:xfrm>
            <a:off x="548640" y="5523548"/>
            <a:ext cx="5464912" cy="67008"/>
          </a:xfrm>
          <a:prstGeom prst="rect">
            <a:avLst/>
          </a:prstGeom>
          <a:solidFill>
            <a:srgbClr val="2361C4"/>
          </a:solidFill>
          <a:ln/>
        </p:spPr>
      </p:sp>
      <p:sp>
        <p:nvSpPr>
          <p:cNvPr id="57" name="Shape 55"/>
          <p:cNvSpPr/>
          <p:nvPr/>
        </p:nvSpPr>
        <p:spPr>
          <a:xfrm>
            <a:off x="548640" y="5581412"/>
            <a:ext cx="5464912" cy="67008"/>
          </a:xfrm>
          <a:prstGeom prst="rect">
            <a:avLst/>
          </a:prstGeom>
          <a:solidFill>
            <a:srgbClr val="2363C4"/>
          </a:solidFill>
          <a:ln/>
        </p:spPr>
      </p:sp>
      <p:sp>
        <p:nvSpPr>
          <p:cNvPr id="58" name="Shape 56"/>
          <p:cNvSpPr/>
          <p:nvPr/>
        </p:nvSpPr>
        <p:spPr>
          <a:xfrm>
            <a:off x="548640" y="5639276"/>
            <a:ext cx="5464912" cy="67008"/>
          </a:xfrm>
          <a:prstGeom prst="rect">
            <a:avLst/>
          </a:prstGeom>
          <a:solidFill>
            <a:srgbClr val="2264C3"/>
          </a:solidFill>
          <a:ln/>
        </p:spPr>
      </p:sp>
      <p:sp>
        <p:nvSpPr>
          <p:cNvPr id="59" name="Shape 57"/>
          <p:cNvSpPr/>
          <p:nvPr/>
        </p:nvSpPr>
        <p:spPr>
          <a:xfrm>
            <a:off x="548640" y="5697141"/>
            <a:ext cx="5464912" cy="67008"/>
          </a:xfrm>
          <a:prstGeom prst="rect">
            <a:avLst/>
          </a:prstGeom>
          <a:solidFill>
            <a:srgbClr val="2165C3"/>
          </a:solidFill>
          <a:ln/>
        </p:spPr>
      </p:sp>
      <p:sp>
        <p:nvSpPr>
          <p:cNvPr id="60" name="Shape 58"/>
          <p:cNvSpPr/>
          <p:nvPr/>
        </p:nvSpPr>
        <p:spPr>
          <a:xfrm>
            <a:off x="548640" y="5755005"/>
            <a:ext cx="5464912" cy="67008"/>
          </a:xfrm>
          <a:prstGeom prst="rect">
            <a:avLst/>
          </a:prstGeom>
          <a:solidFill>
            <a:srgbClr val="2066C2"/>
          </a:solidFill>
          <a:ln/>
        </p:spPr>
      </p:sp>
      <p:sp>
        <p:nvSpPr>
          <p:cNvPr id="61" name="Shape 59"/>
          <p:cNvSpPr/>
          <p:nvPr/>
        </p:nvSpPr>
        <p:spPr>
          <a:xfrm>
            <a:off x="548640" y="5812869"/>
            <a:ext cx="5464912" cy="67008"/>
          </a:xfrm>
          <a:prstGeom prst="rect">
            <a:avLst/>
          </a:prstGeom>
          <a:solidFill>
            <a:srgbClr val="1F68C1"/>
          </a:solidFill>
          <a:ln/>
        </p:spPr>
      </p:sp>
      <p:sp>
        <p:nvSpPr>
          <p:cNvPr id="62" name="Shape 60"/>
          <p:cNvSpPr/>
          <p:nvPr/>
        </p:nvSpPr>
        <p:spPr>
          <a:xfrm>
            <a:off x="548640" y="5870734"/>
            <a:ext cx="5464912" cy="67008"/>
          </a:xfrm>
          <a:prstGeom prst="rect">
            <a:avLst/>
          </a:prstGeom>
          <a:solidFill>
            <a:srgbClr val="1E69C1"/>
          </a:solidFill>
          <a:ln/>
        </p:spPr>
      </p:sp>
      <p:sp>
        <p:nvSpPr>
          <p:cNvPr id="63" name="Shape 61"/>
          <p:cNvSpPr/>
          <p:nvPr/>
        </p:nvSpPr>
        <p:spPr>
          <a:xfrm>
            <a:off x="548640" y="5928598"/>
            <a:ext cx="5464912" cy="67008"/>
          </a:xfrm>
          <a:prstGeom prst="rect">
            <a:avLst/>
          </a:prstGeom>
          <a:solidFill>
            <a:srgbClr val="1D6AC0"/>
          </a:solidFill>
          <a:ln/>
        </p:spPr>
      </p:sp>
      <p:sp>
        <p:nvSpPr>
          <p:cNvPr id="64" name="Shape 62"/>
          <p:cNvSpPr/>
          <p:nvPr/>
        </p:nvSpPr>
        <p:spPr>
          <a:xfrm>
            <a:off x="548640" y="5986463"/>
            <a:ext cx="5464912" cy="67008"/>
          </a:xfrm>
          <a:prstGeom prst="rect">
            <a:avLst/>
          </a:prstGeom>
          <a:solidFill>
            <a:srgbClr val="1D6BC0"/>
          </a:solidFill>
          <a:ln/>
        </p:spPr>
      </p:sp>
      <p:sp>
        <p:nvSpPr>
          <p:cNvPr id="65" name="Shape 63"/>
          <p:cNvSpPr/>
          <p:nvPr/>
        </p:nvSpPr>
        <p:spPr>
          <a:xfrm>
            <a:off x="548640" y="6044327"/>
            <a:ext cx="5464912" cy="67008"/>
          </a:xfrm>
          <a:prstGeom prst="rect">
            <a:avLst/>
          </a:prstGeom>
          <a:solidFill>
            <a:srgbClr val="1C6DBF"/>
          </a:solidFill>
          <a:ln/>
        </p:spPr>
      </p:sp>
      <p:sp>
        <p:nvSpPr>
          <p:cNvPr id="66" name="Shape 64"/>
          <p:cNvSpPr/>
          <p:nvPr/>
        </p:nvSpPr>
        <p:spPr>
          <a:xfrm>
            <a:off x="548640" y="6102191"/>
            <a:ext cx="5464912" cy="67008"/>
          </a:xfrm>
          <a:prstGeom prst="rect">
            <a:avLst/>
          </a:prstGeom>
          <a:solidFill>
            <a:srgbClr val="1B6EBF"/>
          </a:solidFill>
          <a:ln/>
        </p:spPr>
      </p:sp>
      <p:sp>
        <p:nvSpPr>
          <p:cNvPr id="67" name="Shape 65"/>
          <p:cNvSpPr/>
          <p:nvPr/>
        </p:nvSpPr>
        <p:spPr>
          <a:xfrm>
            <a:off x="548640" y="6160056"/>
            <a:ext cx="5464912" cy="67008"/>
          </a:xfrm>
          <a:prstGeom prst="rect">
            <a:avLst/>
          </a:prstGeom>
          <a:solidFill>
            <a:srgbClr val="1A6FBE"/>
          </a:solidFill>
          <a:ln/>
        </p:spPr>
      </p:sp>
      <p:sp>
        <p:nvSpPr>
          <p:cNvPr id="68" name="Text 66"/>
          <p:cNvSpPr/>
          <p:nvPr/>
        </p:nvSpPr>
        <p:spPr>
          <a:xfrm>
            <a:off x="914400" y="2880360"/>
            <a:ext cx="4733392" cy="914400"/>
          </a:xfrm>
          <a:prstGeom prst="rect">
            <a:avLst/>
          </a:prstGeom>
          <a:noFill/>
          <a:ln/>
        </p:spPr>
        <p:txBody>
          <a:bodyPr wrap="square" lIns="0" tIns="0" rIns="0" bIns="0" rtlCol="0" anchor="t"/>
          <a:lstStyle/>
          <a:p>
            <a:pPr algn="l" indent="0" marL="0">
              <a:buNone/>
            </a:pPr>
            <a:r>
              <a:rPr lang="en-US" sz="1100" b="1" spc="300" kern="0" dirty="0">
                <a:solidFill>
                  <a:srgbClr val="FFFFFF"/>
                </a:solidFill>
                <a:latin typeface="Calibri" pitchFamily="34" charset="0"/>
                <a:ea typeface="Calibri" pitchFamily="34" charset="-122"/>
                <a:cs typeface="Calibri" pitchFamily="34" charset="-120"/>
              </a:rPr>
              <a:t>CREATOR OUTREACH</a:t>
            </a:r>
            <a:endParaRPr lang="en-US" sz="1100" dirty="0"/>
          </a:p>
        </p:txBody>
      </p:sp>
      <p:sp>
        <p:nvSpPr>
          <p:cNvPr id="69" name="Text 67"/>
          <p:cNvSpPr/>
          <p:nvPr/>
        </p:nvSpPr>
        <p:spPr>
          <a:xfrm>
            <a:off x="914400" y="3383280"/>
            <a:ext cx="4733392" cy="2011680"/>
          </a:xfrm>
          <a:prstGeom prst="rect">
            <a:avLst/>
          </a:prstGeom>
          <a:noFill/>
          <a:ln/>
        </p:spPr>
        <p:txBody>
          <a:bodyPr wrap="square" lIns="0" tIns="0" rIns="0" bIns="0" rtlCol="0" anchor="t"/>
          <a:lstStyle/>
          <a:p>
            <a:pPr algn="l" indent="0" marL="0">
              <a:buNone/>
            </a:pPr>
            <a:r>
              <a:rPr lang="en-US" sz="3200" b="1" spc="-50" kern="0" dirty="0">
                <a:solidFill>
                  <a:srgbClr val="FFFFFF"/>
                </a:solidFill>
                <a:latin typeface="Calibri" pitchFamily="34" charset="0"/>
                <a:ea typeface="Calibri" pitchFamily="34" charset="-122"/>
                <a:cs typeface="Calibri" pitchFamily="34" charset="-120"/>
              </a:rPr>
              <a:t>Discover. Qualify. Reach. Track.</a:t>
            </a:r>
            <a:endParaRPr lang="en-US" sz="3200" dirty="0"/>
          </a:p>
        </p:txBody>
      </p:sp>
      <p:sp>
        <p:nvSpPr>
          <p:cNvPr id="70" name="Text 68"/>
          <p:cNvSpPr/>
          <p:nvPr/>
        </p:nvSpPr>
        <p:spPr>
          <a:xfrm>
            <a:off x="914400" y="5166360"/>
            <a:ext cx="4733392" cy="10972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Four moments in every campaign — and the first tool that handles all four in the same workspace, with the same data model.</a:t>
            </a:r>
            <a:endParaRPr lang="en-US" sz="1300" dirty="0"/>
          </a:p>
        </p:txBody>
      </p:sp>
      <p:sp>
        <p:nvSpPr>
          <p:cNvPr id="71" name="Shape 69"/>
          <p:cNvSpPr/>
          <p:nvPr/>
        </p:nvSpPr>
        <p:spPr>
          <a:xfrm>
            <a:off x="6178144" y="2514600"/>
            <a:ext cx="5464912" cy="1124712"/>
          </a:xfrm>
          <a:prstGeom prst="roundRect">
            <a:avLst>
              <a:gd name="adj" fmla="val 9756"/>
            </a:avLst>
          </a:prstGeom>
          <a:solidFill>
            <a:srgbClr val="FFFFFF"/>
          </a:solidFill>
          <a:ln w="9525">
            <a:solidFill>
              <a:srgbClr val="E5E7F0"/>
            </a:solidFill>
            <a:prstDash val="solid"/>
          </a:ln>
        </p:spPr>
      </p:sp>
      <p:sp>
        <p:nvSpPr>
          <p:cNvPr id="72" name="Shape 70"/>
          <p:cNvSpPr/>
          <p:nvPr/>
        </p:nvSpPr>
        <p:spPr>
          <a:xfrm>
            <a:off x="6178144" y="2514600"/>
            <a:ext cx="73152" cy="1124712"/>
          </a:xfrm>
          <a:prstGeom prst="rect">
            <a:avLst/>
          </a:prstGeom>
          <a:solidFill>
            <a:srgbClr val="5028C2"/>
          </a:solidFill>
          <a:ln/>
        </p:spPr>
      </p:sp>
      <p:sp>
        <p:nvSpPr>
          <p:cNvPr id="73" name="Text 71"/>
          <p:cNvSpPr/>
          <p:nvPr/>
        </p:nvSpPr>
        <p:spPr>
          <a:xfrm>
            <a:off x="6434176" y="2697480"/>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Discover</a:t>
            </a:r>
            <a:endParaRPr lang="en-US" sz="1600" dirty="0"/>
          </a:p>
        </p:txBody>
      </p:sp>
      <p:sp>
        <p:nvSpPr>
          <p:cNvPr id="74" name="Text 72"/>
          <p:cNvSpPr/>
          <p:nvPr/>
        </p:nvSpPr>
        <p:spPr>
          <a:xfrm>
            <a:off x="6434176" y="3081528"/>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Search 5 platforms from one query bar.</a:t>
            </a:r>
            <a:endParaRPr lang="en-US" sz="1200" dirty="0"/>
          </a:p>
        </p:txBody>
      </p:sp>
      <p:sp>
        <p:nvSpPr>
          <p:cNvPr id="75" name="Shape 73"/>
          <p:cNvSpPr/>
          <p:nvPr/>
        </p:nvSpPr>
        <p:spPr>
          <a:xfrm>
            <a:off x="6178144" y="3803904"/>
            <a:ext cx="5464912" cy="1124712"/>
          </a:xfrm>
          <a:prstGeom prst="roundRect">
            <a:avLst>
              <a:gd name="adj" fmla="val 9756"/>
            </a:avLst>
          </a:prstGeom>
          <a:solidFill>
            <a:srgbClr val="FFFFFF"/>
          </a:solidFill>
          <a:ln w="9525">
            <a:solidFill>
              <a:srgbClr val="E5E7F0"/>
            </a:solidFill>
            <a:prstDash val="solid"/>
          </a:ln>
        </p:spPr>
      </p:sp>
      <p:sp>
        <p:nvSpPr>
          <p:cNvPr id="76" name="Shape 74"/>
          <p:cNvSpPr/>
          <p:nvPr/>
        </p:nvSpPr>
        <p:spPr>
          <a:xfrm>
            <a:off x="6178144" y="3803904"/>
            <a:ext cx="73152" cy="1124712"/>
          </a:xfrm>
          <a:prstGeom prst="rect">
            <a:avLst/>
          </a:prstGeom>
          <a:solidFill>
            <a:srgbClr val="3548D0"/>
          </a:solidFill>
          <a:ln/>
        </p:spPr>
      </p:sp>
      <p:sp>
        <p:nvSpPr>
          <p:cNvPr id="77" name="Text 75"/>
          <p:cNvSpPr/>
          <p:nvPr/>
        </p:nvSpPr>
        <p:spPr>
          <a:xfrm>
            <a:off x="6434176" y="3986784"/>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Qualify</a:t>
            </a:r>
            <a:endParaRPr lang="en-US" sz="1600" dirty="0"/>
          </a:p>
        </p:txBody>
      </p:sp>
      <p:sp>
        <p:nvSpPr>
          <p:cNvPr id="78" name="Text 76"/>
          <p:cNvSpPr/>
          <p:nvPr/>
        </p:nvSpPr>
        <p:spPr>
          <a:xfrm>
            <a:off x="6434176" y="4370832"/>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AI fit score against your ICP.</a:t>
            </a:r>
            <a:endParaRPr lang="en-US" sz="1200" dirty="0"/>
          </a:p>
        </p:txBody>
      </p:sp>
      <p:sp>
        <p:nvSpPr>
          <p:cNvPr id="79" name="Shape 77"/>
          <p:cNvSpPr/>
          <p:nvPr/>
        </p:nvSpPr>
        <p:spPr>
          <a:xfrm>
            <a:off x="6178144" y="5093208"/>
            <a:ext cx="5464912" cy="1124712"/>
          </a:xfrm>
          <a:prstGeom prst="roundRect">
            <a:avLst>
              <a:gd name="adj" fmla="val 9756"/>
            </a:avLst>
          </a:prstGeom>
          <a:solidFill>
            <a:srgbClr val="FFFFFF"/>
          </a:solidFill>
          <a:ln w="9525">
            <a:solidFill>
              <a:srgbClr val="E5E7F0"/>
            </a:solidFill>
            <a:prstDash val="solid"/>
          </a:ln>
        </p:spPr>
      </p:sp>
      <p:sp>
        <p:nvSpPr>
          <p:cNvPr id="80" name="Shape 78"/>
          <p:cNvSpPr/>
          <p:nvPr/>
        </p:nvSpPr>
        <p:spPr>
          <a:xfrm>
            <a:off x="6178144" y="5093208"/>
            <a:ext cx="73152" cy="1124712"/>
          </a:xfrm>
          <a:prstGeom prst="rect">
            <a:avLst/>
          </a:prstGeom>
          <a:solidFill>
            <a:srgbClr val="1A6FBE"/>
          </a:solidFill>
          <a:ln/>
        </p:spPr>
      </p:sp>
      <p:sp>
        <p:nvSpPr>
          <p:cNvPr id="81" name="Text 79"/>
          <p:cNvSpPr/>
          <p:nvPr/>
        </p:nvSpPr>
        <p:spPr>
          <a:xfrm>
            <a:off x="6434176" y="5276088"/>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Reach + Track</a:t>
            </a:r>
            <a:endParaRPr lang="en-US" sz="1600" dirty="0"/>
          </a:p>
        </p:txBody>
      </p:sp>
      <p:sp>
        <p:nvSpPr>
          <p:cNvPr id="82" name="Text 80"/>
          <p:cNvSpPr/>
          <p:nvPr/>
        </p:nvSpPr>
        <p:spPr>
          <a:xfrm>
            <a:off x="6434176" y="5660136"/>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Native send. CRM that captures the lifecycle.</a:t>
            </a:r>
            <a:endParaRPr lang="en-US" sz="1200" dirty="0"/>
          </a:p>
        </p:txBody>
      </p:sp>
      <p:sp>
        <p:nvSpPr>
          <p:cNvPr id="83" name="Shape 81"/>
          <p:cNvSpPr/>
          <p:nvPr/>
        </p:nvSpPr>
        <p:spPr>
          <a:xfrm>
            <a:off x="548640" y="502920"/>
            <a:ext cx="292608" cy="292608"/>
          </a:xfrm>
          <a:prstGeom prst="roundRect">
            <a:avLst>
              <a:gd name="adj" fmla="val 25000"/>
            </a:avLst>
          </a:prstGeom>
          <a:solidFill>
            <a:srgbClr val="5028C2"/>
          </a:solidFill>
          <a:ln/>
        </p:spPr>
      </p:sp>
      <p:sp>
        <p:nvSpPr>
          <p:cNvPr id="84" name="Shape 82"/>
          <p:cNvSpPr/>
          <p:nvPr/>
        </p:nvSpPr>
        <p:spPr>
          <a:xfrm>
            <a:off x="548640" y="502920"/>
            <a:ext cx="292608" cy="292608"/>
          </a:xfrm>
          <a:prstGeom prst="roundRect">
            <a:avLst>
              <a:gd name="adj" fmla="val 25000"/>
            </a:avLst>
          </a:prstGeom>
          <a:solidFill>
            <a:srgbClr val="1A6FBE">
              <a:alpha val="50000"/>
            </a:srgbClr>
          </a:solidFill>
          <a:ln/>
        </p:spPr>
      </p:sp>
      <p:sp>
        <p:nvSpPr>
          <p:cNvPr id="85" name="Text 83"/>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86" name="Text 84"/>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87" name="Text 85"/>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05 · Introducing Creator Outreach  ·  vG</a:t>
            </a:r>
            <a:endParaRPr lang="en-US" sz="900" dirty="0"/>
          </a:p>
        </p:txBody>
      </p:sp>
      <p:sp>
        <p:nvSpPr>
          <p:cNvPr id="88" name="Text 86"/>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89" name="Text 87"/>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035 / 126</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80015" y="-914400"/>
            <a:ext cx="3200400" cy="3200400"/>
          </a:xfrm>
          <a:prstGeom prst="ellipse">
            <a:avLst/>
          </a:prstGeom>
          <a:solidFill>
            <a:srgbClr val="F1ECFF"/>
          </a:solidFill>
          <a:ln/>
        </p:spPr>
      </p:sp>
      <p:sp>
        <p:nvSpPr>
          <p:cNvPr id="3" name="Shape 1"/>
          <p:cNvSpPr/>
          <p:nvPr/>
        </p:nvSpPr>
        <p:spPr>
          <a:xfrm>
            <a:off x="10820095" y="-548640"/>
            <a:ext cx="2194560" cy="2194560"/>
          </a:xfrm>
          <a:prstGeom prst="ellipse">
            <a:avLst/>
          </a:prstGeom>
          <a:solidFill>
            <a:srgbClr val="E8F1FB">
              <a:alpha val="60000"/>
            </a:srgbClr>
          </a:solidFill>
          <a:ln/>
        </p:spPr>
      </p:sp>
      <p:sp>
        <p:nvSpPr>
          <p:cNvPr id="4" name="Shape 2"/>
          <p:cNvSpPr/>
          <p:nvPr/>
        </p:nvSpPr>
        <p:spPr>
          <a:xfrm>
            <a:off x="548640" y="5486400"/>
            <a:ext cx="54864" cy="54864"/>
          </a:xfrm>
          <a:prstGeom prst="ellipse">
            <a:avLst/>
          </a:prstGeom>
          <a:solidFill>
            <a:srgbClr val="5028C2">
              <a:alpha val="30000"/>
            </a:srgbClr>
          </a:solidFill>
          <a:ln/>
        </p:spPr>
      </p:sp>
      <p:sp>
        <p:nvSpPr>
          <p:cNvPr id="5" name="Shape 3"/>
          <p:cNvSpPr/>
          <p:nvPr/>
        </p:nvSpPr>
        <p:spPr>
          <a:xfrm>
            <a:off x="548640" y="5650992"/>
            <a:ext cx="54864" cy="54864"/>
          </a:xfrm>
          <a:prstGeom prst="ellipse">
            <a:avLst/>
          </a:prstGeom>
          <a:solidFill>
            <a:srgbClr val="5028C2">
              <a:alpha val="30000"/>
            </a:srgbClr>
          </a:solidFill>
          <a:ln/>
        </p:spPr>
      </p:sp>
      <p:sp>
        <p:nvSpPr>
          <p:cNvPr id="6" name="Shape 4"/>
          <p:cNvSpPr/>
          <p:nvPr/>
        </p:nvSpPr>
        <p:spPr>
          <a:xfrm>
            <a:off x="548640" y="5815584"/>
            <a:ext cx="54864" cy="54864"/>
          </a:xfrm>
          <a:prstGeom prst="ellipse">
            <a:avLst/>
          </a:prstGeom>
          <a:solidFill>
            <a:srgbClr val="5028C2">
              <a:alpha val="30000"/>
            </a:srgbClr>
          </a:solidFill>
          <a:ln/>
        </p:spPr>
      </p:sp>
      <p:sp>
        <p:nvSpPr>
          <p:cNvPr id="7" name="Shape 5"/>
          <p:cNvSpPr/>
          <p:nvPr/>
        </p:nvSpPr>
        <p:spPr>
          <a:xfrm>
            <a:off x="713232" y="5486400"/>
            <a:ext cx="54864" cy="54864"/>
          </a:xfrm>
          <a:prstGeom prst="ellipse">
            <a:avLst/>
          </a:prstGeom>
          <a:solidFill>
            <a:srgbClr val="5028C2">
              <a:alpha val="30000"/>
            </a:srgbClr>
          </a:solidFill>
          <a:ln/>
        </p:spPr>
      </p:sp>
      <p:sp>
        <p:nvSpPr>
          <p:cNvPr id="8" name="Shape 6"/>
          <p:cNvSpPr/>
          <p:nvPr/>
        </p:nvSpPr>
        <p:spPr>
          <a:xfrm>
            <a:off x="713232" y="5650992"/>
            <a:ext cx="54864" cy="54864"/>
          </a:xfrm>
          <a:prstGeom prst="ellipse">
            <a:avLst/>
          </a:prstGeom>
          <a:solidFill>
            <a:srgbClr val="5028C2">
              <a:alpha val="30000"/>
            </a:srgbClr>
          </a:solidFill>
          <a:ln/>
        </p:spPr>
      </p:sp>
      <p:sp>
        <p:nvSpPr>
          <p:cNvPr id="9" name="Shape 7"/>
          <p:cNvSpPr/>
          <p:nvPr/>
        </p:nvSpPr>
        <p:spPr>
          <a:xfrm>
            <a:off x="713232" y="5815584"/>
            <a:ext cx="54864" cy="54864"/>
          </a:xfrm>
          <a:prstGeom prst="ellipse">
            <a:avLst/>
          </a:prstGeom>
          <a:solidFill>
            <a:srgbClr val="5028C2">
              <a:alpha val="30000"/>
            </a:srgbClr>
          </a:solidFill>
          <a:ln/>
        </p:spPr>
      </p:sp>
      <p:sp>
        <p:nvSpPr>
          <p:cNvPr id="10" name="Shape 8"/>
          <p:cNvSpPr/>
          <p:nvPr/>
        </p:nvSpPr>
        <p:spPr>
          <a:xfrm>
            <a:off x="877824" y="5486400"/>
            <a:ext cx="54864" cy="54864"/>
          </a:xfrm>
          <a:prstGeom prst="ellipse">
            <a:avLst/>
          </a:prstGeom>
          <a:solidFill>
            <a:srgbClr val="5028C2">
              <a:alpha val="30000"/>
            </a:srgbClr>
          </a:solidFill>
          <a:ln/>
        </p:spPr>
      </p:sp>
      <p:sp>
        <p:nvSpPr>
          <p:cNvPr id="11" name="Shape 9"/>
          <p:cNvSpPr/>
          <p:nvPr/>
        </p:nvSpPr>
        <p:spPr>
          <a:xfrm>
            <a:off x="877824" y="5650992"/>
            <a:ext cx="54864" cy="54864"/>
          </a:xfrm>
          <a:prstGeom prst="ellipse">
            <a:avLst/>
          </a:prstGeom>
          <a:solidFill>
            <a:srgbClr val="5028C2">
              <a:alpha val="30000"/>
            </a:srgbClr>
          </a:solidFill>
          <a:ln/>
        </p:spPr>
      </p:sp>
      <p:sp>
        <p:nvSpPr>
          <p:cNvPr id="12" name="Shape 10"/>
          <p:cNvSpPr/>
          <p:nvPr/>
        </p:nvSpPr>
        <p:spPr>
          <a:xfrm>
            <a:off x="877824" y="5815584"/>
            <a:ext cx="54864" cy="54864"/>
          </a:xfrm>
          <a:prstGeom prst="ellipse">
            <a:avLst/>
          </a:prstGeom>
          <a:solidFill>
            <a:srgbClr val="5028C2">
              <a:alpha val="30000"/>
            </a:srgbClr>
          </a:solidFill>
          <a:ln/>
        </p:spPr>
      </p:sp>
      <p:sp>
        <p:nvSpPr>
          <p:cNvPr id="13" name="Shape 11"/>
          <p:cNvSpPr/>
          <p:nvPr/>
        </p:nvSpPr>
        <p:spPr>
          <a:xfrm>
            <a:off x="1042416" y="5486400"/>
            <a:ext cx="54864" cy="54864"/>
          </a:xfrm>
          <a:prstGeom prst="ellipse">
            <a:avLst/>
          </a:prstGeom>
          <a:solidFill>
            <a:srgbClr val="5028C2">
              <a:alpha val="30000"/>
            </a:srgbClr>
          </a:solidFill>
          <a:ln/>
        </p:spPr>
      </p:sp>
      <p:sp>
        <p:nvSpPr>
          <p:cNvPr id="14" name="Shape 12"/>
          <p:cNvSpPr/>
          <p:nvPr/>
        </p:nvSpPr>
        <p:spPr>
          <a:xfrm>
            <a:off x="1042416" y="5650992"/>
            <a:ext cx="54864" cy="54864"/>
          </a:xfrm>
          <a:prstGeom prst="ellipse">
            <a:avLst/>
          </a:prstGeom>
          <a:solidFill>
            <a:srgbClr val="5028C2">
              <a:alpha val="30000"/>
            </a:srgbClr>
          </a:solidFill>
          <a:ln/>
        </p:spPr>
      </p:sp>
      <p:sp>
        <p:nvSpPr>
          <p:cNvPr id="15" name="Shape 13"/>
          <p:cNvSpPr/>
          <p:nvPr/>
        </p:nvSpPr>
        <p:spPr>
          <a:xfrm>
            <a:off x="1042416" y="5815584"/>
            <a:ext cx="54864" cy="54864"/>
          </a:xfrm>
          <a:prstGeom prst="ellipse">
            <a:avLst/>
          </a:prstGeom>
          <a:solidFill>
            <a:srgbClr val="5028C2">
              <a:alpha val="30000"/>
            </a:srgbClr>
          </a:solidFill>
          <a:ln/>
        </p:spPr>
      </p:sp>
      <p:sp>
        <p:nvSpPr>
          <p:cNvPr id="16" name="Shape 14"/>
          <p:cNvSpPr/>
          <p:nvPr/>
        </p:nvSpPr>
        <p:spPr>
          <a:xfrm>
            <a:off x="1207008" y="5486400"/>
            <a:ext cx="54864" cy="54864"/>
          </a:xfrm>
          <a:prstGeom prst="ellipse">
            <a:avLst/>
          </a:prstGeom>
          <a:solidFill>
            <a:srgbClr val="5028C2">
              <a:alpha val="30000"/>
            </a:srgbClr>
          </a:solidFill>
          <a:ln/>
        </p:spPr>
      </p:sp>
      <p:sp>
        <p:nvSpPr>
          <p:cNvPr id="17" name="Shape 15"/>
          <p:cNvSpPr/>
          <p:nvPr/>
        </p:nvSpPr>
        <p:spPr>
          <a:xfrm>
            <a:off x="1207008" y="5650992"/>
            <a:ext cx="54864" cy="54864"/>
          </a:xfrm>
          <a:prstGeom prst="ellipse">
            <a:avLst/>
          </a:prstGeom>
          <a:solidFill>
            <a:srgbClr val="5028C2">
              <a:alpha val="30000"/>
            </a:srgbClr>
          </a:solidFill>
          <a:ln/>
        </p:spPr>
      </p:sp>
      <p:sp>
        <p:nvSpPr>
          <p:cNvPr id="18" name="Shape 16"/>
          <p:cNvSpPr/>
          <p:nvPr/>
        </p:nvSpPr>
        <p:spPr>
          <a:xfrm>
            <a:off x="1207008" y="5815584"/>
            <a:ext cx="54864" cy="54864"/>
          </a:xfrm>
          <a:prstGeom prst="ellipse">
            <a:avLst/>
          </a:prstGeom>
          <a:solidFill>
            <a:srgbClr val="5028C2">
              <a:alpha val="30000"/>
            </a:srgbClr>
          </a:solidFill>
          <a:ln/>
        </p:spPr>
      </p:sp>
      <p:sp>
        <p:nvSpPr>
          <p:cNvPr id="19" name="Shape 17"/>
          <p:cNvSpPr/>
          <p:nvPr/>
        </p:nvSpPr>
        <p:spPr>
          <a:xfrm>
            <a:off x="1371600" y="5486400"/>
            <a:ext cx="54864" cy="54864"/>
          </a:xfrm>
          <a:prstGeom prst="ellipse">
            <a:avLst/>
          </a:prstGeom>
          <a:solidFill>
            <a:srgbClr val="5028C2">
              <a:alpha val="30000"/>
            </a:srgbClr>
          </a:solidFill>
          <a:ln/>
        </p:spPr>
      </p:sp>
      <p:sp>
        <p:nvSpPr>
          <p:cNvPr id="20" name="Shape 18"/>
          <p:cNvSpPr/>
          <p:nvPr/>
        </p:nvSpPr>
        <p:spPr>
          <a:xfrm>
            <a:off x="1371600" y="5650992"/>
            <a:ext cx="54864" cy="54864"/>
          </a:xfrm>
          <a:prstGeom prst="ellipse">
            <a:avLst/>
          </a:prstGeom>
          <a:solidFill>
            <a:srgbClr val="5028C2">
              <a:alpha val="30000"/>
            </a:srgbClr>
          </a:solidFill>
          <a:ln/>
        </p:spPr>
      </p:sp>
      <p:sp>
        <p:nvSpPr>
          <p:cNvPr id="21" name="Shape 19"/>
          <p:cNvSpPr/>
          <p:nvPr/>
        </p:nvSpPr>
        <p:spPr>
          <a:xfrm>
            <a:off x="1371600" y="5815584"/>
            <a:ext cx="54864" cy="54864"/>
          </a:xfrm>
          <a:prstGeom prst="ellipse">
            <a:avLst/>
          </a:prstGeom>
          <a:solidFill>
            <a:srgbClr val="5028C2">
              <a:alpha val="30000"/>
            </a:srgbClr>
          </a:solidFill>
          <a:ln/>
        </p:spPr>
      </p:sp>
      <p:sp>
        <p:nvSpPr>
          <p:cNvPr id="22" name="Text 20"/>
          <p:cNvSpPr/>
          <p:nvPr/>
        </p:nvSpPr>
        <p:spPr>
          <a:xfrm>
            <a:off x="548640" y="1097280"/>
            <a:ext cx="11094415"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HOW IT WORKS</a:t>
            </a:r>
            <a:endParaRPr lang="en-US" sz="1100" dirty="0"/>
          </a:p>
        </p:txBody>
      </p:sp>
      <p:sp>
        <p:nvSpPr>
          <p:cNvPr id="23" name="Text 21"/>
          <p:cNvSpPr/>
          <p:nvPr/>
        </p:nvSpPr>
        <p:spPr>
          <a:xfrm>
            <a:off x="548640" y="1554480"/>
            <a:ext cx="11094415" cy="3108960"/>
          </a:xfrm>
          <a:prstGeom prst="rect">
            <a:avLst/>
          </a:prstGeom>
          <a:noFill/>
          <a:ln/>
        </p:spPr>
        <p:txBody>
          <a:bodyPr wrap="square" lIns="0" tIns="0" rIns="0" bIns="0" rtlCol="0" anchor="t"/>
          <a:lstStyle/>
          <a:p>
            <a:pPr algn="l" indent="0" marL="0">
              <a:buNone/>
            </a:pPr>
            <a:r>
              <a:rPr lang="en-US" sz="5600" b="1" spc="-100" kern="0" dirty="0">
                <a:solidFill>
                  <a:srgbClr val="0F1733"/>
                </a:solidFill>
                <a:latin typeface="Calibri" pitchFamily="34" charset="0"/>
                <a:ea typeface="Calibri" pitchFamily="34" charset="-122"/>
                <a:cs typeface="Calibri" pitchFamily="34" charset="-120"/>
              </a:rPr>
              <a:t>Three steps. Six minutes. Every campaign.</a:t>
            </a:r>
            <a:endParaRPr lang="en-US" sz="5600" dirty="0"/>
          </a:p>
        </p:txBody>
      </p:sp>
      <p:sp>
        <p:nvSpPr>
          <p:cNvPr id="24" name="Text 22"/>
          <p:cNvSpPr/>
          <p:nvPr/>
        </p:nvSpPr>
        <p:spPr>
          <a:xfrm>
            <a:off x="548640" y="4754880"/>
            <a:ext cx="9265615" cy="1097280"/>
          </a:xfrm>
          <a:prstGeom prst="rect">
            <a:avLst/>
          </a:prstGeom>
          <a:noFill/>
          <a:ln/>
        </p:spPr>
        <p:txBody>
          <a:bodyPr wrap="square" lIns="0" tIns="0" rIns="0" bIns="0" rtlCol="0" anchor="t"/>
          <a:lstStyle/>
          <a:p>
            <a:pPr algn="l" indent="0" marL="0">
              <a:buNone/>
            </a:pPr>
            <a:r>
              <a:rPr lang="en-US" sz="1800" dirty="0">
                <a:solidFill>
                  <a:srgbClr val="2A3358"/>
                </a:solidFill>
                <a:latin typeface="Calibri" pitchFamily="34" charset="0"/>
                <a:ea typeface="Calibri" pitchFamily="34" charset="-122"/>
                <a:cs typeface="Calibri" pitchFamily="34" charset="-120"/>
              </a:rPr>
              <a:t>Describe who you want, let AI score the matches, send through your own inbox. Then the CRM does the rest.</a:t>
            </a:r>
            <a:endParaRPr lang="en-US" sz="1800" dirty="0"/>
          </a:p>
        </p:txBody>
      </p:sp>
      <p:sp>
        <p:nvSpPr>
          <p:cNvPr id="25" name="Shape 23"/>
          <p:cNvSpPr/>
          <p:nvPr/>
        </p:nvSpPr>
        <p:spPr>
          <a:xfrm>
            <a:off x="548640" y="502920"/>
            <a:ext cx="292608" cy="292608"/>
          </a:xfrm>
          <a:prstGeom prst="roundRect">
            <a:avLst>
              <a:gd name="adj" fmla="val 25000"/>
            </a:avLst>
          </a:prstGeom>
          <a:solidFill>
            <a:srgbClr val="5028C2"/>
          </a:solidFill>
          <a:ln/>
        </p:spPr>
      </p:sp>
      <p:sp>
        <p:nvSpPr>
          <p:cNvPr id="26" name="Shape 24"/>
          <p:cNvSpPr/>
          <p:nvPr/>
        </p:nvSpPr>
        <p:spPr>
          <a:xfrm>
            <a:off x="548640" y="502920"/>
            <a:ext cx="292608" cy="292608"/>
          </a:xfrm>
          <a:prstGeom prst="roundRect">
            <a:avLst>
              <a:gd name="adj" fmla="val 25000"/>
            </a:avLst>
          </a:prstGeom>
          <a:solidFill>
            <a:srgbClr val="1A6FBE">
              <a:alpha val="50000"/>
            </a:srgbClr>
          </a:solidFill>
          <a:ln/>
        </p:spPr>
      </p:sp>
      <p:sp>
        <p:nvSpPr>
          <p:cNvPr id="27" name="Text 25"/>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8" name="Text 26"/>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9" name="Text 27"/>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06 · How it works  ·  vA</a:t>
            </a:r>
            <a:endParaRPr lang="en-US" sz="900" dirty="0"/>
          </a:p>
        </p:txBody>
      </p:sp>
      <p:sp>
        <p:nvSpPr>
          <p:cNvPr id="30" name="Text 28"/>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31" name="Text 29"/>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036 / 126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071183" y="0"/>
            <a:ext cx="5120512" cy="116300"/>
          </a:xfrm>
          <a:prstGeom prst="rect">
            <a:avLst/>
          </a:prstGeom>
          <a:solidFill>
            <a:srgbClr val="5028C2"/>
          </a:solidFill>
          <a:ln/>
        </p:spPr>
      </p:sp>
      <p:sp>
        <p:nvSpPr>
          <p:cNvPr id="3" name="Shape 1"/>
          <p:cNvSpPr/>
          <p:nvPr/>
        </p:nvSpPr>
        <p:spPr>
          <a:xfrm>
            <a:off x="7071183" y="107156"/>
            <a:ext cx="5120512" cy="116300"/>
          </a:xfrm>
          <a:prstGeom prst="rect">
            <a:avLst/>
          </a:prstGeom>
          <a:solidFill>
            <a:srgbClr val="4F29C2"/>
          </a:solidFill>
          <a:ln/>
        </p:spPr>
      </p:sp>
      <p:sp>
        <p:nvSpPr>
          <p:cNvPr id="4" name="Shape 2"/>
          <p:cNvSpPr/>
          <p:nvPr/>
        </p:nvSpPr>
        <p:spPr>
          <a:xfrm>
            <a:off x="7071183" y="214313"/>
            <a:ext cx="5120512" cy="116300"/>
          </a:xfrm>
          <a:prstGeom prst="rect">
            <a:avLst/>
          </a:prstGeom>
          <a:solidFill>
            <a:srgbClr val="4E2AC3"/>
          </a:solidFill>
          <a:ln/>
        </p:spPr>
      </p:sp>
      <p:sp>
        <p:nvSpPr>
          <p:cNvPr id="5" name="Shape 3"/>
          <p:cNvSpPr/>
          <p:nvPr/>
        </p:nvSpPr>
        <p:spPr>
          <a:xfrm>
            <a:off x="7071183" y="321469"/>
            <a:ext cx="5120512" cy="116300"/>
          </a:xfrm>
          <a:prstGeom prst="rect">
            <a:avLst/>
          </a:prstGeom>
          <a:solidFill>
            <a:srgbClr val="4D2BC3"/>
          </a:solidFill>
          <a:ln/>
        </p:spPr>
      </p:sp>
      <p:sp>
        <p:nvSpPr>
          <p:cNvPr id="6" name="Shape 4"/>
          <p:cNvSpPr/>
          <p:nvPr/>
        </p:nvSpPr>
        <p:spPr>
          <a:xfrm>
            <a:off x="7071183" y="428625"/>
            <a:ext cx="5120512" cy="116300"/>
          </a:xfrm>
          <a:prstGeom prst="rect">
            <a:avLst/>
          </a:prstGeom>
          <a:solidFill>
            <a:srgbClr val="4D2CC4"/>
          </a:solidFill>
          <a:ln/>
        </p:spPr>
      </p:sp>
      <p:sp>
        <p:nvSpPr>
          <p:cNvPr id="7" name="Shape 5"/>
          <p:cNvSpPr/>
          <p:nvPr/>
        </p:nvSpPr>
        <p:spPr>
          <a:xfrm>
            <a:off x="7071183" y="535781"/>
            <a:ext cx="5120512" cy="116300"/>
          </a:xfrm>
          <a:prstGeom prst="rect">
            <a:avLst/>
          </a:prstGeom>
          <a:solidFill>
            <a:srgbClr val="4C2DC4"/>
          </a:solidFill>
          <a:ln/>
        </p:spPr>
      </p:sp>
      <p:sp>
        <p:nvSpPr>
          <p:cNvPr id="8" name="Shape 6"/>
          <p:cNvSpPr/>
          <p:nvPr/>
        </p:nvSpPr>
        <p:spPr>
          <a:xfrm>
            <a:off x="7071183" y="642938"/>
            <a:ext cx="5120512" cy="116300"/>
          </a:xfrm>
          <a:prstGeom prst="rect">
            <a:avLst/>
          </a:prstGeom>
          <a:solidFill>
            <a:srgbClr val="4B2EC5"/>
          </a:solidFill>
          <a:ln/>
        </p:spPr>
      </p:sp>
      <p:sp>
        <p:nvSpPr>
          <p:cNvPr id="9" name="Shape 7"/>
          <p:cNvSpPr/>
          <p:nvPr/>
        </p:nvSpPr>
        <p:spPr>
          <a:xfrm>
            <a:off x="7071183" y="750094"/>
            <a:ext cx="5120512" cy="116300"/>
          </a:xfrm>
          <a:prstGeom prst="rect">
            <a:avLst/>
          </a:prstGeom>
          <a:solidFill>
            <a:srgbClr val="4A2FC5"/>
          </a:solidFill>
          <a:ln/>
        </p:spPr>
      </p:sp>
      <p:sp>
        <p:nvSpPr>
          <p:cNvPr id="10" name="Shape 8"/>
          <p:cNvSpPr/>
          <p:nvPr/>
        </p:nvSpPr>
        <p:spPr>
          <a:xfrm>
            <a:off x="7071183" y="857250"/>
            <a:ext cx="5120512" cy="116300"/>
          </a:xfrm>
          <a:prstGeom prst="rect">
            <a:avLst/>
          </a:prstGeom>
          <a:solidFill>
            <a:srgbClr val="4930C6"/>
          </a:solidFill>
          <a:ln/>
        </p:spPr>
      </p:sp>
      <p:sp>
        <p:nvSpPr>
          <p:cNvPr id="11" name="Shape 9"/>
          <p:cNvSpPr/>
          <p:nvPr/>
        </p:nvSpPr>
        <p:spPr>
          <a:xfrm>
            <a:off x="7071183" y="964406"/>
            <a:ext cx="5120512" cy="116300"/>
          </a:xfrm>
          <a:prstGeom prst="rect">
            <a:avLst/>
          </a:prstGeom>
          <a:solidFill>
            <a:srgbClr val="4831C6"/>
          </a:solidFill>
          <a:ln/>
        </p:spPr>
      </p:sp>
      <p:sp>
        <p:nvSpPr>
          <p:cNvPr id="12" name="Shape 10"/>
          <p:cNvSpPr/>
          <p:nvPr/>
        </p:nvSpPr>
        <p:spPr>
          <a:xfrm>
            <a:off x="7071183" y="1071563"/>
            <a:ext cx="5120512" cy="116300"/>
          </a:xfrm>
          <a:prstGeom prst="rect">
            <a:avLst/>
          </a:prstGeom>
          <a:solidFill>
            <a:srgbClr val="4732C6"/>
          </a:solidFill>
          <a:ln/>
        </p:spPr>
      </p:sp>
      <p:sp>
        <p:nvSpPr>
          <p:cNvPr id="13" name="Shape 11"/>
          <p:cNvSpPr/>
          <p:nvPr/>
        </p:nvSpPr>
        <p:spPr>
          <a:xfrm>
            <a:off x="7071183" y="1178719"/>
            <a:ext cx="5120512" cy="116300"/>
          </a:xfrm>
          <a:prstGeom prst="rect">
            <a:avLst/>
          </a:prstGeom>
          <a:solidFill>
            <a:srgbClr val="4733C7"/>
          </a:solidFill>
          <a:ln/>
        </p:spPr>
      </p:sp>
      <p:sp>
        <p:nvSpPr>
          <p:cNvPr id="14" name="Shape 12"/>
          <p:cNvSpPr/>
          <p:nvPr/>
        </p:nvSpPr>
        <p:spPr>
          <a:xfrm>
            <a:off x="7071183" y="1285875"/>
            <a:ext cx="5120512" cy="116300"/>
          </a:xfrm>
          <a:prstGeom prst="rect">
            <a:avLst/>
          </a:prstGeom>
          <a:solidFill>
            <a:srgbClr val="4634C7"/>
          </a:solidFill>
          <a:ln/>
        </p:spPr>
      </p:sp>
      <p:sp>
        <p:nvSpPr>
          <p:cNvPr id="15" name="Shape 13"/>
          <p:cNvSpPr/>
          <p:nvPr/>
        </p:nvSpPr>
        <p:spPr>
          <a:xfrm>
            <a:off x="7071183" y="1393031"/>
            <a:ext cx="5120512" cy="116300"/>
          </a:xfrm>
          <a:prstGeom prst="rect">
            <a:avLst/>
          </a:prstGeom>
          <a:solidFill>
            <a:srgbClr val="4535C8"/>
          </a:solidFill>
          <a:ln/>
        </p:spPr>
      </p:sp>
      <p:sp>
        <p:nvSpPr>
          <p:cNvPr id="16" name="Shape 14"/>
          <p:cNvSpPr/>
          <p:nvPr/>
        </p:nvSpPr>
        <p:spPr>
          <a:xfrm>
            <a:off x="7071183" y="1500188"/>
            <a:ext cx="5120512" cy="116300"/>
          </a:xfrm>
          <a:prstGeom prst="rect">
            <a:avLst/>
          </a:prstGeom>
          <a:solidFill>
            <a:srgbClr val="4436C8"/>
          </a:solidFill>
          <a:ln/>
        </p:spPr>
      </p:sp>
      <p:sp>
        <p:nvSpPr>
          <p:cNvPr id="17" name="Shape 15"/>
          <p:cNvSpPr/>
          <p:nvPr/>
        </p:nvSpPr>
        <p:spPr>
          <a:xfrm>
            <a:off x="7071183" y="1607344"/>
            <a:ext cx="5120512" cy="116300"/>
          </a:xfrm>
          <a:prstGeom prst="rect">
            <a:avLst/>
          </a:prstGeom>
          <a:solidFill>
            <a:srgbClr val="4337C9"/>
          </a:solidFill>
          <a:ln/>
        </p:spPr>
      </p:sp>
      <p:sp>
        <p:nvSpPr>
          <p:cNvPr id="18" name="Shape 16"/>
          <p:cNvSpPr/>
          <p:nvPr/>
        </p:nvSpPr>
        <p:spPr>
          <a:xfrm>
            <a:off x="7071183" y="1714500"/>
            <a:ext cx="5120512" cy="116300"/>
          </a:xfrm>
          <a:prstGeom prst="rect">
            <a:avLst/>
          </a:prstGeom>
          <a:solidFill>
            <a:srgbClr val="4238C9"/>
          </a:solidFill>
          <a:ln/>
        </p:spPr>
      </p:sp>
      <p:sp>
        <p:nvSpPr>
          <p:cNvPr id="19" name="Shape 17"/>
          <p:cNvSpPr/>
          <p:nvPr/>
        </p:nvSpPr>
        <p:spPr>
          <a:xfrm>
            <a:off x="7071183" y="1821656"/>
            <a:ext cx="5120512" cy="116300"/>
          </a:xfrm>
          <a:prstGeom prst="rect">
            <a:avLst/>
          </a:prstGeom>
          <a:solidFill>
            <a:srgbClr val="4139CA"/>
          </a:solidFill>
          <a:ln/>
        </p:spPr>
      </p:sp>
      <p:sp>
        <p:nvSpPr>
          <p:cNvPr id="20" name="Shape 18"/>
          <p:cNvSpPr/>
          <p:nvPr/>
        </p:nvSpPr>
        <p:spPr>
          <a:xfrm>
            <a:off x="7071183" y="1928813"/>
            <a:ext cx="5120512" cy="116300"/>
          </a:xfrm>
          <a:prstGeom prst="rect">
            <a:avLst/>
          </a:prstGeom>
          <a:solidFill>
            <a:srgbClr val="413ACA"/>
          </a:solidFill>
          <a:ln/>
        </p:spPr>
      </p:sp>
      <p:sp>
        <p:nvSpPr>
          <p:cNvPr id="21" name="Shape 19"/>
          <p:cNvSpPr/>
          <p:nvPr/>
        </p:nvSpPr>
        <p:spPr>
          <a:xfrm>
            <a:off x="7071183" y="2035969"/>
            <a:ext cx="5120512" cy="116300"/>
          </a:xfrm>
          <a:prstGeom prst="rect">
            <a:avLst/>
          </a:prstGeom>
          <a:solidFill>
            <a:srgbClr val="403BCA"/>
          </a:solidFill>
          <a:ln/>
        </p:spPr>
      </p:sp>
      <p:sp>
        <p:nvSpPr>
          <p:cNvPr id="22" name="Shape 20"/>
          <p:cNvSpPr/>
          <p:nvPr/>
        </p:nvSpPr>
        <p:spPr>
          <a:xfrm>
            <a:off x="7071183" y="2143125"/>
            <a:ext cx="5120512" cy="116300"/>
          </a:xfrm>
          <a:prstGeom prst="rect">
            <a:avLst/>
          </a:prstGeom>
          <a:solidFill>
            <a:srgbClr val="3F3CCB"/>
          </a:solidFill>
          <a:ln/>
        </p:spPr>
      </p:sp>
      <p:sp>
        <p:nvSpPr>
          <p:cNvPr id="23" name="Shape 21"/>
          <p:cNvSpPr/>
          <p:nvPr/>
        </p:nvSpPr>
        <p:spPr>
          <a:xfrm>
            <a:off x="7071183" y="2250281"/>
            <a:ext cx="5120512" cy="116300"/>
          </a:xfrm>
          <a:prstGeom prst="rect">
            <a:avLst/>
          </a:prstGeom>
          <a:solidFill>
            <a:srgbClr val="3E3DCB"/>
          </a:solidFill>
          <a:ln/>
        </p:spPr>
      </p:sp>
      <p:sp>
        <p:nvSpPr>
          <p:cNvPr id="24" name="Shape 22"/>
          <p:cNvSpPr/>
          <p:nvPr/>
        </p:nvSpPr>
        <p:spPr>
          <a:xfrm>
            <a:off x="7071183" y="2357438"/>
            <a:ext cx="5120512" cy="116300"/>
          </a:xfrm>
          <a:prstGeom prst="rect">
            <a:avLst/>
          </a:prstGeom>
          <a:solidFill>
            <a:srgbClr val="3D3ECC"/>
          </a:solidFill>
          <a:ln/>
        </p:spPr>
      </p:sp>
      <p:sp>
        <p:nvSpPr>
          <p:cNvPr id="25" name="Shape 23"/>
          <p:cNvSpPr/>
          <p:nvPr/>
        </p:nvSpPr>
        <p:spPr>
          <a:xfrm>
            <a:off x="7071183" y="2464594"/>
            <a:ext cx="5120512" cy="116300"/>
          </a:xfrm>
          <a:prstGeom prst="rect">
            <a:avLst/>
          </a:prstGeom>
          <a:solidFill>
            <a:srgbClr val="3C3FCC"/>
          </a:solidFill>
          <a:ln/>
        </p:spPr>
      </p:sp>
      <p:sp>
        <p:nvSpPr>
          <p:cNvPr id="26" name="Shape 24"/>
          <p:cNvSpPr/>
          <p:nvPr/>
        </p:nvSpPr>
        <p:spPr>
          <a:xfrm>
            <a:off x="7071183" y="2571750"/>
            <a:ext cx="5120512" cy="116300"/>
          </a:xfrm>
          <a:prstGeom prst="rect">
            <a:avLst/>
          </a:prstGeom>
          <a:solidFill>
            <a:srgbClr val="3B40CD"/>
          </a:solidFill>
          <a:ln/>
        </p:spPr>
      </p:sp>
      <p:sp>
        <p:nvSpPr>
          <p:cNvPr id="27" name="Shape 25"/>
          <p:cNvSpPr/>
          <p:nvPr/>
        </p:nvSpPr>
        <p:spPr>
          <a:xfrm>
            <a:off x="7071183" y="2678906"/>
            <a:ext cx="5120512" cy="116300"/>
          </a:xfrm>
          <a:prstGeom prst="rect">
            <a:avLst/>
          </a:prstGeom>
          <a:solidFill>
            <a:srgbClr val="3B41CD"/>
          </a:solidFill>
          <a:ln/>
        </p:spPr>
      </p:sp>
      <p:sp>
        <p:nvSpPr>
          <p:cNvPr id="28" name="Shape 26"/>
          <p:cNvSpPr/>
          <p:nvPr/>
        </p:nvSpPr>
        <p:spPr>
          <a:xfrm>
            <a:off x="7071183" y="2786063"/>
            <a:ext cx="5120512" cy="116300"/>
          </a:xfrm>
          <a:prstGeom prst="rect">
            <a:avLst/>
          </a:prstGeom>
          <a:solidFill>
            <a:srgbClr val="3A42CE"/>
          </a:solidFill>
          <a:ln/>
        </p:spPr>
      </p:sp>
      <p:sp>
        <p:nvSpPr>
          <p:cNvPr id="29" name="Shape 27"/>
          <p:cNvSpPr/>
          <p:nvPr/>
        </p:nvSpPr>
        <p:spPr>
          <a:xfrm>
            <a:off x="7071183" y="2893219"/>
            <a:ext cx="5120512" cy="116300"/>
          </a:xfrm>
          <a:prstGeom prst="rect">
            <a:avLst/>
          </a:prstGeom>
          <a:solidFill>
            <a:srgbClr val="3943CE"/>
          </a:solidFill>
          <a:ln/>
        </p:spPr>
      </p:sp>
      <p:sp>
        <p:nvSpPr>
          <p:cNvPr id="30" name="Shape 28"/>
          <p:cNvSpPr/>
          <p:nvPr/>
        </p:nvSpPr>
        <p:spPr>
          <a:xfrm>
            <a:off x="7071183" y="3000375"/>
            <a:ext cx="5120512" cy="116300"/>
          </a:xfrm>
          <a:prstGeom prst="rect">
            <a:avLst/>
          </a:prstGeom>
          <a:solidFill>
            <a:srgbClr val="3844CE"/>
          </a:solidFill>
          <a:ln/>
        </p:spPr>
      </p:sp>
      <p:sp>
        <p:nvSpPr>
          <p:cNvPr id="31" name="Shape 29"/>
          <p:cNvSpPr/>
          <p:nvPr/>
        </p:nvSpPr>
        <p:spPr>
          <a:xfrm>
            <a:off x="7071183" y="3107531"/>
            <a:ext cx="5120512" cy="116300"/>
          </a:xfrm>
          <a:prstGeom prst="rect">
            <a:avLst/>
          </a:prstGeom>
          <a:solidFill>
            <a:srgbClr val="3745CF"/>
          </a:solidFill>
          <a:ln/>
        </p:spPr>
      </p:sp>
      <p:sp>
        <p:nvSpPr>
          <p:cNvPr id="32" name="Shape 30"/>
          <p:cNvSpPr/>
          <p:nvPr/>
        </p:nvSpPr>
        <p:spPr>
          <a:xfrm>
            <a:off x="7071183" y="3214688"/>
            <a:ext cx="5120512" cy="116300"/>
          </a:xfrm>
          <a:prstGeom prst="rect">
            <a:avLst/>
          </a:prstGeom>
          <a:solidFill>
            <a:srgbClr val="3646CF"/>
          </a:solidFill>
          <a:ln/>
        </p:spPr>
      </p:sp>
      <p:sp>
        <p:nvSpPr>
          <p:cNvPr id="33" name="Shape 31"/>
          <p:cNvSpPr/>
          <p:nvPr/>
        </p:nvSpPr>
        <p:spPr>
          <a:xfrm>
            <a:off x="7071183" y="3321844"/>
            <a:ext cx="5120512" cy="116300"/>
          </a:xfrm>
          <a:prstGeom prst="rect">
            <a:avLst/>
          </a:prstGeom>
          <a:solidFill>
            <a:srgbClr val="3547D0"/>
          </a:solidFill>
          <a:ln/>
        </p:spPr>
      </p:sp>
      <p:sp>
        <p:nvSpPr>
          <p:cNvPr id="34" name="Shape 32"/>
          <p:cNvSpPr/>
          <p:nvPr/>
        </p:nvSpPr>
        <p:spPr>
          <a:xfrm>
            <a:off x="7071183" y="3429000"/>
            <a:ext cx="5120512" cy="116300"/>
          </a:xfrm>
          <a:prstGeom prst="rect">
            <a:avLst/>
          </a:prstGeom>
          <a:solidFill>
            <a:srgbClr val="3549D0"/>
          </a:solidFill>
          <a:ln/>
        </p:spPr>
      </p:sp>
      <p:sp>
        <p:nvSpPr>
          <p:cNvPr id="35" name="Shape 33"/>
          <p:cNvSpPr/>
          <p:nvPr/>
        </p:nvSpPr>
        <p:spPr>
          <a:xfrm>
            <a:off x="7071183" y="3536156"/>
            <a:ext cx="5120512" cy="116300"/>
          </a:xfrm>
          <a:prstGeom prst="rect">
            <a:avLst/>
          </a:prstGeom>
          <a:solidFill>
            <a:srgbClr val="344ACF"/>
          </a:solidFill>
          <a:ln/>
        </p:spPr>
      </p:sp>
      <p:sp>
        <p:nvSpPr>
          <p:cNvPr id="36" name="Shape 34"/>
          <p:cNvSpPr/>
          <p:nvPr/>
        </p:nvSpPr>
        <p:spPr>
          <a:xfrm>
            <a:off x="7071183" y="3643313"/>
            <a:ext cx="5120512" cy="116300"/>
          </a:xfrm>
          <a:prstGeom prst="rect">
            <a:avLst/>
          </a:prstGeom>
          <a:solidFill>
            <a:srgbClr val="334BCF"/>
          </a:solidFill>
          <a:ln/>
        </p:spPr>
      </p:sp>
      <p:sp>
        <p:nvSpPr>
          <p:cNvPr id="37" name="Shape 35"/>
          <p:cNvSpPr/>
          <p:nvPr/>
        </p:nvSpPr>
        <p:spPr>
          <a:xfrm>
            <a:off x="7071183" y="3750469"/>
            <a:ext cx="5120512" cy="116300"/>
          </a:xfrm>
          <a:prstGeom prst="rect">
            <a:avLst/>
          </a:prstGeom>
          <a:solidFill>
            <a:srgbClr val="324CCE"/>
          </a:solidFill>
          <a:ln/>
        </p:spPr>
      </p:sp>
      <p:sp>
        <p:nvSpPr>
          <p:cNvPr id="38" name="Shape 36"/>
          <p:cNvSpPr/>
          <p:nvPr/>
        </p:nvSpPr>
        <p:spPr>
          <a:xfrm>
            <a:off x="7071183" y="3857625"/>
            <a:ext cx="5120512" cy="116300"/>
          </a:xfrm>
          <a:prstGeom prst="rect">
            <a:avLst/>
          </a:prstGeom>
          <a:solidFill>
            <a:srgbClr val="314ECD"/>
          </a:solidFill>
          <a:ln/>
        </p:spPr>
      </p:sp>
      <p:sp>
        <p:nvSpPr>
          <p:cNvPr id="39" name="Shape 37"/>
          <p:cNvSpPr/>
          <p:nvPr/>
        </p:nvSpPr>
        <p:spPr>
          <a:xfrm>
            <a:off x="7071183" y="3964781"/>
            <a:ext cx="5120512" cy="116300"/>
          </a:xfrm>
          <a:prstGeom prst="rect">
            <a:avLst/>
          </a:prstGeom>
          <a:solidFill>
            <a:srgbClr val="304FCD"/>
          </a:solidFill>
          <a:ln/>
        </p:spPr>
      </p:sp>
      <p:sp>
        <p:nvSpPr>
          <p:cNvPr id="40" name="Shape 38"/>
          <p:cNvSpPr/>
          <p:nvPr/>
        </p:nvSpPr>
        <p:spPr>
          <a:xfrm>
            <a:off x="7071183" y="4071938"/>
            <a:ext cx="5120512" cy="116300"/>
          </a:xfrm>
          <a:prstGeom prst="rect">
            <a:avLst/>
          </a:prstGeom>
          <a:solidFill>
            <a:srgbClr val="2F50CC"/>
          </a:solidFill>
          <a:ln/>
        </p:spPr>
      </p:sp>
      <p:sp>
        <p:nvSpPr>
          <p:cNvPr id="41" name="Shape 39"/>
          <p:cNvSpPr/>
          <p:nvPr/>
        </p:nvSpPr>
        <p:spPr>
          <a:xfrm>
            <a:off x="7071183" y="4179094"/>
            <a:ext cx="5120512" cy="116300"/>
          </a:xfrm>
          <a:prstGeom prst="rect">
            <a:avLst/>
          </a:prstGeom>
          <a:solidFill>
            <a:srgbClr val="2F51CC"/>
          </a:solidFill>
          <a:ln/>
        </p:spPr>
      </p:sp>
      <p:sp>
        <p:nvSpPr>
          <p:cNvPr id="42" name="Shape 40"/>
          <p:cNvSpPr/>
          <p:nvPr/>
        </p:nvSpPr>
        <p:spPr>
          <a:xfrm>
            <a:off x="7071183" y="4286250"/>
            <a:ext cx="5120512" cy="116300"/>
          </a:xfrm>
          <a:prstGeom prst="rect">
            <a:avLst/>
          </a:prstGeom>
          <a:solidFill>
            <a:srgbClr val="2E53CB"/>
          </a:solidFill>
          <a:ln/>
        </p:spPr>
      </p:sp>
      <p:sp>
        <p:nvSpPr>
          <p:cNvPr id="43" name="Shape 41"/>
          <p:cNvSpPr/>
          <p:nvPr/>
        </p:nvSpPr>
        <p:spPr>
          <a:xfrm>
            <a:off x="7071183" y="4393406"/>
            <a:ext cx="5120512" cy="116300"/>
          </a:xfrm>
          <a:prstGeom prst="rect">
            <a:avLst/>
          </a:prstGeom>
          <a:solidFill>
            <a:srgbClr val="2D54CB"/>
          </a:solidFill>
          <a:ln/>
        </p:spPr>
      </p:sp>
      <p:sp>
        <p:nvSpPr>
          <p:cNvPr id="44" name="Shape 42"/>
          <p:cNvSpPr/>
          <p:nvPr/>
        </p:nvSpPr>
        <p:spPr>
          <a:xfrm>
            <a:off x="7071183" y="4500563"/>
            <a:ext cx="5120512" cy="116300"/>
          </a:xfrm>
          <a:prstGeom prst="rect">
            <a:avLst/>
          </a:prstGeom>
          <a:solidFill>
            <a:srgbClr val="2C55CA"/>
          </a:solidFill>
          <a:ln/>
        </p:spPr>
      </p:sp>
      <p:sp>
        <p:nvSpPr>
          <p:cNvPr id="45" name="Shape 43"/>
          <p:cNvSpPr/>
          <p:nvPr/>
        </p:nvSpPr>
        <p:spPr>
          <a:xfrm>
            <a:off x="7071183" y="4607719"/>
            <a:ext cx="5120512" cy="116300"/>
          </a:xfrm>
          <a:prstGeom prst="rect">
            <a:avLst/>
          </a:prstGeom>
          <a:solidFill>
            <a:srgbClr val="2B56C9"/>
          </a:solidFill>
          <a:ln/>
        </p:spPr>
      </p:sp>
      <p:sp>
        <p:nvSpPr>
          <p:cNvPr id="46" name="Shape 44"/>
          <p:cNvSpPr/>
          <p:nvPr/>
        </p:nvSpPr>
        <p:spPr>
          <a:xfrm>
            <a:off x="7071183" y="4714875"/>
            <a:ext cx="5120512" cy="116300"/>
          </a:xfrm>
          <a:prstGeom prst="rect">
            <a:avLst/>
          </a:prstGeom>
          <a:solidFill>
            <a:srgbClr val="2A57C9"/>
          </a:solidFill>
          <a:ln/>
        </p:spPr>
      </p:sp>
      <p:sp>
        <p:nvSpPr>
          <p:cNvPr id="47" name="Shape 45"/>
          <p:cNvSpPr/>
          <p:nvPr/>
        </p:nvSpPr>
        <p:spPr>
          <a:xfrm>
            <a:off x="7071183" y="4822031"/>
            <a:ext cx="5120512" cy="116300"/>
          </a:xfrm>
          <a:prstGeom prst="rect">
            <a:avLst/>
          </a:prstGeom>
          <a:solidFill>
            <a:srgbClr val="2959C8"/>
          </a:solidFill>
          <a:ln/>
        </p:spPr>
      </p:sp>
      <p:sp>
        <p:nvSpPr>
          <p:cNvPr id="48" name="Shape 46"/>
          <p:cNvSpPr/>
          <p:nvPr/>
        </p:nvSpPr>
        <p:spPr>
          <a:xfrm>
            <a:off x="7071183" y="4929188"/>
            <a:ext cx="5120512" cy="116300"/>
          </a:xfrm>
          <a:prstGeom prst="rect">
            <a:avLst/>
          </a:prstGeom>
          <a:solidFill>
            <a:srgbClr val="295AC8"/>
          </a:solidFill>
          <a:ln/>
        </p:spPr>
      </p:sp>
      <p:sp>
        <p:nvSpPr>
          <p:cNvPr id="49" name="Shape 47"/>
          <p:cNvSpPr/>
          <p:nvPr/>
        </p:nvSpPr>
        <p:spPr>
          <a:xfrm>
            <a:off x="7071183" y="5036344"/>
            <a:ext cx="5120512" cy="116300"/>
          </a:xfrm>
          <a:prstGeom prst="rect">
            <a:avLst/>
          </a:prstGeom>
          <a:solidFill>
            <a:srgbClr val="285BC7"/>
          </a:solidFill>
          <a:ln/>
        </p:spPr>
      </p:sp>
      <p:sp>
        <p:nvSpPr>
          <p:cNvPr id="50" name="Shape 48"/>
          <p:cNvSpPr/>
          <p:nvPr/>
        </p:nvSpPr>
        <p:spPr>
          <a:xfrm>
            <a:off x="7071183" y="5143500"/>
            <a:ext cx="5120512" cy="116300"/>
          </a:xfrm>
          <a:prstGeom prst="rect">
            <a:avLst/>
          </a:prstGeom>
          <a:solidFill>
            <a:srgbClr val="275CC7"/>
          </a:solidFill>
          <a:ln/>
        </p:spPr>
      </p:sp>
      <p:sp>
        <p:nvSpPr>
          <p:cNvPr id="51" name="Shape 49"/>
          <p:cNvSpPr/>
          <p:nvPr/>
        </p:nvSpPr>
        <p:spPr>
          <a:xfrm>
            <a:off x="7071183" y="5250656"/>
            <a:ext cx="5120512" cy="116300"/>
          </a:xfrm>
          <a:prstGeom prst="rect">
            <a:avLst/>
          </a:prstGeom>
          <a:solidFill>
            <a:srgbClr val="265EC6"/>
          </a:solidFill>
          <a:ln/>
        </p:spPr>
      </p:sp>
      <p:sp>
        <p:nvSpPr>
          <p:cNvPr id="52" name="Shape 50"/>
          <p:cNvSpPr/>
          <p:nvPr/>
        </p:nvSpPr>
        <p:spPr>
          <a:xfrm>
            <a:off x="7071183" y="5357813"/>
            <a:ext cx="5120512" cy="116300"/>
          </a:xfrm>
          <a:prstGeom prst="rect">
            <a:avLst/>
          </a:prstGeom>
          <a:solidFill>
            <a:srgbClr val="255FC5"/>
          </a:solidFill>
          <a:ln/>
        </p:spPr>
      </p:sp>
      <p:sp>
        <p:nvSpPr>
          <p:cNvPr id="53" name="Shape 51"/>
          <p:cNvSpPr/>
          <p:nvPr/>
        </p:nvSpPr>
        <p:spPr>
          <a:xfrm>
            <a:off x="7071183" y="5464969"/>
            <a:ext cx="5120512" cy="116300"/>
          </a:xfrm>
          <a:prstGeom prst="rect">
            <a:avLst/>
          </a:prstGeom>
          <a:solidFill>
            <a:srgbClr val="2460C5"/>
          </a:solidFill>
          <a:ln/>
        </p:spPr>
      </p:sp>
      <p:sp>
        <p:nvSpPr>
          <p:cNvPr id="54" name="Shape 52"/>
          <p:cNvSpPr/>
          <p:nvPr/>
        </p:nvSpPr>
        <p:spPr>
          <a:xfrm>
            <a:off x="7071183" y="5572125"/>
            <a:ext cx="5120512" cy="116300"/>
          </a:xfrm>
          <a:prstGeom prst="rect">
            <a:avLst/>
          </a:prstGeom>
          <a:solidFill>
            <a:srgbClr val="2361C4"/>
          </a:solidFill>
          <a:ln/>
        </p:spPr>
      </p:sp>
      <p:sp>
        <p:nvSpPr>
          <p:cNvPr id="55" name="Shape 53"/>
          <p:cNvSpPr/>
          <p:nvPr/>
        </p:nvSpPr>
        <p:spPr>
          <a:xfrm>
            <a:off x="7071183" y="5679281"/>
            <a:ext cx="5120512" cy="116300"/>
          </a:xfrm>
          <a:prstGeom prst="rect">
            <a:avLst/>
          </a:prstGeom>
          <a:solidFill>
            <a:srgbClr val="2363C4"/>
          </a:solidFill>
          <a:ln/>
        </p:spPr>
      </p:sp>
      <p:sp>
        <p:nvSpPr>
          <p:cNvPr id="56" name="Shape 54"/>
          <p:cNvSpPr/>
          <p:nvPr/>
        </p:nvSpPr>
        <p:spPr>
          <a:xfrm>
            <a:off x="7071183" y="5786438"/>
            <a:ext cx="5120512" cy="116300"/>
          </a:xfrm>
          <a:prstGeom prst="rect">
            <a:avLst/>
          </a:prstGeom>
          <a:solidFill>
            <a:srgbClr val="2264C3"/>
          </a:solidFill>
          <a:ln/>
        </p:spPr>
      </p:sp>
      <p:sp>
        <p:nvSpPr>
          <p:cNvPr id="57" name="Shape 55"/>
          <p:cNvSpPr/>
          <p:nvPr/>
        </p:nvSpPr>
        <p:spPr>
          <a:xfrm>
            <a:off x="7071183" y="5893594"/>
            <a:ext cx="5120512" cy="116300"/>
          </a:xfrm>
          <a:prstGeom prst="rect">
            <a:avLst/>
          </a:prstGeom>
          <a:solidFill>
            <a:srgbClr val="2165C3"/>
          </a:solidFill>
          <a:ln/>
        </p:spPr>
      </p:sp>
      <p:sp>
        <p:nvSpPr>
          <p:cNvPr id="58" name="Shape 56"/>
          <p:cNvSpPr/>
          <p:nvPr/>
        </p:nvSpPr>
        <p:spPr>
          <a:xfrm>
            <a:off x="7071183" y="6000750"/>
            <a:ext cx="5120512" cy="116300"/>
          </a:xfrm>
          <a:prstGeom prst="rect">
            <a:avLst/>
          </a:prstGeom>
          <a:solidFill>
            <a:srgbClr val="2066C2"/>
          </a:solidFill>
          <a:ln/>
        </p:spPr>
      </p:sp>
      <p:sp>
        <p:nvSpPr>
          <p:cNvPr id="59" name="Shape 57"/>
          <p:cNvSpPr/>
          <p:nvPr/>
        </p:nvSpPr>
        <p:spPr>
          <a:xfrm>
            <a:off x="7071183" y="6107906"/>
            <a:ext cx="5120512" cy="116300"/>
          </a:xfrm>
          <a:prstGeom prst="rect">
            <a:avLst/>
          </a:prstGeom>
          <a:solidFill>
            <a:srgbClr val="1F68C1"/>
          </a:solidFill>
          <a:ln/>
        </p:spPr>
      </p:sp>
      <p:sp>
        <p:nvSpPr>
          <p:cNvPr id="60" name="Shape 58"/>
          <p:cNvSpPr/>
          <p:nvPr/>
        </p:nvSpPr>
        <p:spPr>
          <a:xfrm>
            <a:off x="7071183" y="6215063"/>
            <a:ext cx="5120512" cy="116300"/>
          </a:xfrm>
          <a:prstGeom prst="rect">
            <a:avLst/>
          </a:prstGeom>
          <a:solidFill>
            <a:srgbClr val="1E69C1"/>
          </a:solidFill>
          <a:ln/>
        </p:spPr>
      </p:sp>
      <p:sp>
        <p:nvSpPr>
          <p:cNvPr id="61" name="Shape 59"/>
          <p:cNvSpPr/>
          <p:nvPr/>
        </p:nvSpPr>
        <p:spPr>
          <a:xfrm>
            <a:off x="7071183" y="6322219"/>
            <a:ext cx="5120512" cy="116300"/>
          </a:xfrm>
          <a:prstGeom prst="rect">
            <a:avLst/>
          </a:prstGeom>
          <a:solidFill>
            <a:srgbClr val="1D6AC0"/>
          </a:solidFill>
          <a:ln/>
        </p:spPr>
      </p:sp>
      <p:sp>
        <p:nvSpPr>
          <p:cNvPr id="62" name="Shape 60"/>
          <p:cNvSpPr/>
          <p:nvPr/>
        </p:nvSpPr>
        <p:spPr>
          <a:xfrm>
            <a:off x="7071183" y="6429375"/>
            <a:ext cx="5120512" cy="116300"/>
          </a:xfrm>
          <a:prstGeom prst="rect">
            <a:avLst/>
          </a:prstGeom>
          <a:solidFill>
            <a:srgbClr val="1D6BC0"/>
          </a:solidFill>
          <a:ln/>
        </p:spPr>
      </p:sp>
      <p:sp>
        <p:nvSpPr>
          <p:cNvPr id="63" name="Shape 61"/>
          <p:cNvSpPr/>
          <p:nvPr/>
        </p:nvSpPr>
        <p:spPr>
          <a:xfrm>
            <a:off x="7071183" y="6536531"/>
            <a:ext cx="5120512" cy="116300"/>
          </a:xfrm>
          <a:prstGeom prst="rect">
            <a:avLst/>
          </a:prstGeom>
          <a:solidFill>
            <a:srgbClr val="1C6DBF"/>
          </a:solidFill>
          <a:ln/>
        </p:spPr>
      </p:sp>
      <p:sp>
        <p:nvSpPr>
          <p:cNvPr id="64" name="Shape 62"/>
          <p:cNvSpPr/>
          <p:nvPr/>
        </p:nvSpPr>
        <p:spPr>
          <a:xfrm>
            <a:off x="7071183" y="6643688"/>
            <a:ext cx="5120512" cy="116300"/>
          </a:xfrm>
          <a:prstGeom prst="rect">
            <a:avLst/>
          </a:prstGeom>
          <a:solidFill>
            <a:srgbClr val="1B6EBF"/>
          </a:solidFill>
          <a:ln/>
        </p:spPr>
      </p:sp>
      <p:sp>
        <p:nvSpPr>
          <p:cNvPr id="65" name="Shape 63"/>
          <p:cNvSpPr/>
          <p:nvPr/>
        </p:nvSpPr>
        <p:spPr>
          <a:xfrm>
            <a:off x="7071183" y="6750844"/>
            <a:ext cx="5120512" cy="116300"/>
          </a:xfrm>
          <a:prstGeom prst="rect">
            <a:avLst/>
          </a:prstGeom>
          <a:solidFill>
            <a:srgbClr val="1A6FBE"/>
          </a:solidFill>
          <a:ln/>
        </p:spPr>
      </p:sp>
      <p:sp>
        <p:nvSpPr>
          <p:cNvPr id="66" name="Text 64"/>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THE WORKFLOW</a:t>
            </a:r>
            <a:endParaRPr lang="en-US" sz="1100" dirty="0"/>
          </a:p>
        </p:txBody>
      </p:sp>
      <p:sp>
        <p:nvSpPr>
          <p:cNvPr id="67" name="Text 65"/>
          <p:cNvSpPr/>
          <p:nvPr/>
        </p:nvSpPr>
        <p:spPr>
          <a:xfrm>
            <a:off x="548640" y="1417320"/>
            <a:ext cx="6156783" cy="2194560"/>
          </a:xfrm>
          <a:prstGeom prst="rect">
            <a:avLst/>
          </a:prstGeom>
          <a:noFill/>
          <a:ln/>
        </p:spPr>
        <p:txBody>
          <a:bodyPr wrap="square" lIns="0" tIns="0" rIns="0" bIns="0" rtlCol="0" anchor="t"/>
          <a:lstStyle/>
          <a:p>
            <a:pPr algn="l" indent="0" marL="0">
              <a:buNone/>
            </a:pPr>
            <a:r>
              <a:rPr lang="en-US" sz="4200" b="1" spc="-50" kern="0" dirty="0">
                <a:solidFill>
                  <a:srgbClr val="0F1733"/>
                </a:solidFill>
                <a:latin typeface="Calibri" pitchFamily="34" charset="0"/>
                <a:ea typeface="Calibri" pitchFamily="34" charset="-122"/>
                <a:cs typeface="Calibri" pitchFamily="34" charset="-120"/>
              </a:rPr>
              <a:t>From a one-line search to a sent email — in six minutes.</a:t>
            </a:r>
            <a:endParaRPr lang="en-US" sz="4200" dirty="0"/>
          </a:p>
        </p:txBody>
      </p:sp>
      <p:sp>
        <p:nvSpPr>
          <p:cNvPr id="68" name="Text 66"/>
          <p:cNvSpPr/>
          <p:nvPr/>
        </p:nvSpPr>
        <p:spPr>
          <a:xfrm>
            <a:off x="548640" y="3657600"/>
            <a:ext cx="6156783" cy="2377440"/>
          </a:xfrm>
          <a:prstGeom prst="rect">
            <a:avLst/>
          </a:prstGeom>
          <a:noFill/>
          <a:ln/>
        </p:spPr>
        <p:txBody>
          <a:bodyPr wrap="square" lIns="0" tIns="0" rIns="0" bIns="0" rtlCol="0" anchor="t"/>
          <a:lstStyle/>
          <a:p>
            <a:pPr algn="l" indent="0" marL="0">
              <a:spcAft>
                <a:spcPts val="800"/>
              </a:spcAft>
              <a:buNone/>
            </a:pPr>
            <a:r>
              <a:rPr lang="en-US" sz="1500" dirty="0">
                <a:solidFill>
                  <a:srgbClr val="2A3358"/>
                </a:solidFill>
                <a:latin typeface="Calibri" pitchFamily="34" charset="0"/>
                <a:ea typeface="Calibri" pitchFamily="34" charset="-122"/>
                <a:cs typeface="Calibri" pitchFamily="34" charset="-120"/>
              </a:rPr>
              <a:t>Type the kind of creator you're looking for. We search five platforms and apply your scoring criteria. Pick the matches you want to reach. Send through your own Gmail, IG, or LinkedIn. The CRM captures every reply, status, and next action without you lifting a finger.</a:t>
            </a:r>
            <a:endParaRPr lang="en-US" sz="1500" dirty="0"/>
          </a:p>
        </p:txBody>
      </p:sp>
      <p:sp>
        <p:nvSpPr>
          <p:cNvPr id="69" name="Text 67"/>
          <p:cNvSpPr/>
          <p:nvPr/>
        </p:nvSpPr>
        <p:spPr>
          <a:xfrm>
            <a:off x="7436943" y="1371600"/>
            <a:ext cx="4388992" cy="2377440"/>
          </a:xfrm>
          <a:prstGeom prst="rect">
            <a:avLst/>
          </a:prstGeom>
          <a:noFill/>
          <a:ln/>
        </p:spPr>
        <p:txBody>
          <a:bodyPr wrap="square" lIns="0" tIns="0" rIns="0" bIns="0" rtlCol="0" anchor="t"/>
          <a:lstStyle/>
          <a:p>
            <a:pPr algn="l" indent="0" marL="0">
              <a:buNone/>
            </a:pPr>
            <a:r>
              <a:rPr lang="en-US" sz="9600" b="1" spc="-200" kern="0" dirty="0">
                <a:solidFill>
                  <a:srgbClr val="FFFFFF"/>
                </a:solidFill>
                <a:latin typeface="Calibri" pitchFamily="34" charset="0"/>
                <a:ea typeface="Calibri" pitchFamily="34" charset="-122"/>
                <a:cs typeface="Calibri" pitchFamily="34" charset="-120"/>
              </a:rPr>
              <a:t>6 min</a:t>
            </a:r>
            <a:endParaRPr lang="en-US" sz="9600" dirty="0"/>
          </a:p>
        </p:txBody>
      </p:sp>
      <p:sp>
        <p:nvSpPr>
          <p:cNvPr id="70" name="Text 68"/>
          <p:cNvSpPr/>
          <p:nvPr/>
        </p:nvSpPr>
        <p:spPr>
          <a:xfrm>
            <a:off x="7436943" y="3840480"/>
            <a:ext cx="4388992" cy="1828800"/>
          </a:xfrm>
          <a:prstGeom prst="rect">
            <a:avLst/>
          </a:prstGeom>
          <a:noFill/>
          <a:ln/>
        </p:spPr>
        <p:txBody>
          <a:bodyPr wrap="square" lIns="0" tIns="0" rIns="0" bIns="0" rtlCol="0" anchor="t"/>
          <a:lstStyle/>
          <a:p>
            <a:pPr algn="l" indent="0" marL="0">
              <a:buNone/>
            </a:pPr>
            <a:r>
              <a:rPr lang="en-US" sz="1600" dirty="0">
                <a:solidFill>
                  <a:srgbClr val="FFFFFF">
                    <a:alpha val="90000"/>
                  </a:srgbClr>
                </a:solidFill>
                <a:latin typeface="Calibri" pitchFamily="34" charset="0"/>
                <a:ea typeface="Calibri" pitchFamily="34" charset="-122"/>
                <a:cs typeface="Calibri" pitchFamily="34" charset="-120"/>
              </a:rPr>
              <a:t>Median time from a new search to first send. Down from 4+ hours.</a:t>
            </a:r>
            <a:endParaRPr lang="en-US" sz="1600" dirty="0"/>
          </a:p>
        </p:txBody>
      </p:sp>
      <p:sp>
        <p:nvSpPr>
          <p:cNvPr id="71" name="Shape 69"/>
          <p:cNvSpPr/>
          <p:nvPr/>
        </p:nvSpPr>
        <p:spPr>
          <a:xfrm>
            <a:off x="548640" y="502920"/>
            <a:ext cx="292608" cy="292608"/>
          </a:xfrm>
          <a:prstGeom prst="roundRect">
            <a:avLst>
              <a:gd name="adj" fmla="val 25000"/>
            </a:avLst>
          </a:prstGeom>
          <a:solidFill>
            <a:srgbClr val="5028C2"/>
          </a:solidFill>
          <a:ln/>
        </p:spPr>
      </p:sp>
      <p:sp>
        <p:nvSpPr>
          <p:cNvPr id="72" name="Shape 70"/>
          <p:cNvSpPr/>
          <p:nvPr/>
        </p:nvSpPr>
        <p:spPr>
          <a:xfrm>
            <a:off x="548640" y="502920"/>
            <a:ext cx="292608" cy="292608"/>
          </a:xfrm>
          <a:prstGeom prst="roundRect">
            <a:avLst>
              <a:gd name="adj" fmla="val 25000"/>
            </a:avLst>
          </a:prstGeom>
          <a:solidFill>
            <a:srgbClr val="1A6FBE">
              <a:alpha val="50000"/>
            </a:srgbClr>
          </a:solidFill>
          <a:ln/>
        </p:spPr>
      </p:sp>
      <p:sp>
        <p:nvSpPr>
          <p:cNvPr id="73" name="Text 71"/>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4" name="Text 72"/>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5" name="Text 73"/>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06 · How it works  ·  vB</a:t>
            </a:r>
            <a:endParaRPr lang="en-US" sz="900" dirty="0"/>
          </a:p>
        </p:txBody>
      </p:sp>
      <p:sp>
        <p:nvSpPr>
          <p:cNvPr id="76" name="Text 74"/>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7" name="Text 75"/>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037 / 126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HOW IT WORKS</a:t>
            </a:r>
            <a:endParaRPr lang="en-US" sz="1100" dirty="0"/>
          </a:p>
        </p:txBody>
      </p:sp>
      <p:sp>
        <p:nvSpPr>
          <p:cNvPr id="3" name="Text 1"/>
          <p:cNvSpPr/>
          <p:nvPr/>
        </p:nvSpPr>
        <p:spPr>
          <a:xfrm>
            <a:off x="548640" y="1417320"/>
            <a:ext cx="11094415" cy="1188720"/>
          </a:xfrm>
          <a:prstGeom prst="rect">
            <a:avLst/>
          </a:prstGeom>
          <a:noFill/>
          <a:ln/>
        </p:spPr>
        <p:txBody>
          <a:bodyPr wrap="square" lIns="0" tIns="0" rIns="0" bIns="0" rtlCol="0" anchor="t"/>
          <a:lstStyle/>
          <a:p>
            <a:pPr algn="l" indent="0" marL="0">
              <a:buNone/>
            </a:pPr>
            <a:r>
              <a:rPr lang="en-US" sz="3800" b="1" spc="-50" kern="0" dirty="0">
                <a:solidFill>
                  <a:srgbClr val="0F1733"/>
                </a:solidFill>
                <a:latin typeface="Calibri" pitchFamily="34" charset="0"/>
                <a:ea typeface="Calibri" pitchFamily="34" charset="-122"/>
                <a:cs typeface="Calibri" pitchFamily="34" charset="-120"/>
              </a:rPr>
              <a:t>Three steps. Built to compound.</a:t>
            </a:r>
            <a:endParaRPr lang="en-US" sz="3800" dirty="0"/>
          </a:p>
        </p:txBody>
      </p:sp>
      <p:sp>
        <p:nvSpPr>
          <p:cNvPr id="4" name="Text 2"/>
          <p:cNvSpPr/>
          <p:nvPr/>
        </p:nvSpPr>
        <p:spPr>
          <a:xfrm>
            <a:off x="548640" y="2606040"/>
            <a:ext cx="8534187" cy="457200"/>
          </a:xfrm>
          <a:prstGeom prst="rect">
            <a:avLst/>
          </a:prstGeom>
          <a:noFill/>
          <a:ln/>
        </p:spPr>
        <p:txBody>
          <a:bodyPr wrap="square" lIns="0" tIns="0" rIns="0" bIns="0" rtlCol="0" anchor="t"/>
          <a:lstStyle/>
          <a:p>
            <a:pPr algn="l" indent="0" marL="0">
              <a:buNone/>
            </a:pPr>
            <a:r>
              <a:rPr lang="en-US" sz="1600" dirty="0">
                <a:solidFill>
                  <a:srgbClr val="2A3358"/>
                </a:solidFill>
                <a:latin typeface="Calibri" pitchFamily="34" charset="0"/>
                <a:ea typeface="Calibri" pitchFamily="34" charset="-122"/>
                <a:cs typeface="Calibri" pitchFamily="34" charset="-120"/>
              </a:rPr>
              <a:t>Each step feeds the next — so a workflow becomes a system.</a:t>
            </a:r>
            <a:endParaRPr lang="en-US" sz="1600" dirty="0"/>
          </a:p>
        </p:txBody>
      </p:sp>
      <p:sp>
        <p:nvSpPr>
          <p:cNvPr id="5" name="Shape 3"/>
          <p:cNvSpPr/>
          <p:nvPr/>
        </p:nvSpPr>
        <p:spPr>
          <a:xfrm>
            <a:off x="548640" y="3108960"/>
            <a:ext cx="3545738" cy="3017520"/>
          </a:xfrm>
          <a:prstGeom prst="roundRect">
            <a:avLst>
              <a:gd name="adj" fmla="val 3636"/>
            </a:avLst>
          </a:prstGeom>
          <a:solidFill>
            <a:srgbClr val="FFFFFF"/>
          </a:solidFill>
          <a:ln w="9525">
            <a:solidFill>
              <a:srgbClr val="E5E7F0"/>
            </a:solidFill>
            <a:prstDash val="solid"/>
          </a:ln>
        </p:spPr>
      </p:sp>
      <p:sp>
        <p:nvSpPr>
          <p:cNvPr id="6" name="Shape 4"/>
          <p:cNvSpPr/>
          <p:nvPr/>
        </p:nvSpPr>
        <p:spPr>
          <a:xfrm>
            <a:off x="548640" y="3108960"/>
            <a:ext cx="3545738" cy="73152"/>
          </a:xfrm>
          <a:prstGeom prst="rect">
            <a:avLst/>
          </a:prstGeom>
          <a:solidFill>
            <a:srgbClr val="5028C2"/>
          </a:solidFill>
          <a:ln/>
        </p:spPr>
      </p:sp>
      <p:sp>
        <p:nvSpPr>
          <p:cNvPr id="7" name="Shape 5"/>
          <p:cNvSpPr/>
          <p:nvPr/>
        </p:nvSpPr>
        <p:spPr>
          <a:xfrm>
            <a:off x="868680" y="3474720"/>
            <a:ext cx="457200" cy="457200"/>
          </a:xfrm>
          <a:prstGeom prst="ellipse">
            <a:avLst/>
          </a:prstGeom>
          <a:solidFill>
            <a:srgbClr val="5028C2"/>
          </a:solidFill>
          <a:ln/>
        </p:spPr>
      </p:sp>
      <p:sp>
        <p:nvSpPr>
          <p:cNvPr id="8" name="Text 6"/>
          <p:cNvSpPr/>
          <p:nvPr/>
        </p:nvSpPr>
        <p:spPr>
          <a:xfrm>
            <a:off x="868680"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9" name="Text 7"/>
          <p:cNvSpPr/>
          <p:nvPr/>
        </p:nvSpPr>
        <p:spPr>
          <a:xfrm>
            <a:off x="868680"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Search</a:t>
            </a:r>
            <a:endParaRPr lang="en-US" sz="1800" dirty="0"/>
          </a:p>
        </p:txBody>
      </p:sp>
      <p:sp>
        <p:nvSpPr>
          <p:cNvPr id="10" name="Text 8"/>
          <p:cNvSpPr/>
          <p:nvPr/>
        </p:nvSpPr>
        <p:spPr>
          <a:xfrm>
            <a:off x="868680"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One query bar. Five platforms. Public creators only. Filter by audience size, engagement, language, and niche.</a:t>
            </a:r>
            <a:endParaRPr lang="en-US" sz="1300" dirty="0"/>
          </a:p>
        </p:txBody>
      </p:sp>
      <p:sp>
        <p:nvSpPr>
          <p:cNvPr id="11" name="Shape 9"/>
          <p:cNvSpPr/>
          <p:nvPr/>
        </p:nvSpPr>
        <p:spPr>
          <a:xfrm>
            <a:off x="4322978" y="3108960"/>
            <a:ext cx="3545738" cy="3017520"/>
          </a:xfrm>
          <a:prstGeom prst="roundRect">
            <a:avLst>
              <a:gd name="adj" fmla="val 3636"/>
            </a:avLst>
          </a:prstGeom>
          <a:solidFill>
            <a:srgbClr val="FFFFFF"/>
          </a:solidFill>
          <a:ln w="9525">
            <a:solidFill>
              <a:srgbClr val="E5E7F0"/>
            </a:solidFill>
            <a:prstDash val="solid"/>
          </a:ln>
        </p:spPr>
      </p:sp>
      <p:sp>
        <p:nvSpPr>
          <p:cNvPr id="12" name="Shape 10"/>
          <p:cNvSpPr/>
          <p:nvPr/>
        </p:nvSpPr>
        <p:spPr>
          <a:xfrm>
            <a:off x="4322978" y="3108960"/>
            <a:ext cx="3545738" cy="73152"/>
          </a:xfrm>
          <a:prstGeom prst="rect">
            <a:avLst/>
          </a:prstGeom>
          <a:solidFill>
            <a:srgbClr val="3548D0"/>
          </a:solidFill>
          <a:ln/>
        </p:spPr>
      </p:sp>
      <p:sp>
        <p:nvSpPr>
          <p:cNvPr id="13" name="Shape 11"/>
          <p:cNvSpPr/>
          <p:nvPr/>
        </p:nvSpPr>
        <p:spPr>
          <a:xfrm>
            <a:off x="4643018" y="3474720"/>
            <a:ext cx="457200" cy="457200"/>
          </a:xfrm>
          <a:prstGeom prst="ellipse">
            <a:avLst/>
          </a:prstGeom>
          <a:solidFill>
            <a:srgbClr val="3548D0"/>
          </a:solidFill>
          <a:ln/>
        </p:spPr>
      </p:sp>
      <p:sp>
        <p:nvSpPr>
          <p:cNvPr id="14" name="Text 12"/>
          <p:cNvSpPr/>
          <p:nvPr/>
        </p:nvSpPr>
        <p:spPr>
          <a:xfrm>
            <a:off x="4643018"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5" name="Text 13"/>
          <p:cNvSpPr/>
          <p:nvPr/>
        </p:nvSpPr>
        <p:spPr>
          <a:xfrm>
            <a:off x="4643018"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Score</a:t>
            </a:r>
            <a:endParaRPr lang="en-US" sz="1800" dirty="0"/>
          </a:p>
        </p:txBody>
      </p:sp>
      <p:sp>
        <p:nvSpPr>
          <p:cNvPr id="16" name="Text 14"/>
          <p:cNvSpPr/>
          <p:nvPr/>
        </p:nvSpPr>
        <p:spPr>
          <a:xfrm>
            <a:off x="4643018"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AI rates every result 0–100 against your ICP criteria. Sort by score. Skip the bottom half. Open the top ten.</a:t>
            </a:r>
            <a:endParaRPr lang="en-US" sz="1300" dirty="0"/>
          </a:p>
        </p:txBody>
      </p:sp>
      <p:sp>
        <p:nvSpPr>
          <p:cNvPr id="17" name="Shape 15"/>
          <p:cNvSpPr/>
          <p:nvPr/>
        </p:nvSpPr>
        <p:spPr>
          <a:xfrm>
            <a:off x="8097317" y="3108960"/>
            <a:ext cx="3545738" cy="3017520"/>
          </a:xfrm>
          <a:prstGeom prst="roundRect">
            <a:avLst>
              <a:gd name="adj" fmla="val 3636"/>
            </a:avLst>
          </a:prstGeom>
          <a:solidFill>
            <a:srgbClr val="FFFFFF"/>
          </a:solidFill>
          <a:ln w="9525">
            <a:solidFill>
              <a:srgbClr val="E5E7F0"/>
            </a:solidFill>
            <a:prstDash val="solid"/>
          </a:ln>
        </p:spPr>
      </p:sp>
      <p:sp>
        <p:nvSpPr>
          <p:cNvPr id="18" name="Shape 16"/>
          <p:cNvSpPr/>
          <p:nvPr/>
        </p:nvSpPr>
        <p:spPr>
          <a:xfrm>
            <a:off x="8097317" y="3108960"/>
            <a:ext cx="3545738" cy="73152"/>
          </a:xfrm>
          <a:prstGeom prst="rect">
            <a:avLst/>
          </a:prstGeom>
          <a:solidFill>
            <a:srgbClr val="1A6FBE"/>
          </a:solidFill>
          <a:ln/>
        </p:spPr>
      </p:sp>
      <p:sp>
        <p:nvSpPr>
          <p:cNvPr id="19" name="Shape 17"/>
          <p:cNvSpPr/>
          <p:nvPr/>
        </p:nvSpPr>
        <p:spPr>
          <a:xfrm>
            <a:off x="8417357" y="3474720"/>
            <a:ext cx="457200" cy="457200"/>
          </a:xfrm>
          <a:prstGeom prst="ellipse">
            <a:avLst/>
          </a:prstGeom>
          <a:solidFill>
            <a:srgbClr val="1A6FBE"/>
          </a:solidFill>
          <a:ln/>
        </p:spPr>
      </p:sp>
      <p:sp>
        <p:nvSpPr>
          <p:cNvPr id="20" name="Text 18"/>
          <p:cNvSpPr/>
          <p:nvPr/>
        </p:nvSpPr>
        <p:spPr>
          <a:xfrm>
            <a:off x="8417357"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9"/>
          <p:cNvSpPr/>
          <p:nvPr/>
        </p:nvSpPr>
        <p:spPr>
          <a:xfrm>
            <a:off x="8417357"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Send</a:t>
            </a:r>
            <a:endParaRPr lang="en-US" sz="1800" dirty="0"/>
          </a:p>
        </p:txBody>
      </p:sp>
      <p:sp>
        <p:nvSpPr>
          <p:cNvPr id="22" name="Text 20"/>
          <p:cNvSpPr/>
          <p:nvPr/>
        </p:nvSpPr>
        <p:spPr>
          <a:xfrm>
            <a:off x="8417357"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Native compose in Gmail, IG, LinkedIn. The CRM logs the send, watches for replies, and reminds you when to follow up.</a:t>
            </a:r>
            <a:endParaRPr lang="en-US" sz="1300" dirty="0"/>
          </a:p>
        </p:txBody>
      </p:sp>
      <p:sp>
        <p:nvSpPr>
          <p:cNvPr id="23" name="Shape 21"/>
          <p:cNvSpPr/>
          <p:nvPr/>
        </p:nvSpPr>
        <p:spPr>
          <a:xfrm>
            <a:off x="548640" y="502920"/>
            <a:ext cx="292608" cy="292608"/>
          </a:xfrm>
          <a:prstGeom prst="roundRect">
            <a:avLst>
              <a:gd name="adj" fmla="val 25000"/>
            </a:avLst>
          </a:prstGeom>
          <a:solidFill>
            <a:srgbClr val="5028C2"/>
          </a:solidFill>
          <a:ln/>
        </p:spPr>
      </p:sp>
      <p:sp>
        <p:nvSpPr>
          <p:cNvPr id="24" name="Shape 22"/>
          <p:cNvSpPr/>
          <p:nvPr/>
        </p:nvSpPr>
        <p:spPr>
          <a:xfrm>
            <a:off x="548640" y="502920"/>
            <a:ext cx="292608" cy="292608"/>
          </a:xfrm>
          <a:prstGeom prst="roundRect">
            <a:avLst>
              <a:gd name="adj" fmla="val 25000"/>
            </a:avLst>
          </a:prstGeom>
          <a:solidFill>
            <a:srgbClr val="1A6FBE">
              <a:alpha val="50000"/>
            </a:srgbClr>
          </a:solidFill>
          <a:ln/>
        </p:spPr>
      </p:sp>
      <p:sp>
        <p:nvSpPr>
          <p:cNvPr id="25" name="Text 23"/>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6" name="Text 24"/>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7" name="Text 25"/>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06 · How it works  ·  vC</a:t>
            </a:r>
            <a:endParaRPr lang="en-US" sz="900" dirty="0"/>
          </a:p>
        </p:txBody>
      </p:sp>
      <p:sp>
        <p:nvSpPr>
          <p:cNvPr id="28" name="Text 26"/>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29" name="Text 27"/>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038 / 126</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320040" cy="116300"/>
          </a:xfrm>
          <a:prstGeom prst="rect">
            <a:avLst/>
          </a:prstGeom>
          <a:solidFill>
            <a:srgbClr val="5028C2"/>
          </a:solidFill>
          <a:ln/>
        </p:spPr>
      </p:sp>
      <p:sp>
        <p:nvSpPr>
          <p:cNvPr id="3" name="Shape 1"/>
          <p:cNvSpPr/>
          <p:nvPr/>
        </p:nvSpPr>
        <p:spPr>
          <a:xfrm>
            <a:off x="0" y="107156"/>
            <a:ext cx="320040" cy="116300"/>
          </a:xfrm>
          <a:prstGeom prst="rect">
            <a:avLst/>
          </a:prstGeom>
          <a:solidFill>
            <a:srgbClr val="4F29C2"/>
          </a:solidFill>
          <a:ln/>
        </p:spPr>
      </p:sp>
      <p:sp>
        <p:nvSpPr>
          <p:cNvPr id="4" name="Shape 2"/>
          <p:cNvSpPr/>
          <p:nvPr/>
        </p:nvSpPr>
        <p:spPr>
          <a:xfrm>
            <a:off x="0" y="214313"/>
            <a:ext cx="320040" cy="116300"/>
          </a:xfrm>
          <a:prstGeom prst="rect">
            <a:avLst/>
          </a:prstGeom>
          <a:solidFill>
            <a:srgbClr val="4E2AC3"/>
          </a:solidFill>
          <a:ln/>
        </p:spPr>
      </p:sp>
      <p:sp>
        <p:nvSpPr>
          <p:cNvPr id="5" name="Shape 3"/>
          <p:cNvSpPr/>
          <p:nvPr/>
        </p:nvSpPr>
        <p:spPr>
          <a:xfrm>
            <a:off x="0" y="321469"/>
            <a:ext cx="320040" cy="116300"/>
          </a:xfrm>
          <a:prstGeom prst="rect">
            <a:avLst/>
          </a:prstGeom>
          <a:solidFill>
            <a:srgbClr val="4D2BC3"/>
          </a:solidFill>
          <a:ln/>
        </p:spPr>
      </p:sp>
      <p:sp>
        <p:nvSpPr>
          <p:cNvPr id="6" name="Shape 4"/>
          <p:cNvSpPr/>
          <p:nvPr/>
        </p:nvSpPr>
        <p:spPr>
          <a:xfrm>
            <a:off x="0" y="428625"/>
            <a:ext cx="320040" cy="116300"/>
          </a:xfrm>
          <a:prstGeom prst="rect">
            <a:avLst/>
          </a:prstGeom>
          <a:solidFill>
            <a:srgbClr val="4D2CC4"/>
          </a:solidFill>
          <a:ln/>
        </p:spPr>
      </p:sp>
      <p:sp>
        <p:nvSpPr>
          <p:cNvPr id="7" name="Shape 5"/>
          <p:cNvSpPr/>
          <p:nvPr/>
        </p:nvSpPr>
        <p:spPr>
          <a:xfrm>
            <a:off x="0" y="535781"/>
            <a:ext cx="320040" cy="116300"/>
          </a:xfrm>
          <a:prstGeom prst="rect">
            <a:avLst/>
          </a:prstGeom>
          <a:solidFill>
            <a:srgbClr val="4C2DC4"/>
          </a:solidFill>
          <a:ln/>
        </p:spPr>
      </p:sp>
      <p:sp>
        <p:nvSpPr>
          <p:cNvPr id="8" name="Shape 6"/>
          <p:cNvSpPr/>
          <p:nvPr/>
        </p:nvSpPr>
        <p:spPr>
          <a:xfrm>
            <a:off x="0" y="642938"/>
            <a:ext cx="320040" cy="116300"/>
          </a:xfrm>
          <a:prstGeom prst="rect">
            <a:avLst/>
          </a:prstGeom>
          <a:solidFill>
            <a:srgbClr val="4B2EC5"/>
          </a:solidFill>
          <a:ln/>
        </p:spPr>
      </p:sp>
      <p:sp>
        <p:nvSpPr>
          <p:cNvPr id="9" name="Shape 7"/>
          <p:cNvSpPr/>
          <p:nvPr/>
        </p:nvSpPr>
        <p:spPr>
          <a:xfrm>
            <a:off x="0" y="750094"/>
            <a:ext cx="320040" cy="116300"/>
          </a:xfrm>
          <a:prstGeom prst="rect">
            <a:avLst/>
          </a:prstGeom>
          <a:solidFill>
            <a:srgbClr val="4A2FC5"/>
          </a:solidFill>
          <a:ln/>
        </p:spPr>
      </p:sp>
      <p:sp>
        <p:nvSpPr>
          <p:cNvPr id="10" name="Shape 8"/>
          <p:cNvSpPr/>
          <p:nvPr/>
        </p:nvSpPr>
        <p:spPr>
          <a:xfrm>
            <a:off x="0" y="857250"/>
            <a:ext cx="320040" cy="116300"/>
          </a:xfrm>
          <a:prstGeom prst="rect">
            <a:avLst/>
          </a:prstGeom>
          <a:solidFill>
            <a:srgbClr val="4930C6"/>
          </a:solidFill>
          <a:ln/>
        </p:spPr>
      </p:sp>
      <p:sp>
        <p:nvSpPr>
          <p:cNvPr id="11" name="Shape 9"/>
          <p:cNvSpPr/>
          <p:nvPr/>
        </p:nvSpPr>
        <p:spPr>
          <a:xfrm>
            <a:off x="0" y="964406"/>
            <a:ext cx="320040" cy="116300"/>
          </a:xfrm>
          <a:prstGeom prst="rect">
            <a:avLst/>
          </a:prstGeom>
          <a:solidFill>
            <a:srgbClr val="4831C6"/>
          </a:solidFill>
          <a:ln/>
        </p:spPr>
      </p:sp>
      <p:sp>
        <p:nvSpPr>
          <p:cNvPr id="12" name="Shape 10"/>
          <p:cNvSpPr/>
          <p:nvPr/>
        </p:nvSpPr>
        <p:spPr>
          <a:xfrm>
            <a:off x="0" y="1071563"/>
            <a:ext cx="320040" cy="116300"/>
          </a:xfrm>
          <a:prstGeom prst="rect">
            <a:avLst/>
          </a:prstGeom>
          <a:solidFill>
            <a:srgbClr val="4732C6"/>
          </a:solidFill>
          <a:ln/>
        </p:spPr>
      </p:sp>
      <p:sp>
        <p:nvSpPr>
          <p:cNvPr id="13" name="Shape 11"/>
          <p:cNvSpPr/>
          <p:nvPr/>
        </p:nvSpPr>
        <p:spPr>
          <a:xfrm>
            <a:off x="0" y="1178719"/>
            <a:ext cx="320040" cy="116300"/>
          </a:xfrm>
          <a:prstGeom prst="rect">
            <a:avLst/>
          </a:prstGeom>
          <a:solidFill>
            <a:srgbClr val="4733C7"/>
          </a:solidFill>
          <a:ln/>
        </p:spPr>
      </p:sp>
      <p:sp>
        <p:nvSpPr>
          <p:cNvPr id="14" name="Shape 12"/>
          <p:cNvSpPr/>
          <p:nvPr/>
        </p:nvSpPr>
        <p:spPr>
          <a:xfrm>
            <a:off x="0" y="1285875"/>
            <a:ext cx="320040" cy="116300"/>
          </a:xfrm>
          <a:prstGeom prst="rect">
            <a:avLst/>
          </a:prstGeom>
          <a:solidFill>
            <a:srgbClr val="4634C7"/>
          </a:solidFill>
          <a:ln/>
        </p:spPr>
      </p:sp>
      <p:sp>
        <p:nvSpPr>
          <p:cNvPr id="15" name="Shape 13"/>
          <p:cNvSpPr/>
          <p:nvPr/>
        </p:nvSpPr>
        <p:spPr>
          <a:xfrm>
            <a:off x="0" y="1393031"/>
            <a:ext cx="320040" cy="116300"/>
          </a:xfrm>
          <a:prstGeom prst="rect">
            <a:avLst/>
          </a:prstGeom>
          <a:solidFill>
            <a:srgbClr val="4535C8"/>
          </a:solidFill>
          <a:ln/>
        </p:spPr>
      </p:sp>
      <p:sp>
        <p:nvSpPr>
          <p:cNvPr id="16" name="Shape 14"/>
          <p:cNvSpPr/>
          <p:nvPr/>
        </p:nvSpPr>
        <p:spPr>
          <a:xfrm>
            <a:off x="0" y="1500188"/>
            <a:ext cx="320040" cy="116300"/>
          </a:xfrm>
          <a:prstGeom prst="rect">
            <a:avLst/>
          </a:prstGeom>
          <a:solidFill>
            <a:srgbClr val="4436C8"/>
          </a:solidFill>
          <a:ln/>
        </p:spPr>
      </p:sp>
      <p:sp>
        <p:nvSpPr>
          <p:cNvPr id="17" name="Shape 15"/>
          <p:cNvSpPr/>
          <p:nvPr/>
        </p:nvSpPr>
        <p:spPr>
          <a:xfrm>
            <a:off x="0" y="1607344"/>
            <a:ext cx="320040" cy="116300"/>
          </a:xfrm>
          <a:prstGeom prst="rect">
            <a:avLst/>
          </a:prstGeom>
          <a:solidFill>
            <a:srgbClr val="4337C9"/>
          </a:solidFill>
          <a:ln/>
        </p:spPr>
      </p:sp>
      <p:sp>
        <p:nvSpPr>
          <p:cNvPr id="18" name="Shape 16"/>
          <p:cNvSpPr/>
          <p:nvPr/>
        </p:nvSpPr>
        <p:spPr>
          <a:xfrm>
            <a:off x="0" y="1714500"/>
            <a:ext cx="320040" cy="116300"/>
          </a:xfrm>
          <a:prstGeom prst="rect">
            <a:avLst/>
          </a:prstGeom>
          <a:solidFill>
            <a:srgbClr val="4238C9"/>
          </a:solidFill>
          <a:ln/>
        </p:spPr>
      </p:sp>
      <p:sp>
        <p:nvSpPr>
          <p:cNvPr id="19" name="Shape 17"/>
          <p:cNvSpPr/>
          <p:nvPr/>
        </p:nvSpPr>
        <p:spPr>
          <a:xfrm>
            <a:off x="0" y="1821656"/>
            <a:ext cx="320040" cy="116300"/>
          </a:xfrm>
          <a:prstGeom prst="rect">
            <a:avLst/>
          </a:prstGeom>
          <a:solidFill>
            <a:srgbClr val="4139CA"/>
          </a:solidFill>
          <a:ln/>
        </p:spPr>
      </p:sp>
      <p:sp>
        <p:nvSpPr>
          <p:cNvPr id="20" name="Shape 18"/>
          <p:cNvSpPr/>
          <p:nvPr/>
        </p:nvSpPr>
        <p:spPr>
          <a:xfrm>
            <a:off x="0" y="1928813"/>
            <a:ext cx="320040" cy="116300"/>
          </a:xfrm>
          <a:prstGeom prst="rect">
            <a:avLst/>
          </a:prstGeom>
          <a:solidFill>
            <a:srgbClr val="413ACA"/>
          </a:solidFill>
          <a:ln/>
        </p:spPr>
      </p:sp>
      <p:sp>
        <p:nvSpPr>
          <p:cNvPr id="21" name="Shape 19"/>
          <p:cNvSpPr/>
          <p:nvPr/>
        </p:nvSpPr>
        <p:spPr>
          <a:xfrm>
            <a:off x="0" y="2035969"/>
            <a:ext cx="320040" cy="116300"/>
          </a:xfrm>
          <a:prstGeom prst="rect">
            <a:avLst/>
          </a:prstGeom>
          <a:solidFill>
            <a:srgbClr val="403BCA"/>
          </a:solidFill>
          <a:ln/>
        </p:spPr>
      </p:sp>
      <p:sp>
        <p:nvSpPr>
          <p:cNvPr id="22" name="Shape 20"/>
          <p:cNvSpPr/>
          <p:nvPr/>
        </p:nvSpPr>
        <p:spPr>
          <a:xfrm>
            <a:off x="0" y="2143125"/>
            <a:ext cx="320040" cy="116300"/>
          </a:xfrm>
          <a:prstGeom prst="rect">
            <a:avLst/>
          </a:prstGeom>
          <a:solidFill>
            <a:srgbClr val="3F3CCB"/>
          </a:solidFill>
          <a:ln/>
        </p:spPr>
      </p:sp>
      <p:sp>
        <p:nvSpPr>
          <p:cNvPr id="23" name="Shape 21"/>
          <p:cNvSpPr/>
          <p:nvPr/>
        </p:nvSpPr>
        <p:spPr>
          <a:xfrm>
            <a:off x="0" y="2250281"/>
            <a:ext cx="320040" cy="116300"/>
          </a:xfrm>
          <a:prstGeom prst="rect">
            <a:avLst/>
          </a:prstGeom>
          <a:solidFill>
            <a:srgbClr val="3E3DCB"/>
          </a:solidFill>
          <a:ln/>
        </p:spPr>
      </p:sp>
      <p:sp>
        <p:nvSpPr>
          <p:cNvPr id="24" name="Shape 22"/>
          <p:cNvSpPr/>
          <p:nvPr/>
        </p:nvSpPr>
        <p:spPr>
          <a:xfrm>
            <a:off x="0" y="2357438"/>
            <a:ext cx="320040" cy="116300"/>
          </a:xfrm>
          <a:prstGeom prst="rect">
            <a:avLst/>
          </a:prstGeom>
          <a:solidFill>
            <a:srgbClr val="3D3ECC"/>
          </a:solidFill>
          <a:ln/>
        </p:spPr>
      </p:sp>
      <p:sp>
        <p:nvSpPr>
          <p:cNvPr id="25" name="Shape 23"/>
          <p:cNvSpPr/>
          <p:nvPr/>
        </p:nvSpPr>
        <p:spPr>
          <a:xfrm>
            <a:off x="0" y="2464594"/>
            <a:ext cx="320040" cy="116300"/>
          </a:xfrm>
          <a:prstGeom prst="rect">
            <a:avLst/>
          </a:prstGeom>
          <a:solidFill>
            <a:srgbClr val="3C3FCC"/>
          </a:solidFill>
          <a:ln/>
        </p:spPr>
      </p:sp>
      <p:sp>
        <p:nvSpPr>
          <p:cNvPr id="26" name="Shape 24"/>
          <p:cNvSpPr/>
          <p:nvPr/>
        </p:nvSpPr>
        <p:spPr>
          <a:xfrm>
            <a:off x="0" y="2571750"/>
            <a:ext cx="320040" cy="116300"/>
          </a:xfrm>
          <a:prstGeom prst="rect">
            <a:avLst/>
          </a:prstGeom>
          <a:solidFill>
            <a:srgbClr val="3B40CD"/>
          </a:solidFill>
          <a:ln/>
        </p:spPr>
      </p:sp>
      <p:sp>
        <p:nvSpPr>
          <p:cNvPr id="27" name="Shape 25"/>
          <p:cNvSpPr/>
          <p:nvPr/>
        </p:nvSpPr>
        <p:spPr>
          <a:xfrm>
            <a:off x="0" y="2678906"/>
            <a:ext cx="320040" cy="116300"/>
          </a:xfrm>
          <a:prstGeom prst="rect">
            <a:avLst/>
          </a:prstGeom>
          <a:solidFill>
            <a:srgbClr val="3B41CD"/>
          </a:solidFill>
          <a:ln/>
        </p:spPr>
      </p:sp>
      <p:sp>
        <p:nvSpPr>
          <p:cNvPr id="28" name="Shape 26"/>
          <p:cNvSpPr/>
          <p:nvPr/>
        </p:nvSpPr>
        <p:spPr>
          <a:xfrm>
            <a:off x="0" y="2786063"/>
            <a:ext cx="320040" cy="116300"/>
          </a:xfrm>
          <a:prstGeom prst="rect">
            <a:avLst/>
          </a:prstGeom>
          <a:solidFill>
            <a:srgbClr val="3A42CE"/>
          </a:solidFill>
          <a:ln/>
        </p:spPr>
      </p:sp>
      <p:sp>
        <p:nvSpPr>
          <p:cNvPr id="29" name="Shape 27"/>
          <p:cNvSpPr/>
          <p:nvPr/>
        </p:nvSpPr>
        <p:spPr>
          <a:xfrm>
            <a:off x="0" y="2893219"/>
            <a:ext cx="320040" cy="116300"/>
          </a:xfrm>
          <a:prstGeom prst="rect">
            <a:avLst/>
          </a:prstGeom>
          <a:solidFill>
            <a:srgbClr val="3943CE"/>
          </a:solidFill>
          <a:ln/>
        </p:spPr>
      </p:sp>
      <p:sp>
        <p:nvSpPr>
          <p:cNvPr id="30" name="Shape 28"/>
          <p:cNvSpPr/>
          <p:nvPr/>
        </p:nvSpPr>
        <p:spPr>
          <a:xfrm>
            <a:off x="0" y="3000375"/>
            <a:ext cx="320040" cy="116300"/>
          </a:xfrm>
          <a:prstGeom prst="rect">
            <a:avLst/>
          </a:prstGeom>
          <a:solidFill>
            <a:srgbClr val="3844CE"/>
          </a:solidFill>
          <a:ln/>
        </p:spPr>
      </p:sp>
      <p:sp>
        <p:nvSpPr>
          <p:cNvPr id="31" name="Shape 29"/>
          <p:cNvSpPr/>
          <p:nvPr/>
        </p:nvSpPr>
        <p:spPr>
          <a:xfrm>
            <a:off x="0" y="3107531"/>
            <a:ext cx="320040" cy="116300"/>
          </a:xfrm>
          <a:prstGeom prst="rect">
            <a:avLst/>
          </a:prstGeom>
          <a:solidFill>
            <a:srgbClr val="3745CF"/>
          </a:solidFill>
          <a:ln/>
        </p:spPr>
      </p:sp>
      <p:sp>
        <p:nvSpPr>
          <p:cNvPr id="32" name="Shape 30"/>
          <p:cNvSpPr/>
          <p:nvPr/>
        </p:nvSpPr>
        <p:spPr>
          <a:xfrm>
            <a:off x="0" y="3214688"/>
            <a:ext cx="320040" cy="116300"/>
          </a:xfrm>
          <a:prstGeom prst="rect">
            <a:avLst/>
          </a:prstGeom>
          <a:solidFill>
            <a:srgbClr val="3646CF"/>
          </a:solidFill>
          <a:ln/>
        </p:spPr>
      </p:sp>
      <p:sp>
        <p:nvSpPr>
          <p:cNvPr id="33" name="Shape 31"/>
          <p:cNvSpPr/>
          <p:nvPr/>
        </p:nvSpPr>
        <p:spPr>
          <a:xfrm>
            <a:off x="0" y="3321844"/>
            <a:ext cx="320040" cy="116300"/>
          </a:xfrm>
          <a:prstGeom prst="rect">
            <a:avLst/>
          </a:prstGeom>
          <a:solidFill>
            <a:srgbClr val="3547D0"/>
          </a:solidFill>
          <a:ln/>
        </p:spPr>
      </p:sp>
      <p:sp>
        <p:nvSpPr>
          <p:cNvPr id="34" name="Shape 32"/>
          <p:cNvSpPr/>
          <p:nvPr/>
        </p:nvSpPr>
        <p:spPr>
          <a:xfrm>
            <a:off x="0" y="3429000"/>
            <a:ext cx="320040" cy="116300"/>
          </a:xfrm>
          <a:prstGeom prst="rect">
            <a:avLst/>
          </a:prstGeom>
          <a:solidFill>
            <a:srgbClr val="3549D0"/>
          </a:solidFill>
          <a:ln/>
        </p:spPr>
      </p:sp>
      <p:sp>
        <p:nvSpPr>
          <p:cNvPr id="35" name="Shape 33"/>
          <p:cNvSpPr/>
          <p:nvPr/>
        </p:nvSpPr>
        <p:spPr>
          <a:xfrm>
            <a:off x="0" y="3536156"/>
            <a:ext cx="320040" cy="116300"/>
          </a:xfrm>
          <a:prstGeom prst="rect">
            <a:avLst/>
          </a:prstGeom>
          <a:solidFill>
            <a:srgbClr val="344ACF"/>
          </a:solidFill>
          <a:ln/>
        </p:spPr>
      </p:sp>
      <p:sp>
        <p:nvSpPr>
          <p:cNvPr id="36" name="Shape 34"/>
          <p:cNvSpPr/>
          <p:nvPr/>
        </p:nvSpPr>
        <p:spPr>
          <a:xfrm>
            <a:off x="0" y="3643313"/>
            <a:ext cx="320040" cy="116300"/>
          </a:xfrm>
          <a:prstGeom prst="rect">
            <a:avLst/>
          </a:prstGeom>
          <a:solidFill>
            <a:srgbClr val="334BCF"/>
          </a:solidFill>
          <a:ln/>
        </p:spPr>
      </p:sp>
      <p:sp>
        <p:nvSpPr>
          <p:cNvPr id="37" name="Shape 35"/>
          <p:cNvSpPr/>
          <p:nvPr/>
        </p:nvSpPr>
        <p:spPr>
          <a:xfrm>
            <a:off x="0" y="3750469"/>
            <a:ext cx="320040" cy="116300"/>
          </a:xfrm>
          <a:prstGeom prst="rect">
            <a:avLst/>
          </a:prstGeom>
          <a:solidFill>
            <a:srgbClr val="324CCE"/>
          </a:solidFill>
          <a:ln/>
        </p:spPr>
      </p:sp>
      <p:sp>
        <p:nvSpPr>
          <p:cNvPr id="38" name="Shape 36"/>
          <p:cNvSpPr/>
          <p:nvPr/>
        </p:nvSpPr>
        <p:spPr>
          <a:xfrm>
            <a:off x="0" y="3857625"/>
            <a:ext cx="320040" cy="116300"/>
          </a:xfrm>
          <a:prstGeom prst="rect">
            <a:avLst/>
          </a:prstGeom>
          <a:solidFill>
            <a:srgbClr val="314ECD"/>
          </a:solidFill>
          <a:ln/>
        </p:spPr>
      </p:sp>
      <p:sp>
        <p:nvSpPr>
          <p:cNvPr id="39" name="Shape 37"/>
          <p:cNvSpPr/>
          <p:nvPr/>
        </p:nvSpPr>
        <p:spPr>
          <a:xfrm>
            <a:off x="0" y="3964781"/>
            <a:ext cx="320040" cy="116300"/>
          </a:xfrm>
          <a:prstGeom prst="rect">
            <a:avLst/>
          </a:prstGeom>
          <a:solidFill>
            <a:srgbClr val="304FCD"/>
          </a:solidFill>
          <a:ln/>
        </p:spPr>
      </p:sp>
      <p:sp>
        <p:nvSpPr>
          <p:cNvPr id="40" name="Shape 38"/>
          <p:cNvSpPr/>
          <p:nvPr/>
        </p:nvSpPr>
        <p:spPr>
          <a:xfrm>
            <a:off x="0" y="4071938"/>
            <a:ext cx="320040" cy="116300"/>
          </a:xfrm>
          <a:prstGeom prst="rect">
            <a:avLst/>
          </a:prstGeom>
          <a:solidFill>
            <a:srgbClr val="2F50CC"/>
          </a:solidFill>
          <a:ln/>
        </p:spPr>
      </p:sp>
      <p:sp>
        <p:nvSpPr>
          <p:cNvPr id="41" name="Shape 39"/>
          <p:cNvSpPr/>
          <p:nvPr/>
        </p:nvSpPr>
        <p:spPr>
          <a:xfrm>
            <a:off x="0" y="4179094"/>
            <a:ext cx="320040" cy="116300"/>
          </a:xfrm>
          <a:prstGeom prst="rect">
            <a:avLst/>
          </a:prstGeom>
          <a:solidFill>
            <a:srgbClr val="2F51CC"/>
          </a:solidFill>
          <a:ln/>
        </p:spPr>
      </p:sp>
      <p:sp>
        <p:nvSpPr>
          <p:cNvPr id="42" name="Shape 40"/>
          <p:cNvSpPr/>
          <p:nvPr/>
        </p:nvSpPr>
        <p:spPr>
          <a:xfrm>
            <a:off x="0" y="4286250"/>
            <a:ext cx="320040" cy="116300"/>
          </a:xfrm>
          <a:prstGeom prst="rect">
            <a:avLst/>
          </a:prstGeom>
          <a:solidFill>
            <a:srgbClr val="2E53CB"/>
          </a:solidFill>
          <a:ln/>
        </p:spPr>
      </p:sp>
      <p:sp>
        <p:nvSpPr>
          <p:cNvPr id="43" name="Shape 41"/>
          <p:cNvSpPr/>
          <p:nvPr/>
        </p:nvSpPr>
        <p:spPr>
          <a:xfrm>
            <a:off x="0" y="4393406"/>
            <a:ext cx="320040" cy="116300"/>
          </a:xfrm>
          <a:prstGeom prst="rect">
            <a:avLst/>
          </a:prstGeom>
          <a:solidFill>
            <a:srgbClr val="2D54CB"/>
          </a:solidFill>
          <a:ln/>
        </p:spPr>
      </p:sp>
      <p:sp>
        <p:nvSpPr>
          <p:cNvPr id="44" name="Shape 42"/>
          <p:cNvSpPr/>
          <p:nvPr/>
        </p:nvSpPr>
        <p:spPr>
          <a:xfrm>
            <a:off x="0" y="4500563"/>
            <a:ext cx="320040" cy="116300"/>
          </a:xfrm>
          <a:prstGeom prst="rect">
            <a:avLst/>
          </a:prstGeom>
          <a:solidFill>
            <a:srgbClr val="2C55CA"/>
          </a:solidFill>
          <a:ln/>
        </p:spPr>
      </p:sp>
      <p:sp>
        <p:nvSpPr>
          <p:cNvPr id="45" name="Shape 43"/>
          <p:cNvSpPr/>
          <p:nvPr/>
        </p:nvSpPr>
        <p:spPr>
          <a:xfrm>
            <a:off x="0" y="4607719"/>
            <a:ext cx="320040" cy="116300"/>
          </a:xfrm>
          <a:prstGeom prst="rect">
            <a:avLst/>
          </a:prstGeom>
          <a:solidFill>
            <a:srgbClr val="2B56C9"/>
          </a:solidFill>
          <a:ln/>
        </p:spPr>
      </p:sp>
      <p:sp>
        <p:nvSpPr>
          <p:cNvPr id="46" name="Shape 44"/>
          <p:cNvSpPr/>
          <p:nvPr/>
        </p:nvSpPr>
        <p:spPr>
          <a:xfrm>
            <a:off x="0" y="4714875"/>
            <a:ext cx="320040" cy="116300"/>
          </a:xfrm>
          <a:prstGeom prst="rect">
            <a:avLst/>
          </a:prstGeom>
          <a:solidFill>
            <a:srgbClr val="2A57C9"/>
          </a:solidFill>
          <a:ln/>
        </p:spPr>
      </p:sp>
      <p:sp>
        <p:nvSpPr>
          <p:cNvPr id="47" name="Shape 45"/>
          <p:cNvSpPr/>
          <p:nvPr/>
        </p:nvSpPr>
        <p:spPr>
          <a:xfrm>
            <a:off x="0" y="4822031"/>
            <a:ext cx="320040" cy="116300"/>
          </a:xfrm>
          <a:prstGeom prst="rect">
            <a:avLst/>
          </a:prstGeom>
          <a:solidFill>
            <a:srgbClr val="2959C8"/>
          </a:solidFill>
          <a:ln/>
        </p:spPr>
      </p:sp>
      <p:sp>
        <p:nvSpPr>
          <p:cNvPr id="48" name="Shape 46"/>
          <p:cNvSpPr/>
          <p:nvPr/>
        </p:nvSpPr>
        <p:spPr>
          <a:xfrm>
            <a:off x="0" y="4929188"/>
            <a:ext cx="320040" cy="116300"/>
          </a:xfrm>
          <a:prstGeom prst="rect">
            <a:avLst/>
          </a:prstGeom>
          <a:solidFill>
            <a:srgbClr val="295AC8"/>
          </a:solidFill>
          <a:ln/>
        </p:spPr>
      </p:sp>
      <p:sp>
        <p:nvSpPr>
          <p:cNvPr id="49" name="Shape 47"/>
          <p:cNvSpPr/>
          <p:nvPr/>
        </p:nvSpPr>
        <p:spPr>
          <a:xfrm>
            <a:off x="0" y="5036344"/>
            <a:ext cx="320040" cy="116300"/>
          </a:xfrm>
          <a:prstGeom prst="rect">
            <a:avLst/>
          </a:prstGeom>
          <a:solidFill>
            <a:srgbClr val="285BC7"/>
          </a:solidFill>
          <a:ln/>
        </p:spPr>
      </p:sp>
      <p:sp>
        <p:nvSpPr>
          <p:cNvPr id="50" name="Shape 48"/>
          <p:cNvSpPr/>
          <p:nvPr/>
        </p:nvSpPr>
        <p:spPr>
          <a:xfrm>
            <a:off x="0" y="5143500"/>
            <a:ext cx="320040" cy="116300"/>
          </a:xfrm>
          <a:prstGeom prst="rect">
            <a:avLst/>
          </a:prstGeom>
          <a:solidFill>
            <a:srgbClr val="275CC7"/>
          </a:solidFill>
          <a:ln/>
        </p:spPr>
      </p:sp>
      <p:sp>
        <p:nvSpPr>
          <p:cNvPr id="51" name="Shape 49"/>
          <p:cNvSpPr/>
          <p:nvPr/>
        </p:nvSpPr>
        <p:spPr>
          <a:xfrm>
            <a:off x="0" y="5250656"/>
            <a:ext cx="320040" cy="116300"/>
          </a:xfrm>
          <a:prstGeom prst="rect">
            <a:avLst/>
          </a:prstGeom>
          <a:solidFill>
            <a:srgbClr val="265EC6"/>
          </a:solidFill>
          <a:ln/>
        </p:spPr>
      </p:sp>
      <p:sp>
        <p:nvSpPr>
          <p:cNvPr id="52" name="Shape 50"/>
          <p:cNvSpPr/>
          <p:nvPr/>
        </p:nvSpPr>
        <p:spPr>
          <a:xfrm>
            <a:off x="0" y="5357813"/>
            <a:ext cx="320040" cy="116300"/>
          </a:xfrm>
          <a:prstGeom prst="rect">
            <a:avLst/>
          </a:prstGeom>
          <a:solidFill>
            <a:srgbClr val="255FC5"/>
          </a:solidFill>
          <a:ln/>
        </p:spPr>
      </p:sp>
      <p:sp>
        <p:nvSpPr>
          <p:cNvPr id="53" name="Shape 51"/>
          <p:cNvSpPr/>
          <p:nvPr/>
        </p:nvSpPr>
        <p:spPr>
          <a:xfrm>
            <a:off x="0" y="5464969"/>
            <a:ext cx="320040" cy="116300"/>
          </a:xfrm>
          <a:prstGeom prst="rect">
            <a:avLst/>
          </a:prstGeom>
          <a:solidFill>
            <a:srgbClr val="2460C5"/>
          </a:solidFill>
          <a:ln/>
        </p:spPr>
      </p:sp>
      <p:sp>
        <p:nvSpPr>
          <p:cNvPr id="54" name="Shape 52"/>
          <p:cNvSpPr/>
          <p:nvPr/>
        </p:nvSpPr>
        <p:spPr>
          <a:xfrm>
            <a:off x="0" y="5572125"/>
            <a:ext cx="320040" cy="116300"/>
          </a:xfrm>
          <a:prstGeom prst="rect">
            <a:avLst/>
          </a:prstGeom>
          <a:solidFill>
            <a:srgbClr val="2361C4"/>
          </a:solidFill>
          <a:ln/>
        </p:spPr>
      </p:sp>
      <p:sp>
        <p:nvSpPr>
          <p:cNvPr id="55" name="Shape 53"/>
          <p:cNvSpPr/>
          <p:nvPr/>
        </p:nvSpPr>
        <p:spPr>
          <a:xfrm>
            <a:off x="0" y="5679281"/>
            <a:ext cx="320040" cy="116300"/>
          </a:xfrm>
          <a:prstGeom prst="rect">
            <a:avLst/>
          </a:prstGeom>
          <a:solidFill>
            <a:srgbClr val="2363C4"/>
          </a:solidFill>
          <a:ln/>
        </p:spPr>
      </p:sp>
      <p:sp>
        <p:nvSpPr>
          <p:cNvPr id="56" name="Shape 54"/>
          <p:cNvSpPr/>
          <p:nvPr/>
        </p:nvSpPr>
        <p:spPr>
          <a:xfrm>
            <a:off x="0" y="5786438"/>
            <a:ext cx="320040" cy="116300"/>
          </a:xfrm>
          <a:prstGeom prst="rect">
            <a:avLst/>
          </a:prstGeom>
          <a:solidFill>
            <a:srgbClr val="2264C3"/>
          </a:solidFill>
          <a:ln/>
        </p:spPr>
      </p:sp>
      <p:sp>
        <p:nvSpPr>
          <p:cNvPr id="57" name="Shape 55"/>
          <p:cNvSpPr/>
          <p:nvPr/>
        </p:nvSpPr>
        <p:spPr>
          <a:xfrm>
            <a:off x="0" y="5893594"/>
            <a:ext cx="320040" cy="116300"/>
          </a:xfrm>
          <a:prstGeom prst="rect">
            <a:avLst/>
          </a:prstGeom>
          <a:solidFill>
            <a:srgbClr val="2165C3"/>
          </a:solidFill>
          <a:ln/>
        </p:spPr>
      </p:sp>
      <p:sp>
        <p:nvSpPr>
          <p:cNvPr id="58" name="Shape 56"/>
          <p:cNvSpPr/>
          <p:nvPr/>
        </p:nvSpPr>
        <p:spPr>
          <a:xfrm>
            <a:off x="0" y="6000750"/>
            <a:ext cx="320040" cy="116300"/>
          </a:xfrm>
          <a:prstGeom prst="rect">
            <a:avLst/>
          </a:prstGeom>
          <a:solidFill>
            <a:srgbClr val="2066C2"/>
          </a:solidFill>
          <a:ln/>
        </p:spPr>
      </p:sp>
      <p:sp>
        <p:nvSpPr>
          <p:cNvPr id="59" name="Shape 57"/>
          <p:cNvSpPr/>
          <p:nvPr/>
        </p:nvSpPr>
        <p:spPr>
          <a:xfrm>
            <a:off x="0" y="6107906"/>
            <a:ext cx="320040" cy="116300"/>
          </a:xfrm>
          <a:prstGeom prst="rect">
            <a:avLst/>
          </a:prstGeom>
          <a:solidFill>
            <a:srgbClr val="1F68C1"/>
          </a:solidFill>
          <a:ln/>
        </p:spPr>
      </p:sp>
      <p:sp>
        <p:nvSpPr>
          <p:cNvPr id="60" name="Shape 58"/>
          <p:cNvSpPr/>
          <p:nvPr/>
        </p:nvSpPr>
        <p:spPr>
          <a:xfrm>
            <a:off x="0" y="6215063"/>
            <a:ext cx="320040" cy="116300"/>
          </a:xfrm>
          <a:prstGeom prst="rect">
            <a:avLst/>
          </a:prstGeom>
          <a:solidFill>
            <a:srgbClr val="1E69C1"/>
          </a:solidFill>
          <a:ln/>
        </p:spPr>
      </p:sp>
      <p:sp>
        <p:nvSpPr>
          <p:cNvPr id="61" name="Shape 59"/>
          <p:cNvSpPr/>
          <p:nvPr/>
        </p:nvSpPr>
        <p:spPr>
          <a:xfrm>
            <a:off x="0" y="6322219"/>
            <a:ext cx="320040" cy="116300"/>
          </a:xfrm>
          <a:prstGeom prst="rect">
            <a:avLst/>
          </a:prstGeom>
          <a:solidFill>
            <a:srgbClr val="1D6AC0"/>
          </a:solidFill>
          <a:ln/>
        </p:spPr>
      </p:sp>
      <p:sp>
        <p:nvSpPr>
          <p:cNvPr id="62" name="Shape 60"/>
          <p:cNvSpPr/>
          <p:nvPr/>
        </p:nvSpPr>
        <p:spPr>
          <a:xfrm>
            <a:off x="0" y="6429375"/>
            <a:ext cx="320040" cy="116300"/>
          </a:xfrm>
          <a:prstGeom prst="rect">
            <a:avLst/>
          </a:prstGeom>
          <a:solidFill>
            <a:srgbClr val="1D6BC0"/>
          </a:solidFill>
          <a:ln/>
        </p:spPr>
      </p:sp>
      <p:sp>
        <p:nvSpPr>
          <p:cNvPr id="63" name="Shape 61"/>
          <p:cNvSpPr/>
          <p:nvPr/>
        </p:nvSpPr>
        <p:spPr>
          <a:xfrm>
            <a:off x="0" y="6536531"/>
            <a:ext cx="320040" cy="116300"/>
          </a:xfrm>
          <a:prstGeom prst="rect">
            <a:avLst/>
          </a:prstGeom>
          <a:solidFill>
            <a:srgbClr val="1C6DBF"/>
          </a:solidFill>
          <a:ln/>
        </p:spPr>
      </p:sp>
      <p:sp>
        <p:nvSpPr>
          <p:cNvPr id="64" name="Shape 62"/>
          <p:cNvSpPr/>
          <p:nvPr/>
        </p:nvSpPr>
        <p:spPr>
          <a:xfrm>
            <a:off x="0" y="6643688"/>
            <a:ext cx="320040" cy="116300"/>
          </a:xfrm>
          <a:prstGeom prst="rect">
            <a:avLst/>
          </a:prstGeom>
          <a:solidFill>
            <a:srgbClr val="1B6EBF"/>
          </a:solidFill>
          <a:ln/>
        </p:spPr>
      </p:sp>
      <p:sp>
        <p:nvSpPr>
          <p:cNvPr id="65" name="Shape 63"/>
          <p:cNvSpPr/>
          <p:nvPr/>
        </p:nvSpPr>
        <p:spPr>
          <a:xfrm>
            <a:off x="0" y="6750844"/>
            <a:ext cx="320040" cy="116300"/>
          </a:xfrm>
          <a:prstGeom prst="rect">
            <a:avLst/>
          </a:prstGeom>
          <a:solidFill>
            <a:srgbClr val="1A6FBE"/>
          </a:solidFill>
          <a:ln/>
        </p:spPr>
      </p:sp>
      <p:sp>
        <p:nvSpPr>
          <p:cNvPr id="66" name="Text 64"/>
          <p:cNvSpPr/>
          <p:nvPr/>
        </p:nvSpPr>
        <p:spPr>
          <a:xfrm>
            <a:off x="73152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TIME TO FIRST SEND</a:t>
            </a:r>
            <a:endParaRPr lang="en-US" sz="1100" dirty="0"/>
          </a:p>
        </p:txBody>
      </p:sp>
      <p:sp>
        <p:nvSpPr>
          <p:cNvPr id="67" name="Text 65"/>
          <p:cNvSpPr/>
          <p:nvPr/>
        </p:nvSpPr>
        <p:spPr>
          <a:xfrm>
            <a:off x="548640" y="1554480"/>
            <a:ext cx="11094415" cy="3200400"/>
          </a:xfrm>
          <a:prstGeom prst="rect">
            <a:avLst/>
          </a:prstGeom>
          <a:noFill/>
          <a:ln/>
        </p:spPr>
        <p:txBody>
          <a:bodyPr wrap="square" lIns="0" tIns="0" rIns="0" bIns="0" rtlCol="0" anchor="ctr"/>
          <a:lstStyle/>
          <a:p>
            <a:pPr algn="l" indent="0" marL="0">
              <a:buNone/>
            </a:pPr>
            <a:r>
              <a:rPr lang="en-US" sz="22000" b="1" spc="-600" kern="0" dirty="0">
                <a:solidFill>
                  <a:srgbClr val="5028C2"/>
                </a:solidFill>
                <a:latin typeface="Calibri" pitchFamily="34" charset="0"/>
                <a:ea typeface="Calibri" pitchFamily="34" charset="-122"/>
                <a:cs typeface="Calibri" pitchFamily="34" charset="-120"/>
              </a:rPr>
              <a:t>6:42</a:t>
            </a:r>
            <a:endParaRPr lang="en-US" sz="22000" dirty="0"/>
          </a:p>
        </p:txBody>
      </p:sp>
      <p:sp>
        <p:nvSpPr>
          <p:cNvPr id="68" name="Text 66"/>
          <p:cNvSpPr/>
          <p:nvPr/>
        </p:nvSpPr>
        <p:spPr>
          <a:xfrm>
            <a:off x="548640" y="4983480"/>
            <a:ext cx="11094415" cy="457200"/>
          </a:xfrm>
          <a:prstGeom prst="rect">
            <a:avLst/>
          </a:prstGeom>
          <a:noFill/>
          <a:ln/>
        </p:spPr>
        <p:txBody>
          <a:bodyPr wrap="square" lIns="0" tIns="0" rIns="0" bIns="0" rtlCol="0" anchor="t"/>
          <a:lstStyle/>
          <a:p>
            <a:pPr algn="l" indent="0" marL="0">
              <a:buNone/>
            </a:pPr>
            <a:r>
              <a:rPr lang="en-US" sz="2200" b="1" dirty="0">
                <a:solidFill>
                  <a:srgbClr val="0F1733"/>
                </a:solidFill>
                <a:latin typeface="Calibri" pitchFamily="34" charset="0"/>
                <a:ea typeface="Calibri" pitchFamily="34" charset="-122"/>
                <a:cs typeface="Calibri" pitchFamily="34" charset="-120"/>
              </a:rPr>
              <a:t>Median minutes from new search to first message sent — across 47 active users in May 2026.</a:t>
            </a:r>
            <a:endParaRPr lang="en-US" sz="2200" dirty="0"/>
          </a:p>
        </p:txBody>
      </p:sp>
      <p:sp>
        <p:nvSpPr>
          <p:cNvPr id="69" name="Text 67"/>
          <p:cNvSpPr/>
          <p:nvPr/>
        </p:nvSpPr>
        <p:spPr>
          <a:xfrm>
            <a:off x="548640" y="5486400"/>
            <a:ext cx="10637215" cy="640080"/>
          </a:xfrm>
          <a:prstGeom prst="rect">
            <a:avLst/>
          </a:prstGeom>
          <a:noFill/>
          <a:ln/>
        </p:spPr>
        <p:txBody>
          <a:bodyPr wrap="square" lIns="0" tIns="0" rIns="0" bIns="0" rtlCol="0" anchor="t"/>
          <a:lstStyle/>
          <a:p>
            <a:pPr algn="l" indent="0" marL="0">
              <a:buNone/>
            </a:pPr>
            <a:r>
              <a:rPr lang="en-US" sz="1300" dirty="0">
                <a:solidFill>
                  <a:srgbClr val="2A3358"/>
                </a:solidFill>
                <a:latin typeface="Calibri" pitchFamily="34" charset="0"/>
                <a:ea typeface="Calibri" pitchFamily="34" charset="-122"/>
                <a:cs typeface="Calibri" pitchFamily="34" charset="-120"/>
              </a:rPr>
              <a:t>The same workflow used to take 3–4 hours. The compression isn't a feature; it's the entire reason the product exists.</a:t>
            </a:r>
            <a:endParaRPr lang="en-US" sz="13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06 · How it works  ·  vD</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039 / 126</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1ECFF"/>
        </a:solidFill>
      </p:bgPr>
    </p:bg>
    <p:spTree>
      <p:nvGrpSpPr>
        <p:cNvPr id="1" name=""/>
        <p:cNvGrpSpPr/>
        <p:nvPr/>
      </p:nvGrpSpPr>
      <p:grpSpPr>
        <a:xfrm>
          <a:off x="0" y="0"/>
          <a:ext cx="0" cy="0"/>
          <a:chOff x="0" y="0"/>
          <a:chExt cx="0" cy="0"/>
        </a:xfrm>
      </p:grpSpPr>
      <p:sp>
        <p:nvSpPr>
          <p:cNvPr id="2" name="Text 0"/>
          <p:cNvSpPr/>
          <p:nvPr/>
        </p:nvSpPr>
        <p:spPr>
          <a:xfrm>
            <a:off x="457200" y="365760"/>
            <a:ext cx="2286000" cy="2286000"/>
          </a:xfrm>
          <a:prstGeom prst="rect">
            <a:avLst/>
          </a:prstGeom>
          <a:noFill/>
          <a:ln/>
        </p:spPr>
        <p:txBody>
          <a:bodyPr wrap="square" lIns="0" tIns="0" rIns="0" bIns="0" rtlCol="0" anchor="t"/>
          <a:lstStyle/>
          <a:p>
            <a:pPr algn="l" indent="0" marL="0">
              <a:buNone/>
            </a:pPr>
            <a:r>
              <a:rPr lang="en-US" sz="24000" b="1" dirty="0">
                <a:solidFill>
                  <a:srgbClr val="5028C2"/>
                </a:solidFill>
                <a:latin typeface="Georgia" pitchFamily="34" charset="0"/>
                <a:ea typeface="Georgia" pitchFamily="34" charset="-122"/>
                <a:cs typeface="Georgia" pitchFamily="34" charset="-120"/>
              </a:rPr>
              <a:t>"</a:t>
            </a:r>
            <a:endParaRPr lang="en-US" sz="24000" dirty="0"/>
          </a:p>
        </p:txBody>
      </p:sp>
      <p:sp>
        <p:nvSpPr>
          <p:cNvPr id="3" name="Text 1"/>
          <p:cNvSpPr/>
          <p:nvPr/>
        </p:nvSpPr>
        <p:spPr>
          <a:xfrm>
            <a:off x="1920240" y="1737360"/>
            <a:ext cx="9722815" cy="3108960"/>
          </a:xfrm>
          <a:prstGeom prst="rect">
            <a:avLst/>
          </a:prstGeom>
          <a:noFill/>
          <a:ln/>
        </p:spPr>
        <p:txBody>
          <a:bodyPr wrap="square" lIns="0" tIns="0" rIns="0" bIns="0" rtlCol="0" anchor="t"/>
          <a:lstStyle/>
          <a:p>
            <a:pPr algn="l" indent="0" marL="0">
              <a:buNone/>
            </a:pPr>
            <a:r>
              <a:rPr lang="en-US" sz="3000" i="1" dirty="0">
                <a:solidFill>
                  <a:srgbClr val="0F1733"/>
                </a:solidFill>
                <a:latin typeface="Georgia" pitchFamily="34" charset="0"/>
                <a:ea typeface="Georgia" pitchFamily="34" charset="-122"/>
                <a:cs typeface="Georgia" pitchFamily="34" charset="-120"/>
              </a:rPr>
              <a:t>I described my ICP in one sentence, opened the top five scored creators, and sent personalized emails before my coffee finished brewing.</a:t>
            </a:r>
            <a:endParaRPr lang="en-US" sz="3000" dirty="0"/>
          </a:p>
        </p:txBody>
      </p:sp>
      <p:sp>
        <p:nvSpPr>
          <p:cNvPr id="4" name="Shape 2"/>
          <p:cNvSpPr/>
          <p:nvPr/>
        </p:nvSpPr>
        <p:spPr>
          <a:xfrm>
            <a:off x="1920240" y="5120640"/>
            <a:ext cx="640080" cy="0"/>
          </a:xfrm>
          <a:prstGeom prst="line">
            <a:avLst/>
          </a:prstGeom>
          <a:noFill/>
          <a:ln w="25400">
            <a:solidFill>
              <a:srgbClr val="5028C2"/>
            </a:solidFill>
            <a:prstDash val="solid"/>
          </a:ln>
        </p:spPr>
      </p:sp>
      <p:sp>
        <p:nvSpPr>
          <p:cNvPr id="5" name="Text 3"/>
          <p:cNvSpPr/>
          <p:nvPr/>
        </p:nvSpPr>
        <p:spPr>
          <a:xfrm>
            <a:off x="1920240" y="5212080"/>
            <a:ext cx="9722815" cy="457200"/>
          </a:xfrm>
          <a:prstGeom prst="rect">
            <a:avLst/>
          </a:prstGeom>
          <a:noFill/>
          <a:ln/>
        </p:spPr>
        <p:txBody>
          <a:bodyPr wrap="square" lIns="0" tIns="0" rIns="0" bIns="0" rtlCol="0" anchor="t"/>
          <a:lstStyle/>
          <a:p>
            <a:pPr algn="l" indent="0" marL="0">
              <a:buNone/>
            </a:pPr>
            <a:r>
              <a:rPr lang="en-US" sz="1400" b="1" spc="100" kern="0" dirty="0">
                <a:solidFill>
                  <a:srgbClr val="3D1E96"/>
                </a:solidFill>
                <a:latin typeface="Calibri" pitchFamily="34" charset="0"/>
                <a:ea typeface="Calibri" pitchFamily="34" charset="-122"/>
                <a:cs typeface="Calibri" pitchFamily="34" charset="-120"/>
              </a:rPr>
              <a:t>Beta user</a:t>
            </a:r>
            <a:endParaRPr lang="en-US" sz="1400" dirty="0"/>
          </a:p>
        </p:txBody>
      </p:sp>
      <p:sp>
        <p:nvSpPr>
          <p:cNvPr id="6" name="Text 4"/>
          <p:cNvSpPr/>
          <p:nvPr/>
        </p:nvSpPr>
        <p:spPr>
          <a:xfrm>
            <a:off x="1920240" y="5532120"/>
            <a:ext cx="9722815" cy="365760"/>
          </a:xfrm>
          <a:prstGeom prst="rect">
            <a:avLst/>
          </a:prstGeom>
          <a:noFill/>
          <a:ln/>
        </p:spPr>
        <p:txBody>
          <a:bodyPr wrap="square" lIns="0" tIns="0" rIns="0" bIns="0" rtlCol="0" anchor="t"/>
          <a:lstStyle/>
          <a:p>
            <a:pPr algn="l" indent="0" marL="0">
              <a:buNone/>
            </a:pPr>
            <a:r>
              <a:rPr lang="en-US" sz="1200" dirty="0">
                <a:solidFill>
                  <a:srgbClr val="6B7493"/>
                </a:solidFill>
                <a:latin typeface="Calibri" pitchFamily="34" charset="0"/>
                <a:ea typeface="Calibri" pitchFamily="34" charset="-122"/>
                <a:cs typeface="Calibri" pitchFamily="34" charset="-120"/>
              </a:rPr>
              <a:t>Week-one onboarding feedback</a:t>
            </a:r>
            <a:endParaRPr lang="en-US" sz="1200" dirty="0"/>
          </a:p>
        </p:txBody>
      </p:sp>
      <p:sp>
        <p:nvSpPr>
          <p:cNvPr id="7" name="Shape 5"/>
          <p:cNvSpPr/>
          <p:nvPr/>
        </p:nvSpPr>
        <p:spPr>
          <a:xfrm>
            <a:off x="548640" y="502920"/>
            <a:ext cx="292608" cy="292608"/>
          </a:xfrm>
          <a:prstGeom prst="roundRect">
            <a:avLst>
              <a:gd name="adj" fmla="val 25000"/>
            </a:avLst>
          </a:prstGeom>
          <a:solidFill>
            <a:srgbClr val="5028C2"/>
          </a:solidFill>
          <a:ln/>
        </p:spPr>
      </p:sp>
      <p:sp>
        <p:nvSpPr>
          <p:cNvPr id="8" name="Shape 6"/>
          <p:cNvSpPr/>
          <p:nvPr/>
        </p:nvSpPr>
        <p:spPr>
          <a:xfrm>
            <a:off x="548640" y="502920"/>
            <a:ext cx="292608" cy="292608"/>
          </a:xfrm>
          <a:prstGeom prst="roundRect">
            <a:avLst>
              <a:gd name="adj" fmla="val 25000"/>
            </a:avLst>
          </a:prstGeom>
          <a:solidFill>
            <a:srgbClr val="1A6FBE">
              <a:alpha val="50000"/>
            </a:srgbClr>
          </a:solidFill>
          <a:ln/>
        </p:spPr>
      </p:sp>
      <p:sp>
        <p:nvSpPr>
          <p:cNvPr id="9" name="Text 7"/>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0" name="Text 8"/>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1" name="Text 9"/>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06 · How it works  ·  vE</a:t>
            </a:r>
            <a:endParaRPr lang="en-US" sz="900" dirty="0"/>
          </a:p>
        </p:txBody>
      </p:sp>
      <p:sp>
        <p:nvSpPr>
          <p:cNvPr id="12" name="Text 10"/>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3" name="Text 11"/>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040 / 126</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a:off x="3047924" y="0"/>
            <a:ext cx="9143771" cy="6858000"/>
          </a:xfrm>
          <a:prstGeom prst="rtTriangle">
            <a:avLst/>
          </a:prstGeom>
          <a:solidFill>
            <a:srgbClr val="5028C2"/>
          </a:solidFill>
          <a:ln/>
        </p:spPr>
      </p:sp>
      <p:sp>
        <p:nvSpPr>
          <p:cNvPr id="3" name="Shape 1"/>
          <p:cNvSpPr/>
          <p:nvPr/>
        </p:nvSpPr>
        <p:spPr>
          <a:xfrm flipH="1">
            <a:off x="4876678" y="1028700"/>
            <a:ext cx="7924602" cy="6515100"/>
          </a:xfrm>
          <a:prstGeom prst="rtTriangle">
            <a:avLst/>
          </a:prstGeom>
          <a:solidFill>
            <a:srgbClr val="1A6FBE">
              <a:alpha val="75000"/>
            </a:srgbClr>
          </a:solidFill>
          <a:ln/>
        </p:spPr>
      </p:sp>
      <p:sp>
        <p:nvSpPr>
          <p:cNvPr id="4" name="Text 2"/>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THE THREE STEPS</a:t>
            </a:r>
            <a:endParaRPr lang="en-US" sz="1100" dirty="0"/>
          </a:p>
        </p:txBody>
      </p:sp>
      <p:sp>
        <p:nvSpPr>
          <p:cNvPr id="5" name="Text 3"/>
          <p:cNvSpPr/>
          <p:nvPr/>
        </p:nvSpPr>
        <p:spPr>
          <a:xfrm>
            <a:off x="548640" y="1417320"/>
            <a:ext cx="6095848" cy="2286000"/>
          </a:xfrm>
          <a:prstGeom prst="rect">
            <a:avLst/>
          </a:prstGeom>
          <a:noFill/>
          <a:ln/>
        </p:spPr>
        <p:txBody>
          <a:bodyPr wrap="square" lIns="0" tIns="0" rIns="0" bIns="0" rtlCol="0" anchor="t"/>
          <a:lstStyle/>
          <a:p>
            <a:pPr algn="l" indent="0" marL="0">
              <a:buNone/>
            </a:pPr>
            <a:r>
              <a:rPr lang="en-US" sz="4000" b="1" spc="-50" kern="0" dirty="0">
                <a:solidFill>
                  <a:srgbClr val="0F1733"/>
                </a:solidFill>
                <a:latin typeface="Calibri" pitchFamily="34" charset="0"/>
                <a:ea typeface="Calibri" pitchFamily="34" charset="-122"/>
                <a:cs typeface="Calibri" pitchFamily="34" charset="-120"/>
              </a:rPr>
              <a:t>Search. Score. Send.</a:t>
            </a:r>
            <a:endParaRPr lang="en-US" sz="4000" dirty="0"/>
          </a:p>
        </p:txBody>
      </p:sp>
      <p:sp>
        <p:nvSpPr>
          <p:cNvPr id="6" name="Text 4"/>
          <p:cNvSpPr/>
          <p:nvPr/>
        </p:nvSpPr>
        <p:spPr>
          <a:xfrm>
            <a:off x="548640" y="3840480"/>
            <a:ext cx="5821528" cy="2103120"/>
          </a:xfrm>
          <a:prstGeom prst="rect">
            <a:avLst/>
          </a:prstGeom>
          <a:noFill/>
          <a:ln/>
        </p:spPr>
        <p:txBody>
          <a:bodyPr wrap="square" lIns="0" tIns="0" rIns="0" bIns="0" rtlCol="0" anchor="t"/>
          <a:lstStyle/>
          <a:p>
            <a:pPr algn="l" indent="0" marL="0">
              <a:spcAft>
                <a:spcPts val="600"/>
              </a:spcAft>
              <a:buNone/>
            </a:pPr>
            <a:r>
              <a:rPr lang="en-US" sz="1400" dirty="0">
                <a:solidFill>
                  <a:srgbClr val="2A3358"/>
                </a:solidFill>
                <a:latin typeface="Calibri" pitchFamily="34" charset="0"/>
                <a:ea typeface="Calibri" pitchFamily="34" charset="-122"/>
                <a:cs typeface="Calibri" pitchFamily="34" charset="-120"/>
              </a:rPr>
              <a:t>Three verbs that describe the work, end to end. Search across five platforms. Score against your ICP. Send through your own inbox. The product turns a fragmented workflow into one motion.</a:t>
            </a:r>
            <a:endParaRPr lang="en-US" sz="1400" dirty="0"/>
          </a:p>
        </p:txBody>
      </p:sp>
      <p:sp>
        <p:nvSpPr>
          <p:cNvPr id="7" name="Text 5"/>
          <p:cNvSpPr/>
          <p:nvPr/>
        </p:nvSpPr>
        <p:spPr>
          <a:xfrm>
            <a:off x="6705432" y="2926080"/>
            <a:ext cx="4876678" cy="3291840"/>
          </a:xfrm>
          <a:prstGeom prst="rect">
            <a:avLst/>
          </a:prstGeom>
          <a:noFill/>
          <a:ln/>
        </p:spPr>
        <p:txBody>
          <a:bodyPr wrap="square" lIns="0" tIns="0" rIns="0" bIns="0" rtlCol="0" anchor="ctr"/>
          <a:lstStyle/>
          <a:p>
            <a:pPr algn="r" indent="0" marL="0">
              <a:buNone/>
            </a:pPr>
            <a:r>
              <a:rPr lang="en-US" sz="3200" b="1" spc="-50" kern="0" dirty="0">
                <a:solidFill>
                  <a:srgbClr val="FFFFFF"/>
                </a:solidFill>
                <a:latin typeface="Calibri" pitchFamily="34" charset="0"/>
                <a:ea typeface="Calibri" pitchFamily="34" charset="-122"/>
                <a:cs typeface="Calibri" pitchFamily="34" charset="-120"/>
              </a:rPr>
              <a:t>Search.</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Score.</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Send.</a:t>
            </a:r>
            <a:endParaRPr lang="en-US" sz="3200" dirty="0"/>
          </a:p>
        </p:txBody>
      </p:sp>
      <p:sp>
        <p:nvSpPr>
          <p:cNvPr id="8" name="Shape 6"/>
          <p:cNvSpPr/>
          <p:nvPr/>
        </p:nvSpPr>
        <p:spPr>
          <a:xfrm>
            <a:off x="548640" y="502920"/>
            <a:ext cx="292608" cy="292608"/>
          </a:xfrm>
          <a:prstGeom prst="roundRect">
            <a:avLst>
              <a:gd name="adj" fmla="val 25000"/>
            </a:avLst>
          </a:prstGeom>
          <a:solidFill>
            <a:srgbClr val="5028C2"/>
          </a:solidFill>
          <a:ln/>
        </p:spPr>
      </p:sp>
      <p:sp>
        <p:nvSpPr>
          <p:cNvPr id="9" name="Shape 7"/>
          <p:cNvSpPr/>
          <p:nvPr/>
        </p:nvSpPr>
        <p:spPr>
          <a:xfrm>
            <a:off x="548640" y="502920"/>
            <a:ext cx="292608" cy="292608"/>
          </a:xfrm>
          <a:prstGeom prst="roundRect">
            <a:avLst>
              <a:gd name="adj" fmla="val 25000"/>
            </a:avLst>
          </a:prstGeom>
          <a:solidFill>
            <a:srgbClr val="1A6FBE">
              <a:alpha val="50000"/>
            </a:srgbClr>
          </a:solidFill>
          <a:ln/>
        </p:spPr>
      </p:sp>
      <p:sp>
        <p:nvSpPr>
          <p:cNvPr id="10" name="Text 8"/>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1" name="Text 9"/>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2" name="Text 10"/>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06 · How it works  ·  vF</a:t>
            </a:r>
            <a:endParaRPr lang="en-US" sz="900" dirty="0"/>
          </a:p>
        </p:txBody>
      </p:sp>
      <p:sp>
        <p:nvSpPr>
          <p:cNvPr id="13" name="Text 11"/>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4" name="Text 12"/>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041 / 126</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CFAF6"/>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HOW IT WORKS</a:t>
            </a:r>
            <a:endParaRPr lang="en-US" sz="1100" dirty="0"/>
          </a:p>
        </p:txBody>
      </p:sp>
      <p:sp>
        <p:nvSpPr>
          <p:cNvPr id="3" name="Text 1"/>
          <p:cNvSpPr/>
          <p:nvPr/>
        </p:nvSpPr>
        <p:spPr>
          <a:xfrm>
            <a:off x="548640" y="1417320"/>
            <a:ext cx="11094415" cy="914400"/>
          </a:xfrm>
          <a:prstGeom prst="rect">
            <a:avLst/>
          </a:prstGeom>
          <a:noFill/>
          <a:ln/>
        </p:spPr>
        <p:txBody>
          <a:bodyPr wrap="square" lIns="0" tIns="0" rIns="0" bIns="0" rtlCol="0" anchor="t"/>
          <a:lstStyle/>
          <a:p>
            <a:pPr algn="l" indent="0" marL="0">
              <a:buNone/>
            </a:pPr>
            <a:r>
              <a:rPr lang="en-US" sz="3400" b="1" spc="-50" kern="0" dirty="0">
                <a:solidFill>
                  <a:srgbClr val="0F1733"/>
                </a:solidFill>
                <a:latin typeface="Calibri" pitchFamily="34" charset="0"/>
                <a:ea typeface="Calibri" pitchFamily="34" charset="-122"/>
                <a:cs typeface="Calibri" pitchFamily="34" charset="-120"/>
              </a:rPr>
              <a:t>A single motion across five platforms.</a:t>
            </a:r>
            <a:endParaRPr lang="en-US" sz="3400" dirty="0"/>
          </a:p>
        </p:txBody>
      </p:sp>
      <p:sp>
        <p:nvSpPr>
          <p:cNvPr id="4" name="Shape 2"/>
          <p:cNvSpPr/>
          <p:nvPr/>
        </p:nvSpPr>
        <p:spPr>
          <a:xfrm>
            <a:off x="548640" y="2514600"/>
            <a:ext cx="5464912" cy="67008"/>
          </a:xfrm>
          <a:prstGeom prst="rect">
            <a:avLst/>
          </a:prstGeom>
          <a:solidFill>
            <a:srgbClr val="5028C2"/>
          </a:solidFill>
          <a:ln/>
        </p:spPr>
      </p:sp>
      <p:sp>
        <p:nvSpPr>
          <p:cNvPr id="5" name="Shape 3"/>
          <p:cNvSpPr/>
          <p:nvPr/>
        </p:nvSpPr>
        <p:spPr>
          <a:xfrm>
            <a:off x="548640" y="2572464"/>
            <a:ext cx="5464912" cy="67008"/>
          </a:xfrm>
          <a:prstGeom prst="rect">
            <a:avLst/>
          </a:prstGeom>
          <a:solidFill>
            <a:srgbClr val="4F29C2"/>
          </a:solidFill>
          <a:ln/>
        </p:spPr>
      </p:sp>
      <p:sp>
        <p:nvSpPr>
          <p:cNvPr id="6" name="Shape 4"/>
          <p:cNvSpPr/>
          <p:nvPr/>
        </p:nvSpPr>
        <p:spPr>
          <a:xfrm>
            <a:off x="548640" y="2630329"/>
            <a:ext cx="5464912" cy="67008"/>
          </a:xfrm>
          <a:prstGeom prst="rect">
            <a:avLst/>
          </a:prstGeom>
          <a:solidFill>
            <a:srgbClr val="4E2AC3"/>
          </a:solidFill>
          <a:ln/>
        </p:spPr>
      </p:sp>
      <p:sp>
        <p:nvSpPr>
          <p:cNvPr id="7" name="Shape 5"/>
          <p:cNvSpPr/>
          <p:nvPr/>
        </p:nvSpPr>
        <p:spPr>
          <a:xfrm>
            <a:off x="548640" y="2688193"/>
            <a:ext cx="5464912" cy="67008"/>
          </a:xfrm>
          <a:prstGeom prst="rect">
            <a:avLst/>
          </a:prstGeom>
          <a:solidFill>
            <a:srgbClr val="4D2BC3"/>
          </a:solidFill>
          <a:ln/>
        </p:spPr>
      </p:sp>
      <p:sp>
        <p:nvSpPr>
          <p:cNvPr id="8" name="Shape 6"/>
          <p:cNvSpPr/>
          <p:nvPr/>
        </p:nvSpPr>
        <p:spPr>
          <a:xfrm>
            <a:off x="548640" y="2746058"/>
            <a:ext cx="5464912" cy="67008"/>
          </a:xfrm>
          <a:prstGeom prst="rect">
            <a:avLst/>
          </a:prstGeom>
          <a:solidFill>
            <a:srgbClr val="4D2CC4"/>
          </a:solidFill>
          <a:ln/>
        </p:spPr>
      </p:sp>
      <p:sp>
        <p:nvSpPr>
          <p:cNvPr id="9" name="Shape 7"/>
          <p:cNvSpPr/>
          <p:nvPr/>
        </p:nvSpPr>
        <p:spPr>
          <a:xfrm>
            <a:off x="548640" y="2803922"/>
            <a:ext cx="5464912" cy="67008"/>
          </a:xfrm>
          <a:prstGeom prst="rect">
            <a:avLst/>
          </a:prstGeom>
          <a:solidFill>
            <a:srgbClr val="4C2DC4"/>
          </a:solidFill>
          <a:ln/>
        </p:spPr>
      </p:sp>
      <p:sp>
        <p:nvSpPr>
          <p:cNvPr id="10" name="Shape 8"/>
          <p:cNvSpPr/>
          <p:nvPr/>
        </p:nvSpPr>
        <p:spPr>
          <a:xfrm>
            <a:off x="548640" y="2861786"/>
            <a:ext cx="5464912" cy="67008"/>
          </a:xfrm>
          <a:prstGeom prst="rect">
            <a:avLst/>
          </a:prstGeom>
          <a:solidFill>
            <a:srgbClr val="4B2EC5"/>
          </a:solidFill>
          <a:ln/>
        </p:spPr>
      </p:sp>
      <p:sp>
        <p:nvSpPr>
          <p:cNvPr id="11" name="Shape 9"/>
          <p:cNvSpPr/>
          <p:nvPr/>
        </p:nvSpPr>
        <p:spPr>
          <a:xfrm>
            <a:off x="548640" y="2919651"/>
            <a:ext cx="5464912" cy="67008"/>
          </a:xfrm>
          <a:prstGeom prst="rect">
            <a:avLst/>
          </a:prstGeom>
          <a:solidFill>
            <a:srgbClr val="4A2FC5"/>
          </a:solidFill>
          <a:ln/>
        </p:spPr>
      </p:sp>
      <p:sp>
        <p:nvSpPr>
          <p:cNvPr id="12" name="Shape 10"/>
          <p:cNvSpPr/>
          <p:nvPr/>
        </p:nvSpPr>
        <p:spPr>
          <a:xfrm>
            <a:off x="548640" y="2977515"/>
            <a:ext cx="5464912" cy="67008"/>
          </a:xfrm>
          <a:prstGeom prst="rect">
            <a:avLst/>
          </a:prstGeom>
          <a:solidFill>
            <a:srgbClr val="4930C6"/>
          </a:solidFill>
          <a:ln/>
        </p:spPr>
      </p:sp>
      <p:sp>
        <p:nvSpPr>
          <p:cNvPr id="13" name="Shape 11"/>
          <p:cNvSpPr/>
          <p:nvPr/>
        </p:nvSpPr>
        <p:spPr>
          <a:xfrm>
            <a:off x="548640" y="3035379"/>
            <a:ext cx="5464912" cy="67008"/>
          </a:xfrm>
          <a:prstGeom prst="rect">
            <a:avLst/>
          </a:prstGeom>
          <a:solidFill>
            <a:srgbClr val="4831C6"/>
          </a:solidFill>
          <a:ln/>
        </p:spPr>
      </p:sp>
      <p:sp>
        <p:nvSpPr>
          <p:cNvPr id="14" name="Shape 12"/>
          <p:cNvSpPr/>
          <p:nvPr/>
        </p:nvSpPr>
        <p:spPr>
          <a:xfrm>
            <a:off x="548640" y="3093244"/>
            <a:ext cx="5464912" cy="67008"/>
          </a:xfrm>
          <a:prstGeom prst="rect">
            <a:avLst/>
          </a:prstGeom>
          <a:solidFill>
            <a:srgbClr val="4732C6"/>
          </a:solidFill>
          <a:ln/>
        </p:spPr>
      </p:sp>
      <p:sp>
        <p:nvSpPr>
          <p:cNvPr id="15" name="Shape 13"/>
          <p:cNvSpPr/>
          <p:nvPr/>
        </p:nvSpPr>
        <p:spPr>
          <a:xfrm>
            <a:off x="548640" y="3151108"/>
            <a:ext cx="5464912" cy="67008"/>
          </a:xfrm>
          <a:prstGeom prst="rect">
            <a:avLst/>
          </a:prstGeom>
          <a:solidFill>
            <a:srgbClr val="4733C7"/>
          </a:solidFill>
          <a:ln/>
        </p:spPr>
      </p:sp>
      <p:sp>
        <p:nvSpPr>
          <p:cNvPr id="16" name="Shape 14"/>
          <p:cNvSpPr/>
          <p:nvPr/>
        </p:nvSpPr>
        <p:spPr>
          <a:xfrm>
            <a:off x="548640" y="3208973"/>
            <a:ext cx="5464912" cy="67008"/>
          </a:xfrm>
          <a:prstGeom prst="rect">
            <a:avLst/>
          </a:prstGeom>
          <a:solidFill>
            <a:srgbClr val="4634C7"/>
          </a:solidFill>
          <a:ln/>
        </p:spPr>
      </p:sp>
      <p:sp>
        <p:nvSpPr>
          <p:cNvPr id="17" name="Shape 15"/>
          <p:cNvSpPr/>
          <p:nvPr/>
        </p:nvSpPr>
        <p:spPr>
          <a:xfrm>
            <a:off x="548640" y="3266837"/>
            <a:ext cx="5464912" cy="67008"/>
          </a:xfrm>
          <a:prstGeom prst="rect">
            <a:avLst/>
          </a:prstGeom>
          <a:solidFill>
            <a:srgbClr val="4535C8"/>
          </a:solidFill>
          <a:ln/>
        </p:spPr>
      </p:sp>
      <p:sp>
        <p:nvSpPr>
          <p:cNvPr id="18" name="Shape 16"/>
          <p:cNvSpPr/>
          <p:nvPr/>
        </p:nvSpPr>
        <p:spPr>
          <a:xfrm>
            <a:off x="548640" y="3324701"/>
            <a:ext cx="5464912" cy="67008"/>
          </a:xfrm>
          <a:prstGeom prst="rect">
            <a:avLst/>
          </a:prstGeom>
          <a:solidFill>
            <a:srgbClr val="4436C8"/>
          </a:solidFill>
          <a:ln/>
        </p:spPr>
      </p:sp>
      <p:sp>
        <p:nvSpPr>
          <p:cNvPr id="19" name="Shape 17"/>
          <p:cNvSpPr/>
          <p:nvPr/>
        </p:nvSpPr>
        <p:spPr>
          <a:xfrm>
            <a:off x="548640" y="3382566"/>
            <a:ext cx="5464912" cy="67008"/>
          </a:xfrm>
          <a:prstGeom prst="rect">
            <a:avLst/>
          </a:prstGeom>
          <a:solidFill>
            <a:srgbClr val="4337C9"/>
          </a:solidFill>
          <a:ln/>
        </p:spPr>
      </p:sp>
      <p:sp>
        <p:nvSpPr>
          <p:cNvPr id="20" name="Shape 18"/>
          <p:cNvSpPr/>
          <p:nvPr/>
        </p:nvSpPr>
        <p:spPr>
          <a:xfrm>
            <a:off x="548640" y="3440430"/>
            <a:ext cx="5464912" cy="67008"/>
          </a:xfrm>
          <a:prstGeom prst="rect">
            <a:avLst/>
          </a:prstGeom>
          <a:solidFill>
            <a:srgbClr val="4238C9"/>
          </a:solidFill>
          <a:ln/>
        </p:spPr>
      </p:sp>
      <p:sp>
        <p:nvSpPr>
          <p:cNvPr id="21" name="Shape 19"/>
          <p:cNvSpPr/>
          <p:nvPr/>
        </p:nvSpPr>
        <p:spPr>
          <a:xfrm>
            <a:off x="548640" y="3498294"/>
            <a:ext cx="5464912" cy="67008"/>
          </a:xfrm>
          <a:prstGeom prst="rect">
            <a:avLst/>
          </a:prstGeom>
          <a:solidFill>
            <a:srgbClr val="4139CA"/>
          </a:solidFill>
          <a:ln/>
        </p:spPr>
      </p:sp>
      <p:sp>
        <p:nvSpPr>
          <p:cNvPr id="22" name="Shape 20"/>
          <p:cNvSpPr/>
          <p:nvPr/>
        </p:nvSpPr>
        <p:spPr>
          <a:xfrm>
            <a:off x="548640" y="3556159"/>
            <a:ext cx="5464912" cy="67008"/>
          </a:xfrm>
          <a:prstGeom prst="rect">
            <a:avLst/>
          </a:prstGeom>
          <a:solidFill>
            <a:srgbClr val="413ACA"/>
          </a:solidFill>
          <a:ln/>
        </p:spPr>
      </p:sp>
      <p:sp>
        <p:nvSpPr>
          <p:cNvPr id="23" name="Shape 21"/>
          <p:cNvSpPr/>
          <p:nvPr/>
        </p:nvSpPr>
        <p:spPr>
          <a:xfrm>
            <a:off x="548640" y="3614023"/>
            <a:ext cx="5464912" cy="67008"/>
          </a:xfrm>
          <a:prstGeom prst="rect">
            <a:avLst/>
          </a:prstGeom>
          <a:solidFill>
            <a:srgbClr val="403BCA"/>
          </a:solidFill>
          <a:ln/>
        </p:spPr>
      </p:sp>
      <p:sp>
        <p:nvSpPr>
          <p:cNvPr id="24" name="Shape 22"/>
          <p:cNvSpPr/>
          <p:nvPr/>
        </p:nvSpPr>
        <p:spPr>
          <a:xfrm>
            <a:off x="548640" y="3671888"/>
            <a:ext cx="5464912" cy="67008"/>
          </a:xfrm>
          <a:prstGeom prst="rect">
            <a:avLst/>
          </a:prstGeom>
          <a:solidFill>
            <a:srgbClr val="3F3CCB"/>
          </a:solidFill>
          <a:ln/>
        </p:spPr>
      </p:sp>
      <p:sp>
        <p:nvSpPr>
          <p:cNvPr id="25" name="Shape 23"/>
          <p:cNvSpPr/>
          <p:nvPr/>
        </p:nvSpPr>
        <p:spPr>
          <a:xfrm>
            <a:off x="548640" y="3729752"/>
            <a:ext cx="5464912" cy="67008"/>
          </a:xfrm>
          <a:prstGeom prst="rect">
            <a:avLst/>
          </a:prstGeom>
          <a:solidFill>
            <a:srgbClr val="3E3DCB"/>
          </a:solidFill>
          <a:ln/>
        </p:spPr>
      </p:sp>
      <p:sp>
        <p:nvSpPr>
          <p:cNvPr id="26" name="Shape 24"/>
          <p:cNvSpPr/>
          <p:nvPr/>
        </p:nvSpPr>
        <p:spPr>
          <a:xfrm>
            <a:off x="548640" y="3787616"/>
            <a:ext cx="5464912" cy="67008"/>
          </a:xfrm>
          <a:prstGeom prst="rect">
            <a:avLst/>
          </a:prstGeom>
          <a:solidFill>
            <a:srgbClr val="3D3ECC"/>
          </a:solidFill>
          <a:ln/>
        </p:spPr>
      </p:sp>
      <p:sp>
        <p:nvSpPr>
          <p:cNvPr id="27" name="Shape 25"/>
          <p:cNvSpPr/>
          <p:nvPr/>
        </p:nvSpPr>
        <p:spPr>
          <a:xfrm>
            <a:off x="548640" y="3845481"/>
            <a:ext cx="5464912" cy="67008"/>
          </a:xfrm>
          <a:prstGeom prst="rect">
            <a:avLst/>
          </a:prstGeom>
          <a:solidFill>
            <a:srgbClr val="3C3FCC"/>
          </a:solidFill>
          <a:ln/>
        </p:spPr>
      </p:sp>
      <p:sp>
        <p:nvSpPr>
          <p:cNvPr id="28" name="Shape 26"/>
          <p:cNvSpPr/>
          <p:nvPr/>
        </p:nvSpPr>
        <p:spPr>
          <a:xfrm>
            <a:off x="548640" y="3903345"/>
            <a:ext cx="5464912" cy="67008"/>
          </a:xfrm>
          <a:prstGeom prst="rect">
            <a:avLst/>
          </a:prstGeom>
          <a:solidFill>
            <a:srgbClr val="3B40CD"/>
          </a:solidFill>
          <a:ln/>
        </p:spPr>
      </p:sp>
      <p:sp>
        <p:nvSpPr>
          <p:cNvPr id="29" name="Shape 27"/>
          <p:cNvSpPr/>
          <p:nvPr/>
        </p:nvSpPr>
        <p:spPr>
          <a:xfrm>
            <a:off x="548640" y="3961209"/>
            <a:ext cx="5464912" cy="67008"/>
          </a:xfrm>
          <a:prstGeom prst="rect">
            <a:avLst/>
          </a:prstGeom>
          <a:solidFill>
            <a:srgbClr val="3B41CD"/>
          </a:solidFill>
          <a:ln/>
        </p:spPr>
      </p:sp>
      <p:sp>
        <p:nvSpPr>
          <p:cNvPr id="30" name="Shape 28"/>
          <p:cNvSpPr/>
          <p:nvPr/>
        </p:nvSpPr>
        <p:spPr>
          <a:xfrm>
            <a:off x="548640" y="4019074"/>
            <a:ext cx="5464912" cy="67008"/>
          </a:xfrm>
          <a:prstGeom prst="rect">
            <a:avLst/>
          </a:prstGeom>
          <a:solidFill>
            <a:srgbClr val="3A42CE"/>
          </a:solidFill>
          <a:ln/>
        </p:spPr>
      </p:sp>
      <p:sp>
        <p:nvSpPr>
          <p:cNvPr id="31" name="Shape 29"/>
          <p:cNvSpPr/>
          <p:nvPr/>
        </p:nvSpPr>
        <p:spPr>
          <a:xfrm>
            <a:off x="548640" y="4076938"/>
            <a:ext cx="5464912" cy="67008"/>
          </a:xfrm>
          <a:prstGeom prst="rect">
            <a:avLst/>
          </a:prstGeom>
          <a:solidFill>
            <a:srgbClr val="3943CE"/>
          </a:solidFill>
          <a:ln/>
        </p:spPr>
      </p:sp>
      <p:sp>
        <p:nvSpPr>
          <p:cNvPr id="32" name="Shape 30"/>
          <p:cNvSpPr/>
          <p:nvPr/>
        </p:nvSpPr>
        <p:spPr>
          <a:xfrm>
            <a:off x="548640" y="4134802"/>
            <a:ext cx="5464912" cy="67008"/>
          </a:xfrm>
          <a:prstGeom prst="rect">
            <a:avLst/>
          </a:prstGeom>
          <a:solidFill>
            <a:srgbClr val="3844CE"/>
          </a:solidFill>
          <a:ln/>
        </p:spPr>
      </p:sp>
      <p:sp>
        <p:nvSpPr>
          <p:cNvPr id="33" name="Shape 31"/>
          <p:cNvSpPr/>
          <p:nvPr/>
        </p:nvSpPr>
        <p:spPr>
          <a:xfrm>
            <a:off x="548640" y="4192667"/>
            <a:ext cx="5464912" cy="67008"/>
          </a:xfrm>
          <a:prstGeom prst="rect">
            <a:avLst/>
          </a:prstGeom>
          <a:solidFill>
            <a:srgbClr val="3745CF"/>
          </a:solidFill>
          <a:ln/>
        </p:spPr>
      </p:sp>
      <p:sp>
        <p:nvSpPr>
          <p:cNvPr id="34" name="Shape 32"/>
          <p:cNvSpPr/>
          <p:nvPr/>
        </p:nvSpPr>
        <p:spPr>
          <a:xfrm>
            <a:off x="548640" y="4250531"/>
            <a:ext cx="5464912" cy="67008"/>
          </a:xfrm>
          <a:prstGeom prst="rect">
            <a:avLst/>
          </a:prstGeom>
          <a:solidFill>
            <a:srgbClr val="3646CF"/>
          </a:solidFill>
          <a:ln/>
        </p:spPr>
      </p:sp>
      <p:sp>
        <p:nvSpPr>
          <p:cNvPr id="35" name="Shape 33"/>
          <p:cNvSpPr/>
          <p:nvPr/>
        </p:nvSpPr>
        <p:spPr>
          <a:xfrm>
            <a:off x="548640" y="4308396"/>
            <a:ext cx="5464912" cy="67008"/>
          </a:xfrm>
          <a:prstGeom prst="rect">
            <a:avLst/>
          </a:prstGeom>
          <a:solidFill>
            <a:srgbClr val="3547D0"/>
          </a:solidFill>
          <a:ln/>
        </p:spPr>
      </p:sp>
      <p:sp>
        <p:nvSpPr>
          <p:cNvPr id="36" name="Shape 34"/>
          <p:cNvSpPr/>
          <p:nvPr/>
        </p:nvSpPr>
        <p:spPr>
          <a:xfrm>
            <a:off x="548640" y="4366260"/>
            <a:ext cx="5464912" cy="67008"/>
          </a:xfrm>
          <a:prstGeom prst="rect">
            <a:avLst/>
          </a:prstGeom>
          <a:solidFill>
            <a:srgbClr val="3549D0"/>
          </a:solidFill>
          <a:ln/>
        </p:spPr>
      </p:sp>
      <p:sp>
        <p:nvSpPr>
          <p:cNvPr id="37" name="Shape 35"/>
          <p:cNvSpPr/>
          <p:nvPr/>
        </p:nvSpPr>
        <p:spPr>
          <a:xfrm>
            <a:off x="548640" y="4424124"/>
            <a:ext cx="5464912" cy="67008"/>
          </a:xfrm>
          <a:prstGeom prst="rect">
            <a:avLst/>
          </a:prstGeom>
          <a:solidFill>
            <a:srgbClr val="344ACF"/>
          </a:solidFill>
          <a:ln/>
        </p:spPr>
      </p:sp>
      <p:sp>
        <p:nvSpPr>
          <p:cNvPr id="38" name="Shape 36"/>
          <p:cNvSpPr/>
          <p:nvPr/>
        </p:nvSpPr>
        <p:spPr>
          <a:xfrm>
            <a:off x="548640" y="4481989"/>
            <a:ext cx="5464912" cy="67008"/>
          </a:xfrm>
          <a:prstGeom prst="rect">
            <a:avLst/>
          </a:prstGeom>
          <a:solidFill>
            <a:srgbClr val="334BCF"/>
          </a:solidFill>
          <a:ln/>
        </p:spPr>
      </p:sp>
      <p:sp>
        <p:nvSpPr>
          <p:cNvPr id="39" name="Shape 37"/>
          <p:cNvSpPr/>
          <p:nvPr/>
        </p:nvSpPr>
        <p:spPr>
          <a:xfrm>
            <a:off x="548640" y="4539853"/>
            <a:ext cx="5464912" cy="67008"/>
          </a:xfrm>
          <a:prstGeom prst="rect">
            <a:avLst/>
          </a:prstGeom>
          <a:solidFill>
            <a:srgbClr val="324CCE"/>
          </a:solidFill>
          <a:ln/>
        </p:spPr>
      </p:sp>
      <p:sp>
        <p:nvSpPr>
          <p:cNvPr id="40" name="Shape 38"/>
          <p:cNvSpPr/>
          <p:nvPr/>
        </p:nvSpPr>
        <p:spPr>
          <a:xfrm>
            <a:off x="548640" y="4597717"/>
            <a:ext cx="5464912" cy="67008"/>
          </a:xfrm>
          <a:prstGeom prst="rect">
            <a:avLst/>
          </a:prstGeom>
          <a:solidFill>
            <a:srgbClr val="314ECD"/>
          </a:solidFill>
          <a:ln/>
        </p:spPr>
      </p:sp>
      <p:sp>
        <p:nvSpPr>
          <p:cNvPr id="41" name="Shape 39"/>
          <p:cNvSpPr/>
          <p:nvPr/>
        </p:nvSpPr>
        <p:spPr>
          <a:xfrm>
            <a:off x="548640" y="4655582"/>
            <a:ext cx="5464912" cy="67008"/>
          </a:xfrm>
          <a:prstGeom prst="rect">
            <a:avLst/>
          </a:prstGeom>
          <a:solidFill>
            <a:srgbClr val="304FCD"/>
          </a:solidFill>
          <a:ln/>
        </p:spPr>
      </p:sp>
      <p:sp>
        <p:nvSpPr>
          <p:cNvPr id="42" name="Shape 40"/>
          <p:cNvSpPr/>
          <p:nvPr/>
        </p:nvSpPr>
        <p:spPr>
          <a:xfrm>
            <a:off x="548640" y="4713446"/>
            <a:ext cx="5464912" cy="67008"/>
          </a:xfrm>
          <a:prstGeom prst="rect">
            <a:avLst/>
          </a:prstGeom>
          <a:solidFill>
            <a:srgbClr val="2F50CC"/>
          </a:solidFill>
          <a:ln/>
        </p:spPr>
      </p:sp>
      <p:sp>
        <p:nvSpPr>
          <p:cNvPr id="43" name="Shape 41"/>
          <p:cNvSpPr/>
          <p:nvPr/>
        </p:nvSpPr>
        <p:spPr>
          <a:xfrm>
            <a:off x="548640" y="4771311"/>
            <a:ext cx="5464912" cy="67008"/>
          </a:xfrm>
          <a:prstGeom prst="rect">
            <a:avLst/>
          </a:prstGeom>
          <a:solidFill>
            <a:srgbClr val="2F51CC"/>
          </a:solidFill>
          <a:ln/>
        </p:spPr>
      </p:sp>
      <p:sp>
        <p:nvSpPr>
          <p:cNvPr id="44" name="Shape 42"/>
          <p:cNvSpPr/>
          <p:nvPr/>
        </p:nvSpPr>
        <p:spPr>
          <a:xfrm>
            <a:off x="548640" y="4829175"/>
            <a:ext cx="5464912" cy="67008"/>
          </a:xfrm>
          <a:prstGeom prst="rect">
            <a:avLst/>
          </a:prstGeom>
          <a:solidFill>
            <a:srgbClr val="2E53CB"/>
          </a:solidFill>
          <a:ln/>
        </p:spPr>
      </p:sp>
      <p:sp>
        <p:nvSpPr>
          <p:cNvPr id="45" name="Shape 43"/>
          <p:cNvSpPr/>
          <p:nvPr/>
        </p:nvSpPr>
        <p:spPr>
          <a:xfrm>
            <a:off x="548640" y="4887039"/>
            <a:ext cx="5464912" cy="67008"/>
          </a:xfrm>
          <a:prstGeom prst="rect">
            <a:avLst/>
          </a:prstGeom>
          <a:solidFill>
            <a:srgbClr val="2D54CB"/>
          </a:solidFill>
          <a:ln/>
        </p:spPr>
      </p:sp>
      <p:sp>
        <p:nvSpPr>
          <p:cNvPr id="46" name="Shape 44"/>
          <p:cNvSpPr/>
          <p:nvPr/>
        </p:nvSpPr>
        <p:spPr>
          <a:xfrm>
            <a:off x="548640" y="4944904"/>
            <a:ext cx="5464912" cy="67008"/>
          </a:xfrm>
          <a:prstGeom prst="rect">
            <a:avLst/>
          </a:prstGeom>
          <a:solidFill>
            <a:srgbClr val="2C55CA"/>
          </a:solidFill>
          <a:ln/>
        </p:spPr>
      </p:sp>
      <p:sp>
        <p:nvSpPr>
          <p:cNvPr id="47" name="Shape 45"/>
          <p:cNvSpPr/>
          <p:nvPr/>
        </p:nvSpPr>
        <p:spPr>
          <a:xfrm>
            <a:off x="548640" y="5002768"/>
            <a:ext cx="5464912" cy="67008"/>
          </a:xfrm>
          <a:prstGeom prst="rect">
            <a:avLst/>
          </a:prstGeom>
          <a:solidFill>
            <a:srgbClr val="2B56C9"/>
          </a:solidFill>
          <a:ln/>
        </p:spPr>
      </p:sp>
      <p:sp>
        <p:nvSpPr>
          <p:cNvPr id="48" name="Shape 46"/>
          <p:cNvSpPr/>
          <p:nvPr/>
        </p:nvSpPr>
        <p:spPr>
          <a:xfrm>
            <a:off x="548640" y="5060633"/>
            <a:ext cx="5464912" cy="67008"/>
          </a:xfrm>
          <a:prstGeom prst="rect">
            <a:avLst/>
          </a:prstGeom>
          <a:solidFill>
            <a:srgbClr val="2A57C9"/>
          </a:solidFill>
          <a:ln/>
        </p:spPr>
      </p:sp>
      <p:sp>
        <p:nvSpPr>
          <p:cNvPr id="49" name="Shape 47"/>
          <p:cNvSpPr/>
          <p:nvPr/>
        </p:nvSpPr>
        <p:spPr>
          <a:xfrm>
            <a:off x="548640" y="5118497"/>
            <a:ext cx="5464912" cy="67008"/>
          </a:xfrm>
          <a:prstGeom prst="rect">
            <a:avLst/>
          </a:prstGeom>
          <a:solidFill>
            <a:srgbClr val="2959C8"/>
          </a:solidFill>
          <a:ln/>
        </p:spPr>
      </p:sp>
      <p:sp>
        <p:nvSpPr>
          <p:cNvPr id="50" name="Shape 48"/>
          <p:cNvSpPr/>
          <p:nvPr/>
        </p:nvSpPr>
        <p:spPr>
          <a:xfrm>
            <a:off x="548640" y="5176361"/>
            <a:ext cx="5464912" cy="67008"/>
          </a:xfrm>
          <a:prstGeom prst="rect">
            <a:avLst/>
          </a:prstGeom>
          <a:solidFill>
            <a:srgbClr val="295AC8"/>
          </a:solidFill>
          <a:ln/>
        </p:spPr>
      </p:sp>
      <p:sp>
        <p:nvSpPr>
          <p:cNvPr id="51" name="Shape 49"/>
          <p:cNvSpPr/>
          <p:nvPr/>
        </p:nvSpPr>
        <p:spPr>
          <a:xfrm>
            <a:off x="548640" y="5234226"/>
            <a:ext cx="5464912" cy="67008"/>
          </a:xfrm>
          <a:prstGeom prst="rect">
            <a:avLst/>
          </a:prstGeom>
          <a:solidFill>
            <a:srgbClr val="285BC7"/>
          </a:solidFill>
          <a:ln/>
        </p:spPr>
      </p:sp>
      <p:sp>
        <p:nvSpPr>
          <p:cNvPr id="52" name="Shape 50"/>
          <p:cNvSpPr/>
          <p:nvPr/>
        </p:nvSpPr>
        <p:spPr>
          <a:xfrm>
            <a:off x="548640" y="5292090"/>
            <a:ext cx="5464912" cy="67008"/>
          </a:xfrm>
          <a:prstGeom prst="rect">
            <a:avLst/>
          </a:prstGeom>
          <a:solidFill>
            <a:srgbClr val="275CC7"/>
          </a:solidFill>
          <a:ln/>
        </p:spPr>
      </p:sp>
      <p:sp>
        <p:nvSpPr>
          <p:cNvPr id="53" name="Shape 51"/>
          <p:cNvSpPr/>
          <p:nvPr/>
        </p:nvSpPr>
        <p:spPr>
          <a:xfrm>
            <a:off x="548640" y="5349954"/>
            <a:ext cx="5464912" cy="67008"/>
          </a:xfrm>
          <a:prstGeom prst="rect">
            <a:avLst/>
          </a:prstGeom>
          <a:solidFill>
            <a:srgbClr val="265EC6"/>
          </a:solidFill>
          <a:ln/>
        </p:spPr>
      </p:sp>
      <p:sp>
        <p:nvSpPr>
          <p:cNvPr id="54" name="Shape 52"/>
          <p:cNvSpPr/>
          <p:nvPr/>
        </p:nvSpPr>
        <p:spPr>
          <a:xfrm>
            <a:off x="548640" y="5407819"/>
            <a:ext cx="5464912" cy="67008"/>
          </a:xfrm>
          <a:prstGeom prst="rect">
            <a:avLst/>
          </a:prstGeom>
          <a:solidFill>
            <a:srgbClr val="255FC5"/>
          </a:solidFill>
          <a:ln/>
        </p:spPr>
      </p:sp>
      <p:sp>
        <p:nvSpPr>
          <p:cNvPr id="55" name="Shape 53"/>
          <p:cNvSpPr/>
          <p:nvPr/>
        </p:nvSpPr>
        <p:spPr>
          <a:xfrm>
            <a:off x="548640" y="5465683"/>
            <a:ext cx="5464912" cy="67008"/>
          </a:xfrm>
          <a:prstGeom prst="rect">
            <a:avLst/>
          </a:prstGeom>
          <a:solidFill>
            <a:srgbClr val="2460C5"/>
          </a:solidFill>
          <a:ln/>
        </p:spPr>
      </p:sp>
      <p:sp>
        <p:nvSpPr>
          <p:cNvPr id="56" name="Shape 54"/>
          <p:cNvSpPr/>
          <p:nvPr/>
        </p:nvSpPr>
        <p:spPr>
          <a:xfrm>
            <a:off x="548640" y="5523548"/>
            <a:ext cx="5464912" cy="67008"/>
          </a:xfrm>
          <a:prstGeom prst="rect">
            <a:avLst/>
          </a:prstGeom>
          <a:solidFill>
            <a:srgbClr val="2361C4"/>
          </a:solidFill>
          <a:ln/>
        </p:spPr>
      </p:sp>
      <p:sp>
        <p:nvSpPr>
          <p:cNvPr id="57" name="Shape 55"/>
          <p:cNvSpPr/>
          <p:nvPr/>
        </p:nvSpPr>
        <p:spPr>
          <a:xfrm>
            <a:off x="548640" y="5581412"/>
            <a:ext cx="5464912" cy="67008"/>
          </a:xfrm>
          <a:prstGeom prst="rect">
            <a:avLst/>
          </a:prstGeom>
          <a:solidFill>
            <a:srgbClr val="2363C4"/>
          </a:solidFill>
          <a:ln/>
        </p:spPr>
      </p:sp>
      <p:sp>
        <p:nvSpPr>
          <p:cNvPr id="58" name="Shape 56"/>
          <p:cNvSpPr/>
          <p:nvPr/>
        </p:nvSpPr>
        <p:spPr>
          <a:xfrm>
            <a:off x="548640" y="5639276"/>
            <a:ext cx="5464912" cy="67008"/>
          </a:xfrm>
          <a:prstGeom prst="rect">
            <a:avLst/>
          </a:prstGeom>
          <a:solidFill>
            <a:srgbClr val="2264C3"/>
          </a:solidFill>
          <a:ln/>
        </p:spPr>
      </p:sp>
      <p:sp>
        <p:nvSpPr>
          <p:cNvPr id="59" name="Shape 57"/>
          <p:cNvSpPr/>
          <p:nvPr/>
        </p:nvSpPr>
        <p:spPr>
          <a:xfrm>
            <a:off x="548640" y="5697141"/>
            <a:ext cx="5464912" cy="67008"/>
          </a:xfrm>
          <a:prstGeom prst="rect">
            <a:avLst/>
          </a:prstGeom>
          <a:solidFill>
            <a:srgbClr val="2165C3"/>
          </a:solidFill>
          <a:ln/>
        </p:spPr>
      </p:sp>
      <p:sp>
        <p:nvSpPr>
          <p:cNvPr id="60" name="Shape 58"/>
          <p:cNvSpPr/>
          <p:nvPr/>
        </p:nvSpPr>
        <p:spPr>
          <a:xfrm>
            <a:off x="548640" y="5755005"/>
            <a:ext cx="5464912" cy="67008"/>
          </a:xfrm>
          <a:prstGeom prst="rect">
            <a:avLst/>
          </a:prstGeom>
          <a:solidFill>
            <a:srgbClr val="2066C2"/>
          </a:solidFill>
          <a:ln/>
        </p:spPr>
      </p:sp>
      <p:sp>
        <p:nvSpPr>
          <p:cNvPr id="61" name="Shape 59"/>
          <p:cNvSpPr/>
          <p:nvPr/>
        </p:nvSpPr>
        <p:spPr>
          <a:xfrm>
            <a:off x="548640" y="5812869"/>
            <a:ext cx="5464912" cy="67008"/>
          </a:xfrm>
          <a:prstGeom prst="rect">
            <a:avLst/>
          </a:prstGeom>
          <a:solidFill>
            <a:srgbClr val="1F68C1"/>
          </a:solidFill>
          <a:ln/>
        </p:spPr>
      </p:sp>
      <p:sp>
        <p:nvSpPr>
          <p:cNvPr id="62" name="Shape 60"/>
          <p:cNvSpPr/>
          <p:nvPr/>
        </p:nvSpPr>
        <p:spPr>
          <a:xfrm>
            <a:off x="548640" y="5870734"/>
            <a:ext cx="5464912" cy="67008"/>
          </a:xfrm>
          <a:prstGeom prst="rect">
            <a:avLst/>
          </a:prstGeom>
          <a:solidFill>
            <a:srgbClr val="1E69C1"/>
          </a:solidFill>
          <a:ln/>
        </p:spPr>
      </p:sp>
      <p:sp>
        <p:nvSpPr>
          <p:cNvPr id="63" name="Shape 61"/>
          <p:cNvSpPr/>
          <p:nvPr/>
        </p:nvSpPr>
        <p:spPr>
          <a:xfrm>
            <a:off x="548640" y="5928598"/>
            <a:ext cx="5464912" cy="67008"/>
          </a:xfrm>
          <a:prstGeom prst="rect">
            <a:avLst/>
          </a:prstGeom>
          <a:solidFill>
            <a:srgbClr val="1D6AC0"/>
          </a:solidFill>
          <a:ln/>
        </p:spPr>
      </p:sp>
      <p:sp>
        <p:nvSpPr>
          <p:cNvPr id="64" name="Shape 62"/>
          <p:cNvSpPr/>
          <p:nvPr/>
        </p:nvSpPr>
        <p:spPr>
          <a:xfrm>
            <a:off x="548640" y="5986463"/>
            <a:ext cx="5464912" cy="67008"/>
          </a:xfrm>
          <a:prstGeom prst="rect">
            <a:avLst/>
          </a:prstGeom>
          <a:solidFill>
            <a:srgbClr val="1D6BC0"/>
          </a:solidFill>
          <a:ln/>
        </p:spPr>
      </p:sp>
      <p:sp>
        <p:nvSpPr>
          <p:cNvPr id="65" name="Shape 63"/>
          <p:cNvSpPr/>
          <p:nvPr/>
        </p:nvSpPr>
        <p:spPr>
          <a:xfrm>
            <a:off x="548640" y="6044327"/>
            <a:ext cx="5464912" cy="67008"/>
          </a:xfrm>
          <a:prstGeom prst="rect">
            <a:avLst/>
          </a:prstGeom>
          <a:solidFill>
            <a:srgbClr val="1C6DBF"/>
          </a:solidFill>
          <a:ln/>
        </p:spPr>
      </p:sp>
      <p:sp>
        <p:nvSpPr>
          <p:cNvPr id="66" name="Shape 64"/>
          <p:cNvSpPr/>
          <p:nvPr/>
        </p:nvSpPr>
        <p:spPr>
          <a:xfrm>
            <a:off x="548640" y="6102191"/>
            <a:ext cx="5464912" cy="67008"/>
          </a:xfrm>
          <a:prstGeom prst="rect">
            <a:avLst/>
          </a:prstGeom>
          <a:solidFill>
            <a:srgbClr val="1B6EBF"/>
          </a:solidFill>
          <a:ln/>
        </p:spPr>
      </p:sp>
      <p:sp>
        <p:nvSpPr>
          <p:cNvPr id="67" name="Shape 65"/>
          <p:cNvSpPr/>
          <p:nvPr/>
        </p:nvSpPr>
        <p:spPr>
          <a:xfrm>
            <a:off x="548640" y="6160056"/>
            <a:ext cx="5464912" cy="67008"/>
          </a:xfrm>
          <a:prstGeom prst="rect">
            <a:avLst/>
          </a:prstGeom>
          <a:solidFill>
            <a:srgbClr val="1A6FBE"/>
          </a:solidFill>
          <a:ln/>
        </p:spPr>
      </p:sp>
      <p:sp>
        <p:nvSpPr>
          <p:cNvPr id="68" name="Text 66"/>
          <p:cNvSpPr/>
          <p:nvPr/>
        </p:nvSpPr>
        <p:spPr>
          <a:xfrm>
            <a:off x="914400" y="2880360"/>
            <a:ext cx="4733392" cy="914400"/>
          </a:xfrm>
          <a:prstGeom prst="rect">
            <a:avLst/>
          </a:prstGeom>
          <a:noFill/>
          <a:ln/>
        </p:spPr>
        <p:txBody>
          <a:bodyPr wrap="square" lIns="0" tIns="0" rIns="0" bIns="0" rtlCol="0" anchor="t"/>
          <a:lstStyle/>
          <a:p>
            <a:pPr algn="l" indent="0" marL="0">
              <a:buNone/>
            </a:pPr>
            <a:r>
              <a:rPr lang="en-US" sz="1100" b="1" spc="300" kern="0" dirty="0">
                <a:solidFill>
                  <a:srgbClr val="FFFFFF"/>
                </a:solidFill>
                <a:latin typeface="Calibri" pitchFamily="34" charset="0"/>
                <a:ea typeface="Calibri" pitchFamily="34" charset="-122"/>
                <a:cs typeface="Calibri" pitchFamily="34" charset="-120"/>
              </a:rPr>
              <a:t>STEP-BY-STEP</a:t>
            </a:r>
            <a:endParaRPr lang="en-US" sz="1100" dirty="0"/>
          </a:p>
        </p:txBody>
      </p:sp>
      <p:sp>
        <p:nvSpPr>
          <p:cNvPr id="69" name="Text 67"/>
          <p:cNvSpPr/>
          <p:nvPr/>
        </p:nvSpPr>
        <p:spPr>
          <a:xfrm>
            <a:off x="914400" y="3383280"/>
            <a:ext cx="4733392" cy="2011680"/>
          </a:xfrm>
          <a:prstGeom prst="rect">
            <a:avLst/>
          </a:prstGeom>
          <a:noFill/>
          <a:ln/>
        </p:spPr>
        <p:txBody>
          <a:bodyPr wrap="square" lIns="0" tIns="0" rIns="0" bIns="0" rtlCol="0" anchor="t"/>
          <a:lstStyle/>
          <a:p>
            <a:pPr algn="l" indent="0" marL="0">
              <a:buNone/>
            </a:pPr>
            <a:r>
              <a:rPr lang="en-US" sz="3200" b="1" spc="-50" kern="0" dirty="0">
                <a:solidFill>
                  <a:srgbClr val="FFFFFF"/>
                </a:solidFill>
                <a:latin typeface="Calibri" pitchFamily="34" charset="0"/>
                <a:ea typeface="Calibri" pitchFamily="34" charset="-122"/>
                <a:cs typeface="Calibri" pitchFamily="34" charset="-120"/>
              </a:rPr>
              <a:t>Three steps. One workspace.</a:t>
            </a:r>
            <a:endParaRPr lang="en-US" sz="3200" dirty="0"/>
          </a:p>
        </p:txBody>
      </p:sp>
      <p:sp>
        <p:nvSpPr>
          <p:cNvPr id="70" name="Text 68"/>
          <p:cNvSpPr/>
          <p:nvPr/>
        </p:nvSpPr>
        <p:spPr>
          <a:xfrm>
            <a:off x="914400" y="5166360"/>
            <a:ext cx="4733392" cy="10972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Describe your ideal creator. We search five platforms. AI ranks the results. You send through your own inbox. The CRM captures the rest.</a:t>
            </a:r>
            <a:endParaRPr lang="en-US" sz="1300" dirty="0"/>
          </a:p>
        </p:txBody>
      </p:sp>
      <p:sp>
        <p:nvSpPr>
          <p:cNvPr id="71" name="Shape 69"/>
          <p:cNvSpPr/>
          <p:nvPr/>
        </p:nvSpPr>
        <p:spPr>
          <a:xfrm>
            <a:off x="6178144" y="2514600"/>
            <a:ext cx="5464912" cy="1124712"/>
          </a:xfrm>
          <a:prstGeom prst="roundRect">
            <a:avLst>
              <a:gd name="adj" fmla="val 9756"/>
            </a:avLst>
          </a:prstGeom>
          <a:solidFill>
            <a:srgbClr val="FFFFFF"/>
          </a:solidFill>
          <a:ln w="9525">
            <a:solidFill>
              <a:srgbClr val="E5E7F0"/>
            </a:solidFill>
            <a:prstDash val="solid"/>
          </a:ln>
        </p:spPr>
      </p:sp>
      <p:sp>
        <p:nvSpPr>
          <p:cNvPr id="72" name="Shape 70"/>
          <p:cNvSpPr/>
          <p:nvPr/>
        </p:nvSpPr>
        <p:spPr>
          <a:xfrm>
            <a:off x="6178144" y="2514600"/>
            <a:ext cx="73152" cy="1124712"/>
          </a:xfrm>
          <a:prstGeom prst="rect">
            <a:avLst/>
          </a:prstGeom>
          <a:solidFill>
            <a:srgbClr val="5028C2"/>
          </a:solidFill>
          <a:ln/>
        </p:spPr>
      </p:sp>
      <p:sp>
        <p:nvSpPr>
          <p:cNvPr id="73" name="Text 71"/>
          <p:cNvSpPr/>
          <p:nvPr/>
        </p:nvSpPr>
        <p:spPr>
          <a:xfrm>
            <a:off x="6434176" y="2697480"/>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1. Search</a:t>
            </a:r>
            <a:endParaRPr lang="en-US" sz="1600" dirty="0"/>
          </a:p>
        </p:txBody>
      </p:sp>
      <p:sp>
        <p:nvSpPr>
          <p:cNvPr id="74" name="Text 72"/>
          <p:cNvSpPr/>
          <p:nvPr/>
        </p:nvSpPr>
        <p:spPr>
          <a:xfrm>
            <a:off x="6434176" y="3081528"/>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Five platforms. One query.</a:t>
            </a:r>
            <a:endParaRPr lang="en-US" sz="1200" dirty="0"/>
          </a:p>
        </p:txBody>
      </p:sp>
      <p:sp>
        <p:nvSpPr>
          <p:cNvPr id="75" name="Shape 73"/>
          <p:cNvSpPr/>
          <p:nvPr/>
        </p:nvSpPr>
        <p:spPr>
          <a:xfrm>
            <a:off x="6178144" y="3803904"/>
            <a:ext cx="5464912" cy="1124712"/>
          </a:xfrm>
          <a:prstGeom prst="roundRect">
            <a:avLst>
              <a:gd name="adj" fmla="val 9756"/>
            </a:avLst>
          </a:prstGeom>
          <a:solidFill>
            <a:srgbClr val="FFFFFF"/>
          </a:solidFill>
          <a:ln w="9525">
            <a:solidFill>
              <a:srgbClr val="E5E7F0"/>
            </a:solidFill>
            <a:prstDash val="solid"/>
          </a:ln>
        </p:spPr>
      </p:sp>
      <p:sp>
        <p:nvSpPr>
          <p:cNvPr id="76" name="Shape 74"/>
          <p:cNvSpPr/>
          <p:nvPr/>
        </p:nvSpPr>
        <p:spPr>
          <a:xfrm>
            <a:off x="6178144" y="3803904"/>
            <a:ext cx="73152" cy="1124712"/>
          </a:xfrm>
          <a:prstGeom prst="rect">
            <a:avLst/>
          </a:prstGeom>
          <a:solidFill>
            <a:srgbClr val="3548D0"/>
          </a:solidFill>
          <a:ln/>
        </p:spPr>
      </p:sp>
      <p:sp>
        <p:nvSpPr>
          <p:cNvPr id="77" name="Text 75"/>
          <p:cNvSpPr/>
          <p:nvPr/>
        </p:nvSpPr>
        <p:spPr>
          <a:xfrm>
            <a:off x="6434176" y="3986784"/>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2. Score</a:t>
            </a:r>
            <a:endParaRPr lang="en-US" sz="1600" dirty="0"/>
          </a:p>
        </p:txBody>
      </p:sp>
      <p:sp>
        <p:nvSpPr>
          <p:cNvPr id="78" name="Text 76"/>
          <p:cNvSpPr/>
          <p:nvPr/>
        </p:nvSpPr>
        <p:spPr>
          <a:xfrm>
            <a:off x="6434176" y="4370832"/>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AI fit score against your ICP.</a:t>
            </a:r>
            <a:endParaRPr lang="en-US" sz="1200" dirty="0"/>
          </a:p>
        </p:txBody>
      </p:sp>
      <p:sp>
        <p:nvSpPr>
          <p:cNvPr id="79" name="Shape 77"/>
          <p:cNvSpPr/>
          <p:nvPr/>
        </p:nvSpPr>
        <p:spPr>
          <a:xfrm>
            <a:off x="6178144" y="5093208"/>
            <a:ext cx="5464912" cy="1124712"/>
          </a:xfrm>
          <a:prstGeom prst="roundRect">
            <a:avLst>
              <a:gd name="adj" fmla="val 9756"/>
            </a:avLst>
          </a:prstGeom>
          <a:solidFill>
            <a:srgbClr val="FFFFFF"/>
          </a:solidFill>
          <a:ln w="9525">
            <a:solidFill>
              <a:srgbClr val="E5E7F0"/>
            </a:solidFill>
            <a:prstDash val="solid"/>
          </a:ln>
        </p:spPr>
      </p:sp>
      <p:sp>
        <p:nvSpPr>
          <p:cNvPr id="80" name="Shape 78"/>
          <p:cNvSpPr/>
          <p:nvPr/>
        </p:nvSpPr>
        <p:spPr>
          <a:xfrm>
            <a:off x="6178144" y="5093208"/>
            <a:ext cx="73152" cy="1124712"/>
          </a:xfrm>
          <a:prstGeom prst="rect">
            <a:avLst/>
          </a:prstGeom>
          <a:solidFill>
            <a:srgbClr val="1A6FBE"/>
          </a:solidFill>
          <a:ln/>
        </p:spPr>
      </p:sp>
      <p:sp>
        <p:nvSpPr>
          <p:cNvPr id="81" name="Text 79"/>
          <p:cNvSpPr/>
          <p:nvPr/>
        </p:nvSpPr>
        <p:spPr>
          <a:xfrm>
            <a:off x="6434176" y="5276088"/>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3. Send</a:t>
            </a:r>
            <a:endParaRPr lang="en-US" sz="1600" dirty="0"/>
          </a:p>
        </p:txBody>
      </p:sp>
      <p:sp>
        <p:nvSpPr>
          <p:cNvPr id="82" name="Text 80"/>
          <p:cNvSpPr/>
          <p:nvPr/>
        </p:nvSpPr>
        <p:spPr>
          <a:xfrm>
            <a:off x="6434176" y="5660136"/>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Native compose, native track.</a:t>
            </a:r>
            <a:endParaRPr lang="en-US" sz="1200" dirty="0"/>
          </a:p>
        </p:txBody>
      </p:sp>
      <p:sp>
        <p:nvSpPr>
          <p:cNvPr id="83" name="Shape 81"/>
          <p:cNvSpPr/>
          <p:nvPr/>
        </p:nvSpPr>
        <p:spPr>
          <a:xfrm>
            <a:off x="548640" y="502920"/>
            <a:ext cx="292608" cy="292608"/>
          </a:xfrm>
          <a:prstGeom prst="roundRect">
            <a:avLst>
              <a:gd name="adj" fmla="val 25000"/>
            </a:avLst>
          </a:prstGeom>
          <a:solidFill>
            <a:srgbClr val="5028C2"/>
          </a:solidFill>
          <a:ln/>
        </p:spPr>
      </p:sp>
      <p:sp>
        <p:nvSpPr>
          <p:cNvPr id="84" name="Shape 82"/>
          <p:cNvSpPr/>
          <p:nvPr/>
        </p:nvSpPr>
        <p:spPr>
          <a:xfrm>
            <a:off x="548640" y="502920"/>
            <a:ext cx="292608" cy="292608"/>
          </a:xfrm>
          <a:prstGeom prst="roundRect">
            <a:avLst>
              <a:gd name="adj" fmla="val 25000"/>
            </a:avLst>
          </a:prstGeom>
          <a:solidFill>
            <a:srgbClr val="1A6FBE">
              <a:alpha val="50000"/>
            </a:srgbClr>
          </a:solidFill>
          <a:ln/>
        </p:spPr>
      </p:sp>
      <p:sp>
        <p:nvSpPr>
          <p:cNvPr id="85" name="Text 83"/>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86" name="Text 84"/>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87" name="Text 85"/>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06 · How it works  ·  vG</a:t>
            </a:r>
            <a:endParaRPr lang="en-US" sz="900" dirty="0"/>
          </a:p>
        </p:txBody>
      </p:sp>
      <p:sp>
        <p:nvSpPr>
          <p:cNvPr id="88" name="Text 86"/>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89" name="Text 87"/>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042 / 126</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80015" y="-914400"/>
            <a:ext cx="3200400" cy="3200400"/>
          </a:xfrm>
          <a:prstGeom prst="ellipse">
            <a:avLst/>
          </a:prstGeom>
          <a:solidFill>
            <a:srgbClr val="F1ECFF"/>
          </a:solidFill>
          <a:ln/>
        </p:spPr>
      </p:sp>
      <p:sp>
        <p:nvSpPr>
          <p:cNvPr id="3" name="Shape 1"/>
          <p:cNvSpPr/>
          <p:nvPr/>
        </p:nvSpPr>
        <p:spPr>
          <a:xfrm>
            <a:off x="10820095" y="-548640"/>
            <a:ext cx="2194560" cy="2194560"/>
          </a:xfrm>
          <a:prstGeom prst="ellipse">
            <a:avLst/>
          </a:prstGeom>
          <a:solidFill>
            <a:srgbClr val="E8F1FB">
              <a:alpha val="60000"/>
            </a:srgbClr>
          </a:solidFill>
          <a:ln/>
        </p:spPr>
      </p:sp>
      <p:sp>
        <p:nvSpPr>
          <p:cNvPr id="4" name="Shape 2"/>
          <p:cNvSpPr/>
          <p:nvPr/>
        </p:nvSpPr>
        <p:spPr>
          <a:xfrm>
            <a:off x="548640" y="5486400"/>
            <a:ext cx="54864" cy="54864"/>
          </a:xfrm>
          <a:prstGeom prst="ellipse">
            <a:avLst/>
          </a:prstGeom>
          <a:solidFill>
            <a:srgbClr val="5028C2">
              <a:alpha val="30000"/>
            </a:srgbClr>
          </a:solidFill>
          <a:ln/>
        </p:spPr>
      </p:sp>
      <p:sp>
        <p:nvSpPr>
          <p:cNvPr id="5" name="Shape 3"/>
          <p:cNvSpPr/>
          <p:nvPr/>
        </p:nvSpPr>
        <p:spPr>
          <a:xfrm>
            <a:off x="548640" y="5650992"/>
            <a:ext cx="54864" cy="54864"/>
          </a:xfrm>
          <a:prstGeom prst="ellipse">
            <a:avLst/>
          </a:prstGeom>
          <a:solidFill>
            <a:srgbClr val="5028C2">
              <a:alpha val="30000"/>
            </a:srgbClr>
          </a:solidFill>
          <a:ln/>
        </p:spPr>
      </p:sp>
      <p:sp>
        <p:nvSpPr>
          <p:cNvPr id="6" name="Shape 4"/>
          <p:cNvSpPr/>
          <p:nvPr/>
        </p:nvSpPr>
        <p:spPr>
          <a:xfrm>
            <a:off x="548640" y="5815584"/>
            <a:ext cx="54864" cy="54864"/>
          </a:xfrm>
          <a:prstGeom prst="ellipse">
            <a:avLst/>
          </a:prstGeom>
          <a:solidFill>
            <a:srgbClr val="5028C2">
              <a:alpha val="30000"/>
            </a:srgbClr>
          </a:solidFill>
          <a:ln/>
        </p:spPr>
      </p:sp>
      <p:sp>
        <p:nvSpPr>
          <p:cNvPr id="7" name="Shape 5"/>
          <p:cNvSpPr/>
          <p:nvPr/>
        </p:nvSpPr>
        <p:spPr>
          <a:xfrm>
            <a:off x="713232" y="5486400"/>
            <a:ext cx="54864" cy="54864"/>
          </a:xfrm>
          <a:prstGeom prst="ellipse">
            <a:avLst/>
          </a:prstGeom>
          <a:solidFill>
            <a:srgbClr val="5028C2">
              <a:alpha val="30000"/>
            </a:srgbClr>
          </a:solidFill>
          <a:ln/>
        </p:spPr>
      </p:sp>
      <p:sp>
        <p:nvSpPr>
          <p:cNvPr id="8" name="Shape 6"/>
          <p:cNvSpPr/>
          <p:nvPr/>
        </p:nvSpPr>
        <p:spPr>
          <a:xfrm>
            <a:off x="713232" y="5650992"/>
            <a:ext cx="54864" cy="54864"/>
          </a:xfrm>
          <a:prstGeom prst="ellipse">
            <a:avLst/>
          </a:prstGeom>
          <a:solidFill>
            <a:srgbClr val="5028C2">
              <a:alpha val="30000"/>
            </a:srgbClr>
          </a:solidFill>
          <a:ln/>
        </p:spPr>
      </p:sp>
      <p:sp>
        <p:nvSpPr>
          <p:cNvPr id="9" name="Shape 7"/>
          <p:cNvSpPr/>
          <p:nvPr/>
        </p:nvSpPr>
        <p:spPr>
          <a:xfrm>
            <a:off x="713232" y="5815584"/>
            <a:ext cx="54864" cy="54864"/>
          </a:xfrm>
          <a:prstGeom prst="ellipse">
            <a:avLst/>
          </a:prstGeom>
          <a:solidFill>
            <a:srgbClr val="5028C2">
              <a:alpha val="30000"/>
            </a:srgbClr>
          </a:solidFill>
          <a:ln/>
        </p:spPr>
      </p:sp>
      <p:sp>
        <p:nvSpPr>
          <p:cNvPr id="10" name="Shape 8"/>
          <p:cNvSpPr/>
          <p:nvPr/>
        </p:nvSpPr>
        <p:spPr>
          <a:xfrm>
            <a:off x="877824" y="5486400"/>
            <a:ext cx="54864" cy="54864"/>
          </a:xfrm>
          <a:prstGeom prst="ellipse">
            <a:avLst/>
          </a:prstGeom>
          <a:solidFill>
            <a:srgbClr val="5028C2">
              <a:alpha val="30000"/>
            </a:srgbClr>
          </a:solidFill>
          <a:ln/>
        </p:spPr>
      </p:sp>
      <p:sp>
        <p:nvSpPr>
          <p:cNvPr id="11" name="Shape 9"/>
          <p:cNvSpPr/>
          <p:nvPr/>
        </p:nvSpPr>
        <p:spPr>
          <a:xfrm>
            <a:off x="877824" y="5650992"/>
            <a:ext cx="54864" cy="54864"/>
          </a:xfrm>
          <a:prstGeom prst="ellipse">
            <a:avLst/>
          </a:prstGeom>
          <a:solidFill>
            <a:srgbClr val="5028C2">
              <a:alpha val="30000"/>
            </a:srgbClr>
          </a:solidFill>
          <a:ln/>
        </p:spPr>
      </p:sp>
      <p:sp>
        <p:nvSpPr>
          <p:cNvPr id="12" name="Shape 10"/>
          <p:cNvSpPr/>
          <p:nvPr/>
        </p:nvSpPr>
        <p:spPr>
          <a:xfrm>
            <a:off x="877824" y="5815584"/>
            <a:ext cx="54864" cy="54864"/>
          </a:xfrm>
          <a:prstGeom prst="ellipse">
            <a:avLst/>
          </a:prstGeom>
          <a:solidFill>
            <a:srgbClr val="5028C2">
              <a:alpha val="30000"/>
            </a:srgbClr>
          </a:solidFill>
          <a:ln/>
        </p:spPr>
      </p:sp>
      <p:sp>
        <p:nvSpPr>
          <p:cNvPr id="13" name="Shape 11"/>
          <p:cNvSpPr/>
          <p:nvPr/>
        </p:nvSpPr>
        <p:spPr>
          <a:xfrm>
            <a:off x="1042416" y="5486400"/>
            <a:ext cx="54864" cy="54864"/>
          </a:xfrm>
          <a:prstGeom prst="ellipse">
            <a:avLst/>
          </a:prstGeom>
          <a:solidFill>
            <a:srgbClr val="5028C2">
              <a:alpha val="30000"/>
            </a:srgbClr>
          </a:solidFill>
          <a:ln/>
        </p:spPr>
      </p:sp>
      <p:sp>
        <p:nvSpPr>
          <p:cNvPr id="14" name="Shape 12"/>
          <p:cNvSpPr/>
          <p:nvPr/>
        </p:nvSpPr>
        <p:spPr>
          <a:xfrm>
            <a:off x="1042416" y="5650992"/>
            <a:ext cx="54864" cy="54864"/>
          </a:xfrm>
          <a:prstGeom prst="ellipse">
            <a:avLst/>
          </a:prstGeom>
          <a:solidFill>
            <a:srgbClr val="5028C2">
              <a:alpha val="30000"/>
            </a:srgbClr>
          </a:solidFill>
          <a:ln/>
        </p:spPr>
      </p:sp>
      <p:sp>
        <p:nvSpPr>
          <p:cNvPr id="15" name="Shape 13"/>
          <p:cNvSpPr/>
          <p:nvPr/>
        </p:nvSpPr>
        <p:spPr>
          <a:xfrm>
            <a:off x="1042416" y="5815584"/>
            <a:ext cx="54864" cy="54864"/>
          </a:xfrm>
          <a:prstGeom prst="ellipse">
            <a:avLst/>
          </a:prstGeom>
          <a:solidFill>
            <a:srgbClr val="5028C2">
              <a:alpha val="30000"/>
            </a:srgbClr>
          </a:solidFill>
          <a:ln/>
        </p:spPr>
      </p:sp>
      <p:sp>
        <p:nvSpPr>
          <p:cNvPr id="16" name="Shape 14"/>
          <p:cNvSpPr/>
          <p:nvPr/>
        </p:nvSpPr>
        <p:spPr>
          <a:xfrm>
            <a:off x="1207008" y="5486400"/>
            <a:ext cx="54864" cy="54864"/>
          </a:xfrm>
          <a:prstGeom prst="ellipse">
            <a:avLst/>
          </a:prstGeom>
          <a:solidFill>
            <a:srgbClr val="5028C2">
              <a:alpha val="30000"/>
            </a:srgbClr>
          </a:solidFill>
          <a:ln/>
        </p:spPr>
      </p:sp>
      <p:sp>
        <p:nvSpPr>
          <p:cNvPr id="17" name="Shape 15"/>
          <p:cNvSpPr/>
          <p:nvPr/>
        </p:nvSpPr>
        <p:spPr>
          <a:xfrm>
            <a:off x="1207008" y="5650992"/>
            <a:ext cx="54864" cy="54864"/>
          </a:xfrm>
          <a:prstGeom prst="ellipse">
            <a:avLst/>
          </a:prstGeom>
          <a:solidFill>
            <a:srgbClr val="5028C2">
              <a:alpha val="30000"/>
            </a:srgbClr>
          </a:solidFill>
          <a:ln/>
        </p:spPr>
      </p:sp>
      <p:sp>
        <p:nvSpPr>
          <p:cNvPr id="18" name="Shape 16"/>
          <p:cNvSpPr/>
          <p:nvPr/>
        </p:nvSpPr>
        <p:spPr>
          <a:xfrm>
            <a:off x="1207008" y="5815584"/>
            <a:ext cx="54864" cy="54864"/>
          </a:xfrm>
          <a:prstGeom prst="ellipse">
            <a:avLst/>
          </a:prstGeom>
          <a:solidFill>
            <a:srgbClr val="5028C2">
              <a:alpha val="30000"/>
            </a:srgbClr>
          </a:solidFill>
          <a:ln/>
        </p:spPr>
      </p:sp>
      <p:sp>
        <p:nvSpPr>
          <p:cNvPr id="19" name="Shape 17"/>
          <p:cNvSpPr/>
          <p:nvPr/>
        </p:nvSpPr>
        <p:spPr>
          <a:xfrm>
            <a:off x="1371600" y="5486400"/>
            <a:ext cx="54864" cy="54864"/>
          </a:xfrm>
          <a:prstGeom prst="ellipse">
            <a:avLst/>
          </a:prstGeom>
          <a:solidFill>
            <a:srgbClr val="5028C2">
              <a:alpha val="30000"/>
            </a:srgbClr>
          </a:solidFill>
          <a:ln/>
        </p:spPr>
      </p:sp>
      <p:sp>
        <p:nvSpPr>
          <p:cNvPr id="20" name="Shape 18"/>
          <p:cNvSpPr/>
          <p:nvPr/>
        </p:nvSpPr>
        <p:spPr>
          <a:xfrm>
            <a:off x="1371600" y="5650992"/>
            <a:ext cx="54864" cy="54864"/>
          </a:xfrm>
          <a:prstGeom prst="ellipse">
            <a:avLst/>
          </a:prstGeom>
          <a:solidFill>
            <a:srgbClr val="5028C2">
              <a:alpha val="30000"/>
            </a:srgbClr>
          </a:solidFill>
          <a:ln/>
        </p:spPr>
      </p:sp>
      <p:sp>
        <p:nvSpPr>
          <p:cNvPr id="21" name="Shape 19"/>
          <p:cNvSpPr/>
          <p:nvPr/>
        </p:nvSpPr>
        <p:spPr>
          <a:xfrm>
            <a:off x="1371600" y="5815584"/>
            <a:ext cx="54864" cy="54864"/>
          </a:xfrm>
          <a:prstGeom prst="ellipse">
            <a:avLst/>
          </a:prstGeom>
          <a:solidFill>
            <a:srgbClr val="5028C2">
              <a:alpha val="30000"/>
            </a:srgbClr>
          </a:solidFill>
          <a:ln/>
        </p:spPr>
      </p:sp>
      <p:sp>
        <p:nvSpPr>
          <p:cNvPr id="22" name="Text 20"/>
          <p:cNvSpPr/>
          <p:nvPr/>
        </p:nvSpPr>
        <p:spPr>
          <a:xfrm>
            <a:off x="548640" y="1097280"/>
            <a:ext cx="11094415"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FEATURE · 5-PLATFORM SEARCH</a:t>
            </a:r>
            <a:endParaRPr lang="en-US" sz="1100" dirty="0"/>
          </a:p>
        </p:txBody>
      </p:sp>
      <p:sp>
        <p:nvSpPr>
          <p:cNvPr id="23" name="Text 21"/>
          <p:cNvSpPr/>
          <p:nvPr/>
        </p:nvSpPr>
        <p:spPr>
          <a:xfrm>
            <a:off x="548640" y="1554480"/>
            <a:ext cx="11094415" cy="3108960"/>
          </a:xfrm>
          <a:prstGeom prst="rect">
            <a:avLst/>
          </a:prstGeom>
          <a:noFill/>
          <a:ln/>
        </p:spPr>
        <p:txBody>
          <a:bodyPr wrap="square" lIns="0" tIns="0" rIns="0" bIns="0" rtlCol="0" anchor="t"/>
          <a:lstStyle/>
          <a:p>
            <a:pPr algn="l" indent="0" marL="0">
              <a:buNone/>
            </a:pPr>
            <a:r>
              <a:rPr lang="en-US" sz="5800" b="1" spc="-100" kern="0" dirty="0">
                <a:solidFill>
                  <a:srgbClr val="0F1733"/>
                </a:solidFill>
                <a:latin typeface="Calibri" pitchFamily="34" charset="0"/>
                <a:ea typeface="Calibri" pitchFamily="34" charset="-122"/>
                <a:cs typeface="Calibri" pitchFamily="34" charset="-120"/>
              </a:rPr>
              <a:t>Search five platforms. From one query bar.</a:t>
            </a:r>
            <a:endParaRPr lang="en-US" sz="5800" dirty="0"/>
          </a:p>
        </p:txBody>
      </p:sp>
      <p:sp>
        <p:nvSpPr>
          <p:cNvPr id="24" name="Text 22"/>
          <p:cNvSpPr/>
          <p:nvPr/>
        </p:nvSpPr>
        <p:spPr>
          <a:xfrm>
            <a:off x="548640" y="4754880"/>
            <a:ext cx="9265615" cy="1097280"/>
          </a:xfrm>
          <a:prstGeom prst="rect">
            <a:avLst/>
          </a:prstGeom>
          <a:noFill/>
          <a:ln/>
        </p:spPr>
        <p:txBody>
          <a:bodyPr wrap="square" lIns="0" tIns="0" rIns="0" bIns="0" rtlCol="0" anchor="t"/>
          <a:lstStyle/>
          <a:p>
            <a:pPr algn="l" indent="0" marL="0">
              <a:buNone/>
            </a:pPr>
            <a:r>
              <a:rPr lang="en-US" sz="1800" dirty="0">
                <a:solidFill>
                  <a:srgbClr val="2A3358"/>
                </a:solidFill>
                <a:latin typeface="Calibri" pitchFamily="34" charset="0"/>
                <a:ea typeface="Calibri" pitchFamily="34" charset="-122"/>
                <a:cs typeface="Calibri" pitchFamily="34" charset="-120"/>
              </a:rPr>
              <a:t>YouTube, Instagram, TikTok, X, LinkedIn — searchable as one. Public data, structured, normalized, and yours.</a:t>
            </a:r>
            <a:endParaRPr lang="en-US" sz="1800" dirty="0"/>
          </a:p>
        </p:txBody>
      </p:sp>
      <p:sp>
        <p:nvSpPr>
          <p:cNvPr id="25" name="Shape 23"/>
          <p:cNvSpPr/>
          <p:nvPr/>
        </p:nvSpPr>
        <p:spPr>
          <a:xfrm>
            <a:off x="548640" y="502920"/>
            <a:ext cx="292608" cy="292608"/>
          </a:xfrm>
          <a:prstGeom prst="roundRect">
            <a:avLst>
              <a:gd name="adj" fmla="val 25000"/>
            </a:avLst>
          </a:prstGeom>
          <a:solidFill>
            <a:srgbClr val="5028C2"/>
          </a:solidFill>
          <a:ln/>
        </p:spPr>
      </p:sp>
      <p:sp>
        <p:nvSpPr>
          <p:cNvPr id="26" name="Shape 24"/>
          <p:cNvSpPr/>
          <p:nvPr/>
        </p:nvSpPr>
        <p:spPr>
          <a:xfrm>
            <a:off x="548640" y="502920"/>
            <a:ext cx="292608" cy="292608"/>
          </a:xfrm>
          <a:prstGeom prst="roundRect">
            <a:avLst>
              <a:gd name="adj" fmla="val 25000"/>
            </a:avLst>
          </a:prstGeom>
          <a:solidFill>
            <a:srgbClr val="1A6FBE">
              <a:alpha val="50000"/>
            </a:srgbClr>
          </a:solidFill>
          <a:ln/>
        </p:spPr>
      </p:sp>
      <p:sp>
        <p:nvSpPr>
          <p:cNvPr id="27" name="Text 25"/>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8" name="Text 26"/>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9" name="Text 27"/>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07 · 5-platform search  ·  vA</a:t>
            </a:r>
            <a:endParaRPr lang="en-US" sz="900" dirty="0"/>
          </a:p>
        </p:txBody>
      </p:sp>
      <p:sp>
        <p:nvSpPr>
          <p:cNvPr id="30" name="Text 28"/>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31" name="Text 29"/>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043 / 126</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071183" y="0"/>
            <a:ext cx="5120512" cy="116300"/>
          </a:xfrm>
          <a:prstGeom prst="rect">
            <a:avLst/>
          </a:prstGeom>
          <a:solidFill>
            <a:srgbClr val="5028C2"/>
          </a:solidFill>
          <a:ln/>
        </p:spPr>
      </p:sp>
      <p:sp>
        <p:nvSpPr>
          <p:cNvPr id="3" name="Shape 1"/>
          <p:cNvSpPr/>
          <p:nvPr/>
        </p:nvSpPr>
        <p:spPr>
          <a:xfrm>
            <a:off x="7071183" y="107156"/>
            <a:ext cx="5120512" cy="116300"/>
          </a:xfrm>
          <a:prstGeom prst="rect">
            <a:avLst/>
          </a:prstGeom>
          <a:solidFill>
            <a:srgbClr val="4F29C2"/>
          </a:solidFill>
          <a:ln/>
        </p:spPr>
      </p:sp>
      <p:sp>
        <p:nvSpPr>
          <p:cNvPr id="4" name="Shape 2"/>
          <p:cNvSpPr/>
          <p:nvPr/>
        </p:nvSpPr>
        <p:spPr>
          <a:xfrm>
            <a:off x="7071183" y="214313"/>
            <a:ext cx="5120512" cy="116300"/>
          </a:xfrm>
          <a:prstGeom prst="rect">
            <a:avLst/>
          </a:prstGeom>
          <a:solidFill>
            <a:srgbClr val="4E2AC3"/>
          </a:solidFill>
          <a:ln/>
        </p:spPr>
      </p:sp>
      <p:sp>
        <p:nvSpPr>
          <p:cNvPr id="5" name="Shape 3"/>
          <p:cNvSpPr/>
          <p:nvPr/>
        </p:nvSpPr>
        <p:spPr>
          <a:xfrm>
            <a:off x="7071183" y="321469"/>
            <a:ext cx="5120512" cy="116300"/>
          </a:xfrm>
          <a:prstGeom prst="rect">
            <a:avLst/>
          </a:prstGeom>
          <a:solidFill>
            <a:srgbClr val="4D2BC3"/>
          </a:solidFill>
          <a:ln/>
        </p:spPr>
      </p:sp>
      <p:sp>
        <p:nvSpPr>
          <p:cNvPr id="6" name="Shape 4"/>
          <p:cNvSpPr/>
          <p:nvPr/>
        </p:nvSpPr>
        <p:spPr>
          <a:xfrm>
            <a:off x="7071183" y="428625"/>
            <a:ext cx="5120512" cy="116300"/>
          </a:xfrm>
          <a:prstGeom prst="rect">
            <a:avLst/>
          </a:prstGeom>
          <a:solidFill>
            <a:srgbClr val="4D2CC4"/>
          </a:solidFill>
          <a:ln/>
        </p:spPr>
      </p:sp>
      <p:sp>
        <p:nvSpPr>
          <p:cNvPr id="7" name="Shape 5"/>
          <p:cNvSpPr/>
          <p:nvPr/>
        </p:nvSpPr>
        <p:spPr>
          <a:xfrm>
            <a:off x="7071183" y="535781"/>
            <a:ext cx="5120512" cy="116300"/>
          </a:xfrm>
          <a:prstGeom prst="rect">
            <a:avLst/>
          </a:prstGeom>
          <a:solidFill>
            <a:srgbClr val="4C2DC4"/>
          </a:solidFill>
          <a:ln/>
        </p:spPr>
      </p:sp>
      <p:sp>
        <p:nvSpPr>
          <p:cNvPr id="8" name="Shape 6"/>
          <p:cNvSpPr/>
          <p:nvPr/>
        </p:nvSpPr>
        <p:spPr>
          <a:xfrm>
            <a:off x="7071183" y="642938"/>
            <a:ext cx="5120512" cy="116300"/>
          </a:xfrm>
          <a:prstGeom prst="rect">
            <a:avLst/>
          </a:prstGeom>
          <a:solidFill>
            <a:srgbClr val="4B2EC5"/>
          </a:solidFill>
          <a:ln/>
        </p:spPr>
      </p:sp>
      <p:sp>
        <p:nvSpPr>
          <p:cNvPr id="9" name="Shape 7"/>
          <p:cNvSpPr/>
          <p:nvPr/>
        </p:nvSpPr>
        <p:spPr>
          <a:xfrm>
            <a:off x="7071183" y="750094"/>
            <a:ext cx="5120512" cy="116300"/>
          </a:xfrm>
          <a:prstGeom prst="rect">
            <a:avLst/>
          </a:prstGeom>
          <a:solidFill>
            <a:srgbClr val="4A2FC5"/>
          </a:solidFill>
          <a:ln/>
        </p:spPr>
      </p:sp>
      <p:sp>
        <p:nvSpPr>
          <p:cNvPr id="10" name="Shape 8"/>
          <p:cNvSpPr/>
          <p:nvPr/>
        </p:nvSpPr>
        <p:spPr>
          <a:xfrm>
            <a:off x="7071183" y="857250"/>
            <a:ext cx="5120512" cy="116300"/>
          </a:xfrm>
          <a:prstGeom prst="rect">
            <a:avLst/>
          </a:prstGeom>
          <a:solidFill>
            <a:srgbClr val="4930C6"/>
          </a:solidFill>
          <a:ln/>
        </p:spPr>
      </p:sp>
      <p:sp>
        <p:nvSpPr>
          <p:cNvPr id="11" name="Shape 9"/>
          <p:cNvSpPr/>
          <p:nvPr/>
        </p:nvSpPr>
        <p:spPr>
          <a:xfrm>
            <a:off x="7071183" y="964406"/>
            <a:ext cx="5120512" cy="116300"/>
          </a:xfrm>
          <a:prstGeom prst="rect">
            <a:avLst/>
          </a:prstGeom>
          <a:solidFill>
            <a:srgbClr val="4831C6"/>
          </a:solidFill>
          <a:ln/>
        </p:spPr>
      </p:sp>
      <p:sp>
        <p:nvSpPr>
          <p:cNvPr id="12" name="Shape 10"/>
          <p:cNvSpPr/>
          <p:nvPr/>
        </p:nvSpPr>
        <p:spPr>
          <a:xfrm>
            <a:off x="7071183" y="1071563"/>
            <a:ext cx="5120512" cy="116300"/>
          </a:xfrm>
          <a:prstGeom prst="rect">
            <a:avLst/>
          </a:prstGeom>
          <a:solidFill>
            <a:srgbClr val="4732C6"/>
          </a:solidFill>
          <a:ln/>
        </p:spPr>
      </p:sp>
      <p:sp>
        <p:nvSpPr>
          <p:cNvPr id="13" name="Shape 11"/>
          <p:cNvSpPr/>
          <p:nvPr/>
        </p:nvSpPr>
        <p:spPr>
          <a:xfrm>
            <a:off x="7071183" y="1178719"/>
            <a:ext cx="5120512" cy="116300"/>
          </a:xfrm>
          <a:prstGeom prst="rect">
            <a:avLst/>
          </a:prstGeom>
          <a:solidFill>
            <a:srgbClr val="4733C7"/>
          </a:solidFill>
          <a:ln/>
        </p:spPr>
      </p:sp>
      <p:sp>
        <p:nvSpPr>
          <p:cNvPr id="14" name="Shape 12"/>
          <p:cNvSpPr/>
          <p:nvPr/>
        </p:nvSpPr>
        <p:spPr>
          <a:xfrm>
            <a:off x="7071183" y="1285875"/>
            <a:ext cx="5120512" cy="116300"/>
          </a:xfrm>
          <a:prstGeom prst="rect">
            <a:avLst/>
          </a:prstGeom>
          <a:solidFill>
            <a:srgbClr val="4634C7"/>
          </a:solidFill>
          <a:ln/>
        </p:spPr>
      </p:sp>
      <p:sp>
        <p:nvSpPr>
          <p:cNvPr id="15" name="Shape 13"/>
          <p:cNvSpPr/>
          <p:nvPr/>
        </p:nvSpPr>
        <p:spPr>
          <a:xfrm>
            <a:off x="7071183" y="1393031"/>
            <a:ext cx="5120512" cy="116300"/>
          </a:xfrm>
          <a:prstGeom prst="rect">
            <a:avLst/>
          </a:prstGeom>
          <a:solidFill>
            <a:srgbClr val="4535C8"/>
          </a:solidFill>
          <a:ln/>
        </p:spPr>
      </p:sp>
      <p:sp>
        <p:nvSpPr>
          <p:cNvPr id="16" name="Shape 14"/>
          <p:cNvSpPr/>
          <p:nvPr/>
        </p:nvSpPr>
        <p:spPr>
          <a:xfrm>
            <a:off x="7071183" y="1500188"/>
            <a:ext cx="5120512" cy="116300"/>
          </a:xfrm>
          <a:prstGeom prst="rect">
            <a:avLst/>
          </a:prstGeom>
          <a:solidFill>
            <a:srgbClr val="4436C8"/>
          </a:solidFill>
          <a:ln/>
        </p:spPr>
      </p:sp>
      <p:sp>
        <p:nvSpPr>
          <p:cNvPr id="17" name="Shape 15"/>
          <p:cNvSpPr/>
          <p:nvPr/>
        </p:nvSpPr>
        <p:spPr>
          <a:xfrm>
            <a:off x="7071183" y="1607344"/>
            <a:ext cx="5120512" cy="116300"/>
          </a:xfrm>
          <a:prstGeom prst="rect">
            <a:avLst/>
          </a:prstGeom>
          <a:solidFill>
            <a:srgbClr val="4337C9"/>
          </a:solidFill>
          <a:ln/>
        </p:spPr>
      </p:sp>
      <p:sp>
        <p:nvSpPr>
          <p:cNvPr id="18" name="Shape 16"/>
          <p:cNvSpPr/>
          <p:nvPr/>
        </p:nvSpPr>
        <p:spPr>
          <a:xfrm>
            <a:off x="7071183" y="1714500"/>
            <a:ext cx="5120512" cy="116300"/>
          </a:xfrm>
          <a:prstGeom prst="rect">
            <a:avLst/>
          </a:prstGeom>
          <a:solidFill>
            <a:srgbClr val="4238C9"/>
          </a:solidFill>
          <a:ln/>
        </p:spPr>
      </p:sp>
      <p:sp>
        <p:nvSpPr>
          <p:cNvPr id="19" name="Shape 17"/>
          <p:cNvSpPr/>
          <p:nvPr/>
        </p:nvSpPr>
        <p:spPr>
          <a:xfrm>
            <a:off x="7071183" y="1821656"/>
            <a:ext cx="5120512" cy="116300"/>
          </a:xfrm>
          <a:prstGeom prst="rect">
            <a:avLst/>
          </a:prstGeom>
          <a:solidFill>
            <a:srgbClr val="4139CA"/>
          </a:solidFill>
          <a:ln/>
        </p:spPr>
      </p:sp>
      <p:sp>
        <p:nvSpPr>
          <p:cNvPr id="20" name="Shape 18"/>
          <p:cNvSpPr/>
          <p:nvPr/>
        </p:nvSpPr>
        <p:spPr>
          <a:xfrm>
            <a:off x="7071183" y="1928813"/>
            <a:ext cx="5120512" cy="116300"/>
          </a:xfrm>
          <a:prstGeom prst="rect">
            <a:avLst/>
          </a:prstGeom>
          <a:solidFill>
            <a:srgbClr val="413ACA"/>
          </a:solidFill>
          <a:ln/>
        </p:spPr>
      </p:sp>
      <p:sp>
        <p:nvSpPr>
          <p:cNvPr id="21" name="Shape 19"/>
          <p:cNvSpPr/>
          <p:nvPr/>
        </p:nvSpPr>
        <p:spPr>
          <a:xfrm>
            <a:off x="7071183" y="2035969"/>
            <a:ext cx="5120512" cy="116300"/>
          </a:xfrm>
          <a:prstGeom prst="rect">
            <a:avLst/>
          </a:prstGeom>
          <a:solidFill>
            <a:srgbClr val="403BCA"/>
          </a:solidFill>
          <a:ln/>
        </p:spPr>
      </p:sp>
      <p:sp>
        <p:nvSpPr>
          <p:cNvPr id="22" name="Shape 20"/>
          <p:cNvSpPr/>
          <p:nvPr/>
        </p:nvSpPr>
        <p:spPr>
          <a:xfrm>
            <a:off x="7071183" y="2143125"/>
            <a:ext cx="5120512" cy="116300"/>
          </a:xfrm>
          <a:prstGeom prst="rect">
            <a:avLst/>
          </a:prstGeom>
          <a:solidFill>
            <a:srgbClr val="3F3CCB"/>
          </a:solidFill>
          <a:ln/>
        </p:spPr>
      </p:sp>
      <p:sp>
        <p:nvSpPr>
          <p:cNvPr id="23" name="Shape 21"/>
          <p:cNvSpPr/>
          <p:nvPr/>
        </p:nvSpPr>
        <p:spPr>
          <a:xfrm>
            <a:off x="7071183" y="2250281"/>
            <a:ext cx="5120512" cy="116300"/>
          </a:xfrm>
          <a:prstGeom prst="rect">
            <a:avLst/>
          </a:prstGeom>
          <a:solidFill>
            <a:srgbClr val="3E3DCB"/>
          </a:solidFill>
          <a:ln/>
        </p:spPr>
      </p:sp>
      <p:sp>
        <p:nvSpPr>
          <p:cNvPr id="24" name="Shape 22"/>
          <p:cNvSpPr/>
          <p:nvPr/>
        </p:nvSpPr>
        <p:spPr>
          <a:xfrm>
            <a:off x="7071183" y="2357438"/>
            <a:ext cx="5120512" cy="116300"/>
          </a:xfrm>
          <a:prstGeom prst="rect">
            <a:avLst/>
          </a:prstGeom>
          <a:solidFill>
            <a:srgbClr val="3D3ECC"/>
          </a:solidFill>
          <a:ln/>
        </p:spPr>
      </p:sp>
      <p:sp>
        <p:nvSpPr>
          <p:cNvPr id="25" name="Shape 23"/>
          <p:cNvSpPr/>
          <p:nvPr/>
        </p:nvSpPr>
        <p:spPr>
          <a:xfrm>
            <a:off x="7071183" y="2464594"/>
            <a:ext cx="5120512" cy="116300"/>
          </a:xfrm>
          <a:prstGeom prst="rect">
            <a:avLst/>
          </a:prstGeom>
          <a:solidFill>
            <a:srgbClr val="3C3FCC"/>
          </a:solidFill>
          <a:ln/>
        </p:spPr>
      </p:sp>
      <p:sp>
        <p:nvSpPr>
          <p:cNvPr id="26" name="Shape 24"/>
          <p:cNvSpPr/>
          <p:nvPr/>
        </p:nvSpPr>
        <p:spPr>
          <a:xfrm>
            <a:off x="7071183" y="2571750"/>
            <a:ext cx="5120512" cy="116300"/>
          </a:xfrm>
          <a:prstGeom prst="rect">
            <a:avLst/>
          </a:prstGeom>
          <a:solidFill>
            <a:srgbClr val="3B40CD"/>
          </a:solidFill>
          <a:ln/>
        </p:spPr>
      </p:sp>
      <p:sp>
        <p:nvSpPr>
          <p:cNvPr id="27" name="Shape 25"/>
          <p:cNvSpPr/>
          <p:nvPr/>
        </p:nvSpPr>
        <p:spPr>
          <a:xfrm>
            <a:off x="7071183" y="2678906"/>
            <a:ext cx="5120512" cy="116300"/>
          </a:xfrm>
          <a:prstGeom prst="rect">
            <a:avLst/>
          </a:prstGeom>
          <a:solidFill>
            <a:srgbClr val="3B41CD"/>
          </a:solidFill>
          <a:ln/>
        </p:spPr>
      </p:sp>
      <p:sp>
        <p:nvSpPr>
          <p:cNvPr id="28" name="Shape 26"/>
          <p:cNvSpPr/>
          <p:nvPr/>
        </p:nvSpPr>
        <p:spPr>
          <a:xfrm>
            <a:off x="7071183" y="2786063"/>
            <a:ext cx="5120512" cy="116300"/>
          </a:xfrm>
          <a:prstGeom prst="rect">
            <a:avLst/>
          </a:prstGeom>
          <a:solidFill>
            <a:srgbClr val="3A42CE"/>
          </a:solidFill>
          <a:ln/>
        </p:spPr>
      </p:sp>
      <p:sp>
        <p:nvSpPr>
          <p:cNvPr id="29" name="Shape 27"/>
          <p:cNvSpPr/>
          <p:nvPr/>
        </p:nvSpPr>
        <p:spPr>
          <a:xfrm>
            <a:off x="7071183" y="2893219"/>
            <a:ext cx="5120512" cy="116300"/>
          </a:xfrm>
          <a:prstGeom prst="rect">
            <a:avLst/>
          </a:prstGeom>
          <a:solidFill>
            <a:srgbClr val="3943CE"/>
          </a:solidFill>
          <a:ln/>
        </p:spPr>
      </p:sp>
      <p:sp>
        <p:nvSpPr>
          <p:cNvPr id="30" name="Shape 28"/>
          <p:cNvSpPr/>
          <p:nvPr/>
        </p:nvSpPr>
        <p:spPr>
          <a:xfrm>
            <a:off x="7071183" y="3000375"/>
            <a:ext cx="5120512" cy="116300"/>
          </a:xfrm>
          <a:prstGeom prst="rect">
            <a:avLst/>
          </a:prstGeom>
          <a:solidFill>
            <a:srgbClr val="3844CE"/>
          </a:solidFill>
          <a:ln/>
        </p:spPr>
      </p:sp>
      <p:sp>
        <p:nvSpPr>
          <p:cNvPr id="31" name="Shape 29"/>
          <p:cNvSpPr/>
          <p:nvPr/>
        </p:nvSpPr>
        <p:spPr>
          <a:xfrm>
            <a:off x="7071183" y="3107531"/>
            <a:ext cx="5120512" cy="116300"/>
          </a:xfrm>
          <a:prstGeom prst="rect">
            <a:avLst/>
          </a:prstGeom>
          <a:solidFill>
            <a:srgbClr val="3745CF"/>
          </a:solidFill>
          <a:ln/>
        </p:spPr>
      </p:sp>
      <p:sp>
        <p:nvSpPr>
          <p:cNvPr id="32" name="Shape 30"/>
          <p:cNvSpPr/>
          <p:nvPr/>
        </p:nvSpPr>
        <p:spPr>
          <a:xfrm>
            <a:off x="7071183" y="3214688"/>
            <a:ext cx="5120512" cy="116300"/>
          </a:xfrm>
          <a:prstGeom prst="rect">
            <a:avLst/>
          </a:prstGeom>
          <a:solidFill>
            <a:srgbClr val="3646CF"/>
          </a:solidFill>
          <a:ln/>
        </p:spPr>
      </p:sp>
      <p:sp>
        <p:nvSpPr>
          <p:cNvPr id="33" name="Shape 31"/>
          <p:cNvSpPr/>
          <p:nvPr/>
        </p:nvSpPr>
        <p:spPr>
          <a:xfrm>
            <a:off x="7071183" y="3321844"/>
            <a:ext cx="5120512" cy="116300"/>
          </a:xfrm>
          <a:prstGeom prst="rect">
            <a:avLst/>
          </a:prstGeom>
          <a:solidFill>
            <a:srgbClr val="3547D0"/>
          </a:solidFill>
          <a:ln/>
        </p:spPr>
      </p:sp>
      <p:sp>
        <p:nvSpPr>
          <p:cNvPr id="34" name="Shape 32"/>
          <p:cNvSpPr/>
          <p:nvPr/>
        </p:nvSpPr>
        <p:spPr>
          <a:xfrm>
            <a:off x="7071183" y="3429000"/>
            <a:ext cx="5120512" cy="116300"/>
          </a:xfrm>
          <a:prstGeom prst="rect">
            <a:avLst/>
          </a:prstGeom>
          <a:solidFill>
            <a:srgbClr val="3549D0"/>
          </a:solidFill>
          <a:ln/>
        </p:spPr>
      </p:sp>
      <p:sp>
        <p:nvSpPr>
          <p:cNvPr id="35" name="Shape 33"/>
          <p:cNvSpPr/>
          <p:nvPr/>
        </p:nvSpPr>
        <p:spPr>
          <a:xfrm>
            <a:off x="7071183" y="3536156"/>
            <a:ext cx="5120512" cy="116300"/>
          </a:xfrm>
          <a:prstGeom prst="rect">
            <a:avLst/>
          </a:prstGeom>
          <a:solidFill>
            <a:srgbClr val="344ACF"/>
          </a:solidFill>
          <a:ln/>
        </p:spPr>
      </p:sp>
      <p:sp>
        <p:nvSpPr>
          <p:cNvPr id="36" name="Shape 34"/>
          <p:cNvSpPr/>
          <p:nvPr/>
        </p:nvSpPr>
        <p:spPr>
          <a:xfrm>
            <a:off x="7071183" y="3643313"/>
            <a:ext cx="5120512" cy="116300"/>
          </a:xfrm>
          <a:prstGeom prst="rect">
            <a:avLst/>
          </a:prstGeom>
          <a:solidFill>
            <a:srgbClr val="334BCF"/>
          </a:solidFill>
          <a:ln/>
        </p:spPr>
      </p:sp>
      <p:sp>
        <p:nvSpPr>
          <p:cNvPr id="37" name="Shape 35"/>
          <p:cNvSpPr/>
          <p:nvPr/>
        </p:nvSpPr>
        <p:spPr>
          <a:xfrm>
            <a:off x="7071183" y="3750469"/>
            <a:ext cx="5120512" cy="116300"/>
          </a:xfrm>
          <a:prstGeom prst="rect">
            <a:avLst/>
          </a:prstGeom>
          <a:solidFill>
            <a:srgbClr val="324CCE"/>
          </a:solidFill>
          <a:ln/>
        </p:spPr>
      </p:sp>
      <p:sp>
        <p:nvSpPr>
          <p:cNvPr id="38" name="Shape 36"/>
          <p:cNvSpPr/>
          <p:nvPr/>
        </p:nvSpPr>
        <p:spPr>
          <a:xfrm>
            <a:off x="7071183" y="3857625"/>
            <a:ext cx="5120512" cy="116300"/>
          </a:xfrm>
          <a:prstGeom prst="rect">
            <a:avLst/>
          </a:prstGeom>
          <a:solidFill>
            <a:srgbClr val="314ECD"/>
          </a:solidFill>
          <a:ln/>
        </p:spPr>
      </p:sp>
      <p:sp>
        <p:nvSpPr>
          <p:cNvPr id="39" name="Shape 37"/>
          <p:cNvSpPr/>
          <p:nvPr/>
        </p:nvSpPr>
        <p:spPr>
          <a:xfrm>
            <a:off x="7071183" y="3964781"/>
            <a:ext cx="5120512" cy="116300"/>
          </a:xfrm>
          <a:prstGeom prst="rect">
            <a:avLst/>
          </a:prstGeom>
          <a:solidFill>
            <a:srgbClr val="304FCD"/>
          </a:solidFill>
          <a:ln/>
        </p:spPr>
      </p:sp>
      <p:sp>
        <p:nvSpPr>
          <p:cNvPr id="40" name="Shape 38"/>
          <p:cNvSpPr/>
          <p:nvPr/>
        </p:nvSpPr>
        <p:spPr>
          <a:xfrm>
            <a:off x="7071183" y="4071938"/>
            <a:ext cx="5120512" cy="116300"/>
          </a:xfrm>
          <a:prstGeom prst="rect">
            <a:avLst/>
          </a:prstGeom>
          <a:solidFill>
            <a:srgbClr val="2F50CC"/>
          </a:solidFill>
          <a:ln/>
        </p:spPr>
      </p:sp>
      <p:sp>
        <p:nvSpPr>
          <p:cNvPr id="41" name="Shape 39"/>
          <p:cNvSpPr/>
          <p:nvPr/>
        </p:nvSpPr>
        <p:spPr>
          <a:xfrm>
            <a:off x="7071183" y="4179094"/>
            <a:ext cx="5120512" cy="116300"/>
          </a:xfrm>
          <a:prstGeom prst="rect">
            <a:avLst/>
          </a:prstGeom>
          <a:solidFill>
            <a:srgbClr val="2F51CC"/>
          </a:solidFill>
          <a:ln/>
        </p:spPr>
      </p:sp>
      <p:sp>
        <p:nvSpPr>
          <p:cNvPr id="42" name="Shape 40"/>
          <p:cNvSpPr/>
          <p:nvPr/>
        </p:nvSpPr>
        <p:spPr>
          <a:xfrm>
            <a:off x="7071183" y="4286250"/>
            <a:ext cx="5120512" cy="116300"/>
          </a:xfrm>
          <a:prstGeom prst="rect">
            <a:avLst/>
          </a:prstGeom>
          <a:solidFill>
            <a:srgbClr val="2E53CB"/>
          </a:solidFill>
          <a:ln/>
        </p:spPr>
      </p:sp>
      <p:sp>
        <p:nvSpPr>
          <p:cNvPr id="43" name="Shape 41"/>
          <p:cNvSpPr/>
          <p:nvPr/>
        </p:nvSpPr>
        <p:spPr>
          <a:xfrm>
            <a:off x="7071183" y="4393406"/>
            <a:ext cx="5120512" cy="116300"/>
          </a:xfrm>
          <a:prstGeom prst="rect">
            <a:avLst/>
          </a:prstGeom>
          <a:solidFill>
            <a:srgbClr val="2D54CB"/>
          </a:solidFill>
          <a:ln/>
        </p:spPr>
      </p:sp>
      <p:sp>
        <p:nvSpPr>
          <p:cNvPr id="44" name="Shape 42"/>
          <p:cNvSpPr/>
          <p:nvPr/>
        </p:nvSpPr>
        <p:spPr>
          <a:xfrm>
            <a:off x="7071183" y="4500563"/>
            <a:ext cx="5120512" cy="116300"/>
          </a:xfrm>
          <a:prstGeom prst="rect">
            <a:avLst/>
          </a:prstGeom>
          <a:solidFill>
            <a:srgbClr val="2C55CA"/>
          </a:solidFill>
          <a:ln/>
        </p:spPr>
      </p:sp>
      <p:sp>
        <p:nvSpPr>
          <p:cNvPr id="45" name="Shape 43"/>
          <p:cNvSpPr/>
          <p:nvPr/>
        </p:nvSpPr>
        <p:spPr>
          <a:xfrm>
            <a:off x="7071183" y="4607719"/>
            <a:ext cx="5120512" cy="116300"/>
          </a:xfrm>
          <a:prstGeom prst="rect">
            <a:avLst/>
          </a:prstGeom>
          <a:solidFill>
            <a:srgbClr val="2B56C9"/>
          </a:solidFill>
          <a:ln/>
        </p:spPr>
      </p:sp>
      <p:sp>
        <p:nvSpPr>
          <p:cNvPr id="46" name="Shape 44"/>
          <p:cNvSpPr/>
          <p:nvPr/>
        </p:nvSpPr>
        <p:spPr>
          <a:xfrm>
            <a:off x="7071183" y="4714875"/>
            <a:ext cx="5120512" cy="116300"/>
          </a:xfrm>
          <a:prstGeom prst="rect">
            <a:avLst/>
          </a:prstGeom>
          <a:solidFill>
            <a:srgbClr val="2A57C9"/>
          </a:solidFill>
          <a:ln/>
        </p:spPr>
      </p:sp>
      <p:sp>
        <p:nvSpPr>
          <p:cNvPr id="47" name="Shape 45"/>
          <p:cNvSpPr/>
          <p:nvPr/>
        </p:nvSpPr>
        <p:spPr>
          <a:xfrm>
            <a:off x="7071183" y="4822031"/>
            <a:ext cx="5120512" cy="116300"/>
          </a:xfrm>
          <a:prstGeom prst="rect">
            <a:avLst/>
          </a:prstGeom>
          <a:solidFill>
            <a:srgbClr val="2959C8"/>
          </a:solidFill>
          <a:ln/>
        </p:spPr>
      </p:sp>
      <p:sp>
        <p:nvSpPr>
          <p:cNvPr id="48" name="Shape 46"/>
          <p:cNvSpPr/>
          <p:nvPr/>
        </p:nvSpPr>
        <p:spPr>
          <a:xfrm>
            <a:off x="7071183" y="4929188"/>
            <a:ext cx="5120512" cy="116300"/>
          </a:xfrm>
          <a:prstGeom prst="rect">
            <a:avLst/>
          </a:prstGeom>
          <a:solidFill>
            <a:srgbClr val="295AC8"/>
          </a:solidFill>
          <a:ln/>
        </p:spPr>
      </p:sp>
      <p:sp>
        <p:nvSpPr>
          <p:cNvPr id="49" name="Shape 47"/>
          <p:cNvSpPr/>
          <p:nvPr/>
        </p:nvSpPr>
        <p:spPr>
          <a:xfrm>
            <a:off x="7071183" y="5036344"/>
            <a:ext cx="5120512" cy="116300"/>
          </a:xfrm>
          <a:prstGeom prst="rect">
            <a:avLst/>
          </a:prstGeom>
          <a:solidFill>
            <a:srgbClr val="285BC7"/>
          </a:solidFill>
          <a:ln/>
        </p:spPr>
      </p:sp>
      <p:sp>
        <p:nvSpPr>
          <p:cNvPr id="50" name="Shape 48"/>
          <p:cNvSpPr/>
          <p:nvPr/>
        </p:nvSpPr>
        <p:spPr>
          <a:xfrm>
            <a:off x="7071183" y="5143500"/>
            <a:ext cx="5120512" cy="116300"/>
          </a:xfrm>
          <a:prstGeom prst="rect">
            <a:avLst/>
          </a:prstGeom>
          <a:solidFill>
            <a:srgbClr val="275CC7"/>
          </a:solidFill>
          <a:ln/>
        </p:spPr>
      </p:sp>
      <p:sp>
        <p:nvSpPr>
          <p:cNvPr id="51" name="Shape 49"/>
          <p:cNvSpPr/>
          <p:nvPr/>
        </p:nvSpPr>
        <p:spPr>
          <a:xfrm>
            <a:off x="7071183" y="5250656"/>
            <a:ext cx="5120512" cy="116300"/>
          </a:xfrm>
          <a:prstGeom prst="rect">
            <a:avLst/>
          </a:prstGeom>
          <a:solidFill>
            <a:srgbClr val="265EC6"/>
          </a:solidFill>
          <a:ln/>
        </p:spPr>
      </p:sp>
      <p:sp>
        <p:nvSpPr>
          <p:cNvPr id="52" name="Shape 50"/>
          <p:cNvSpPr/>
          <p:nvPr/>
        </p:nvSpPr>
        <p:spPr>
          <a:xfrm>
            <a:off x="7071183" y="5357813"/>
            <a:ext cx="5120512" cy="116300"/>
          </a:xfrm>
          <a:prstGeom prst="rect">
            <a:avLst/>
          </a:prstGeom>
          <a:solidFill>
            <a:srgbClr val="255FC5"/>
          </a:solidFill>
          <a:ln/>
        </p:spPr>
      </p:sp>
      <p:sp>
        <p:nvSpPr>
          <p:cNvPr id="53" name="Shape 51"/>
          <p:cNvSpPr/>
          <p:nvPr/>
        </p:nvSpPr>
        <p:spPr>
          <a:xfrm>
            <a:off x="7071183" y="5464969"/>
            <a:ext cx="5120512" cy="116300"/>
          </a:xfrm>
          <a:prstGeom prst="rect">
            <a:avLst/>
          </a:prstGeom>
          <a:solidFill>
            <a:srgbClr val="2460C5"/>
          </a:solidFill>
          <a:ln/>
        </p:spPr>
      </p:sp>
      <p:sp>
        <p:nvSpPr>
          <p:cNvPr id="54" name="Shape 52"/>
          <p:cNvSpPr/>
          <p:nvPr/>
        </p:nvSpPr>
        <p:spPr>
          <a:xfrm>
            <a:off x="7071183" y="5572125"/>
            <a:ext cx="5120512" cy="116300"/>
          </a:xfrm>
          <a:prstGeom prst="rect">
            <a:avLst/>
          </a:prstGeom>
          <a:solidFill>
            <a:srgbClr val="2361C4"/>
          </a:solidFill>
          <a:ln/>
        </p:spPr>
      </p:sp>
      <p:sp>
        <p:nvSpPr>
          <p:cNvPr id="55" name="Shape 53"/>
          <p:cNvSpPr/>
          <p:nvPr/>
        </p:nvSpPr>
        <p:spPr>
          <a:xfrm>
            <a:off x="7071183" y="5679281"/>
            <a:ext cx="5120512" cy="116300"/>
          </a:xfrm>
          <a:prstGeom prst="rect">
            <a:avLst/>
          </a:prstGeom>
          <a:solidFill>
            <a:srgbClr val="2363C4"/>
          </a:solidFill>
          <a:ln/>
        </p:spPr>
      </p:sp>
      <p:sp>
        <p:nvSpPr>
          <p:cNvPr id="56" name="Shape 54"/>
          <p:cNvSpPr/>
          <p:nvPr/>
        </p:nvSpPr>
        <p:spPr>
          <a:xfrm>
            <a:off x="7071183" y="5786438"/>
            <a:ext cx="5120512" cy="116300"/>
          </a:xfrm>
          <a:prstGeom prst="rect">
            <a:avLst/>
          </a:prstGeom>
          <a:solidFill>
            <a:srgbClr val="2264C3"/>
          </a:solidFill>
          <a:ln/>
        </p:spPr>
      </p:sp>
      <p:sp>
        <p:nvSpPr>
          <p:cNvPr id="57" name="Shape 55"/>
          <p:cNvSpPr/>
          <p:nvPr/>
        </p:nvSpPr>
        <p:spPr>
          <a:xfrm>
            <a:off x="7071183" y="5893594"/>
            <a:ext cx="5120512" cy="116300"/>
          </a:xfrm>
          <a:prstGeom prst="rect">
            <a:avLst/>
          </a:prstGeom>
          <a:solidFill>
            <a:srgbClr val="2165C3"/>
          </a:solidFill>
          <a:ln/>
        </p:spPr>
      </p:sp>
      <p:sp>
        <p:nvSpPr>
          <p:cNvPr id="58" name="Shape 56"/>
          <p:cNvSpPr/>
          <p:nvPr/>
        </p:nvSpPr>
        <p:spPr>
          <a:xfrm>
            <a:off x="7071183" y="6000750"/>
            <a:ext cx="5120512" cy="116300"/>
          </a:xfrm>
          <a:prstGeom prst="rect">
            <a:avLst/>
          </a:prstGeom>
          <a:solidFill>
            <a:srgbClr val="2066C2"/>
          </a:solidFill>
          <a:ln/>
        </p:spPr>
      </p:sp>
      <p:sp>
        <p:nvSpPr>
          <p:cNvPr id="59" name="Shape 57"/>
          <p:cNvSpPr/>
          <p:nvPr/>
        </p:nvSpPr>
        <p:spPr>
          <a:xfrm>
            <a:off x="7071183" y="6107906"/>
            <a:ext cx="5120512" cy="116300"/>
          </a:xfrm>
          <a:prstGeom prst="rect">
            <a:avLst/>
          </a:prstGeom>
          <a:solidFill>
            <a:srgbClr val="1F68C1"/>
          </a:solidFill>
          <a:ln/>
        </p:spPr>
      </p:sp>
      <p:sp>
        <p:nvSpPr>
          <p:cNvPr id="60" name="Shape 58"/>
          <p:cNvSpPr/>
          <p:nvPr/>
        </p:nvSpPr>
        <p:spPr>
          <a:xfrm>
            <a:off x="7071183" y="6215063"/>
            <a:ext cx="5120512" cy="116300"/>
          </a:xfrm>
          <a:prstGeom prst="rect">
            <a:avLst/>
          </a:prstGeom>
          <a:solidFill>
            <a:srgbClr val="1E69C1"/>
          </a:solidFill>
          <a:ln/>
        </p:spPr>
      </p:sp>
      <p:sp>
        <p:nvSpPr>
          <p:cNvPr id="61" name="Shape 59"/>
          <p:cNvSpPr/>
          <p:nvPr/>
        </p:nvSpPr>
        <p:spPr>
          <a:xfrm>
            <a:off x="7071183" y="6322219"/>
            <a:ext cx="5120512" cy="116300"/>
          </a:xfrm>
          <a:prstGeom prst="rect">
            <a:avLst/>
          </a:prstGeom>
          <a:solidFill>
            <a:srgbClr val="1D6AC0"/>
          </a:solidFill>
          <a:ln/>
        </p:spPr>
      </p:sp>
      <p:sp>
        <p:nvSpPr>
          <p:cNvPr id="62" name="Shape 60"/>
          <p:cNvSpPr/>
          <p:nvPr/>
        </p:nvSpPr>
        <p:spPr>
          <a:xfrm>
            <a:off x="7071183" y="6429375"/>
            <a:ext cx="5120512" cy="116300"/>
          </a:xfrm>
          <a:prstGeom prst="rect">
            <a:avLst/>
          </a:prstGeom>
          <a:solidFill>
            <a:srgbClr val="1D6BC0"/>
          </a:solidFill>
          <a:ln/>
        </p:spPr>
      </p:sp>
      <p:sp>
        <p:nvSpPr>
          <p:cNvPr id="63" name="Shape 61"/>
          <p:cNvSpPr/>
          <p:nvPr/>
        </p:nvSpPr>
        <p:spPr>
          <a:xfrm>
            <a:off x="7071183" y="6536531"/>
            <a:ext cx="5120512" cy="116300"/>
          </a:xfrm>
          <a:prstGeom prst="rect">
            <a:avLst/>
          </a:prstGeom>
          <a:solidFill>
            <a:srgbClr val="1C6DBF"/>
          </a:solidFill>
          <a:ln/>
        </p:spPr>
      </p:sp>
      <p:sp>
        <p:nvSpPr>
          <p:cNvPr id="64" name="Shape 62"/>
          <p:cNvSpPr/>
          <p:nvPr/>
        </p:nvSpPr>
        <p:spPr>
          <a:xfrm>
            <a:off x="7071183" y="6643688"/>
            <a:ext cx="5120512" cy="116300"/>
          </a:xfrm>
          <a:prstGeom prst="rect">
            <a:avLst/>
          </a:prstGeom>
          <a:solidFill>
            <a:srgbClr val="1B6EBF"/>
          </a:solidFill>
          <a:ln/>
        </p:spPr>
      </p:sp>
      <p:sp>
        <p:nvSpPr>
          <p:cNvPr id="65" name="Shape 63"/>
          <p:cNvSpPr/>
          <p:nvPr/>
        </p:nvSpPr>
        <p:spPr>
          <a:xfrm>
            <a:off x="7071183" y="6750844"/>
            <a:ext cx="5120512" cy="116300"/>
          </a:xfrm>
          <a:prstGeom prst="rect">
            <a:avLst/>
          </a:prstGeom>
          <a:solidFill>
            <a:srgbClr val="1A6FBE"/>
          </a:solidFill>
          <a:ln/>
        </p:spPr>
      </p:sp>
      <p:sp>
        <p:nvSpPr>
          <p:cNvPr id="66" name="Text 64"/>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DISCOVERY</a:t>
            </a:r>
            <a:endParaRPr lang="en-US" sz="1100" dirty="0"/>
          </a:p>
        </p:txBody>
      </p:sp>
      <p:sp>
        <p:nvSpPr>
          <p:cNvPr id="67" name="Text 65"/>
          <p:cNvSpPr/>
          <p:nvPr/>
        </p:nvSpPr>
        <p:spPr>
          <a:xfrm>
            <a:off x="548640" y="1417320"/>
            <a:ext cx="6156783" cy="2194560"/>
          </a:xfrm>
          <a:prstGeom prst="rect">
            <a:avLst/>
          </a:prstGeom>
          <a:noFill/>
          <a:ln/>
        </p:spPr>
        <p:txBody>
          <a:bodyPr wrap="square" lIns="0" tIns="0" rIns="0" bIns="0" rtlCol="0" anchor="t"/>
          <a:lstStyle/>
          <a:p>
            <a:pPr algn="l" indent="0" marL="0">
              <a:buNone/>
            </a:pPr>
            <a:r>
              <a:rPr lang="en-US" sz="4200" b="1" spc="-50" kern="0" dirty="0">
                <a:solidFill>
                  <a:srgbClr val="0F1733"/>
                </a:solidFill>
                <a:latin typeface="Calibri" pitchFamily="34" charset="0"/>
                <a:ea typeface="Calibri" pitchFamily="34" charset="-122"/>
                <a:cs typeface="Calibri" pitchFamily="34" charset="-120"/>
              </a:rPr>
              <a:t>YouTube. Instagram. TikTok. X. LinkedIn. Searched together.</a:t>
            </a:r>
            <a:endParaRPr lang="en-US" sz="4200" dirty="0"/>
          </a:p>
        </p:txBody>
      </p:sp>
      <p:sp>
        <p:nvSpPr>
          <p:cNvPr id="68" name="Text 66"/>
          <p:cNvSpPr/>
          <p:nvPr/>
        </p:nvSpPr>
        <p:spPr>
          <a:xfrm>
            <a:off x="548640" y="3657600"/>
            <a:ext cx="6156783" cy="1097280"/>
          </a:xfrm>
          <a:prstGeom prst="rect">
            <a:avLst/>
          </a:prstGeom>
          <a:noFill/>
          <a:ln/>
        </p:spPr>
        <p:txBody>
          <a:bodyPr wrap="square" lIns="0" tIns="0" rIns="0" bIns="0" rtlCol="0" anchor="t"/>
          <a:lstStyle/>
          <a:p>
            <a:pPr algn="l" indent="0" marL="0">
              <a:spcAft>
                <a:spcPts val="600"/>
              </a:spcAft>
              <a:buNone/>
            </a:pPr>
            <a:r>
              <a:rPr lang="en-US" sz="1400" dirty="0">
                <a:solidFill>
                  <a:srgbClr val="2A3358"/>
                </a:solidFill>
                <a:latin typeface="Calibri" pitchFamily="34" charset="0"/>
                <a:ea typeface="Calibri" pitchFamily="34" charset="-122"/>
                <a:cs typeface="Calibri" pitchFamily="34" charset="-120"/>
              </a:rPr>
              <a:t>Type a one-line description. We search every platform in parallel, deduplicate cross-platform creators, and return a single ranked list. No more switching tabs, no more rebuilding the same query in five different UIs.</a:t>
            </a:r>
            <a:endParaRPr lang="en-US" sz="1400" dirty="0"/>
          </a:p>
        </p:txBody>
      </p:sp>
      <p:sp>
        <p:nvSpPr>
          <p:cNvPr id="69" name="Text 67"/>
          <p:cNvSpPr/>
          <p:nvPr/>
        </p:nvSpPr>
        <p:spPr>
          <a:xfrm>
            <a:off x="548640" y="4846320"/>
            <a:ext cx="6156783" cy="1463040"/>
          </a:xfrm>
          <a:prstGeom prst="rect">
            <a:avLst/>
          </a:prstGeom>
          <a:noFill/>
          <a:ln/>
        </p:spPr>
        <p:txBody>
          <a:bodyPr wrap="square" lIns="0" tIns="0" rIns="0" bIns="0" rtlCol="0" anchor="t"/>
          <a:lstStyle/>
          <a:p>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Parallel queries across all five platforms</a:t>
            </a:r>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Cross-platform creator deduplication</a:t>
            </a:r>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Filters: audience size, engagement, language, geography</a:t>
            </a:r>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Public-data only — fully compliant</a:t>
            </a:r>
            <a:endParaRPr lang="en-US" sz="13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07 · 5-platform search  ·  vB</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044 / 126</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WHY FIVE</a:t>
            </a:r>
            <a:endParaRPr lang="en-US" sz="1100" dirty="0"/>
          </a:p>
        </p:txBody>
      </p:sp>
      <p:sp>
        <p:nvSpPr>
          <p:cNvPr id="3" name="Text 1"/>
          <p:cNvSpPr/>
          <p:nvPr/>
        </p:nvSpPr>
        <p:spPr>
          <a:xfrm>
            <a:off x="548640" y="1417320"/>
            <a:ext cx="11094415" cy="1188720"/>
          </a:xfrm>
          <a:prstGeom prst="rect">
            <a:avLst/>
          </a:prstGeom>
          <a:noFill/>
          <a:ln/>
        </p:spPr>
        <p:txBody>
          <a:bodyPr wrap="square" lIns="0" tIns="0" rIns="0" bIns="0" rtlCol="0" anchor="t"/>
          <a:lstStyle/>
          <a:p>
            <a:pPr algn="l" indent="0" marL="0">
              <a:buNone/>
            </a:pPr>
            <a:r>
              <a:rPr lang="en-US" sz="3800" b="1" spc="-50" kern="0" dirty="0">
                <a:solidFill>
                  <a:srgbClr val="0F1733"/>
                </a:solidFill>
                <a:latin typeface="Calibri" pitchFamily="34" charset="0"/>
                <a:ea typeface="Calibri" pitchFamily="34" charset="-122"/>
                <a:cs typeface="Calibri" pitchFamily="34" charset="-120"/>
              </a:rPr>
              <a:t>Different creators live on different platforms.</a:t>
            </a:r>
            <a:endParaRPr lang="en-US" sz="3800" dirty="0"/>
          </a:p>
        </p:txBody>
      </p:sp>
      <p:sp>
        <p:nvSpPr>
          <p:cNvPr id="4" name="Text 2"/>
          <p:cNvSpPr/>
          <p:nvPr/>
        </p:nvSpPr>
        <p:spPr>
          <a:xfrm>
            <a:off x="548640" y="2606040"/>
            <a:ext cx="8534187" cy="457200"/>
          </a:xfrm>
          <a:prstGeom prst="rect">
            <a:avLst/>
          </a:prstGeom>
          <a:noFill/>
          <a:ln/>
        </p:spPr>
        <p:txBody>
          <a:bodyPr wrap="square" lIns="0" tIns="0" rIns="0" bIns="0" rtlCol="0" anchor="t"/>
          <a:lstStyle/>
          <a:p>
            <a:pPr algn="l" indent="0" marL="0">
              <a:buNone/>
            </a:pPr>
            <a:r>
              <a:rPr lang="en-US" sz="1600" dirty="0">
                <a:solidFill>
                  <a:srgbClr val="2A3358"/>
                </a:solidFill>
                <a:latin typeface="Calibri" pitchFamily="34" charset="0"/>
                <a:ea typeface="Calibri" pitchFamily="34" charset="-122"/>
                <a:cs typeface="Calibri" pitchFamily="34" charset="-120"/>
              </a:rPr>
              <a:t>B2B-relevant creators don't cluster. The best ones are split across surfaces. So the search has to be split too.</a:t>
            </a:r>
            <a:endParaRPr lang="en-US" sz="1600" dirty="0"/>
          </a:p>
        </p:txBody>
      </p:sp>
      <p:sp>
        <p:nvSpPr>
          <p:cNvPr id="5" name="Shape 3"/>
          <p:cNvSpPr/>
          <p:nvPr/>
        </p:nvSpPr>
        <p:spPr>
          <a:xfrm>
            <a:off x="548640" y="3108960"/>
            <a:ext cx="3545738" cy="3017520"/>
          </a:xfrm>
          <a:prstGeom prst="roundRect">
            <a:avLst>
              <a:gd name="adj" fmla="val 3636"/>
            </a:avLst>
          </a:prstGeom>
          <a:solidFill>
            <a:srgbClr val="FFFFFF"/>
          </a:solidFill>
          <a:ln w="9525">
            <a:solidFill>
              <a:srgbClr val="E5E7F0"/>
            </a:solidFill>
            <a:prstDash val="solid"/>
          </a:ln>
        </p:spPr>
      </p:sp>
      <p:sp>
        <p:nvSpPr>
          <p:cNvPr id="6" name="Shape 4"/>
          <p:cNvSpPr/>
          <p:nvPr/>
        </p:nvSpPr>
        <p:spPr>
          <a:xfrm>
            <a:off x="548640" y="3108960"/>
            <a:ext cx="3545738" cy="73152"/>
          </a:xfrm>
          <a:prstGeom prst="rect">
            <a:avLst/>
          </a:prstGeom>
          <a:solidFill>
            <a:srgbClr val="5028C2"/>
          </a:solidFill>
          <a:ln/>
        </p:spPr>
      </p:sp>
      <p:sp>
        <p:nvSpPr>
          <p:cNvPr id="7" name="Shape 5"/>
          <p:cNvSpPr/>
          <p:nvPr/>
        </p:nvSpPr>
        <p:spPr>
          <a:xfrm>
            <a:off x="868680" y="3474720"/>
            <a:ext cx="457200" cy="457200"/>
          </a:xfrm>
          <a:prstGeom prst="ellipse">
            <a:avLst/>
          </a:prstGeom>
          <a:solidFill>
            <a:srgbClr val="5028C2"/>
          </a:solidFill>
          <a:ln/>
        </p:spPr>
      </p:sp>
      <p:sp>
        <p:nvSpPr>
          <p:cNvPr id="8" name="Text 6"/>
          <p:cNvSpPr/>
          <p:nvPr/>
        </p:nvSpPr>
        <p:spPr>
          <a:xfrm>
            <a:off x="868680"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9" name="Text 7"/>
          <p:cNvSpPr/>
          <p:nvPr/>
        </p:nvSpPr>
        <p:spPr>
          <a:xfrm>
            <a:off x="868680"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YouTube + X</a:t>
            </a:r>
            <a:endParaRPr lang="en-US" sz="1800" dirty="0"/>
          </a:p>
        </p:txBody>
      </p:sp>
      <p:sp>
        <p:nvSpPr>
          <p:cNvPr id="10" name="Text 8"/>
          <p:cNvSpPr/>
          <p:nvPr/>
        </p:nvSpPr>
        <p:spPr>
          <a:xfrm>
            <a:off x="868680"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Where B2B SaaS reviewers and technical influencers concentrate. Long-form trust + breaking-news distribution.</a:t>
            </a:r>
            <a:endParaRPr lang="en-US" sz="1300" dirty="0"/>
          </a:p>
        </p:txBody>
      </p:sp>
      <p:sp>
        <p:nvSpPr>
          <p:cNvPr id="11" name="Shape 9"/>
          <p:cNvSpPr/>
          <p:nvPr/>
        </p:nvSpPr>
        <p:spPr>
          <a:xfrm>
            <a:off x="4322978" y="3108960"/>
            <a:ext cx="3545738" cy="3017520"/>
          </a:xfrm>
          <a:prstGeom prst="roundRect">
            <a:avLst>
              <a:gd name="adj" fmla="val 3636"/>
            </a:avLst>
          </a:prstGeom>
          <a:solidFill>
            <a:srgbClr val="FFFFFF"/>
          </a:solidFill>
          <a:ln w="9525">
            <a:solidFill>
              <a:srgbClr val="E5E7F0"/>
            </a:solidFill>
            <a:prstDash val="solid"/>
          </a:ln>
        </p:spPr>
      </p:sp>
      <p:sp>
        <p:nvSpPr>
          <p:cNvPr id="12" name="Shape 10"/>
          <p:cNvSpPr/>
          <p:nvPr/>
        </p:nvSpPr>
        <p:spPr>
          <a:xfrm>
            <a:off x="4322978" y="3108960"/>
            <a:ext cx="3545738" cy="73152"/>
          </a:xfrm>
          <a:prstGeom prst="rect">
            <a:avLst/>
          </a:prstGeom>
          <a:solidFill>
            <a:srgbClr val="3548D0"/>
          </a:solidFill>
          <a:ln/>
        </p:spPr>
      </p:sp>
      <p:sp>
        <p:nvSpPr>
          <p:cNvPr id="13" name="Shape 11"/>
          <p:cNvSpPr/>
          <p:nvPr/>
        </p:nvSpPr>
        <p:spPr>
          <a:xfrm>
            <a:off x="4643018" y="3474720"/>
            <a:ext cx="457200" cy="457200"/>
          </a:xfrm>
          <a:prstGeom prst="ellipse">
            <a:avLst/>
          </a:prstGeom>
          <a:solidFill>
            <a:srgbClr val="3548D0"/>
          </a:solidFill>
          <a:ln/>
        </p:spPr>
      </p:sp>
      <p:sp>
        <p:nvSpPr>
          <p:cNvPr id="14" name="Text 12"/>
          <p:cNvSpPr/>
          <p:nvPr/>
        </p:nvSpPr>
        <p:spPr>
          <a:xfrm>
            <a:off x="4643018"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5" name="Text 13"/>
          <p:cNvSpPr/>
          <p:nvPr/>
        </p:nvSpPr>
        <p:spPr>
          <a:xfrm>
            <a:off x="4643018"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LinkedIn</a:t>
            </a:r>
            <a:endParaRPr lang="en-US" sz="1800" dirty="0"/>
          </a:p>
        </p:txBody>
      </p:sp>
      <p:sp>
        <p:nvSpPr>
          <p:cNvPr id="16" name="Text 14"/>
          <p:cNvSpPr/>
          <p:nvPr/>
        </p:nvSpPr>
        <p:spPr>
          <a:xfrm>
            <a:off x="4643018"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Where operator-creators publish. Where founders, sales leaders, and engineers build their audience.</a:t>
            </a:r>
            <a:endParaRPr lang="en-US" sz="1300" dirty="0"/>
          </a:p>
        </p:txBody>
      </p:sp>
      <p:sp>
        <p:nvSpPr>
          <p:cNvPr id="17" name="Shape 15"/>
          <p:cNvSpPr/>
          <p:nvPr/>
        </p:nvSpPr>
        <p:spPr>
          <a:xfrm>
            <a:off x="8097317" y="3108960"/>
            <a:ext cx="3545738" cy="3017520"/>
          </a:xfrm>
          <a:prstGeom prst="roundRect">
            <a:avLst>
              <a:gd name="adj" fmla="val 3636"/>
            </a:avLst>
          </a:prstGeom>
          <a:solidFill>
            <a:srgbClr val="FFFFFF"/>
          </a:solidFill>
          <a:ln w="9525">
            <a:solidFill>
              <a:srgbClr val="E5E7F0"/>
            </a:solidFill>
            <a:prstDash val="solid"/>
          </a:ln>
        </p:spPr>
      </p:sp>
      <p:sp>
        <p:nvSpPr>
          <p:cNvPr id="18" name="Shape 16"/>
          <p:cNvSpPr/>
          <p:nvPr/>
        </p:nvSpPr>
        <p:spPr>
          <a:xfrm>
            <a:off x="8097317" y="3108960"/>
            <a:ext cx="3545738" cy="73152"/>
          </a:xfrm>
          <a:prstGeom prst="rect">
            <a:avLst/>
          </a:prstGeom>
          <a:solidFill>
            <a:srgbClr val="1A6FBE"/>
          </a:solidFill>
          <a:ln/>
        </p:spPr>
      </p:sp>
      <p:sp>
        <p:nvSpPr>
          <p:cNvPr id="19" name="Shape 17"/>
          <p:cNvSpPr/>
          <p:nvPr/>
        </p:nvSpPr>
        <p:spPr>
          <a:xfrm>
            <a:off x="8417357" y="3474720"/>
            <a:ext cx="457200" cy="457200"/>
          </a:xfrm>
          <a:prstGeom prst="ellipse">
            <a:avLst/>
          </a:prstGeom>
          <a:solidFill>
            <a:srgbClr val="1A6FBE"/>
          </a:solidFill>
          <a:ln/>
        </p:spPr>
      </p:sp>
      <p:sp>
        <p:nvSpPr>
          <p:cNvPr id="20" name="Text 18"/>
          <p:cNvSpPr/>
          <p:nvPr/>
        </p:nvSpPr>
        <p:spPr>
          <a:xfrm>
            <a:off x="8417357"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9"/>
          <p:cNvSpPr/>
          <p:nvPr/>
        </p:nvSpPr>
        <p:spPr>
          <a:xfrm>
            <a:off x="8417357"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Instagram + TikTok</a:t>
            </a:r>
            <a:endParaRPr lang="en-US" sz="1800" dirty="0"/>
          </a:p>
        </p:txBody>
      </p:sp>
      <p:sp>
        <p:nvSpPr>
          <p:cNvPr id="22" name="Text 20"/>
          <p:cNvSpPr/>
          <p:nvPr/>
        </p:nvSpPr>
        <p:spPr>
          <a:xfrm>
            <a:off x="8417357"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Where short-form, consumer-adjacent, and design-focused creators live. Underrated for B2B SaaS that touches design.</a:t>
            </a:r>
            <a:endParaRPr lang="en-US" sz="1300" dirty="0"/>
          </a:p>
        </p:txBody>
      </p:sp>
      <p:sp>
        <p:nvSpPr>
          <p:cNvPr id="23" name="Shape 21"/>
          <p:cNvSpPr/>
          <p:nvPr/>
        </p:nvSpPr>
        <p:spPr>
          <a:xfrm>
            <a:off x="548640" y="502920"/>
            <a:ext cx="292608" cy="292608"/>
          </a:xfrm>
          <a:prstGeom prst="roundRect">
            <a:avLst>
              <a:gd name="adj" fmla="val 25000"/>
            </a:avLst>
          </a:prstGeom>
          <a:solidFill>
            <a:srgbClr val="5028C2"/>
          </a:solidFill>
          <a:ln/>
        </p:spPr>
      </p:sp>
      <p:sp>
        <p:nvSpPr>
          <p:cNvPr id="24" name="Shape 22"/>
          <p:cNvSpPr/>
          <p:nvPr/>
        </p:nvSpPr>
        <p:spPr>
          <a:xfrm>
            <a:off x="548640" y="502920"/>
            <a:ext cx="292608" cy="292608"/>
          </a:xfrm>
          <a:prstGeom prst="roundRect">
            <a:avLst>
              <a:gd name="adj" fmla="val 25000"/>
            </a:avLst>
          </a:prstGeom>
          <a:solidFill>
            <a:srgbClr val="1A6FBE">
              <a:alpha val="50000"/>
            </a:srgbClr>
          </a:solidFill>
          <a:ln/>
        </p:spPr>
      </p:sp>
      <p:sp>
        <p:nvSpPr>
          <p:cNvPr id="25" name="Text 23"/>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6" name="Text 24"/>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7" name="Text 25"/>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07 · 5-platform search  ·  vC</a:t>
            </a:r>
            <a:endParaRPr lang="en-US" sz="900" dirty="0"/>
          </a:p>
        </p:txBody>
      </p:sp>
      <p:sp>
        <p:nvSpPr>
          <p:cNvPr id="28" name="Text 26"/>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29" name="Text 27"/>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045 / 126</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320040" cy="116300"/>
          </a:xfrm>
          <a:prstGeom prst="rect">
            <a:avLst/>
          </a:prstGeom>
          <a:solidFill>
            <a:srgbClr val="5028C2"/>
          </a:solidFill>
          <a:ln/>
        </p:spPr>
      </p:sp>
      <p:sp>
        <p:nvSpPr>
          <p:cNvPr id="3" name="Shape 1"/>
          <p:cNvSpPr/>
          <p:nvPr/>
        </p:nvSpPr>
        <p:spPr>
          <a:xfrm>
            <a:off x="0" y="107156"/>
            <a:ext cx="320040" cy="116300"/>
          </a:xfrm>
          <a:prstGeom prst="rect">
            <a:avLst/>
          </a:prstGeom>
          <a:solidFill>
            <a:srgbClr val="4F29C2"/>
          </a:solidFill>
          <a:ln/>
        </p:spPr>
      </p:sp>
      <p:sp>
        <p:nvSpPr>
          <p:cNvPr id="4" name="Shape 2"/>
          <p:cNvSpPr/>
          <p:nvPr/>
        </p:nvSpPr>
        <p:spPr>
          <a:xfrm>
            <a:off x="0" y="214313"/>
            <a:ext cx="320040" cy="116300"/>
          </a:xfrm>
          <a:prstGeom prst="rect">
            <a:avLst/>
          </a:prstGeom>
          <a:solidFill>
            <a:srgbClr val="4E2AC3"/>
          </a:solidFill>
          <a:ln/>
        </p:spPr>
      </p:sp>
      <p:sp>
        <p:nvSpPr>
          <p:cNvPr id="5" name="Shape 3"/>
          <p:cNvSpPr/>
          <p:nvPr/>
        </p:nvSpPr>
        <p:spPr>
          <a:xfrm>
            <a:off x="0" y="321469"/>
            <a:ext cx="320040" cy="116300"/>
          </a:xfrm>
          <a:prstGeom prst="rect">
            <a:avLst/>
          </a:prstGeom>
          <a:solidFill>
            <a:srgbClr val="4D2BC3"/>
          </a:solidFill>
          <a:ln/>
        </p:spPr>
      </p:sp>
      <p:sp>
        <p:nvSpPr>
          <p:cNvPr id="6" name="Shape 4"/>
          <p:cNvSpPr/>
          <p:nvPr/>
        </p:nvSpPr>
        <p:spPr>
          <a:xfrm>
            <a:off x="0" y="428625"/>
            <a:ext cx="320040" cy="116300"/>
          </a:xfrm>
          <a:prstGeom prst="rect">
            <a:avLst/>
          </a:prstGeom>
          <a:solidFill>
            <a:srgbClr val="4D2CC4"/>
          </a:solidFill>
          <a:ln/>
        </p:spPr>
      </p:sp>
      <p:sp>
        <p:nvSpPr>
          <p:cNvPr id="7" name="Shape 5"/>
          <p:cNvSpPr/>
          <p:nvPr/>
        </p:nvSpPr>
        <p:spPr>
          <a:xfrm>
            <a:off x="0" y="535781"/>
            <a:ext cx="320040" cy="116300"/>
          </a:xfrm>
          <a:prstGeom prst="rect">
            <a:avLst/>
          </a:prstGeom>
          <a:solidFill>
            <a:srgbClr val="4C2DC4"/>
          </a:solidFill>
          <a:ln/>
        </p:spPr>
      </p:sp>
      <p:sp>
        <p:nvSpPr>
          <p:cNvPr id="8" name="Shape 6"/>
          <p:cNvSpPr/>
          <p:nvPr/>
        </p:nvSpPr>
        <p:spPr>
          <a:xfrm>
            <a:off x="0" y="642938"/>
            <a:ext cx="320040" cy="116300"/>
          </a:xfrm>
          <a:prstGeom prst="rect">
            <a:avLst/>
          </a:prstGeom>
          <a:solidFill>
            <a:srgbClr val="4B2EC5"/>
          </a:solidFill>
          <a:ln/>
        </p:spPr>
      </p:sp>
      <p:sp>
        <p:nvSpPr>
          <p:cNvPr id="9" name="Shape 7"/>
          <p:cNvSpPr/>
          <p:nvPr/>
        </p:nvSpPr>
        <p:spPr>
          <a:xfrm>
            <a:off x="0" y="750094"/>
            <a:ext cx="320040" cy="116300"/>
          </a:xfrm>
          <a:prstGeom prst="rect">
            <a:avLst/>
          </a:prstGeom>
          <a:solidFill>
            <a:srgbClr val="4A2FC5"/>
          </a:solidFill>
          <a:ln/>
        </p:spPr>
      </p:sp>
      <p:sp>
        <p:nvSpPr>
          <p:cNvPr id="10" name="Shape 8"/>
          <p:cNvSpPr/>
          <p:nvPr/>
        </p:nvSpPr>
        <p:spPr>
          <a:xfrm>
            <a:off x="0" y="857250"/>
            <a:ext cx="320040" cy="116300"/>
          </a:xfrm>
          <a:prstGeom prst="rect">
            <a:avLst/>
          </a:prstGeom>
          <a:solidFill>
            <a:srgbClr val="4930C6"/>
          </a:solidFill>
          <a:ln/>
        </p:spPr>
      </p:sp>
      <p:sp>
        <p:nvSpPr>
          <p:cNvPr id="11" name="Shape 9"/>
          <p:cNvSpPr/>
          <p:nvPr/>
        </p:nvSpPr>
        <p:spPr>
          <a:xfrm>
            <a:off x="0" y="964406"/>
            <a:ext cx="320040" cy="116300"/>
          </a:xfrm>
          <a:prstGeom prst="rect">
            <a:avLst/>
          </a:prstGeom>
          <a:solidFill>
            <a:srgbClr val="4831C6"/>
          </a:solidFill>
          <a:ln/>
        </p:spPr>
      </p:sp>
      <p:sp>
        <p:nvSpPr>
          <p:cNvPr id="12" name="Shape 10"/>
          <p:cNvSpPr/>
          <p:nvPr/>
        </p:nvSpPr>
        <p:spPr>
          <a:xfrm>
            <a:off x="0" y="1071563"/>
            <a:ext cx="320040" cy="116300"/>
          </a:xfrm>
          <a:prstGeom prst="rect">
            <a:avLst/>
          </a:prstGeom>
          <a:solidFill>
            <a:srgbClr val="4732C6"/>
          </a:solidFill>
          <a:ln/>
        </p:spPr>
      </p:sp>
      <p:sp>
        <p:nvSpPr>
          <p:cNvPr id="13" name="Shape 11"/>
          <p:cNvSpPr/>
          <p:nvPr/>
        </p:nvSpPr>
        <p:spPr>
          <a:xfrm>
            <a:off x="0" y="1178719"/>
            <a:ext cx="320040" cy="116300"/>
          </a:xfrm>
          <a:prstGeom prst="rect">
            <a:avLst/>
          </a:prstGeom>
          <a:solidFill>
            <a:srgbClr val="4733C7"/>
          </a:solidFill>
          <a:ln/>
        </p:spPr>
      </p:sp>
      <p:sp>
        <p:nvSpPr>
          <p:cNvPr id="14" name="Shape 12"/>
          <p:cNvSpPr/>
          <p:nvPr/>
        </p:nvSpPr>
        <p:spPr>
          <a:xfrm>
            <a:off x="0" y="1285875"/>
            <a:ext cx="320040" cy="116300"/>
          </a:xfrm>
          <a:prstGeom prst="rect">
            <a:avLst/>
          </a:prstGeom>
          <a:solidFill>
            <a:srgbClr val="4634C7"/>
          </a:solidFill>
          <a:ln/>
        </p:spPr>
      </p:sp>
      <p:sp>
        <p:nvSpPr>
          <p:cNvPr id="15" name="Shape 13"/>
          <p:cNvSpPr/>
          <p:nvPr/>
        </p:nvSpPr>
        <p:spPr>
          <a:xfrm>
            <a:off x="0" y="1393031"/>
            <a:ext cx="320040" cy="116300"/>
          </a:xfrm>
          <a:prstGeom prst="rect">
            <a:avLst/>
          </a:prstGeom>
          <a:solidFill>
            <a:srgbClr val="4535C8"/>
          </a:solidFill>
          <a:ln/>
        </p:spPr>
      </p:sp>
      <p:sp>
        <p:nvSpPr>
          <p:cNvPr id="16" name="Shape 14"/>
          <p:cNvSpPr/>
          <p:nvPr/>
        </p:nvSpPr>
        <p:spPr>
          <a:xfrm>
            <a:off x="0" y="1500188"/>
            <a:ext cx="320040" cy="116300"/>
          </a:xfrm>
          <a:prstGeom prst="rect">
            <a:avLst/>
          </a:prstGeom>
          <a:solidFill>
            <a:srgbClr val="4436C8"/>
          </a:solidFill>
          <a:ln/>
        </p:spPr>
      </p:sp>
      <p:sp>
        <p:nvSpPr>
          <p:cNvPr id="17" name="Shape 15"/>
          <p:cNvSpPr/>
          <p:nvPr/>
        </p:nvSpPr>
        <p:spPr>
          <a:xfrm>
            <a:off x="0" y="1607344"/>
            <a:ext cx="320040" cy="116300"/>
          </a:xfrm>
          <a:prstGeom prst="rect">
            <a:avLst/>
          </a:prstGeom>
          <a:solidFill>
            <a:srgbClr val="4337C9"/>
          </a:solidFill>
          <a:ln/>
        </p:spPr>
      </p:sp>
      <p:sp>
        <p:nvSpPr>
          <p:cNvPr id="18" name="Shape 16"/>
          <p:cNvSpPr/>
          <p:nvPr/>
        </p:nvSpPr>
        <p:spPr>
          <a:xfrm>
            <a:off x="0" y="1714500"/>
            <a:ext cx="320040" cy="116300"/>
          </a:xfrm>
          <a:prstGeom prst="rect">
            <a:avLst/>
          </a:prstGeom>
          <a:solidFill>
            <a:srgbClr val="4238C9"/>
          </a:solidFill>
          <a:ln/>
        </p:spPr>
      </p:sp>
      <p:sp>
        <p:nvSpPr>
          <p:cNvPr id="19" name="Shape 17"/>
          <p:cNvSpPr/>
          <p:nvPr/>
        </p:nvSpPr>
        <p:spPr>
          <a:xfrm>
            <a:off x="0" y="1821656"/>
            <a:ext cx="320040" cy="116300"/>
          </a:xfrm>
          <a:prstGeom prst="rect">
            <a:avLst/>
          </a:prstGeom>
          <a:solidFill>
            <a:srgbClr val="4139CA"/>
          </a:solidFill>
          <a:ln/>
        </p:spPr>
      </p:sp>
      <p:sp>
        <p:nvSpPr>
          <p:cNvPr id="20" name="Shape 18"/>
          <p:cNvSpPr/>
          <p:nvPr/>
        </p:nvSpPr>
        <p:spPr>
          <a:xfrm>
            <a:off x="0" y="1928813"/>
            <a:ext cx="320040" cy="116300"/>
          </a:xfrm>
          <a:prstGeom prst="rect">
            <a:avLst/>
          </a:prstGeom>
          <a:solidFill>
            <a:srgbClr val="413ACA"/>
          </a:solidFill>
          <a:ln/>
        </p:spPr>
      </p:sp>
      <p:sp>
        <p:nvSpPr>
          <p:cNvPr id="21" name="Shape 19"/>
          <p:cNvSpPr/>
          <p:nvPr/>
        </p:nvSpPr>
        <p:spPr>
          <a:xfrm>
            <a:off x="0" y="2035969"/>
            <a:ext cx="320040" cy="116300"/>
          </a:xfrm>
          <a:prstGeom prst="rect">
            <a:avLst/>
          </a:prstGeom>
          <a:solidFill>
            <a:srgbClr val="403BCA"/>
          </a:solidFill>
          <a:ln/>
        </p:spPr>
      </p:sp>
      <p:sp>
        <p:nvSpPr>
          <p:cNvPr id="22" name="Shape 20"/>
          <p:cNvSpPr/>
          <p:nvPr/>
        </p:nvSpPr>
        <p:spPr>
          <a:xfrm>
            <a:off x="0" y="2143125"/>
            <a:ext cx="320040" cy="116300"/>
          </a:xfrm>
          <a:prstGeom prst="rect">
            <a:avLst/>
          </a:prstGeom>
          <a:solidFill>
            <a:srgbClr val="3F3CCB"/>
          </a:solidFill>
          <a:ln/>
        </p:spPr>
      </p:sp>
      <p:sp>
        <p:nvSpPr>
          <p:cNvPr id="23" name="Shape 21"/>
          <p:cNvSpPr/>
          <p:nvPr/>
        </p:nvSpPr>
        <p:spPr>
          <a:xfrm>
            <a:off x="0" y="2250281"/>
            <a:ext cx="320040" cy="116300"/>
          </a:xfrm>
          <a:prstGeom prst="rect">
            <a:avLst/>
          </a:prstGeom>
          <a:solidFill>
            <a:srgbClr val="3E3DCB"/>
          </a:solidFill>
          <a:ln/>
        </p:spPr>
      </p:sp>
      <p:sp>
        <p:nvSpPr>
          <p:cNvPr id="24" name="Shape 22"/>
          <p:cNvSpPr/>
          <p:nvPr/>
        </p:nvSpPr>
        <p:spPr>
          <a:xfrm>
            <a:off x="0" y="2357438"/>
            <a:ext cx="320040" cy="116300"/>
          </a:xfrm>
          <a:prstGeom prst="rect">
            <a:avLst/>
          </a:prstGeom>
          <a:solidFill>
            <a:srgbClr val="3D3ECC"/>
          </a:solidFill>
          <a:ln/>
        </p:spPr>
      </p:sp>
      <p:sp>
        <p:nvSpPr>
          <p:cNvPr id="25" name="Shape 23"/>
          <p:cNvSpPr/>
          <p:nvPr/>
        </p:nvSpPr>
        <p:spPr>
          <a:xfrm>
            <a:off x="0" y="2464594"/>
            <a:ext cx="320040" cy="116300"/>
          </a:xfrm>
          <a:prstGeom prst="rect">
            <a:avLst/>
          </a:prstGeom>
          <a:solidFill>
            <a:srgbClr val="3C3FCC"/>
          </a:solidFill>
          <a:ln/>
        </p:spPr>
      </p:sp>
      <p:sp>
        <p:nvSpPr>
          <p:cNvPr id="26" name="Shape 24"/>
          <p:cNvSpPr/>
          <p:nvPr/>
        </p:nvSpPr>
        <p:spPr>
          <a:xfrm>
            <a:off x="0" y="2571750"/>
            <a:ext cx="320040" cy="116300"/>
          </a:xfrm>
          <a:prstGeom prst="rect">
            <a:avLst/>
          </a:prstGeom>
          <a:solidFill>
            <a:srgbClr val="3B40CD"/>
          </a:solidFill>
          <a:ln/>
        </p:spPr>
      </p:sp>
      <p:sp>
        <p:nvSpPr>
          <p:cNvPr id="27" name="Shape 25"/>
          <p:cNvSpPr/>
          <p:nvPr/>
        </p:nvSpPr>
        <p:spPr>
          <a:xfrm>
            <a:off x="0" y="2678906"/>
            <a:ext cx="320040" cy="116300"/>
          </a:xfrm>
          <a:prstGeom prst="rect">
            <a:avLst/>
          </a:prstGeom>
          <a:solidFill>
            <a:srgbClr val="3B41CD"/>
          </a:solidFill>
          <a:ln/>
        </p:spPr>
      </p:sp>
      <p:sp>
        <p:nvSpPr>
          <p:cNvPr id="28" name="Shape 26"/>
          <p:cNvSpPr/>
          <p:nvPr/>
        </p:nvSpPr>
        <p:spPr>
          <a:xfrm>
            <a:off x="0" y="2786063"/>
            <a:ext cx="320040" cy="116300"/>
          </a:xfrm>
          <a:prstGeom prst="rect">
            <a:avLst/>
          </a:prstGeom>
          <a:solidFill>
            <a:srgbClr val="3A42CE"/>
          </a:solidFill>
          <a:ln/>
        </p:spPr>
      </p:sp>
      <p:sp>
        <p:nvSpPr>
          <p:cNvPr id="29" name="Shape 27"/>
          <p:cNvSpPr/>
          <p:nvPr/>
        </p:nvSpPr>
        <p:spPr>
          <a:xfrm>
            <a:off x="0" y="2893219"/>
            <a:ext cx="320040" cy="116300"/>
          </a:xfrm>
          <a:prstGeom prst="rect">
            <a:avLst/>
          </a:prstGeom>
          <a:solidFill>
            <a:srgbClr val="3943CE"/>
          </a:solidFill>
          <a:ln/>
        </p:spPr>
      </p:sp>
      <p:sp>
        <p:nvSpPr>
          <p:cNvPr id="30" name="Shape 28"/>
          <p:cNvSpPr/>
          <p:nvPr/>
        </p:nvSpPr>
        <p:spPr>
          <a:xfrm>
            <a:off x="0" y="3000375"/>
            <a:ext cx="320040" cy="116300"/>
          </a:xfrm>
          <a:prstGeom prst="rect">
            <a:avLst/>
          </a:prstGeom>
          <a:solidFill>
            <a:srgbClr val="3844CE"/>
          </a:solidFill>
          <a:ln/>
        </p:spPr>
      </p:sp>
      <p:sp>
        <p:nvSpPr>
          <p:cNvPr id="31" name="Shape 29"/>
          <p:cNvSpPr/>
          <p:nvPr/>
        </p:nvSpPr>
        <p:spPr>
          <a:xfrm>
            <a:off x="0" y="3107531"/>
            <a:ext cx="320040" cy="116300"/>
          </a:xfrm>
          <a:prstGeom prst="rect">
            <a:avLst/>
          </a:prstGeom>
          <a:solidFill>
            <a:srgbClr val="3745CF"/>
          </a:solidFill>
          <a:ln/>
        </p:spPr>
      </p:sp>
      <p:sp>
        <p:nvSpPr>
          <p:cNvPr id="32" name="Shape 30"/>
          <p:cNvSpPr/>
          <p:nvPr/>
        </p:nvSpPr>
        <p:spPr>
          <a:xfrm>
            <a:off x="0" y="3214688"/>
            <a:ext cx="320040" cy="116300"/>
          </a:xfrm>
          <a:prstGeom prst="rect">
            <a:avLst/>
          </a:prstGeom>
          <a:solidFill>
            <a:srgbClr val="3646CF"/>
          </a:solidFill>
          <a:ln/>
        </p:spPr>
      </p:sp>
      <p:sp>
        <p:nvSpPr>
          <p:cNvPr id="33" name="Shape 31"/>
          <p:cNvSpPr/>
          <p:nvPr/>
        </p:nvSpPr>
        <p:spPr>
          <a:xfrm>
            <a:off x="0" y="3321844"/>
            <a:ext cx="320040" cy="116300"/>
          </a:xfrm>
          <a:prstGeom prst="rect">
            <a:avLst/>
          </a:prstGeom>
          <a:solidFill>
            <a:srgbClr val="3547D0"/>
          </a:solidFill>
          <a:ln/>
        </p:spPr>
      </p:sp>
      <p:sp>
        <p:nvSpPr>
          <p:cNvPr id="34" name="Shape 32"/>
          <p:cNvSpPr/>
          <p:nvPr/>
        </p:nvSpPr>
        <p:spPr>
          <a:xfrm>
            <a:off x="0" y="3429000"/>
            <a:ext cx="320040" cy="116300"/>
          </a:xfrm>
          <a:prstGeom prst="rect">
            <a:avLst/>
          </a:prstGeom>
          <a:solidFill>
            <a:srgbClr val="3549D0"/>
          </a:solidFill>
          <a:ln/>
        </p:spPr>
      </p:sp>
      <p:sp>
        <p:nvSpPr>
          <p:cNvPr id="35" name="Shape 33"/>
          <p:cNvSpPr/>
          <p:nvPr/>
        </p:nvSpPr>
        <p:spPr>
          <a:xfrm>
            <a:off x="0" y="3536156"/>
            <a:ext cx="320040" cy="116300"/>
          </a:xfrm>
          <a:prstGeom prst="rect">
            <a:avLst/>
          </a:prstGeom>
          <a:solidFill>
            <a:srgbClr val="344ACF"/>
          </a:solidFill>
          <a:ln/>
        </p:spPr>
      </p:sp>
      <p:sp>
        <p:nvSpPr>
          <p:cNvPr id="36" name="Shape 34"/>
          <p:cNvSpPr/>
          <p:nvPr/>
        </p:nvSpPr>
        <p:spPr>
          <a:xfrm>
            <a:off x="0" y="3643313"/>
            <a:ext cx="320040" cy="116300"/>
          </a:xfrm>
          <a:prstGeom prst="rect">
            <a:avLst/>
          </a:prstGeom>
          <a:solidFill>
            <a:srgbClr val="334BCF"/>
          </a:solidFill>
          <a:ln/>
        </p:spPr>
      </p:sp>
      <p:sp>
        <p:nvSpPr>
          <p:cNvPr id="37" name="Shape 35"/>
          <p:cNvSpPr/>
          <p:nvPr/>
        </p:nvSpPr>
        <p:spPr>
          <a:xfrm>
            <a:off x="0" y="3750469"/>
            <a:ext cx="320040" cy="116300"/>
          </a:xfrm>
          <a:prstGeom prst="rect">
            <a:avLst/>
          </a:prstGeom>
          <a:solidFill>
            <a:srgbClr val="324CCE"/>
          </a:solidFill>
          <a:ln/>
        </p:spPr>
      </p:sp>
      <p:sp>
        <p:nvSpPr>
          <p:cNvPr id="38" name="Shape 36"/>
          <p:cNvSpPr/>
          <p:nvPr/>
        </p:nvSpPr>
        <p:spPr>
          <a:xfrm>
            <a:off x="0" y="3857625"/>
            <a:ext cx="320040" cy="116300"/>
          </a:xfrm>
          <a:prstGeom prst="rect">
            <a:avLst/>
          </a:prstGeom>
          <a:solidFill>
            <a:srgbClr val="314ECD"/>
          </a:solidFill>
          <a:ln/>
        </p:spPr>
      </p:sp>
      <p:sp>
        <p:nvSpPr>
          <p:cNvPr id="39" name="Shape 37"/>
          <p:cNvSpPr/>
          <p:nvPr/>
        </p:nvSpPr>
        <p:spPr>
          <a:xfrm>
            <a:off x="0" y="3964781"/>
            <a:ext cx="320040" cy="116300"/>
          </a:xfrm>
          <a:prstGeom prst="rect">
            <a:avLst/>
          </a:prstGeom>
          <a:solidFill>
            <a:srgbClr val="304FCD"/>
          </a:solidFill>
          <a:ln/>
        </p:spPr>
      </p:sp>
      <p:sp>
        <p:nvSpPr>
          <p:cNvPr id="40" name="Shape 38"/>
          <p:cNvSpPr/>
          <p:nvPr/>
        </p:nvSpPr>
        <p:spPr>
          <a:xfrm>
            <a:off x="0" y="4071938"/>
            <a:ext cx="320040" cy="116300"/>
          </a:xfrm>
          <a:prstGeom prst="rect">
            <a:avLst/>
          </a:prstGeom>
          <a:solidFill>
            <a:srgbClr val="2F50CC"/>
          </a:solidFill>
          <a:ln/>
        </p:spPr>
      </p:sp>
      <p:sp>
        <p:nvSpPr>
          <p:cNvPr id="41" name="Shape 39"/>
          <p:cNvSpPr/>
          <p:nvPr/>
        </p:nvSpPr>
        <p:spPr>
          <a:xfrm>
            <a:off x="0" y="4179094"/>
            <a:ext cx="320040" cy="116300"/>
          </a:xfrm>
          <a:prstGeom prst="rect">
            <a:avLst/>
          </a:prstGeom>
          <a:solidFill>
            <a:srgbClr val="2F51CC"/>
          </a:solidFill>
          <a:ln/>
        </p:spPr>
      </p:sp>
      <p:sp>
        <p:nvSpPr>
          <p:cNvPr id="42" name="Shape 40"/>
          <p:cNvSpPr/>
          <p:nvPr/>
        </p:nvSpPr>
        <p:spPr>
          <a:xfrm>
            <a:off x="0" y="4286250"/>
            <a:ext cx="320040" cy="116300"/>
          </a:xfrm>
          <a:prstGeom prst="rect">
            <a:avLst/>
          </a:prstGeom>
          <a:solidFill>
            <a:srgbClr val="2E53CB"/>
          </a:solidFill>
          <a:ln/>
        </p:spPr>
      </p:sp>
      <p:sp>
        <p:nvSpPr>
          <p:cNvPr id="43" name="Shape 41"/>
          <p:cNvSpPr/>
          <p:nvPr/>
        </p:nvSpPr>
        <p:spPr>
          <a:xfrm>
            <a:off x="0" y="4393406"/>
            <a:ext cx="320040" cy="116300"/>
          </a:xfrm>
          <a:prstGeom prst="rect">
            <a:avLst/>
          </a:prstGeom>
          <a:solidFill>
            <a:srgbClr val="2D54CB"/>
          </a:solidFill>
          <a:ln/>
        </p:spPr>
      </p:sp>
      <p:sp>
        <p:nvSpPr>
          <p:cNvPr id="44" name="Shape 42"/>
          <p:cNvSpPr/>
          <p:nvPr/>
        </p:nvSpPr>
        <p:spPr>
          <a:xfrm>
            <a:off x="0" y="4500563"/>
            <a:ext cx="320040" cy="116300"/>
          </a:xfrm>
          <a:prstGeom prst="rect">
            <a:avLst/>
          </a:prstGeom>
          <a:solidFill>
            <a:srgbClr val="2C55CA"/>
          </a:solidFill>
          <a:ln/>
        </p:spPr>
      </p:sp>
      <p:sp>
        <p:nvSpPr>
          <p:cNvPr id="45" name="Shape 43"/>
          <p:cNvSpPr/>
          <p:nvPr/>
        </p:nvSpPr>
        <p:spPr>
          <a:xfrm>
            <a:off x="0" y="4607719"/>
            <a:ext cx="320040" cy="116300"/>
          </a:xfrm>
          <a:prstGeom prst="rect">
            <a:avLst/>
          </a:prstGeom>
          <a:solidFill>
            <a:srgbClr val="2B56C9"/>
          </a:solidFill>
          <a:ln/>
        </p:spPr>
      </p:sp>
      <p:sp>
        <p:nvSpPr>
          <p:cNvPr id="46" name="Shape 44"/>
          <p:cNvSpPr/>
          <p:nvPr/>
        </p:nvSpPr>
        <p:spPr>
          <a:xfrm>
            <a:off x="0" y="4714875"/>
            <a:ext cx="320040" cy="116300"/>
          </a:xfrm>
          <a:prstGeom prst="rect">
            <a:avLst/>
          </a:prstGeom>
          <a:solidFill>
            <a:srgbClr val="2A57C9"/>
          </a:solidFill>
          <a:ln/>
        </p:spPr>
      </p:sp>
      <p:sp>
        <p:nvSpPr>
          <p:cNvPr id="47" name="Shape 45"/>
          <p:cNvSpPr/>
          <p:nvPr/>
        </p:nvSpPr>
        <p:spPr>
          <a:xfrm>
            <a:off x="0" y="4822031"/>
            <a:ext cx="320040" cy="116300"/>
          </a:xfrm>
          <a:prstGeom prst="rect">
            <a:avLst/>
          </a:prstGeom>
          <a:solidFill>
            <a:srgbClr val="2959C8"/>
          </a:solidFill>
          <a:ln/>
        </p:spPr>
      </p:sp>
      <p:sp>
        <p:nvSpPr>
          <p:cNvPr id="48" name="Shape 46"/>
          <p:cNvSpPr/>
          <p:nvPr/>
        </p:nvSpPr>
        <p:spPr>
          <a:xfrm>
            <a:off x="0" y="4929188"/>
            <a:ext cx="320040" cy="116300"/>
          </a:xfrm>
          <a:prstGeom prst="rect">
            <a:avLst/>
          </a:prstGeom>
          <a:solidFill>
            <a:srgbClr val="295AC8"/>
          </a:solidFill>
          <a:ln/>
        </p:spPr>
      </p:sp>
      <p:sp>
        <p:nvSpPr>
          <p:cNvPr id="49" name="Shape 47"/>
          <p:cNvSpPr/>
          <p:nvPr/>
        </p:nvSpPr>
        <p:spPr>
          <a:xfrm>
            <a:off x="0" y="5036344"/>
            <a:ext cx="320040" cy="116300"/>
          </a:xfrm>
          <a:prstGeom prst="rect">
            <a:avLst/>
          </a:prstGeom>
          <a:solidFill>
            <a:srgbClr val="285BC7"/>
          </a:solidFill>
          <a:ln/>
        </p:spPr>
      </p:sp>
      <p:sp>
        <p:nvSpPr>
          <p:cNvPr id="50" name="Shape 48"/>
          <p:cNvSpPr/>
          <p:nvPr/>
        </p:nvSpPr>
        <p:spPr>
          <a:xfrm>
            <a:off x="0" y="5143500"/>
            <a:ext cx="320040" cy="116300"/>
          </a:xfrm>
          <a:prstGeom prst="rect">
            <a:avLst/>
          </a:prstGeom>
          <a:solidFill>
            <a:srgbClr val="275CC7"/>
          </a:solidFill>
          <a:ln/>
        </p:spPr>
      </p:sp>
      <p:sp>
        <p:nvSpPr>
          <p:cNvPr id="51" name="Shape 49"/>
          <p:cNvSpPr/>
          <p:nvPr/>
        </p:nvSpPr>
        <p:spPr>
          <a:xfrm>
            <a:off x="0" y="5250656"/>
            <a:ext cx="320040" cy="116300"/>
          </a:xfrm>
          <a:prstGeom prst="rect">
            <a:avLst/>
          </a:prstGeom>
          <a:solidFill>
            <a:srgbClr val="265EC6"/>
          </a:solidFill>
          <a:ln/>
        </p:spPr>
      </p:sp>
      <p:sp>
        <p:nvSpPr>
          <p:cNvPr id="52" name="Shape 50"/>
          <p:cNvSpPr/>
          <p:nvPr/>
        </p:nvSpPr>
        <p:spPr>
          <a:xfrm>
            <a:off x="0" y="5357813"/>
            <a:ext cx="320040" cy="116300"/>
          </a:xfrm>
          <a:prstGeom prst="rect">
            <a:avLst/>
          </a:prstGeom>
          <a:solidFill>
            <a:srgbClr val="255FC5"/>
          </a:solidFill>
          <a:ln/>
        </p:spPr>
      </p:sp>
      <p:sp>
        <p:nvSpPr>
          <p:cNvPr id="53" name="Shape 51"/>
          <p:cNvSpPr/>
          <p:nvPr/>
        </p:nvSpPr>
        <p:spPr>
          <a:xfrm>
            <a:off x="0" y="5464969"/>
            <a:ext cx="320040" cy="116300"/>
          </a:xfrm>
          <a:prstGeom prst="rect">
            <a:avLst/>
          </a:prstGeom>
          <a:solidFill>
            <a:srgbClr val="2460C5"/>
          </a:solidFill>
          <a:ln/>
        </p:spPr>
      </p:sp>
      <p:sp>
        <p:nvSpPr>
          <p:cNvPr id="54" name="Shape 52"/>
          <p:cNvSpPr/>
          <p:nvPr/>
        </p:nvSpPr>
        <p:spPr>
          <a:xfrm>
            <a:off x="0" y="5572125"/>
            <a:ext cx="320040" cy="116300"/>
          </a:xfrm>
          <a:prstGeom prst="rect">
            <a:avLst/>
          </a:prstGeom>
          <a:solidFill>
            <a:srgbClr val="2361C4"/>
          </a:solidFill>
          <a:ln/>
        </p:spPr>
      </p:sp>
      <p:sp>
        <p:nvSpPr>
          <p:cNvPr id="55" name="Shape 53"/>
          <p:cNvSpPr/>
          <p:nvPr/>
        </p:nvSpPr>
        <p:spPr>
          <a:xfrm>
            <a:off x="0" y="5679281"/>
            <a:ext cx="320040" cy="116300"/>
          </a:xfrm>
          <a:prstGeom prst="rect">
            <a:avLst/>
          </a:prstGeom>
          <a:solidFill>
            <a:srgbClr val="2363C4"/>
          </a:solidFill>
          <a:ln/>
        </p:spPr>
      </p:sp>
      <p:sp>
        <p:nvSpPr>
          <p:cNvPr id="56" name="Shape 54"/>
          <p:cNvSpPr/>
          <p:nvPr/>
        </p:nvSpPr>
        <p:spPr>
          <a:xfrm>
            <a:off x="0" y="5786438"/>
            <a:ext cx="320040" cy="116300"/>
          </a:xfrm>
          <a:prstGeom prst="rect">
            <a:avLst/>
          </a:prstGeom>
          <a:solidFill>
            <a:srgbClr val="2264C3"/>
          </a:solidFill>
          <a:ln/>
        </p:spPr>
      </p:sp>
      <p:sp>
        <p:nvSpPr>
          <p:cNvPr id="57" name="Shape 55"/>
          <p:cNvSpPr/>
          <p:nvPr/>
        </p:nvSpPr>
        <p:spPr>
          <a:xfrm>
            <a:off x="0" y="5893594"/>
            <a:ext cx="320040" cy="116300"/>
          </a:xfrm>
          <a:prstGeom prst="rect">
            <a:avLst/>
          </a:prstGeom>
          <a:solidFill>
            <a:srgbClr val="2165C3"/>
          </a:solidFill>
          <a:ln/>
        </p:spPr>
      </p:sp>
      <p:sp>
        <p:nvSpPr>
          <p:cNvPr id="58" name="Shape 56"/>
          <p:cNvSpPr/>
          <p:nvPr/>
        </p:nvSpPr>
        <p:spPr>
          <a:xfrm>
            <a:off x="0" y="6000750"/>
            <a:ext cx="320040" cy="116300"/>
          </a:xfrm>
          <a:prstGeom prst="rect">
            <a:avLst/>
          </a:prstGeom>
          <a:solidFill>
            <a:srgbClr val="2066C2"/>
          </a:solidFill>
          <a:ln/>
        </p:spPr>
      </p:sp>
      <p:sp>
        <p:nvSpPr>
          <p:cNvPr id="59" name="Shape 57"/>
          <p:cNvSpPr/>
          <p:nvPr/>
        </p:nvSpPr>
        <p:spPr>
          <a:xfrm>
            <a:off x="0" y="6107906"/>
            <a:ext cx="320040" cy="116300"/>
          </a:xfrm>
          <a:prstGeom prst="rect">
            <a:avLst/>
          </a:prstGeom>
          <a:solidFill>
            <a:srgbClr val="1F68C1"/>
          </a:solidFill>
          <a:ln/>
        </p:spPr>
      </p:sp>
      <p:sp>
        <p:nvSpPr>
          <p:cNvPr id="60" name="Shape 58"/>
          <p:cNvSpPr/>
          <p:nvPr/>
        </p:nvSpPr>
        <p:spPr>
          <a:xfrm>
            <a:off x="0" y="6215063"/>
            <a:ext cx="320040" cy="116300"/>
          </a:xfrm>
          <a:prstGeom prst="rect">
            <a:avLst/>
          </a:prstGeom>
          <a:solidFill>
            <a:srgbClr val="1E69C1"/>
          </a:solidFill>
          <a:ln/>
        </p:spPr>
      </p:sp>
      <p:sp>
        <p:nvSpPr>
          <p:cNvPr id="61" name="Shape 59"/>
          <p:cNvSpPr/>
          <p:nvPr/>
        </p:nvSpPr>
        <p:spPr>
          <a:xfrm>
            <a:off x="0" y="6322219"/>
            <a:ext cx="320040" cy="116300"/>
          </a:xfrm>
          <a:prstGeom prst="rect">
            <a:avLst/>
          </a:prstGeom>
          <a:solidFill>
            <a:srgbClr val="1D6AC0"/>
          </a:solidFill>
          <a:ln/>
        </p:spPr>
      </p:sp>
      <p:sp>
        <p:nvSpPr>
          <p:cNvPr id="62" name="Shape 60"/>
          <p:cNvSpPr/>
          <p:nvPr/>
        </p:nvSpPr>
        <p:spPr>
          <a:xfrm>
            <a:off x="0" y="6429375"/>
            <a:ext cx="320040" cy="116300"/>
          </a:xfrm>
          <a:prstGeom prst="rect">
            <a:avLst/>
          </a:prstGeom>
          <a:solidFill>
            <a:srgbClr val="1D6BC0"/>
          </a:solidFill>
          <a:ln/>
        </p:spPr>
      </p:sp>
      <p:sp>
        <p:nvSpPr>
          <p:cNvPr id="63" name="Shape 61"/>
          <p:cNvSpPr/>
          <p:nvPr/>
        </p:nvSpPr>
        <p:spPr>
          <a:xfrm>
            <a:off x="0" y="6536531"/>
            <a:ext cx="320040" cy="116300"/>
          </a:xfrm>
          <a:prstGeom prst="rect">
            <a:avLst/>
          </a:prstGeom>
          <a:solidFill>
            <a:srgbClr val="1C6DBF"/>
          </a:solidFill>
          <a:ln/>
        </p:spPr>
      </p:sp>
      <p:sp>
        <p:nvSpPr>
          <p:cNvPr id="64" name="Shape 62"/>
          <p:cNvSpPr/>
          <p:nvPr/>
        </p:nvSpPr>
        <p:spPr>
          <a:xfrm>
            <a:off x="0" y="6643688"/>
            <a:ext cx="320040" cy="116300"/>
          </a:xfrm>
          <a:prstGeom prst="rect">
            <a:avLst/>
          </a:prstGeom>
          <a:solidFill>
            <a:srgbClr val="1B6EBF"/>
          </a:solidFill>
          <a:ln/>
        </p:spPr>
      </p:sp>
      <p:sp>
        <p:nvSpPr>
          <p:cNvPr id="65" name="Shape 63"/>
          <p:cNvSpPr/>
          <p:nvPr/>
        </p:nvSpPr>
        <p:spPr>
          <a:xfrm>
            <a:off x="0" y="6750844"/>
            <a:ext cx="320040" cy="116300"/>
          </a:xfrm>
          <a:prstGeom prst="rect">
            <a:avLst/>
          </a:prstGeom>
          <a:solidFill>
            <a:srgbClr val="1A6FBE"/>
          </a:solidFill>
          <a:ln/>
        </p:spPr>
      </p:sp>
      <p:sp>
        <p:nvSpPr>
          <p:cNvPr id="66" name="Text 64"/>
          <p:cNvSpPr/>
          <p:nvPr/>
        </p:nvSpPr>
        <p:spPr>
          <a:xfrm>
            <a:off x="73152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COVERAGE</a:t>
            </a:r>
            <a:endParaRPr lang="en-US" sz="1100" dirty="0"/>
          </a:p>
        </p:txBody>
      </p:sp>
      <p:sp>
        <p:nvSpPr>
          <p:cNvPr id="67" name="Text 65"/>
          <p:cNvSpPr/>
          <p:nvPr/>
        </p:nvSpPr>
        <p:spPr>
          <a:xfrm>
            <a:off x="548640" y="1554480"/>
            <a:ext cx="11094415" cy="3200400"/>
          </a:xfrm>
          <a:prstGeom prst="rect">
            <a:avLst/>
          </a:prstGeom>
          <a:noFill/>
          <a:ln/>
        </p:spPr>
        <p:txBody>
          <a:bodyPr wrap="square" lIns="0" tIns="0" rIns="0" bIns="0" rtlCol="0" anchor="ctr"/>
          <a:lstStyle/>
          <a:p>
            <a:pPr algn="l" indent="0" marL="0">
              <a:buNone/>
            </a:pPr>
            <a:r>
              <a:rPr lang="en-US" sz="22000" b="1" spc="-600" kern="0" dirty="0">
                <a:solidFill>
                  <a:srgbClr val="5028C2"/>
                </a:solidFill>
                <a:latin typeface="Calibri" pitchFamily="34" charset="0"/>
                <a:ea typeface="Calibri" pitchFamily="34" charset="-122"/>
                <a:cs typeface="Calibri" pitchFamily="34" charset="-120"/>
              </a:rPr>
              <a:t>5</a:t>
            </a:r>
            <a:endParaRPr lang="en-US" sz="22000" dirty="0"/>
          </a:p>
        </p:txBody>
      </p:sp>
      <p:sp>
        <p:nvSpPr>
          <p:cNvPr id="68" name="Text 66"/>
          <p:cNvSpPr/>
          <p:nvPr/>
        </p:nvSpPr>
        <p:spPr>
          <a:xfrm>
            <a:off x="548640" y="4983480"/>
            <a:ext cx="11094415" cy="457200"/>
          </a:xfrm>
          <a:prstGeom prst="rect">
            <a:avLst/>
          </a:prstGeom>
          <a:noFill/>
          <a:ln/>
        </p:spPr>
        <p:txBody>
          <a:bodyPr wrap="square" lIns="0" tIns="0" rIns="0" bIns="0" rtlCol="0" anchor="t"/>
          <a:lstStyle/>
          <a:p>
            <a:pPr algn="l" indent="0" marL="0">
              <a:buNone/>
            </a:pPr>
            <a:r>
              <a:rPr lang="en-US" sz="2200" b="1" dirty="0">
                <a:solidFill>
                  <a:srgbClr val="0F1733"/>
                </a:solidFill>
                <a:latin typeface="Calibri" pitchFamily="34" charset="0"/>
                <a:ea typeface="Calibri" pitchFamily="34" charset="-122"/>
                <a:cs typeface="Calibri" pitchFamily="34" charset="-120"/>
              </a:rPr>
              <a:t>Platforms supported at v1.0. Native search across each.</a:t>
            </a:r>
            <a:endParaRPr lang="en-US" sz="2200" dirty="0"/>
          </a:p>
        </p:txBody>
      </p:sp>
      <p:sp>
        <p:nvSpPr>
          <p:cNvPr id="69" name="Text 67"/>
          <p:cNvSpPr/>
          <p:nvPr/>
        </p:nvSpPr>
        <p:spPr>
          <a:xfrm>
            <a:off x="548640" y="5486400"/>
            <a:ext cx="10637215" cy="640080"/>
          </a:xfrm>
          <a:prstGeom prst="rect">
            <a:avLst/>
          </a:prstGeom>
          <a:noFill/>
          <a:ln/>
        </p:spPr>
        <p:txBody>
          <a:bodyPr wrap="square" lIns="0" tIns="0" rIns="0" bIns="0" rtlCol="0" anchor="t"/>
          <a:lstStyle/>
          <a:p>
            <a:pPr algn="l" indent="0" marL="0">
              <a:buNone/>
            </a:pPr>
            <a:r>
              <a:rPr lang="en-US" sz="1300" dirty="0">
                <a:solidFill>
                  <a:srgbClr val="2A3358"/>
                </a:solidFill>
                <a:latin typeface="Calibri" pitchFamily="34" charset="0"/>
                <a:ea typeface="Calibri" pitchFamily="34" charset="-122"/>
                <a:cs typeface="Calibri" pitchFamily="34" charset="-120"/>
              </a:rPr>
              <a:t>The only tool in our category that covers YouTube, Instagram, TikTok, X, and LinkedIn in a single unified search. Most competitors cover two or three.</a:t>
            </a:r>
            <a:endParaRPr lang="en-US" sz="13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07 · 5-platform search  ·  vD</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046 / 126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1ECFF"/>
        </a:solidFill>
      </p:bgPr>
    </p:bg>
    <p:spTree>
      <p:nvGrpSpPr>
        <p:cNvPr id="1" name=""/>
        <p:cNvGrpSpPr/>
        <p:nvPr/>
      </p:nvGrpSpPr>
      <p:grpSpPr>
        <a:xfrm>
          <a:off x="0" y="0"/>
          <a:ext cx="0" cy="0"/>
          <a:chOff x="0" y="0"/>
          <a:chExt cx="0" cy="0"/>
        </a:xfrm>
      </p:grpSpPr>
      <p:sp>
        <p:nvSpPr>
          <p:cNvPr id="2" name="Text 0"/>
          <p:cNvSpPr/>
          <p:nvPr/>
        </p:nvSpPr>
        <p:spPr>
          <a:xfrm>
            <a:off x="457200" y="365760"/>
            <a:ext cx="2286000" cy="2286000"/>
          </a:xfrm>
          <a:prstGeom prst="rect">
            <a:avLst/>
          </a:prstGeom>
          <a:noFill/>
          <a:ln/>
        </p:spPr>
        <p:txBody>
          <a:bodyPr wrap="square" lIns="0" tIns="0" rIns="0" bIns="0" rtlCol="0" anchor="t"/>
          <a:lstStyle/>
          <a:p>
            <a:pPr algn="l" indent="0" marL="0">
              <a:buNone/>
            </a:pPr>
            <a:r>
              <a:rPr lang="en-US" sz="24000" b="1" dirty="0">
                <a:solidFill>
                  <a:srgbClr val="5028C2"/>
                </a:solidFill>
                <a:latin typeface="Georgia" pitchFamily="34" charset="0"/>
                <a:ea typeface="Georgia" pitchFamily="34" charset="-122"/>
                <a:cs typeface="Georgia" pitchFamily="34" charset="-120"/>
              </a:rPr>
              <a:t>"</a:t>
            </a:r>
            <a:endParaRPr lang="en-US" sz="24000" dirty="0"/>
          </a:p>
        </p:txBody>
      </p:sp>
      <p:sp>
        <p:nvSpPr>
          <p:cNvPr id="3" name="Text 1"/>
          <p:cNvSpPr/>
          <p:nvPr/>
        </p:nvSpPr>
        <p:spPr>
          <a:xfrm>
            <a:off x="1920240" y="1737360"/>
            <a:ext cx="9722815" cy="3108960"/>
          </a:xfrm>
          <a:prstGeom prst="rect">
            <a:avLst/>
          </a:prstGeom>
          <a:noFill/>
          <a:ln/>
        </p:spPr>
        <p:txBody>
          <a:bodyPr wrap="square" lIns="0" tIns="0" rIns="0" bIns="0" rtlCol="0" anchor="t"/>
          <a:lstStyle/>
          <a:p>
            <a:pPr algn="l" indent="0" marL="0">
              <a:buNone/>
            </a:pPr>
            <a:r>
              <a:rPr lang="en-US" sz="3000" i="1" dirty="0">
                <a:solidFill>
                  <a:srgbClr val="0F1733"/>
                </a:solidFill>
                <a:latin typeface="Georgia" pitchFamily="34" charset="0"/>
                <a:ea typeface="Georgia" pitchFamily="34" charset="-122"/>
                <a:cs typeface="Georgia" pitchFamily="34" charset="-120"/>
              </a:rPr>
              <a:t>I didn't know we had three of the right creators already following us on LinkedIn until the unified search surfaced them next to our YouTube targets.</a:t>
            </a:r>
            <a:endParaRPr lang="en-US" sz="3000" dirty="0"/>
          </a:p>
        </p:txBody>
      </p:sp>
      <p:sp>
        <p:nvSpPr>
          <p:cNvPr id="4" name="Shape 2"/>
          <p:cNvSpPr/>
          <p:nvPr/>
        </p:nvSpPr>
        <p:spPr>
          <a:xfrm>
            <a:off x="1920240" y="5120640"/>
            <a:ext cx="640080" cy="0"/>
          </a:xfrm>
          <a:prstGeom prst="line">
            <a:avLst/>
          </a:prstGeom>
          <a:noFill/>
          <a:ln w="25400">
            <a:solidFill>
              <a:srgbClr val="5028C2"/>
            </a:solidFill>
            <a:prstDash val="solid"/>
          </a:ln>
        </p:spPr>
      </p:sp>
      <p:sp>
        <p:nvSpPr>
          <p:cNvPr id="5" name="Text 3"/>
          <p:cNvSpPr/>
          <p:nvPr/>
        </p:nvSpPr>
        <p:spPr>
          <a:xfrm>
            <a:off x="1920240" y="5212080"/>
            <a:ext cx="9722815" cy="457200"/>
          </a:xfrm>
          <a:prstGeom prst="rect">
            <a:avLst/>
          </a:prstGeom>
          <a:noFill/>
          <a:ln/>
        </p:spPr>
        <p:txBody>
          <a:bodyPr wrap="square" lIns="0" tIns="0" rIns="0" bIns="0" rtlCol="0" anchor="t"/>
          <a:lstStyle/>
          <a:p>
            <a:pPr algn="l" indent="0" marL="0">
              <a:buNone/>
            </a:pPr>
            <a:r>
              <a:rPr lang="en-US" sz="1400" b="1" spc="100" kern="0" dirty="0">
                <a:solidFill>
                  <a:srgbClr val="3D1E96"/>
                </a:solidFill>
                <a:latin typeface="Calibri" pitchFamily="34" charset="0"/>
                <a:ea typeface="Calibri" pitchFamily="34" charset="-122"/>
                <a:cs typeface="Calibri" pitchFamily="34" charset="-120"/>
              </a:rPr>
              <a:t>Beta user — B2B SaaS founder</a:t>
            </a:r>
            <a:endParaRPr lang="en-US" sz="1400" dirty="0"/>
          </a:p>
        </p:txBody>
      </p:sp>
      <p:sp>
        <p:nvSpPr>
          <p:cNvPr id="6" name="Text 4"/>
          <p:cNvSpPr/>
          <p:nvPr/>
        </p:nvSpPr>
        <p:spPr>
          <a:xfrm>
            <a:off x="1920240" y="5532120"/>
            <a:ext cx="9722815" cy="365760"/>
          </a:xfrm>
          <a:prstGeom prst="rect">
            <a:avLst/>
          </a:prstGeom>
          <a:noFill/>
          <a:ln/>
        </p:spPr>
        <p:txBody>
          <a:bodyPr wrap="square" lIns="0" tIns="0" rIns="0" bIns="0" rtlCol="0" anchor="t"/>
          <a:lstStyle/>
          <a:p>
            <a:pPr algn="l" indent="0" marL="0">
              <a:buNone/>
            </a:pPr>
            <a:r>
              <a:rPr lang="en-US" sz="1200" dirty="0">
                <a:solidFill>
                  <a:srgbClr val="6B7493"/>
                </a:solidFill>
                <a:latin typeface="Calibri" pitchFamily="34" charset="0"/>
                <a:ea typeface="Calibri" pitchFamily="34" charset="-122"/>
                <a:cs typeface="Calibri" pitchFamily="34" charset="-120"/>
              </a:rPr>
              <a:t>On the value of cross-platform discovery</a:t>
            </a:r>
            <a:endParaRPr lang="en-US" sz="1200" dirty="0"/>
          </a:p>
        </p:txBody>
      </p:sp>
      <p:sp>
        <p:nvSpPr>
          <p:cNvPr id="7" name="Shape 5"/>
          <p:cNvSpPr/>
          <p:nvPr/>
        </p:nvSpPr>
        <p:spPr>
          <a:xfrm>
            <a:off x="548640" y="502920"/>
            <a:ext cx="292608" cy="292608"/>
          </a:xfrm>
          <a:prstGeom prst="roundRect">
            <a:avLst>
              <a:gd name="adj" fmla="val 25000"/>
            </a:avLst>
          </a:prstGeom>
          <a:solidFill>
            <a:srgbClr val="5028C2"/>
          </a:solidFill>
          <a:ln/>
        </p:spPr>
      </p:sp>
      <p:sp>
        <p:nvSpPr>
          <p:cNvPr id="8" name="Shape 6"/>
          <p:cNvSpPr/>
          <p:nvPr/>
        </p:nvSpPr>
        <p:spPr>
          <a:xfrm>
            <a:off x="548640" y="502920"/>
            <a:ext cx="292608" cy="292608"/>
          </a:xfrm>
          <a:prstGeom prst="roundRect">
            <a:avLst>
              <a:gd name="adj" fmla="val 25000"/>
            </a:avLst>
          </a:prstGeom>
          <a:solidFill>
            <a:srgbClr val="1A6FBE">
              <a:alpha val="50000"/>
            </a:srgbClr>
          </a:solidFill>
          <a:ln/>
        </p:spPr>
      </p:sp>
      <p:sp>
        <p:nvSpPr>
          <p:cNvPr id="9" name="Text 7"/>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0" name="Text 8"/>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1" name="Text 9"/>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07 · 5-platform search  ·  vE</a:t>
            </a:r>
            <a:endParaRPr lang="en-US" sz="900" dirty="0"/>
          </a:p>
        </p:txBody>
      </p:sp>
      <p:sp>
        <p:nvSpPr>
          <p:cNvPr id="12" name="Text 10"/>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3" name="Text 11"/>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047 / 126</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a:off x="3047924" y="0"/>
            <a:ext cx="9143771" cy="6858000"/>
          </a:xfrm>
          <a:prstGeom prst="rtTriangle">
            <a:avLst/>
          </a:prstGeom>
          <a:solidFill>
            <a:srgbClr val="5028C2"/>
          </a:solidFill>
          <a:ln/>
        </p:spPr>
      </p:sp>
      <p:sp>
        <p:nvSpPr>
          <p:cNvPr id="3" name="Shape 1"/>
          <p:cNvSpPr/>
          <p:nvPr/>
        </p:nvSpPr>
        <p:spPr>
          <a:xfrm flipH="1">
            <a:off x="4876678" y="1028700"/>
            <a:ext cx="7924602" cy="6515100"/>
          </a:xfrm>
          <a:prstGeom prst="rtTriangle">
            <a:avLst/>
          </a:prstGeom>
          <a:solidFill>
            <a:srgbClr val="1A6FBE">
              <a:alpha val="75000"/>
            </a:srgbClr>
          </a:solidFill>
          <a:ln/>
        </p:spPr>
      </p:sp>
      <p:sp>
        <p:nvSpPr>
          <p:cNvPr id="4" name="Text 2"/>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DISCOVERY</a:t>
            </a:r>
            <a:endParaRPr lang="en-US" sz="1100" dirty="0"/>
          </a:p>
        </p:txBody>
      </p:sp>
      <p:sp>
        <p:nvSpPr>
          <p:cNvPr id="5" name="Text 3"/>
          <p:cNvSpPr/>
          <p:nvPr/>
        </p:nvSpPr>
        <p:spPr>
          <a:xfrm>
            <a:off x="548640" y="1417320"/>
            <a:ext cx="6095848" cy="2286000"/>
          </a:xfrm>
          <a:prstGeom prst="rect">
            <a:avLst/>
          </a:prstGeom>
          <a:noFill/>
          <a:ln/>
        </p:spPr>
        <p:txBody>
          <a:bodyPr wrap="square" lIns="0" tIns="0" rIns="0" bIns="0" rtlCol="0" anchor="t"/>
          <a:lstStyle/>
          <a:p>
            <a:pPr algn="l" indent="0" marL="0">
              <a:buNone/>
            </a:pPr>
            <a:r>
              <a:rPr lang="en-US" sz="4000" b="1" spc="-50" kern="0" dirty="0">
                <a:solidFill>
                  <a:srgbClr val="0F1733"/>
                </a:solidFill>
                <a:latin typeface="Calibri" pitchFamily="34" charset="0"/>
                <a:ea typeface="Calibri" pitchFamily="34" charset="-122"/>
                <a:cs typeface="Calibri" pitchFamily="34" charset="-120"/>
              </a:rPr>
              <a:t>One query bar. Five platforms. Public data only.</a:t>
            </a:r>
            <a:endParaRPr lang="en-US" sz="4000" dirty="0"/>
          </a:p>
        </p:txBody>
      </p:sp>
      <p:sp>
        <p:nvSpPr>
          <p:cNvPr id="6" name="Text 4"/>
          <p:cNvSpPr/>
          <p:nvPr/>
        </p:nvSpPr>
        <p:spPr>
          <a:xfrm>
            <a:off x="548640" y="3840480"/>
            <a:ext cx="5821528" cy="2103120"/>
          </a:xfrm>
          <a:prstGeom prst="rect">
            <a:avLst/>
          </a:prstGeom>
          <a:noFill/>
          <a:ln/>
        </p:spPr>
        <p:txBody>
          <a:bodyPr wrap="square" lIns="0" tIns="0" rIns="0" bIns="0" rtlCol="0" anchor="t"/>
          <a:lstStyle/>
          <a:p>
            <a:pPr algn="l" indent="0" marL="0">
              <a:spcAft>
                <a:spcPts val="600"/>
              </a:spcAft>
              <a:buNone/>
            </a:pPr>
            <a:r>
              <a:rPr lang="en-US" sz="1400" dirty="0">
                <a:solidFill>
                  <a:srgbClr val="2A3358"/>
                </a:solidFill>
                <a:latin typeface="Calibri" pitchFamily="34" charset="0"/>
                <a:ea typeface="Calibri" pitchFamily="34" charset="-122"/>
                <a:cs typeface="Calibri" pitchFamily="34" charset="-120"/>
              </a:rPr>
              <a:t>No scraping shortcuts, no gray-area data resale. We use each platform's public surface to find creators who have chosen to be public. Then we structure that data into a workflow that respects both creators and our customers.</a:t>
            </a:r>
            <a:endParaRPr lang="en-US" sz="1400" dirty="0"/>
          </a:p>
        </p:txBody>
      </p:sp>
      <p:sp>
        <p:nvSpPr>
          <p:cNvPr id="7" name="Text 5"/>
          <p:cNvSpPr/>
          <p:nvPr/>
        </p:nvSpPr>
        <p:spPr>
          <a:xfrm>
            <a:off x="6705432" y="2926080"/>
            <a:ext cx="4876678" cy="3291840"/>
          </a:xfrm>
          <a:prstGeom prst="rect">
            <a:avLst/>
          </a:prstGeom>
          <a:noFill/>
          <a:ln/>
        </p:spPr>
        <p:txBody>
          <a:bodyPr wrap="square" lIns="0" tIns="0" rIns="0" bIns="0" rtlCol="0" anchor="ctr"/>
          <a:lstStyle/>
          <a:p>
            <a:pPr algn="r" indent="0" marL="0">
              <a:buNone/>
            </a:pPr>
            <a:r>
              <a:rPr lang="en-US" sz="3200" b="1" spc="-50" kern="0" dirty="0">
                <a:solidFill>
                  <a:srgbClr val="FFFFFF"/>
                </a:solidFill>
                <a:latin typeface="Calibri" pitchFamily="34" charset="0"/>
                <a:ea typeface="Calibri" pitchFamily="34" charset="-122"/>
                <a:cs typeface="Calibri" pitchFamily="34" charset="-120"/>
              </a:rPr>
              <a:t>Five</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platforms.</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One</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query.</a:t>
            </a:r>
            <a:endParaRPr lang="en-US" sz="3200" dirty="0"/>
          </a:p>
        </p:txBody>
      </p:sp>
      <p:sp>
        <p:nvSpPr>
          <p:cNvPr id="8" name="Shape 6"/>
          <p:cNvSpPr/>
          <p:nvPr/>
        </p:nvSpPr>
        <p:spPr>
          <a:xfrm>
            <a:off x="548640" y="502920"/>
            <a:ext cx="292608" cy="292608"/>
          </a:xfrm>
          <a:prstGeom prst="roundRect">
            <a:avLst>
              <a:gd name="adj" fmla="val 25000"/>
            </a:avLst>
          </a:prstGeom>
          <a:solidFill>
            <a:srgbClr val="5028C2"/>
          </a:solidFill>
          <a:ln/>
        </p:spPr>
      </p:sp>
      <p:sp>
        <p:nvSpPr>
          <p:cNvPr id="9" name="Shape 7"/>
          <p:cNvSpPr/>
          <p:nvPr/>
        </p:nvSpPr>
        <p:spPr>
          <a:xfrm>
            <a:off x="548640" y="502920"/>
            <a:ext cx="292608" cy="292608"/>
          </a:xfrm>
          <a:prstGeom prst="roundRect">
            <a:avLst>
              <a:gd name="adj" fmla="val 25000"/>
            </a:avLst>
          </a:prstGeom>
          <a:solidFill>
            <a:srgbClr val="1A6FBE">
              <a:alpha val="50000"/>
            </a:srgbClr>
          </a:solidFill>
          <a:ln/>
        </p:spPr>
      </p:sp>
      <p:sp>
        <p:nvSpPr>
          <p:cNvPr id="10" name="Text 8"/>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1" name="Text 9"/>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2" name="Text 10"/>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07 · 5-platform search  ·  vF</a:t>
            </a:r>
            <a:endParaRPr lang="en-US" sz="900" dirty="0"/>
          </a:p>
        </p:txBody>
      </p:sp>
      <p:sp>
        <p:nvSpPr>
          <p:cNvPr id="13" name="Text 11"/>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4" name="Text 12"/>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048 / 126</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CFAF6"/>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UNIFIED SEARCH</a:t>
            </a:r>
            <a:endParaRPr lang="en-US" sz="1100" dirty="0"/>
          </a:p>
        </p:txBody>
      </p:sp>
      <p:sp>
        <p:nvSpPr>
          <p:cNvPr id="3" name="Text 1"/>
          <p:cNvSpPr/>
          <p:nvPr/>
        </p:nvSpPr>
        <p:spPr>
          <a:xfrm>
            <a:off x="548640" y="1417320"/>
            <a:ext cx="11094415" cy="914400"/>
          </a:xfrm>
          <a:prstGeom prst="rect">
            <a:avLst/>
          </a:prstGeom>
          <a:noFill/>
          <a:ln/>
        </p:spPr>
        <p:txBody>
          <a:bodyPr wrap="square" lIns="0" tIns="0" rIns="0" bIns="0" rtlCol="0" anchor="t"/>
          <a:lstStyle/>
          <a:p>
            <a:pPr algn="l" indent="0" marL="0">
              <a:buNone/>
            </a:pPr>
            <a:r>
              <a:rPr lang="en-US" sz="3400" b="1" spc="-50" kern="0" dirty="0">
                <a:solidFill>
                  <a:srgbClr val="0F1733"/>
                </a:solidFill>
                <a:latin typeface="Calibri" pitchFamily="34" charset="0"/>
                <a:ea typeface="Calibri" pitchFamily="34" charset="-122"/>
                <a:cs typeface="Calibri" pitchFamily="34" charset="-120"/>
              </a:rPr>
              <a:t>The first tool to search creators across five platforms at once.</a:t>
            </a:r>
            <a:endParaRPr lang="en-US" sz="3400" dirty="0"/>
          </a:p>
        </p:txBody>
      </p:sp>
      <p:sp>
        <p:nvSpPr>
          <p:cNvPr id="4" name="Shape 2"/>
          <p:cNvSpPr/>
          <p:nvPr/>
        </p:nvSpPr>
        <p:spPr>
          <a:xfrm>
            <a:off x="548640" y="2514600"/>
            <a:ext cx="5464912" cy="67008"/>
          </a:xfrm>
          <a:prstGeom prst="rect">
            <a:avLst/>
          </a:prstGeom>
          <a:solidFill>
            <a:srgbClr val="5028C2"/>
          </a:solidFill>
          <a:ln/>
        </p:spPr>
      </p:sp>
      <p:sp>
        <p:nvSpPr>
          <p:cNvPr id="5" name="Shape 3"/>
          <p:cNvSpPr/>
          <p:nvPr/>
        </p:nvSpPr>
        <p:spPr>
          <a:xfrm>
            <a:off x="548640" y="2572464"/>
            <a:ext cx="5464912" cy="67008"/>
          </a:xfrm>
          <a:prstGeom prst="rect">
            <a:avLst/>
          </a:prstGeom>
          <a:solidFill>
            <a:srgbClr val="4F29C2"/>
          </a:solidFill>
          <a:ln/>
        </p:spPr>
      </p:sp>
      <p:sp>
        <p:nvSpPr>
          <p:cNvPr id="6" name="Shape 4"/>
          <p:cNvSpPr/>
          <p:nvPr/>
        </p:nvSpPr>
        <p:spPr>
          <a:xfrm>
            <a:off x="548640" y="2630329"/>
            <a:ext cx="5464912" cy="67008"/>
          </a:xfrm>
          <a:prstGeom prst="rect">
            <a:avLst/>
          </a:prstGeom>
          <a:solidFill>
            <a:srgbClr val="4E2AC3"/>
          </a:solidFill>
          <a:ln/>
        </p:spPr>
      </p:sp>
      <p:sp>
        <p:nvSpPr>
          <p:cNvPr id="7" name="Shape 5"/>
          <p:cNvSpPr/>
          <p:nvPr/>
        </p:nvSpPr>
        <p:spPr>
          <a:xfrm>
            <a:off x="548640" y="2688193"/>
            <a:ext cx="5464912" cy="67008"/>
          </a:xfrm>
          <a:prstGeom prst="rect">
            <a:avLst/>
          </a:prstGeom>
          <a:solidFill>
            <a:srgbClr val="4D2BC3"/>
          </a:solidFill>
          <a:ln/>
        </p:spPr>
      </p:sp>
      <p:sp>
        <p:nvSpPr>
          <p:cNvPr id="8" name="Shape 6"/>
          <p:cNvSpPr/>
          <p:nvPr/>
        </p:nvSpPr>
        <p:spPr>
          <a:xfrm>
            <a:off x="548640" y="2746058"/>
            <a:ext cx="5464912" cy="67008"/>
          </a:xfrm>
          <a:prstGeom prst="rect">
            <a:avLst/>
          </a:prstGeom>
          <a:solidFill>
            <a:srgbClr val="4D2CC4"/>
          </a:solidFill>
          <a:ln/>
        </p:spPr>
      </p:sp>
      <p:sp>
        <p:nvSpPr>
          <p:cNvPr id="9" name="Shape 7"/>
          <p:cNvSpPr/>
          <p:nvPr/>
        </p:nvSpPr>
        <p:spPr>
          <a:xfrm>
            <a:off x="548640" y="2803922"/>
            <a:ext cx="5464912" cy="67008"/>
          </a:xfrm>
          <a:prstGeom prst="rect">
            <a:avLst/>
          </a:prstGeom>
          <a:solidFill>
            <a:srgbClr val="4C2DC4"/>
          </a:solidFill>
          <a:ln/>
        </p:spPr>
      </p:sp>
      <p:sp>
        <p:nvSpPr>
          <p:cNvPr id="10" name="Shape 8"/>
          <p:cNvSpPr/>
          <p:nvPr/>
        </p:nvSpPr>
        <p:spPr>
          <a:xfrm>
            <a:off x="548640" y="2861786"/>
            <a:ext cx="5464912" cy="67008"/>
          </a:xfrm>
          <a:prstGeom prst="rect">
            <a:avLst/>
          </a:prstGeom>
          <a:solidFill>
            <a:srgbClr val="4B2EC5"/>
          </a:solidFill>
          <a:ln/>
        </p:spPr>
      </p:sp>
      <p:sp>
        <p:nvSpPr>
          <p:cNvPr id="11" name="Shape 9"/>
          <p:cNvSpPr/>
          <p:nvPr/>
        </p:nvSpPr>
        <p:spPr>
          <a:xfrm>
            <a:off x="548640" y="2919651"/>
            <a:ext cx="5464912" cy="67008"/>
          </a:xfrm>
          <a:prstGeom prst="rect">
            <a:avLst/>
          </a:prstGeom>
          <a:solidFill>
            <a:srgbClr val="4A2FC5"/>
          </a:solidFill>
          <a:ln/>
        </p:spPr>
      </p:sp>
      <p:sp>
        <p:nvSpPr>
          <p:cNvPr id="12" name="Shape 10"/>
          <p:cNvSpPr/>
          <p:nvPr/>
        </p:nvSpPr>
        <p:spPr>
          <a:xfrm>
            <a:off x="548640" y="2977515"/>
            <a:ext cx="5464912" cy="67008"/>
          </a:xfrm>
          <a:prstGeom prst="rect">
            <a:avLst/>
          </a:prstGeom>
          <a:solidFill>
            <a:srgbClr val="4930C6"/>
          </a:solidFill>
          <a:ln/>
        </p:spPr>
      </p:sp>
      <p:sp>
        <p:nvSpPr>
          <p:cNvPr id="13" name="Shape 11"/>
          <p:cNvSpPr/>
          <p:nvPr/>
        </p:nvSpPr>
        <p:spPr>
          <a:xfrm>
            <a:off x="548640" y="3035379"/>
            <a:ext cx="5464912" cy="67008"/>
          </a:xfrm>
          <a:prstGeom prst="rect">
            <a:avLst/>
          </a:prstGeom>
          <a:solidFill>
            <a:srgbClr val="4831C6"/>
          </a:solidFill>
          <a:ln/>
        </p:spPr>
      </p:sp>
      <p:sp>
        <p:nvSpPr>
          <p:cNvPr id="14" name="Shape 12"/>
          <p:cNvSpPr/>
          <p:nvPr/>
        </p:nvSpPr>
        <p:spPr>
          <a:xfrm>
            <a:off x="548640" y="3093244"/>
            <a:ext cx="5464912" cy="67008"/>
          </a:xfrm>
          <a:prstGeom prst="rect">
            <a:avLst/>
          </a:prstGeom>
          <a:solidFill>
            <a:srgbClr val="4732C6"/>
          </a:solidFill>
          <a:ln/>
        </p:spPr>
      </p:sp>
      <p:sp>
        <p:nvSpPr>
          <p:cNvPr id="15" name="Shape 13"/>
          <p:cNvSpPr/>
          <p:nvPr/>
        </p:nvSpPr>
        <p:spPr>
          <a:xfrm>
            <a:off x="548640" y="3151108"/>
            <a:ext cx="5464912" cy="67008"/>
          </a:xfrm>
          <a:prstGeom prst="rect">
            <a:avLst/>
          </a:prstGeom>
          <a:solidFill>
            <a:srgbClr val="4733C7"/>
          </a:solidFill>
          <a:ln/>
        </p:spPr>
      </p:sp>
      <p:sp>
        <p:nvSpPr>
          <p:cNvPr id="16" name="Shape 14"/>
          <p:cNvSpPr/>
          <p:nvPr/>
        </p:nvSpPr>
        <p:spPr>
          <a:xfrm>
            <a:off x="548640" y="3208973"/>
            <a:ext cx="5464912" cy="67008"/>
          </a:xfrm>
          <a:prstGeom prst="rect">
            <a:avLst/>
          </a:prstGeom>
          <a:solidFill>
            <a:srgbClr val="4634C7"/>
          </a:solidFill>
          <a:ln/>
        </p:spPr>
      </p:sp>
      <p:sp>
        <p:nvSpPr>
          <p:cNvPr id="17" name="Shape 15"/>
          <p:cNvSpPr/>
          <p:nvPr/>
        </p:nvSpPr>
        <p:spPr>
          <a:xfrm>
            <a:off x="548640" y="3266837"/>
            <a:ext cx="5464912" cy="67008"/>
          </a:xfrm>
          <a:prstGeom prst="rect">
            <a:avLst/>
          </a:prstGeom>
          <a:solidFill>
            <a:srgbClr val="4535C8"/>
          </a:solidFill>
          <a:ln/>
        </p:spPr>
      </p:sp>
      <p:sp>
        <p:nvSpPr>
          <p:cNvPr id="18" name="Shape 16"/>
          <p:cNvSpPr/>
          <p:nvPr/>
        </p:nvSpPr>
        <p:spPr>
          <a:xfrm>
            <a:off x="548640" y="3324701"/>
            <a:ext cx="5464912" cy="67008"/>
          </a:xfrm>
          <a:prstGeom prst="rect">
            <a:avLst/>
          </a:prstGeom>
          <a:solidFill>
            <a:srgbClr val="4436C8"/>
          </a:solidFill>
          <a:ln/>
        </p:spPr>
      </p:sp>
      <p:sp>
        <p:nvSpPr>
          <p:cNvPr id="19" name="Shape 17"/>
          <p:cNvSpPr/>
          <p:nvPr/>
        </p:nvSpPr>
        <p:spPr>
          <a:xfrm>
            <a:off x="548640" y="3382566"/>
            <a:ext cx="5464912" cy="67008"/>
          </a:xfrm>
          <a:prstGeom prst="rect">
            <a:avLst/>
          </a:prstGeom>
          <a:solidFill>
            <a:srgbClr val="4337C9"/>
          </a:solidFill>
          <a:ln/>
        </p:spPr>
      </p:sp>
      <p:sp>
        <p:nvSpPr>
          <p:cNvPr id="20" name="Shape 18"/>
          <p:cNvSpPr/>
          <p:nvPr/>
        </p:nvSpPr>
        <p:spPr>
          <a:xfrm>
            <a:off x="548640" y="3440430"/>
            <a:ext cx="5464912" cy="67008"/>
          </a:xfrm>
          <a:prstGeom prst="rect">
            <a:avLst/>
          </a:prstGeom>
          <a:solidFill>
            <a:srgbClr val="4238C9"/>
          </a:solidFill>
          <a:ln/>
        </p:spPr>
      </p:sp>
      <p:sp>
        <p:nvSpPr>
          <p:cNvPr id="21" name="Shape 19"/>
          <p:cNvSpPr/>
          <p:nvPr/>
        </p:nvSpPr>
        <p:spPr>
          <a:xfrm>
            <a:off x="548640" y="3498294"/>
            <a:ext cx="5464912" cy="67008"/>
          </a:xfrm>
          <a:prstGeom prst="rect">
            <a:avLst/>
          </a:prstGeom>
          <a:solidFill>
            <a:srgbClr val="4139CA"/>
          </a:solidFill>
          <a:ln/>
        </p:spPr>
      </p:sp>
      <p:sp>
        <p:nvSpPr>
          <p:cNvPr id="22" name="Shape 20"/>
          <p:cNvSpPr/>
          <p:nvPr/>
        </p:nvSpPr>
        <p:spPr>
          <a:xfrm>
            <a:off x="548640" y="3556159"/>
            <a:ext cx="5464912" cy="67008"/>
          </a:xfrm>
          <a:prstGeom prst="rect">
            <a:avLst/>
          </a:prstGeom>
          <a:solidFill>
            <a:srgbClr val="413ACA"/>
          </a:solidFill>
          <a:ln/>
        </p:spPr>
      </p:sp>
      <p:sp>
        <p:nvSpPr>
          <p:cNvPr id="23" name="Shape 21"/>
          <p:cNvSpPr/>
          <p:nvPr/>
        </p:nvSpPr>
        <p:spPr>
          <a:xfrm>
            <a:off x="548640" y="3614023"/>
            <a:ext cx="5464912" cy="67008"/>
          </a:xfrm>
          <a:prstGeom prst="rect">
            <a:avLst/>
          </a:prstGeom>
          <a:solidFill>
            <a:srgbClr val="403BCA"/>
          </a:solidFill>
          <a:ln/>
        </p:spPr>
      </p:sp>
      <p:sp>
        <p:nvSpPr>
          <p:cNvPr id="24" name="Shape 22"/>
          <p:cNvSpPr/>
          <p:nvPr/>
        </p:nvSpPr>
        <p:spPr>
          <a:xfrm>
            <a:off x="548640" y="3671888"/>
            <a:ext cx="5464912" cy="67008"/>
          </a:xfrm>
          <a:prstGeom prst="rect">
            <a:avLst/>
          </a:prstGeom>
          <a:solidFill>
            <a:srgbClr val="3F3CCB"/>
          </a:solidFill>
          <a:ln/>
        </p:spPr>
      </p:sp>
      <p:sp>
        <p:nvSpPr>
          <p:cNvPr id="25" name="Shape 23"/>
          <p:cNvSpPr/>
          <p:nvPr/>
        </p:nvSpPr>
        <p:spPr>
          <a:xfrm>
            <a:off x="548640" y="3729752"/>
            <a:ext cx="5464912" cy="67008"/>
          </a:xfrm>
          <a:prstGeom prst="rect">
            <a:avLst/>
          </a:prstGeom>
          <a:solidFill>
            <a:srgbClr val="3E3DCB"/>
          </a:solidFill>
          <a:ln/>
        </p:spPr>
      </p:sp>
      <p:sp>
        <p:nvSpPr>
          <p:cNvPr id="26" name="Shape 24"/>
          <p:cNvSpPr/>
          <p:nvPr/>
        </p:nvSpPr>
        <p:spPr>
          <a:xfrm>
            <a:off x="548640" y="3787616"/>
            <a:ext cx="5464912" cy="67008"/>
          </a:xfrm>
          <a:prstGeom prst="rect">
            <a:avLst/>
          </a:prstGeom>
          <a:solidFill>
            <a:srgbClr val="3D3ECC"/>
          </a:solidFill>
          <a:ln/>
        </p:spPr>
      </p:sp>
      <p:sp>
        <p:nvSpPr>
          <p:cNvPr id="27" name="Shape 25"/>
          <p:cNvSpPr/>
          <p:nvPr/>
        </p:nvSpPr>
        <p:spPr>
          <a:xfrm>
            <a:off x="548640" y="3845481"/>
            <a:ext cx="5464912" cy="67008"/>
          </a:xfrm>
          <a:prstGeom prst="rect">
            <a:avLst/>
          </a:prstGeom>
          <a:solidFill>
            <a:srgbClr val="3C3FCC"/>
          </a:solidFill>
          <a:ln/>
        </p:spPr>
      </p:sp>
      <p:sp>
        <p:nvSpPr>
          <p:cNvPr id="28" name="Shape 26"/>
          <p:cNvSpPr/>
          <p:nvPr/>
        </p:nvSpPr>
        <p:spPr>
          <a:xfrm>
            <a:off x="548640" y="3903345"/>
            <a:ext cx="5464912" cy="67008"/>
          </a:xfrm>
          <a:prstGeom prst="rect">
            <a:avLst/>
          </a:prstGeom>
          <a:solidFill>
            <a:srgbClr val="3B40CD"/>
          </a:solidFill>
          <a:ln/>
        </p:spPr>
      </p:sp>
      <p:sp>
        <p:nvSpPr>
          <p:cNvPr id="29" name="Shape 27"/>
          <p:cNvSpPr/>
          <p:nvPr/>
        </p:nvSpPr>
        <p:spPr>
          <a:xfrm>
            <a:off x="548640" y="3961209"/>
            <a:ext cx="5464912" cy="67008"/>
          </a:xfrm>
          <a:prstGeom prst="rect">
            <a:avLst/>
          </a:prstGeom>
          <a:solidFill>
            <a:srgbClr val="3B41CD"/>
          </a:solidFill>
          <a:ln/>
        </p:spPr>
      </p:sp>
      <p:sp>
        <p:nvSpPr>
          <p:cNvPr id="30" name="Shape 28"/>
          <p:cNvSpPr/>
          <p:nvPr/>
        </p:nvSpPr>
        <p:spPr>
          <a:xfrm>
            <a:off x="548640" y="4019074"/>
            <a:ext cx="5464912" cy="67008"/>
          </a:xfrm>
          <a:prstGeom prst="rect">
            <a:avLst/>
          </a:prstGeom>
          <a:solidFill>
            <a:srgbClr val="3A42CE"/>
          </a:solidFill>
          <a:ln/>
        </p:spPr>
      </p:sp>
      <p:sp>
        <p:nvSpPr>
          <p:cNvPr id="31" name="Shape 29"/>
          <p:cNvSpPr/>
          <p:nvPr/>
        </p:nvSpPr>
        <p:spPr>
          <a:xfrm>
            <a:off x="548640" y="4076938"/>
            <a:ext cx="5464912" cy="67008"/>
          </a:xfrm>
          <a:prstGeom prst="rect">
            <a:avLst/>
          </a:prstGeom>
          <a:solidFill>
            <a:srgbClr val="3943CE"/>
          </a:solidFill>
          <a:ln/>
        </p:spPr>
      </p:sp>
      <p:sp>
        <p:nvSpPr>
          <p:cNvPr id="32" name="Shape 30"/>
          <p:cNvSpPr/>
          <p:nvPr/>
        </p:nvSpPr>
        <p:spPr>
          <a:xfrm>
            <a:off x="548640" y="4134802"/>
            <a:ext cx="5464912" cy="67008"/>
          </a:xfrm>
          <a:prstGeom prst="rect">
            <a:avLst/>
          </a:prstGeom>
          <a:solidFill>
            <a:srgbClr val="3844CE"/>
          </a:solidFill>
          <a:ln/>
        </p:spPr>
      </p:sp>
      <p:sp>
        <p:nvSpPr>
          <p:cNvPr id="33" name="Shape 31"/>
          <p:cNvSpPr/>
          <p:nvPr/>
        </p:nvSpPr>
        <p:spPr>
          <a:xfrm>
            <a:off x="548640" y="4192667"/>
            <a:ext cx="5464912" cy="67008"/>
          </a:xfrm>
          <a:prstGeom prst="rect">
            <a:avLst/>
          </a:prstGeom>
          <a:solidFill>
            <a:srgbClr val="3745CF"/>
          </a:solidFill>
          <a:ln/>
        </p:spPr>
      </p:sp>
      <p:sp>
        <p:nvSpPr>
          <p:cNvPr id="34" name="Shape 32"/>
          <p:cNvSpPr/>
          <p:nvPr/>
        </p:nvSpPr>
        <p:spPr>
          <a:xfrm>
            <a:off x="548640" y="4250531"/>
            <a:ext cx="5464912" cy="67008"/>
          </a:xfrm>
          <a:prstGeom prst="rect">
            <a:avLst/>
          </a:prstGeom>
          <a:solidFill>
            <a:srgbClr val="3646CF"/>
          </a:solidFill>
          <a:ln/>
        </p:spPr>
      </p:sp>
      <p:sp>
        <p:nvSpPr>
          <p:cNvPr id="35" name="Shape 33"/>
          <p:cNvSpPr/>
          <p:nvPr/>
        </p:nvSpPr>
        <p:spPr>
          <a:xfrm>
            <a:off x="548640" y="4308396"/>
            <a:ext cx="5464912" cy="67008"/>
          </a:xfrm>
          <a:prstGeom prst="rect">
            <a:avLst/>
          </a:prstGeom>
          <a:solidFill>
            <a:srgbClr val="3547D0"/>
          </a:solidFill>
          <a:ln/>
        </p:spPr>
      </p:sp>
      <p:sp>
        <p:nvSpPr>
          <p:cNvPr id="36" name="Shape 34"/>
          <p:cNvSpPr/>
          <p:nvPr/>
        </p:nvSpPr>
        <p:spPr>
          <a:xfrm>
            <a:off x="548640" y="4366260"/>
            <a:ext cx="5464912" cy="67008"/>
          </a:xfrm>
          <a:prstGeom prst="rect">
            <a:avLst/>
          </a:prstGeom>
          <a:solidFill>
            <a:srgbClr val="3549D0"/>
          </a:solidFill>
          <a:ln/>
        </p:spPr>
      </p:sp>
      <p:sp>
        <p:nvSpPr>
          <p:cNvPr id="37" name="Shape 35"/>
          <p:cNvSpPr/>
          <p:nvPr/>
        </p:nvSpPr>
        <p:spPr>
          <a:xfrm>
            <a:off x="548640" y="4424124"/>
            <a:ext cx="5464912" cy="67008"/>
          </a:xfrm>
          <a:prstGeom prst="rect">
            <a:avLst/>
          </a:prstGeom>
          <a:solidFill>
            <a:srgbClr val="344ACF"/>
          </a:solidFill>
          <a:ln/>
        </p:spPr>
      </p:sp>
      <p:sp>
        <p:nvSpPr>
          <p:cNvPr id="38" name="Shape 36"/>
          <p:cNvSpPr/>
          <p:nvPr/>
        </p:nvSpPr>
        <p:spPr>
          <a:xfrm>
            <a:off x="548640" y="4481989"/>
            <a:ext cx="5464912" cy="67008"/>
          </a:xfrm>
          <a:prstGeom prst="rect">
            <a:avLst/>
          </a:prstGeom>
          <a:solidFill>
            <a:srgbClr val="334BCF"/>
          </a:solidFill>
          <a:ln/>
        </p:spPr>
      </p:sp>
      <p:sp>
        <p:nvSpPr>
          <p:cNvPr id="39" name="Shape 37"/>
          <p:cNvSpPr/>
          <p:nvPr/>
        </p:nvSpPr>
        <p:spPr>
          <a:xfrm>
            <a:off x="548640" y="4539853"/>
            <a:ext cx="5464912" cy="67008"/>
          </a:xfrm>
          <a:prstGeom prst="rect">
            <a:avLst/>
          </a:prstGeom>
          <a:solidFill>
            <a:srgbClr val="324CCE"/>
          </a:solidFill>
          <a:ln/>
        </p:spPr>
      </p:sp>
      <p:sp>
        <p:nvSpPr>
          <p:cNvPr id="40" name="Shape 38"/>
          <p:cNvSpPr/>
          <p:nvPr/>
        </p:nvSpPr>
        <p:spPr>
          <a:xfrm>
            <a:off x="548640" y="4597717"/>
            <a:ext cx="5464912" cy="67008"/>
          </a:xfrm>
          <a:prstGeom prst="rect">
            <a:avLst/>
          </a:prstGeom>
          <a:solidFill>
            <a:srgbClr val="314ECD"/>
          </a:solidFill>
          <a:ln/>
        </p:spPr>
      </p:sp>
      <p:sp>
        <p:nvSpPr>
          <p:cNvPr id="41" name="Shape 39"/>
          <p:cNvSpPr/>
          <p:nvPr/>
        </p:nvSpPr>
        <p:spPr>
          <a:xfrm>
            <a:off x="548640" y="4655582"/>
            <a:ext cx="5464912" cy="67008"/>
          </a:xfrm>
          <a:prstGeom prst="rect">
            <a:avLst/>
          </a:prstGeom>
          <a:solidFill>
            <a:srgbClr val="304FCD"/>
          </a:solidFill>
          <a:ln/>
        </p:spPr>
      </p:sp>
      <p:sp>
        <p:nvSpPr>
          <p:cNvPr id="42" name="Shape 40"/>
          <p:cNvSpPr/>
          <p:nvPr/>
        </p:nvSpPr>
        <p:spPr>
          <a:xfrm>
            <a:off x="548640" y="4713446"/>
            <a:ext cx="5464912" cy="67008"/>
          </a:xfrm>
          <a:prstGeom prst="rect">
            <a:avLst/>
          </a:prstGeom>
          <a:solidFill>
            <a:srgbClr val="2F50CC"/>
          </a:solidFill>
          <a:ln/>
        </p:spPr>
      </p:sp>
      <p:sp>
        <p:nvSpPr>
          <p:cNvPr id="43" name="Shape 41"/>
          <p:cNvSpPr/>
          <p:nvPr/>
        </p:nvSpPr>
        <p:spPr>
          <a:xfrm>
            <a:off x="548640" y="4771311"/>
            <a:ext cx="5464912" cy="67008"/>
          </a:xfrm>
          <a:prstGeom prst="rect">
            <a:avLst/>
          </a:prstGeom>
          <a:solidFill>
            <a:srgbClr val="2F51CC"/>
          </a:solidFill>
          <a:ln/>
        </p:spPr>
      </p:sp>
      <p:sp>
        <p:nvSpPr>
          <p:cNvPr id="44" name="Shape 42"/>
          <p:cNvSpPr/>
          <p:nvPr/>
        </p:nvSpPr>
        <p:spPr>
          <a:xfrm>
            <a:off x="548640" y="4829175"/>
            <a:ext cx="5464912" cy="67008"/>
          </a:xfrm>
          <a:prstGeom prst="rect">
            <a:avLst/>
          </a:prstGeom>
          <a:solidFill>
            <a:srgbClr val="2E53CB"/>
          </a:solidFill>
          <a:ln/>
        </p:spPr>
      </p:sp>
      <p:sp>
        <p:nvSpPr>
          <p:cNvPr id="45" name="Shape 43"/>
          <p:cNvSpPr/>
          <p:nvPr/>
        </p:nvSpPr>
        <p:spPr>
          <a:xfrm>
            <a:off x="548640" y="4887039"/>
            <a:ext cx="5464912" cy="67008"/>
          </a:xfrm>
          <a:prstGeom prst="rect">
            <a:avLst/>
          </a:prstGeom>
          <a:solidFill>
            <a:srgbClr val="2D54CB"/>
          </a:solidFill>
          <a:ln/>
        </p:spPr>
      </p:sp>
      <p:sp>
        <p:nvSpPr>
          <p:cNvPr id="46" name="Shape 44"/>
          <p:cNvSpPr/>
          <p:nvPr/>
        </p:nvSpPr>
        <p:spPr>
          <a:xfrm>
            <a:off x="548640" y="4944904"/>
            <a:ext cx="5464912" cy="67008"/>
          </a:xfrm>
          <a:prstGeom prst="rect">
            <a:avLst/>
          </a:prstGeom>
          <a:solidFill>
            <a:srgbClr val="2C55CA"/>
          </a:solidFill>
          <a:ln/>
        </p:spPr>
      </p:sp>
      <p:sp>
        <p:nvSpPr>
          <p:cNvPr id="47" name="Shape 45"/>
          <p:cNvSpPr/>
          <p:nvPr/>
        </p:nvSpPr>
        <p:spPr>
          <a:xfrm>
            <a:off x="548640" y="5002768"/>
            <a:ext cx="5464912" cy="67008"/>
          </a:xfrm>
          <a:prstGeom prst="rect">
            <a:avLst/>
          </a:prstGeom>
          <a:solidFill>
            <a:srgbClr val="2B56C9"/>
          </a:solidFill>
          <a:ln/>
        </p:spPr>
      </p:sp>
      <p:sp>
        <p:nvSpPr>
          <p:cNvPr id="48" name="Shape 46"/>
          <p:cNvSpPr/>
          <p:nvPr/>
        </p:nvSpPr>
        <p:spPr>
          <a:xfrm>
            <a:off x="548640" y="5060633"/>
            <a:ext cx="5464912" cy="67008"/>
          </a:xfrm>
          <a:prstGeom prst="rect">
            <a:avLst/>
          </a:prstGeom>
          <a:solidFill>
            <a:srgbClr val="2A57C9"/>
          </a:solidFill>
          <a:ln/>
        </p:spPr>
      </p:sp>
      <p:sp>
        <p:nvSpPr>
          <p:cNvPr id="49" name="Shape 47"/>
          <p:cNvSpPr/>
          <p:nvPr/>
        </p:nvSpPr>
        <p:spPr>
          <a:xfrm>
            <a:off x="548640" y="5118497"/>
            <a:ext cx="5464912" cy="67008"/>
          </a:xfrm>
          <a:prstGeom prst="rect">
            <a:avLst/>
          </a:prstGeom>
          <a:solidFill>
            <a:srgbClr val="2959C8"/>
          </a:solidFill>
          <a:ln/>
        </p:spPr>
      </p:sp>
      <p:sp>
        <p:nvSpPr>
          <p:cNvPr id="50" name="Shape 48"/>
          <p:cNvSpPr/>
          <p:nvPr/>
        </p:nvSpPr>
        <p:spPr>
          <a:xfrm>
            <a:off x="548640" y="5176361"/>
            <a:ext cx="5464912" cy="67008"/>
          </a:xfrm>
          <a:prstGeom prst="rect">
            <a:avLst/>
          </a:prstGeom>
          <a:solidFill>
            <a:srgbClr val="295AC8"/>
          </a:solidFill>
          <a:ln/>
        </p:spPr>
      </p:sp>
      <p:sp>
        <p:nvSpPr>
          <p:cNvPr id="51" name="Shape 49"/>
          <p:cNvSpPr/>
          <p:nvPr/>
        </p:nvSpPr>
        <p:spPr>
          <a:xfrm>
            <a:off x="548640" y="5234226"/>
            <a:ext cx="5464912" cy="67008"/>
          </a:xfrm>
          <a:prstGeom prst="rect">
            <a:avLst/>
          </a:prstGeom>
          <a:solidFill>
            <a:srgbClr val="285BC7"/>
          </a:solidFill>
          <a:ln/>
        </p:spPr>
      </p:sp>
      <p:sp>
        <p:nvSpPr>
          <p:cNvPr id="52" name="Shape 50"/>
          <p:cNvSpPr/>
          <p:nvPr/>
        </p:nvSpPr>
        <p:spPr>
          <a:xfrm>
            <a:off x="548640" y="5292090"/>
            <a:ext cx="5464912" cy="67008"/>
          </a:xfrm>
          <a:prstGeom prst="rect">
            <a:avLst/>
          </a:prstGeom>
          <a:solidFill>
            <a:srgbClr val="275CC7"/>
          </a:solidFill>
          <a:ln/>
        </p:spPr>
      </p:sp>
      <p:sp>
        <p:nvSpPr>
          <p:cNvPr id="53" name="Shape 51"/>
          <p:cNvSpPr/>
          <p:nvPr/>
        </p:nvSpPr>
        <p:spPr>
          <a:xfrm>
            <a:off x="548640" y="5349954"/>
            <a:ext cx="5464912" cy="67008"/>
          </a:xfrm>
          <a:prstGeom prst="rect">
            <a:avLst/>
          </a:prstGeom>
          <a:solidFill>
            <a:srgbClr val="265EC6"/>
          </a:solidFill>
          <a:ln/>
        </p:spPr>
      </p:sp>
      <p:sp>
        <p:nvSpPr>
          <p:cNvPr id="54" name="Shape 52"/>
          <p:cNvSpPr/>
          <p:nvPr/>
        </p:nvSpPr>
        <p:spPr>
          <a:xfrm>
            <a:off x="548640" y="5407819"/>
            <a:ext cx="5464912" cy="67008"/>
          </a:xfrm>
          <a:prstGeom prst="rect">
            <a:avLst/>
          </a:prstGeom>
          <a:solidFill>
            <a:srgbClr val="255FC5"/>
          </a:solidFill>
          <a:ln/>
        </p:spPr>
      </p:sp>
      <p:sp>
        <p:nvSpPr>
          <p:cNvPr id="55" name="Shape 53"/>
          <p:cNvSpPr/>
          <p:nvPr/>
        </p:nvSpPr>
        <p:spPr>
          <a:xfrm>
            <a:off x="548640" y="5465683"/>
            <a:ext cx="5464912" cy="67008"/>
          </a:xfrm>
          <a:prstGeom prst="rect">
            <a:avLst/>
          </a:prstGeom>
          <a:solidFill>
            <a:srgbClr val="2460C5"/>
          </a:solidFill>
          <a:ln/>
        </p:spPr>
      </p:sp>
      <p:sp>
        <p:nvSpPr>
          <p:cNvPr id="56" name="Shape 54"/>
          <p:cNvSpPr/>
          <p:nvPr/>
        </p:nvSpPr>
        <p:spPr>
          <a:xfrm>
            <a:off x="548640" y="5523548"/>
            <a:ext cx="5464912" cy="67008"/>
          </a:xfrm>
          <a:prstGeom prst="rect">
            <a:avLst/>
          </a:prstGeom>
          <a:solidFill>
            <a:srgbClr val="2361C4"/>
          </a:solidFill>
          <a:ln/>
        </p:spPr>
      </p:sp>
      <p:sp>
        <p:nvSpPr>
          <p:cNvPr id="57" name="Shape 55"/>
          <p:cNvSpPr/>
          <p:nvPr/>
        </p:nvSpPr>
        <p:spPr>
          <a:xfrm>
            <a:off x="548640" y="5581412"/>
            <a:ext cx="5464912" cy="67008"/>
          </a:xfrm>
          <a:prstGeom prst="rect">
            <a:avLst/>
          </a:prstGeom>
          <a:solidFill>
            <a:srgbClr val="2363C4"/>
          </a:solidFill>
          <a:ln/>
        </p:spPr>
      </p:sp>
      <p:sp>
        <p:nvSpPr>
          <p:cNvPr id="58" name="Shape 56"/>
          <p:cNvSpPr/>
          <p:nvPr/>
        </p:nvSpPr>
        <p:spPr>
          <a:xfrm>
            <a:off x="548640" y="5639276"/>
            <a:ext cx="5464912" cy="67008"/>
          </a:xfrm>
          <a:prstGeom prst="rect">
            <a:avLst/>
          </a:prstGeom>
          <a:solidFill>
            <a:srgbClr val="2264C3"/>
          </a:solidFill>
          <a:ln/>
        </p:spPr>
      </p:sp>
      <p:sp>
        <p:nvSpPr>
          <p:cNvPr id="59" name="Shape 57"/>
          <p:cNvSpPr/>
          <p:nvPr/>
        </p:nvSpPr>
        <p:spPr>
          <a:xfrm>
            <a:off x="548640" y="5697141"/>
            <a:ext cx="5464912" cy="67008"/>
          </a:xfrm>
          <a:prstGeom prst="rect">
            <a:avLst/>
          </a:prstGeom>
          <a:solidFill>
            <a:srgbClr val="2165C3"/>
          </a:solidFill>
          <a:ln/>
        </p:spPr>
      </p:sp>
      <p:sp>
        <p:nvSpPr>
          <p:cNvPr id="60" name="Shape 58"/>
          <p:cNvSpPr/>
          <p:nvPr/>
        </p:nvSpPr>
        <p:spPr>
          <a:xfrm>
            <a:off x="548640" y="5755005"/>
            <a:ext cx="5464912" cy="67008"/>
          </a:xfrm>
          <a:prstGeom prst="rect">
            <a:avLst/>
          </a:prstGeom>
          <a:solidFill>
            <a:srgbClr val="2066C2"/>
          </a:solidFill>
          <a:ln/>
        </p:spPr>
      </p:sp>
      <p:sp>
        <p:nvSpPr>
          <p:cNvPr id="61" name="Shape 59"/>
          <p:cNvSpPr/>
          <p:nvPr/>
        </p:nvSpPr>
        <p:spPr>
          <a:xfrm>
            <a:off x="548640" y="5812869"/>
            <a:ext cx="5464912" cy="67008"/>
          </a:xfrm>
          <a:prstGeom prst="rect">
            <a:avLst/>
          </a:prstGeom>
          <a:solidFill>
            <a:srgbClr val="1F68C1"/>
          </a:solidFill>
          <a:ln/>
        </p:spPr>
      </p:sp>
      <p:sp>
        <p:nvSpPr>
          <p:cNvPr id="62" name="Shape 60"/>
          <p:cNvSpPr/>
          <p:nvPr/>
        </p:nvSpPr>
        <p:spPr>
          <a:xfrm>
            <a:off x="548640" y="5870734"/>
            <a:ext cx="5464912" cy="67008"/>
          </a:xfrm>
          <a:prstGeom prst="rect">
            <a:avLst/>
          </a:prstGeom>
          <a:solidFill>
            <a:srgbClr val="1E69C1"/>
          </a:solidFill>
          <a:ln/>
        </p:spPr>
      </p:sp>
      <p:sp>
        <p:nvSpPr>
          <p:cNvPr id="63" name="Shape 61"/>
          <p:cNvSpPr/>
          <p:nvPr/>
        </p:nvSpPr>
        <p:spPr>
          <a:xfrm>
            <a:off x="548640" y="5928598"/>
            <a:ext cx="5464912" cy="67008"/>
          </a:xfrm>
          <a:prstGeom prst="rect">
            <a:avLst/>
          </a:prstGeom>
          <a:solidFill>
            <a:srgbClr val="1D6AC0"/>
          </a:solidFill>
          <a:ln/>
        </p:spPr>
      </p:sp>
      <p:sp>
        <p:nvSpPr>
          <p:cNvPr id="64" name="Shape 62"/>
          <p:cNvSpPr/>
          <p:nvPr/>
        </p:nvSpPr>
        <p:spPr>
          <a:xfrm>
            <a:off x="548640" y="5986463"/>
            <a:ext cx="5464912" cy="67008"/>
          </a:xfrm>
          <a:prstGeom prst="rect">
            <a:avLst/>
          </a:prstGeom>
          <a:solidFill>
            <a:srgbClr val="1D6BC0"/>
          </a:solidFill>
          <a:ln/>
        </p:spPr>
      </p:sp>
      <p:sp>
        <p:nvSpPr>
          <p:cNvPr id="65" name="Shape 63"/>
          <p:cNvSpPr/>
          <p:nvPr/>
        </p:nvSpPr>
        <p:spPr>
          <a:xfrm>
            <a:off x="548640" y="6044327"/>
            <a:ext cx="5464912" cy="67008"/>
          </a:xfrm>
          <a:prstGeom prst="rect">
            <a:avLst/>
          </a:prstGeom>
          <a:solidFill>
            <a:srgbClr val="1C6DBF"/>
          </a:solidFill>
          <a:ln/>
        </p:spPr>
      </p:sp>
      <p:sp>
        <p:nvSpPr>
          <p:cNvPr id="66" name="Shape 64"/>
          <p:cNvSpPr/>
          <p:nvPr/>
        </p:nvSpPr>
        <p:spPr>
          <a:xfrm>
            <a:off x="548640" y="6102191"/>
            <a:ext cx="5464912" cy="67008"/>
          </a:xfrm>
          <a:prstGeom prst="rect">
            <a:avLst/>
          </a:prstGeom>
          <a:solidFill>
            <a:srgbClr val="1B6EBF"/>
          </a:solidFill>
          <a:ln/>
        </p:spPr>
      </p:sp>
      <p:sp>
        <p:nvSpPr>
          <p:cNvPr id="67" name="Shape 65"/>
          <p:cNvSpPr/>
          <p:nvPr/>
        </p:nvSpPr>
        <p:spPr>
          <a:xfrm>
            <a:off x="548640" y="6160056"/>
            <a:ext cx="5464912" cy="67008"/>
          </a:xfrm>
          <a:prstGeom prst="rect">
            <a:avLst/>
          </a:prstGeom>
          <a:solidFill>
            <a:srgbClr val="1A6FBE"/>
          </a:solidFill>
          <a:ln/>
        </p:spPr>
      </p:sp>
      <p:sp>
        <p:nvSpPr>
          <p:cNvPr id="68" name="Text 66"/>
          <p:cNvSpPr/>
          <p:nvPr/>
        </p:nvSpPr>
        <p:spPr>
          <a:xfrm>
            <a:off x="914400" y="2880360"/>
            <a:ext cx="4733392" cy="914400"/>
          </a:xfrm>
          <a:prstGeom prst="rect">
            <a:avLst/>
          </a:prstGeom>
          <a:noFill/>
          <a:ln/>
        </p:spPr>
        <p:txBody>
          <a:bodyPr wrap="square" lIns="0" tIns="0" rIns="0" bIns="0" rtlCol="0" anchor="t"/>
          <a:lstStyle/>
          <a:p>
            <a:pPr algn="l" indent="0" marL="0">
              <a:buNone/>
            </a:pPr>
            <a:r>
              <a:rPr lang="en-US" sz="1100" b="1" spc="300" kern="0" dirty="0">
                <a:solidFill>
                  <a:srgbClr val="FFFFFF"/>
                </a:solidFill>
                <a:latin typeface="Calibri" pitchFamily="34" charset="0"/>
                <a:ea typeface="Calibri" pitchFamily="34" charset="-122"/>
                <a:cs typeface="Calibri" pitchFamily="34" charset="-120"/>
              </a:rPr>
              <a:t>5-PLATFORM SEARCH</a:t>
            </a:r>
            <a:endParaRPr lang="en-US" sz="1100" dirty="0"/>
          </a:p>
        </p:txBody>
      </p:sp>
      <p:sp>
        <p:nvSpPr>
          <p:cNvPr id="69" name="Text 67"/>
          <p:cNvSpPr/>
          <p:nvPr/>
        </p:nvSpPr>
        <p:spPr>
          <a:xfrm>
            <a:off x="914400" y="3383280"/>
            <a:ext cx="4733392" cy="2011680"/>
          </a:xfrm>
          <a:prstGeom prst="rect">
            <a:avLst/>
          </a:prstGeom>
          <a:noFill/>
          <a:ln/>
        </p:spPr>
        <p:txBody>
          <a:bodyPr wrap="square" lIns="0" tIns="0" rIns="0" bIns="0" rtlCol="0" anchor="t"/>
          <a:lstStyle/>
          <a:p>
            <a:pPr algn="l" indent="0" marL="0">
              <a:buNone/>
            </a:pPr>
            <a:r>
              <a:rPr lang="en-US" sz="3200" b="1" spc="-50" kern="0" dirty="0">
                <a:solidFill>
                  <a:srgbClr val="FFFFFF"/>
                </a:solidFill>
                <a:latin typeface="Calibri" pitchFamily="34" charset="0"/>
                <a:ea typeface="Calibri" pitchFamily="34" charset="-122"/>
                <a:cs typeface="Calibri" pitchFamily="34" charset="-120"/>
              </a:rPr>
              <a:t>Search all of them. Get one ranked list.</a:t>
            </a:r>
            <a:endParaRPr lang="en-US" sz="3200" dirty="0"/>
          </a:p>
        </p:txBody>
      </p:sp>
      <p:sp>
        <p:nvSpPr>
          <p:cNvPr id="70" name="Text 68"/>
          <p:cNvSpPr/>
          <p:nvPr/>
        </p:nvSpPr>
        <p:spPr>
          <a:xfrm>
            <a:off x="914400" y="5166360"/>
            <a:ext cx="4733392" cy="10972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YouTube, Instagram, TikTok, X, LinkedIn — searched in parallel, deduplicated, and returned as a single creator list ranked by your fit score.</a:t>
            </a:r>
            <a:endParaRPr lang="en-US" sz="1300" dirty="0"/>
          </a:p>
        </p:txBody>
      </p:sp>
      <p:sp>
        <p:nvSpPr>
          <p:cNvPr id="71" name="Shape 69"/>
          <p:cNvSpPr/>
          <p:nvPr/>
        </p:nvSpPr>
        <p:spPr>
          <a:xfrm>
            <a:off x="6178144" y="2514600"/>
            <a:ext cx="5464912" cy="1124712"/>
          </a:xfrm>
          <a:prstGeom prst="roundRect">
            <a:avLst>
              <a:gd name="adj" fmla="val 9756"/>
            </a:avLst>
          </a:prstGeom>
          <a:solidFill>
            <a:srgbClr val="FFFFFF"/>
          </a:solidFill>
          <a:ln w="9525">
            <a:solidFill>
              <a:srgbClr val="E5E7F0"/>
            </a:solidFill>
            <a:prstDash val="solid"/>
          </a:ln>
        </p:spPr>
      </p:sp>
      <p:sp>
        <p:nvSpPr>
          <p:cNvPr id="72" name="Shape 70"/>
          <p:cNvSpPr/>
          <p:nvPr/>
        </p:nvSpPr>
        <p:spPr>
          <a:xfrm>
            <a:off x="6178144" y="2514600"/>
            <a:ext cx="73152" cy="1124712"/>
          </a:xfrm>
          <a:prstGeom prst="rect">
            <a:avLst/>
          </a:prstGeom>
          <a:solidFill>
            <a:srgbClr val="5028C2"/>
          </a:solidFill>
          <a:ln/>
        </p:spPr>
      </p:sp>
      <p:sp>
        <p:nvSpPr>
          <p:cNvPr id="73" name="Text 71"/>
          <p:cNvSpPr/>
          <p:nvPr/>
        </p:nvSpPr>
        <p:spPr>
          <a:xfrm>
            <a:off x="6434176" y="2697480"/>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YouTube</a:t>
            </a:r>
            <a:endParaRPr lang="en-US" sz="1600" dirty="0"/>
          </a:p>
        </p:txBody>
      </p:sp>
      <p:sp>
        <p:nvSpPr>
          <p:cNvPr id="74" name="Text 72"/>
          <p:cNvSpPr/>
          <p:nvPr/>
        </p:nvSpPr>
        <p:spPr>
          <a:xfrm>
            <a:off x="6434176" y="3081528"/>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Long-form trust. Technical reviewers.</a:t>
            </a:r>
            <a:endParaRPr lang="en-US" sz="1200" dirty="0"/>
          </a:p>
        </p:txBody>
      </p:sp>
      <p:sp>
        <p:nvSpPr>
          <p:cNvPr id="75" name="Shape 73"/>
          <p:cNvSpPr/>
          <p:nvPr/>
        </p:nvSpPr>
        <p:spPr>
          <a:xfrm>
            <a:off x="6178144" y="3803904"/>
            <a:ext cx="5464912" cy="1124712"/>
          </a:xfrm>
          <a:prstGeom prst="roundRect">
            <a:avLst>
              <a:gd name="adj" fmla="val 9756"/>
            </a:avLst>
          </a:prstGeom>
          <a:solidFill>
            <a:srgbClr val="FFFFFF"/>
          </a:solidFill>
          <a:ln w="9525">
            <a:solidFill>
              <a:srgbClr val="E5E7F0"/>
            </a:solidFill>
            <a:prstDash val="solid"/>
          </a:ln>
        </p:spPr>
      </p:sp>
      <p:sp>
        <p:nvSpPr>
          <p:cNvPr id="76" name="Shape 74"/>
          <p:cNvSpPr/>
          <p:nvPr/>
        </p:nvSpPr>
        <p:spPr>
          <a:xfrm>
            <a:off x="6178144" y="3803904"/>
            <a:ext cx="73152" cy="1124712"/>
          </a:xfrm>
          <a:prstGeom prst="rect">
            <a:avLst/>
          </a:prstGeom>
          <a:solidFill>
            <a:srgbClr val="3548D0"/>
          </a:solidFill>
          <a:ln/>
        </p:spPr>
      </p:sp>
      <p:sp>
        <p:nvSpPr>
          <p:cNvPr id="77" name="Text 75"/>
          <p:cNvSpPr/>
          <p:nvPr/>
        </p:nvSpPr>
        <p:spPr>
          <a:xfrm>
            <a:off x="6434176" y="3986784"/>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LinkedIn</a:t>
            </a:r>
            <a:endParaRPr lang="en-US" sz="1600" dirty="0"/>
          </a:p>
        </p:txBody>
      </p:sp>
      <p:sp>
        <p:nvSpPr>
          <p:cNvPr id="78" name="Text 76"/>
          <p:cNvSpPr/>
          <p:nvPr/>
        </p:nvSpPr>
        <p:spPr>
          <a:xfrm>
            <a:off x="6434176" y="4370832"/>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Operator-creators and B2B audiences.</a:t>
            </a:r>
            <a:endParaRPr lang="en-US" sz="1200" dirty="0"/>
          </a:p>
        </p:txBody>
      </p:sp>
      <p:sp>
        <p:nvSpPr>
          <p:cNvPr id="79" name="Shape 77"/>
          <p:cNvSpPr/>
          <p:nvPr/>
        </p:nvSpPr>
        <p:spPr>
          <a:xfrm>
            <a:off x="6178144" y="5093208"/>
            <a:ext cx="5464912" cy="1124712"/>
          </a:xfrm>
          <a:prstGeom prst="roundRect">
            <a:avLst>
              <a:gd name="adj" fmla="val 9756"/>
            </a:avLst>
          </a:prstGeom>
          <a:solidFill>
            <a:srgbClr val="FFFFFF"/>
          </a:solidFill>
          <a:ln w="9525">
            <a:solidFill>
              <a:srgbClr val="E5E7F0"/>
            </a:solidFill>
            <a:prstDash val="solid"/>
          </a:ln>
        </p:spPr>
      </p:sp>
      <p:sp>
        <p:nvSpPr>
          <p:cNvPr id="80" name="Shape 78"/>
          <p:cNvSpPr/>
          <p:nvPr/>
        </p:nvSpPr>
        <p:spPr>
          <a:xfrm>
            <a:off x="6178144" y="5093208"/>
            <a:ext cx="73152" cy="1124712"/>
          </a:xfrm>
          <a:prstGeom prst="rect">
            <a:avLst/>
          </a:prstGeom>
          <a:solidFill>
            <a:srgbClr val="1A6FBE"/>
          </a:solidFill>
          <a:ln/>
        </p:spPr>
      </p:sp>
      <p:sp>
        <p:nvSpPr>
          <p:cNvPr id="81" name="Text 79"/>
          <p:cNvSpPr/>
          <p:nvPr/>
        </p:nvSpPr>
        <p:spPr>
          <a:xfrm>
            <a:off x="6434176" y="5276088"/>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IG · TikTok · X</a:t>
            </a:r>
            <a:endParaRPr lang="en-US" sz="1600" dirty="0"/>
          </a:p>
        </p:txBody>
      </p:sp>
      <p:sp>
        <p:nvSpPr>
          <p:cNvPr id="82" name="Text 80"/>
          <p:cNvSpPr/>
          <p:nvPr/>
        </p:nvSpPr>
        <p:spPr>
          <a:xfrm>
            <a:off x="6434176" y="5660136"/>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Short-form, consumer-adjacent, distribution.</a:t>
            </a:r>
            <a:endParaRPr lang="en-US" sz="1200" dirty="0"/>
          </a:p>
        </p:txBody>
      </p:sp>
      <p:sp>
        <p:nvSpPr>
          <p:cNvPr id="83" name="Shape 81"/>
          <p:cNvSpPr/>
          <p:nvPr/>
        </p:nvSpPr>
        <p:spPr>
          <a:xfrm>
            <a:off x="548640" y="502920"/>
            <a:ext cx="292608" cy="292608"/>
          </a:xfrm>
          <a:prstGeom prst="roundRect">
            <a:avLst>
              <a:gd name="adj" fmla="val 25000"/>
            </a:avLst>
          </a:prstGeom>
          <a:solidFill>
            <a:srgbClr val="5028C2"/>
          </a:solidFill>
          <a:ln/>
        </p:spPr>
      </p:sp>
      <p:sp>
        <p:nvSpPr>
          <p:cNvPr id="84" name="Shape 82"/>
          <p:cNvSpPr/>
          <p:nvPr/>
        </p:nvSpPr>
        <p:spPr>
          <a:xfrm>
            <a:off x="548640" y="502920"/>
            <a:ext cx="292608" cy="292608"/>
          </a:xfrm>
          <a:prstGeom prst="roundRect">
            <a:avLst>
              <a:gd name="adj" fmla="val 25000"/>
            </a:avLst>
          </a:prstGeom>
          <a:solidFill>
            <a:srgbClr val="1A6FBE">
              <a:alpha val="50000"/>
            </a:srgbClr>
          </a:solidFill>
          <a:ln/>
        </p:spPr>
      </p:sp>
      <p:sp>
        <p:nvSpPr>
          <p:cNvPr id="85" name="Text 83"/>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86" name="Text 84"/>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87" name="Text 85"/>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07 · 5-platform search  ·  vG</a:t>
            </a:r>
            <a:endParaRPr lang="en-US" sz="900" dirty="0"/>
          </a:p>
        </p:txBody>
      </p:sp>
      <p:sp>
        <p:nvSpPr>
          <p:cNvPr id="88" name="Text 86"/>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89" name="Text 87"/>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049 / 126</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80015" y="-914400"/>
            <a:ext cx="3200400" cy="3200400"/>
          </a:xfrm>
          <a:prstGeom prst="ellipse">
            <a:avLst/>
          </a:prstGeom>
          <a:solidFill>
            <a:srgbClr val="F1ECFF"/>
          </a:solidFill>
          <a:ln/>
        </p:spPr>
      </p:sp>
      <p:sp>
        <p:nvSpPr>
          <p:cNvPr id="3" name="Shape 1"/>
          <p:cNvSpPr/>
          <p:nvPr/>
        </p:nvSpPr>
        <p:spPr>
          <a:xfrm>
            <a:off x="10820095" y="-548640"/>
            <a:ext cx="2194560" cy="2194560"/>
          </a:xfrm>
          <a:prstGeom prst="ellipse">
            <a:avLst/>
          </a:prstGeom>
          <a:solidFill>
            <a:srgbClr val="E8F1FB">
              <a:alpha val="60000"/>
            </a:srgbClr>
          </a:solidFill>
          <a:ln/>
        </p:spPr>
      </p:sp>
      <p:sp>
        <p:nvSpPr>
          <p:cNvPr id="4" name="Shape 2"/>
          <p:cNvSpPr/>
          <p:nvPr/>
        </p:nvSpPr>
        <p:spPr>
          <a:xfrm>
            <a:off x="548640" y="5486400"/>
            <a:ext cx="54864" cy="54864"/>
          </a:xfrm>
          <a:prstGeom prst="ellipse">
            <a:avLst/>
          </a:prstGeom>
          <a:solidFill>
            <a:srgbClr val="5028C2">
              <a:alpha val="30000"/>
            </a:srgbClr>
          </a:solidFill>
          <a:ln/>
        </p:spPr>
      </p:sp>
      <p:sp>
        <p:nvSpPr>
          <p:cNvPr id="5" name="Shape 3"/>
          <p:cNvSpPr/>
          <p:nvPr/>
        </p:nvSpPr>
        <p:spPr>
          <a:xfrm>
            <a:off x="548640" y="5650992"/>
            <a:ext cx="54864" cy="54864"/>
          </a:xfrm>
          <a:prstGeom prst="ellipse">
            <a:avLst/>
          </a:prstGeom>
          <a:solidFill>
            <a:srgbClr val="5028C2">
              <a:alpha val="30000"/>
            </a:srgbClr>
          </a:solidFill>
          <a:ln/>
        </p:spPr>
      </p:sp>
      <p:sp>
        <p:nvSpPr>
          <p:cNvPr id="6" name="Shape 4"/>
          <p:cNvSpPr/>
          <p:nvPr/>
        </p:nvSpPr>
        <p:spPr>
          <a:xfrm>
            <a:off x="548640" y="5815584"/>
            <a:ext cx="54864" cy="54864"/>
          </a:xfrm>
          <a:prstGeom prst="ellipse">
            <a:avLst/>
          </a:prstGeom>
          <a:solidFill>
            <a:srgbClr val="5028C2">
              <a:alpha val="30000"/>
            </a:srgbClr>
          </a:solidFill>
          <a:ln/>
        </p:spPr>
      </p:sp>
      <p:sp>
        <p:nvSpPr>
          <p:cNvPr id="7" name="Shape 5"/>
          <p:cNvSpPr/>
          <p:nvPr/>
        </p:nvSpPr>
        <p:spPr>
          <a:xfrm>
            <a:off x="713232" y="5486400"/>
            <a:ext cx="54864" cy="54864"/>
          </a:xfrm>
          <a:prstGeom prst="ellipse">
            <a:avLst/>
          </a:prstGeom>
          <a:solidFill>
            <a:srgbClr val="5028C2">
              <a:alpha val="30000"/>
            </a:srgbClr>
          </a:solidFill>
          <a:ln/>
        </p:spPr>
      </p:sp>
      <p:sp>
        <p:nvSpPr>
          <p:cNvPr id="8" name="Shape 6"/>
          <p:cNvSpPr/>
          <p:nvPr/>
        </p:nvSpPr>
        <p:spPr>
          <a:xfrm>
            <a:off x="713232" y="5650992"/>
            <a:ext cx="54864" cy="54864"/>
          </a:xfrm>
          <a:prstGeom prst="ellipse">
            <a:avLst/>
          </a:prstGeom>
          <a:solidFill>
            <a:srgbClr val="5028C2">
              <a:alpha val="30000"/>
            </a:srgbClr>
          </a:solidFill>
          <a:ln/>
        </p:spPr>
      </p:sp>
      <p:sp>
        <p:nvSpPr>
          <p:cNvPr id="9" name="Shape 7"/>
          <p:cNvSpPr/>
          <p:nvPr/>
        </p:nvSpPr>
        <p:spPr>
          <a:xfrm>
            <a:off x="713232" y="5815584"/>
            <a:ext cx="54864" cy="54864"/>
          </a:xfrm>
          <a:prstGeom prst="ellipse">
            <a:avLst/>
          </a:prstGeom>
          <a:solidFill>
            <a:srgbClr val="5028C2">
              <a:alpha val="30000"/>
            </a:srgbClr>
          </a:solidFill>
          <a:ln/>
        </p:spPr>
      </p:sp>
      <p:sp>
        <p:nvSpPr>
          <p:cNvPr id="10" name="Shape 8"/>
          <p:cNvSpPr/>
          <p:nvPr/>
        </p:nvSpPr>
        <p:spPr>
          <a:xfrm>
            <a:off x="877824" y="5486400"/>
            <a:ext cx="54864" cy="54864"/>
          </a:xfrm>
          <a:prstGeom prst="ellipse">
            <a:avLst/>
          </a:prstGeom>
          <a:solidFill>
            <a:srgbClr val="5028C2">
              <a:alpha val="30000"/>
            </a:srgbClr>
          </a:solidFill>
          <a:ln/>
        </p:spPr>
      </p:sp>
      <p:sp>
        <p:nvSpPr>
          <p:cNvPr id="11" name="Shape 9"/>
          <p:cNvSpPr/>
          <p:nvPr/>
        </p:nvSpPr>
        <p:spPr>
          <a:xfrm>
            <a:off x="877824" y="5650992"/>
            <a:ext cx="54864" cy="54864"/>
          </a:xfrm>
          <a:prstGeom prst="ellipse">
            <a:avLst/>
          </a:prstGeom>
          <a:solidFill>
            <a:srgbClr val="5028C2">
              <a:alpha val="30000"/>
            </a:srgbClr>
          </a:solidFill>
          <a:ln/>
        </p:spPr>
      </p:sp>
      <p:sp>
        <p:nvSpPr>
          <p:cNvPr id="12" name="Shape 10"/>
          <p:cNvSpPr/>
          <p:nvPr/>
        </p:nvSpPr>
        <p:spPr>
          <a:xfrm>
            <a:off x="877824" y="5815584"/>
            <a:ext cx="54864" cy="54864"/>
          </a:xfrm>
          <a:prstGeom prst="ellipse">
            <a:avLst/>
          </a:prstGeom>
          <a:solidFill>
            <a:srgbClr val="5028C2">
              <a:alpha val="30000"/>
            </a:srgbClr>
          </a:solidFill>
          <a:ln/>
        </p:spPr>
      </p:sp>
      <p:sp>
        <p:nvSpPr>
          <p:cNvPr id="13" name="Shape 11"/>
          <p:cNvSpPr/>
          <p:nvPr/>
        </p:nvSpPr>
        <p:spPr>
          <a:xfrm>
            <a:off x="1042416" y="5486400"/>
            <a:ext cx="54864" cy="54864"/>
          </a:xfrm>
          <a:prstGeom prst="ellipse">
            <a:avLst/>
          </a:prstGeom>
          <a:solidFill>
            <a:srgbClr val="5028C2">
              <a:alpha val="30000"/>
            </a:srgbClr>
          </a:solidFill>
          <a:ln/>
        </p:spPr>
      </p:sp>
      <p:sp>
        <p:nvSpPr>
          <p:cNvPr id="14" name="Shape 12"/>
          <p:cNvSpPr/>
          <p:nvPr/>
        </p:nvSpPr>
        <p:spPr>
          <a:xfrm>
            <a:off x="1042416" y="5650992"/>
            <a:ext cx="54864" cy="54864"/>
          </a:xfrm>
          <a:prstGeom prst="ellipse">
            <a:avLst/>
          </a:prstGeom>
          <a:solidFill>
            <a:srgbClr val="5028C2">
              <a:alpha val="30000"/>
            </a:srgbClr>
          </a:solidFill>
          <a:ln/>
        </p:spPr>
      </p:sp>
      <p:sp>
        <p:nvSpPr>
          <p:cNvPr id="15" name="Shape 13"/>
          <p:cNvSpPr/>
          <p:nvPr/>
        </p:nvSpPr>
        <p:spPr>
          <a:xfrm>
            <a:off x="1042416" y="5815584"/>
            <a:ext cx="54864" cy="54864"/>
          </a:xfrm>
          <a:prstGeom prst="ellipse">
            <a:avLst/>
          </a:prstGeom>
          <a:solidFill>
            <a:srgbClr val="5028C2">
              <a:alpha val="30000"/>
            </a:srgbClr>
          </a:solidFill>
          <a:ln/>
        </p:spPr>
      </p:sp>
      <p:sp>
        <p:nvSpPr>
          <p:cNvPr id="16" name="Shape 14"/>
          <p:cNvSpPr/>
          <p:nvPr/>
        </p:nvSpPr>
        <p:spPr>
          <a:xfrm>
            <a:off x="1207008" y="5486400"/>
            <a:ext cx="54864" cy="54864"/>
          </a:xfrm>
          <a:prstGeom prst="ellipse">
            <a:avLst/>
          </a:prstGeom>
          <a:solidFill>
            <a:srgbClr val="5028C2">
              <a:alpha val="30000"/>
            </a:srgbClr>
          </a:solidFill>
          <a:ln/>
        </p:spPr>
      </p:sp>
      <p:sp>
        <p:nvSpPr>
          <p:cNvPr id="17" name="Shape 15"/>
          <p:cNvSpPr/>
          <p:nvPr/>
        </p:nvSpPr>
        <p:spPr>
          <a:xfrm>
            <a:off x="1207008" y="5650992"/>
            <a:ext cx="54864" cy="54864"/>
          </a:xfrm>
          <a:prstGeom prst="ellipse">
            <a:avLst/>
          </a:prstGeom>
          <a:solidFill>
            <a:srgbClr val="5028C2">
              <a:alpha val="30000"/>
            </a:srgbClr>
          </a:solidFill>
          <a:ln/>
        </p:spPr>
      </p:sp>
      <p:sp>
        <p:nvSpPr>
          <p:cNvPr id="18" name="Shape 16"/>
          <p:cNvSpPr/>
          <p:nvPr/>
        </p:nvSpPr>
        <p:spPr>
          <a:xfrm>
            <a:off x="1207008" y="5815584"/>
            <a:ext cx="54864" cy="54864"/>
          </a:xfrm>
          <a:prstGeom prst="ellipse">
            <a:avLst/>
          </a:prstGeom>
          <a:solidFill>
            <a:srgbClr val="5028C2">
              <a:alpha val="30000"/>
            </a:srgbClr>
          </a:solidFill>
          <a:ln/>
        </p:spPr>
      </p:sp>
      <p:sp>
        <p:nvSpPr>
          <p:cNvPr id="19" name="Shape 17"/>
          <p:cNvSpPr/>
          <p:nvPr/>
        </p:nvSpPr>
        <p:spPr>
          <a:xfrm>
            <a:off x="1371600" y="5486400"/>
            <a:ext cx="54864" cy="54864"/>
          </a:xfrm>
          <a:prstGeom prst="ellipse">
            <a:avLst/>
          </a:prstGeom>
          <a:solidFill>
            <a:srgbClr val="5028C2">
              <a:alpha val="30000"/>
            </a:srgbClr>
          </a:solidFill>
          <a:ln/>
        </p:spPr>
      </p:sp>
      <p:sp>
        <p:nvSpPr>
          <p:cNvPr id="20" name="Shape 18"/>
          <p:cNvSpPr/>
          <p:nvPr/>
        </p:nvSpPr>
        <p:spPr>
          <a:xfrm>
            <a:off x="1371600" y="5650992"/>
            <a:ext cx="54864" cy="54864"/>
          </a:xfrm>
          <a:prstGeom prst="ellipse">
            <a:avLst/>
          </a:prstGeom>
          <a:solidFill>
            <a:srgbClr val="5028C2">
              <a:alpha val="30000"/>
            </a:srgbClr>
          </a:solidFill>
          <a:ln/>
        </p:spPr>
      </p:sp>
      <p:sp>
        <p:nvSpPr>
          <p:cNvPr id="21" name="Shape 19"/>
          <p:cNvSpPr/>
          <p:nvPr/>
        </p:nvSpPr>
        <p:spPr>
          <a:xfrm>
            <a:off x="1371600" y="5815584"/>
            <a:ext cx="54864" cy="54864"/>
          </a:xfrm>
          <a:prstGeom prst="ellipse">
            <a:avLst/>
          </a:prstGeom>
          <a:solidFill>
            <a:srgbClr val="5028C2">
              <a:alpha val="30000"/>
            </a:srgbClr>
          </a:solidFill>
          <a:ln/>
        </p:spPr>
      </p:sp>
      <p:sp>
        <p:nvSpPr>
          <p:cNvPr id="22" name="Text 20"/>
          <p:cNvSpPr/>
          <p:nvPr/>
        </p:nvSpPr>
        <p:spPr>
          <a:xfrm>
            <a:off x="548640" y="1097280"/>
            <a:ext cx="11094415"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FEATURE · AI FIT SCORE</a:t>
            </a:r>
            <a:endParaRPr lang="en-US" sz="1100" dirty="0"/>
          </a:p>
        </p:txBody>
      </p:sp>
      <p:sp>
        <p:nvSpPr>
          <p:cNvPr id="23" name="Text 21"/>
          <p:cNvSpPr/>
          <p:nvPr/>
        </p:nvSpPr>
        <p:spPr>
          <a:xfrm>
            <a:off x="548640" y="1554480"/>
            <a:ext cx="11094415" cy="3108960"/>
          </a:xfrm>
          <a:prstGeom prst="rect">
            <a:avLst/>
          </a:prstGeom>
          <a:noFill/>
          <a:ln/>
        </p:spPr>
        <p:txBody>
          <a:bodyPr wrap="square" lIns="0" tIns="0" rIns="0" bIns="0" rtlCol="0" anchor="t"/>
          <a:lstStyle/>
          <a:p>
            <a:pPr algn="l" indent="0" marL="0">
              <a:buNone/>
            </a:pPr>
            <a:r>
              <a:rPr lang="en-US" sz="5000" b="1" spc="-100" kern="0" dirty="0">
                <a:solidFill>
                  <a:srgbClr val="0F1733"/>
                </a:solidFill>
                <a:latin typeface="Calibri" pitchFamily="34" charset="0"/>
                <a:ea typeface="Calibri" pitchFamily="34" charset="-122"/>
                <a:cs typeface="Calibri" pitchFamily="34" charset="-120"/>
              </a:rPr>
              <a:t>Every creator. Rated 0–100. Against your ICP.</a:t>
            </a:r>
            <a:endParaRPr lang="en-US" sz="5000" dirty="0"/>
          </a:p>
        </p:txBody>
      </p:sp>
      <p:sp>
        <p:nvSpPr>
          <p:cNvPr id="24" name="Text 22"/>
          <p:cNvSpPr/>
          <p:nvPr/>
        </p:nvSpPr>
        <p:spPr>
          <a:xfrm>
            <a:off x="548640" y="4754880"/>
            <a:ext cx="9265615" cy="1097280"/>
          </a:xfrm>
          <a:prstGeom prst="rect">
            <a:avLst/>
          </a:prstGeom>
          <a:noFill/>
          <a:ln/>
        </p:spPr>
        <p:txBody>
          <a:bodyPr wrap="square" lIns="0" tIns="0" rIns="0" bIns="0" rtlCol="0" anchor="t"/>
          <a:lstStyle/>
          <a:p>
            <a:pPr algn="l" indent="0" marL="0">
              <a:buNone/>
            </a:pPr>
            <a:r>
              <a:rPr lang="en-US" sz="1800" dirty="0">
                <a:solidFill>
                  <a:srgbClr val="2A3358"/>
                </a:solidFill>
                <a:latin typeface="Calibri" pitchFamily="34" charset="0"/>
                <a:ea typeface="Calibri" pitchFamily="34" charset="-122"/>
                <a:cs typeface="Calibri" pitchFamily="34" charset="-120"/>
              </a:rPr>
              <a:t>Stop reading 80 bios to find the one that matches. Describe what you're looking for once; AI scores every result against your criteria.</a:t>
            </a:r>
            <a:endParaRPr lang="en-US" sz="1800" dirty="0"/>
          </a:p>
        </p:txBody>
      </p:sp>
      <p:sp>
        <p:nvSpPr>
          <p:cNvPr id="25" name="Shape 23"/>
          <p:cNvSpPr/>
          <p:nvPr/>
        </p:nvSpPr>
        <p:spPr>
          <a:xfrm>
            <a:off x="548640" y="502920"/>
            <a:ext cx="292608" cy="292608"/>
          </a:xfrm>
          <a:prstGeom prst="roundRect">
            <a:avLst>
              <a:gd name="adj" fmla="val 25000"/>
            </a:avLst>
          </a:prstGeom>
          <a:solidFill>
            <a:srgbClr val="5028C2"/>
          </a:solidFill>
          <a:ln/>
        </p:spPr>
      </p:sp>
      <p:sp>
        <p:nvSpPr>
          <p:cNvPr id="26" name="Shape 24"/>
          <p:cNvSpPr/>
          <p:nvPr/>
        </p:nvSpPr>
        <p:spPr>
          <a:xfrm>
            <a:off x="548640" y="502920"/>
            <a:ext cx="292608" cy="292608"/>
          </a:xfrm>
          <a:prstGeom prst="roundRect">
            <a:avLst>
              <a:gd name="adj" fmla="val 25000"/>
            </a:avLst>
          </a:prstGeom>
          <a:solidFill>
            <a:srgbClr val="1A6FBE">
              <a:alpha val="50000"/>
            </a:srgbClr>
          </a:solidFill>
          <a:ln/>
        </p:spPr>
      </p:sp>
      <p:sp>
        <p:nvSpPr>
          <p:cNvPr id="27" name="Text 25"/>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8" name="Text 26"/>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9" name="Text 27"/>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08 · AI fit score  ·  vA</a:t>
            </a:r>
            <a:endParaRPr lang="en-US" sz="900" dirty="0"/>
          </a:p>
        </p:txBody>
      </p:sp>
      <p:sp>
        <p:nvSpPr>
          <p:cNvPr id="30" name="Text 28"/>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31" name="Text 29"/>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050 / 126</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071183" y="0"/>
            <a:ext cx="5120512" cy="116300"/>
          </a:xfrm>
          <a:prstGeom prst="rect">
            <a:avLst/>
          </a:prstGeom>
          <a:solidFill>
            <a:srgbClr val="5028C2"/>
          </a:solidFill>
          <a:ln/>
        </p:spPr>
      </p:sp>
      <p:sp>
        <p:nvSpPr>
          <p:cNvPr id="3" name="Shape 1"/>
          <p:cNvSpPr/>
          <p:nvPr/>
        </p:nvSpPr>
        <p:spPr>
          <a:xfrm>
            <a:off x="7071183" y="107156"/>
            <a:ext cx="5120512" cy="116300"/>
          </a:xfrm>
          <a:prstGeom prst="rect">
            <a:avLst/>
          </a:prstGeom>
          <a:solidFill>
            <a:srgbClr val="4F29C2"/>
          </a:solidFill>
          <a:ln/>
        </p:spPr>
      </p:sp>
      <p:sp>
        <p:nvSpPr>
          <p:cNvPr id="4" name="Shape 2"/>
          <p:cNvSpPr/>
          <p:nvPr/>
        </p:nvSpPr>
        <p:spPr>
          <a:xfrm>
            <a:off x="7071183" y="214313"/>
            <a:ext cx="5120512" cy="116300"/>
          </a:xfrm>
          <a:prstGeom prst="rect">
            <a:avLst/>
          </a:prstGeom>
          <a:solidFill>
            <a:srgbClr val="4E2AC3"/>
          </a:solidFill>
          <a:ln/>
        </p:spPr>
      </p:sp>
      <p:sp>
        <p:nvSpPr>
          <p:cNvPr id="5" name="Shape 3"/>
          <p:cNvSpPr/>
          <p:nvPr/>
        </p:nvSpPr>
        <p:spPr>
          <a:xfrm>
            <a:off x="7071183" y="321469"/>
            <a:ext cx="5120512" cy="116300"/>
          </a:xfrm>
          <a:prstGeom prst="rect">
            <a:avLst/>
          </a:prstGeom>
          <a:solidFill>
            <a:srgbClr val="4D2BC3"/>
          </a:solidFill>
          <a:ln/>
        </p:spPr>
      </p:sp>
      <p:sp>
        <p:nvSpPr>
          <p:cNvPr id="6" name="Shape 4"/>
          <p:cNvSpPr/>
          <p:nvPr/>
        </p:nvSpPr>
        <p:spPr>
          <a:xfrm>
            <a:off x="7071183" y="428625"/>
            <a:ext cx="5120512" cy="116300"/>
          </a:xfrm>
          <a:prstGeom prst="rect">
            <a:avLst/>
          </a:prstGeom>
          <a:solidFill>
            <a:srgbClr val="4D2CC4"/>
          </a:solidFill>
          <a:ln/>
        </p:spPr>
      </p:sp>
      <p:sp>
        <p:nvSpPr>
          <p:cNvPr id="7" name="Shape 5"/>
          <p:cNvSpPr/>
          <p:nvPr/>
        </p:nvSpPr>
        <p:spPr>
          <a:xfrm>
            <a:off x="7071183" y="535781"/>
            <a:ext cx="5120512" cy="116300"/>
          </a:xfrm>
          <a:prstGeom prst="rect">
            <a:avLst/>
          </a:prstGeom>
          <a:solidFill>
            <a:srgbClr val="4C2DC4"/>
          </a:solidFill>
          <a:ln/>
        </p:spPr>
      </p:sp>
      <p:sp>
        <p:nvSpPr>
          <p:cNvPr id="8" name="Shape 6"/>
          <p:cNvSpPr/>
          <p:nvPr/>
        </p:nvSpPr>
        <p:spPr>
          <a:xfrm>
            <a:off x="7071183" y="642938"/>
            <a:ext cx="5120512" cy="116300"/>
          </a:xfrm>
          <a:prstGeom prst="rect">
            <a:avLst/>
          </a:prstGeom>
          <a:solidFill>
            <a:srgbClr val="4B2EC5"/>
          </a:solidFill>
          <a:ln/>
        </p:spPr>
      </p:sp>
      <p:sp>
        <p:nvSpPr>
          <p:cNvPr id="9" name="Shape 7"/>
          <p:cNvSpPr/>
          <p:nvPr/>
        </p:nvSpPr>
        <p:spPr>
          <a:xfrm>
            <a:off x="7071183" y="750094"/>
            <a:ext cx="5120512" cy="116300"/>
          </a:xfrm>
          <a:prstGeom prst="rect">
            <a:avLst/>
          </a:prstGeom>
          <a:solidFill>
            <a:srgbClr val="4A2FC5"/>
          </a:solidFill>
          <a:ln/>
        </p:spPr>
      </p:sp>
      <p:sp>
        <p:nvSpPr>
          <p:cNvPr id="10" name="Shape 8"/>
          <p:cNvSpPr/>
          <p:nvPr/>
        </p:nvSpPr>
        <p:spPr>
          <a:xfrm>
            <a:off x="7071183" y="857250"/>
            <a:ext cx="5120512" cy="116300"/>
          </a:xfrm>
          <a:prstGeom prst="rect">
            <a:avLst/>
          </a:prstGeom>
          <a:solidFill>
            <a:srgbClr val="4930C6"/>
          </a:solidFill>
          <a:ln/>
        </p:spPr>
      </p:sp>
      <p:sp>
        <p:nvSpPr>
          <p:cNvPr id="11" name="Shape 9"/>
          <p:cNvSpPr/>
          <p:nvPr/>
        </p:nvSpPr>
        <p:spPr>
          <a:xfrm>
            <a:off x="7071183" y="964406"/>
            <a:ext cx="5120512" cy="116300"/>
          </a:xfrm>
          <a:prstGeom prst="rect">
            <a:avLst/>
          </a:prstGeom>
          <a:solidFill>
            <a:srgbClr val="4831C6"/>
          </a:solidFill>
          <a:ln/>
        </p:spPr>
      </p:sp>
      <p:sp>
        <p:nvSpPr>
          <p:cNvPr id="12" name="Shape 10"/>
          <p:cNvSpPr/>
          <p:nvPr/>
        </p:nvSpPr>
        <p:spPr>
          <a:xfrm>
            <a:off x="7071183" y="1071563"/>
            <a:ext cx="5120512" cy="116300"/>
          </a:xfrm>
          <a:prstGeom prst="rect">
            <a:avLst/>
          </a:prstGeom>
          <a:solidFill>
            <a:srgbClr val="4732C6"/>
          </a:solidFill>
          <a:ln/>
        </p:spPr>
      </p:sp>
      <p:sp>
        <p:nvSpPr>
          <p:cNvPr id="13" name="Shape 11"/>
          <p:cNvSpPr/>
          <p:nvPr/>
        </p:nvSpPr>
        <p:spPr>
          <a:xfrm>
            <a:off x="7071183" y="1178719"/>
            <a:ext cx="5120512" cy="116300"/>
          </a:xfrm>
          <a:prstGeom prst="rect">
            <a:avLst/>
          </a:prstGeom>
          <a:solidFill>
            <a:srgbClr val="4733C7"/>
          </a:solidFill>
          <a:ln/>
        </p:spPr>
      </p:sp>
      <p:sp>
        <p:nvSpPr>
          <p:cNvPr id="14" name="Shape 12"/>
          <p:cNvSpPr/>
          <p:nvPr/>
        </p:nvSpPr>
        <p:spPr>
          <a:xfrm>
            <a:off x="7071183" y="1285875"/>
            <a:ext cx="5120512" cy="116300"/>
          </a:xfrm>
          <a:prstGeom prst="rect">
            <a:avLst/>
          </a:prstGeom>
          <a:solidFill>
            <a:srgbClr val="4634C7"/>
          </a:solidFill>
          <a:ln/>
        </p:spPr>
      </p:sp>
      <p:sp>
        <p:nvSpPr>
          <p:cNvPr id="15" name="Shape 13"/>
          <p:cNvSpPr/>
          <p:nvPr/>
        </p:nvSpPr>
        <p:spPr>
          <a:xfrm>
            <a:off x="7071183" y="1393031"/>
            <a:ext cx="5120512" cy="116300"/>
          </a:xfrm>
          <a:prstGeom prst="rect">
            <a:avLst/>
          </a:prstGeom>
          <a:solidFill>
            <a:srgbClr val="4535C8"/>
          </a:solidFill>
          <a:ln/>
        </p:spPr>
      </p:sp>
      <p:sp>
        <p:nvSpPr>
          <p:cNvPr id="16" name="Shape 14"/>
          <p:cNvSpPr/>
          <p:nvPr/>
        </p:nvSpPr>
        <p:spPr>
          <a:xfrm>
            <a:off x="7071183" y="1500188"/>
            <a:ext cx="5120512" cy="116300"/>
          </a:xfrm>
          <a:prstGeom prst="rect">
            <a:avLst/>
          </a:prstGeom>
          <a:solidFill>
            <a:srgbClr val="4436C8"/>
          </a:solidFill>
          <a:ln/>
        </p:spPr>
      </p:sp>
      <p:sp>
        <p:nvSpPr>
          <p:cNvPr id="17" name="Shape 15"/>
          <p:cNvSpPr/>
          <p:nvPr/>
        </p:nvSpPr>
        <p:spPr>
          <a:xfrm>
            <a:off x="7071183" y="1607344"/>
            <a:ext cx="5120512" cy="116300"/>
          </a:xfrm>
          <a:prstGeom prst="rect">
            <a:avLst/>
          </a:prstGeom>
          <a:solidFill>
            <a:srgbClr val="4337C9"/>
          </a:solidFill>
          <a:ln/>
        </p:spPr>
      </p:sp>
      <p:sp>
        <p:nvSpPr>
          <p:cNvPr id="18" name="Shape 16"/>
          <p:cNvSpPr/>
          <p:nvPr/>
        </p:nvSpPr>
        <p:spPr>
          <a:xfrm>
            <a:off x="7071183" y="1714500"/>
            <a:ext cx="5120512" cy="116300"/>
          </a:xfrm>
          <a:prstGeom prst="rect">
            <a:avLst/>
          </a:prstGeom>
          <a:solidFill>
            <a:srgbClr val="4238C9"/>
          </a:solidFill>
          <a:ln/>
        </p:spPr>
      </p:sp>
      <p:sp>
        <p:nvSpPr>
          <p:cNvPr id="19" name="Shape 17"/>
          <p:cNvSpPr/>
          <p:nvPr/>
        </p:nvSpPr>
        <p:spPr>
          <a:xfrm>
            <a:off x="7071183" y="1821656"/>
            <a:ext cx="5120512" cy="116300"/>
          </a:xfrm>
          <a:prstGeom prst="rect">
            <a:avLst/>
          </a:prstGeom>
          <a:solidFill>
            <a:srgbClr val="4139CA"/>
          </a:solidFill>
          <a:ln/>
        </p:spPr>
      </p:sp>
      <p:sp>
        <p:nvSpPr>
          <p:cNvPr id="20" name="Shape 18"/>
          <p:cNvSpPr/>
          <p:nvPr/>
        </p:nvSpPr>
        <p:spPr>
          <a:xfrm>
            <a:off x="7071183" y="1928813"/>
            <a:ext cx="5120512" cy="116300"/>
          </a:xfrm>
          <a:prstGeom prst="rect">
            <a:avLst/>
          </a:prstGeom>
          <a:solidFill>
            <a:srgbClr val="413ACA"/>
          </a:solidFill>
          <a:ln/>
        </p:spPr>
      </p:sp>
      <p:sp>
        <p:nvSpPr>
          <p:cNvPr id="21" name="Shape 19"/>
          <p:cNvSpPr/>
          <p:nvPr/>
        </p:nvSpPr>
        <p:spPr>
          <a:xfrm>
            <a:off x="7071183" y="2035969"/>
            <a:ext cx="5120512" cy="116300"/>
          </a:xfrm>
          <a:prstGeom prst="rect">
            <a:avLst/>
          </a:prstGeom>
          <a:solidFill>
            <a:srgbClr val="403BCA"/>
          </a:solidFill>
          <a:ln/>
        </p:spPr>
      </p:sp>
      <p:sp>
        <p:nvSpPr>
          <p:cNvPr id="22" name="Shape 20"/>
          <p:cNvSpPr/>
          <p:nvPr/>
        </p:nvSpPr>
        <p:spPr>
          <a:xfrm>
            <a:off x="7071183" y="2143125"/>
            <a:ext cx="5120512" cy="116300"/>
          </a:xfrm>
          <a:prstGeom prst="rect">
            <a:avLst/>
          </a:prstGeom>
          <a:solidFill>
            <a:srgbClr val="3F3CCB"/>
          </a:solidFill>
          <a:ln/>
        </p:spPr>
      </p:sp>
      <p:sp>
        <p:nvSpPr>
          <p:cNvPr id="23" name="Shape 21"/>
          <p:cNvSpPr/>
          <p:nvPr/>
        </p:nvSpPr>
        <p:spPr>
          <a:xfrm>
            <a:off x="7071183" y="2250281"/>
            <a:ext cx="5120512" cy="116300"/>
          </a:xfrm>
          <a:prstGeom prst="rect">
            <a:avLst/>
          </a:prstGeom>
          <a:solidFill>
            <a:srgbClr val="3E3DCB"/>
          </a:solidFill>
          <a:ln/>
        </p:spPr>
      </p:sp>
      <p:sp>
        <p:nvSpPr>
          <p:cNvPr id="24" name="Shape 22"/>
          <p:cNvSpPr/>
          <p:nvPr/>
        </p:nvSpPr>
        <p:spPr>
          <a:xfrm>
            <a:off x="7071183" y="2357438"/>
            <a:ext cx="5120512" cy="116300"/>
          </a:xfrm>
          <a:prstGeom prst="rect">
            <a:avLst/>
          </a:prstGeom>
          <a:solidFill>
            <a:srgbClr val="3D3ECC"/>
          </a:solidFill>
          <a:ln/>
        </p:spPr>
      </p:sp>
      <p:sp>
        <p:nvSpPr>
          <p:cNvPr id="25" name="Shape 23"/>
          <p:cNvSpPr/>
          <p:nvPr/>
        </p:nvSpPr>
        <p:spPr>
          <a:xfrm>
            <a:off x="7071183" y="2464594"/>
            <a:ext cx="5120512" cy="116300"/>
          </a:xfrm>
          <a:prstGeom prst="rect">
            <a:avLst/>
          </a:prstGeom>
          <a:solidFill>
            <a:srgbClr val="3C3FCC"/>
          </a:solidFill>
          <a:ln/>
        </p:spPr>
      </p:sp>
      <p:sp>
        <p:nvSpPr>
          <p:cNvPr id="26" name="Shape 24"/>
          <p:cNvSpPr/>
          <p:nvPr/>
        </p:nvSpPr>
        <p:spPr>
          <a:xfrm>
            <a:off x="7071183" y="2571750"/>
            <a:ext cx="5120512" cy="116300"/>
          </a:xfrm>
          <a:prstGeom prst="rect">
            <a:avLst/>
          </a:prstGeom>
          <a:solidFill>
            <a:srgbClr val="3B40CD"/>
          </a:solidFill>
          <a:ln/>
        </p:spPr>
      </p:sp>
      <p:sp>
        <p:nvSpPr>
          <p:cNvPr id="27" name="Shape 25"/>
          <p:cNvSpPr/>
          <p:nvPr/>
        </p:nvSpPr>
        <p:spPr>
          <a:xfrm>
            <a:off x="7071183" y="2678906"/>
            <a:ext cx="5120512" cy="116300"/>
          </a:xfrm>
          <a:prstGeom prst="rect">
            <a:avLst/>
          </a:prstGeom>
          <a:solidFill>
            <a:srgbClr val="3B41CD"/>
          </a:solidFill>
          <a:ln/>
        </p:spPr>
      </p:sp>
      <p:sp>
        <p:nvSpPr>
          <p:cNvPr id="28" name="Shape 26"/>
          <p:cNvSpPr/>
          <p:nvPr/>
        </p:nvSpPr>
        <p:spPr>
          <a:xfrm>
            <a:off x="7071183" y="2786063"/>
            <a:ext cx="5120512" cy="116300"/>
          </a:xfrm>
          <a:prstGeom prst="rect">
            <a:avLst/>
          </a:prstGeom>
          <a:solidFill>
            <a:srgbClr val="3A42CE"/>
          </a:solidFill>
          <a:ln/>
        </p:spPr>
      </p:sp>
      <p:sp>
        <p:nvSpPr>
          <p:cNvPr id="29" name="Shape 27"/>
          <p:cNvSpPr/>
          <p:nvPr/>
        </p:nvSpPr>
        <p:spPr>
          <a:xfrm>
            <a:off x="7071183" y="2893219"/>
            <a:ext cx="5120512" cy="116300"/>
          </a:xfrm>
          <a:prstGeom prst="rect">
            <a:avLst/>
          </a:prstGeom>
          <a:solidFill>
            <a:srgbClr val="3943CE"/>
          </a:solidFill>
          <a:ln/>
        </p:spPr>
      </p:sp>
      <p:sp>
        <p:nvSpPr>
          <p:cNvPr id="30" name="Shape 28"/>
          <p:cNvSpPr/>
          <p:nvPr/>
        </p:nvSpPr>
        <p:spPr>
          <a:xfrm>
            <a:off x="7071183" y="3000375"/>
            <a:ext cx="5120512" cy="116300"/>
          </a:xfrm>
          <a:prstGeom prst="rect">
            <a:avLst/>
          </a:prstGeom>
          <a:solidFill>
            <a:srgbClr val="3844CE"/>
          </a:solidFill>
          <a:ln/>
        </p:spPr>
      </p:sp>
      <p:sp>
        <p:nvSpPr>
          <p:cNvPr id="31" name="Shape 29"/>
          <p:cNvSpPr/>
          <p:nvPr/>
        </p:nvSpPr>
        <p:spPr>
          <a:xfrm>
            <a:off x="7071183" y="3107531"/>
            <a:ext cx="5120512" cy="116300"/>
          </a:xfrm>
          <a:prstGeom prst="rect">
            <a:avLst/>
          </a:prstGeom>
          <a:solidFill>
            <a:srgbClr val="3745CF"/>
          </a:solidFill>
          <a:ln/>
        </p:spPr>
      </p:sp>
      <p:sp>
        <p:nvSpPr>
          <p:cNvPr id="32" name="Shape 30"/>
          <p:cNvSpPr/>
          <p:nvPr/>
        </p:nvSpPr>
        <p:spPr>
          <a:xfrm>
            <a:off x="7071183" y="3214688"/>
            <a:ext cx="5120512" cy="116300"/>
          </a:xfrm>
          <a:prstGeom prst="rect">
            <a:avLst/>
          </a:prstGeom>
          <a:solidFill>
            <a:srgbClr val="3646CF"/>
          </a:solidFill>
          <a:ln/>
        </p:spPr>
      </p:sp>
      <p:sp>
        <p:nvSpPr>
          <p:cNvPr id="33" name="Shape 31"/>
          <p:cNvSpPr/>
          <p:nvPr/>
        </p:nvSpPr>
        <p:spPr>
          <a:xfrm>
            <a:off x="7071183" y="3321844"/>
            <a:ext cx="5120512" cy="116300"/>
          </a:xfrm>
          <a:prstGeom prst="rect">
            <a:avLst/>
          </a:prstGeom>
          <a:solidFill>
            <a:srgbClr val="3547D0"/>
          </a:solidFill>
          <a:ln/>
        </p:spPr>
      </p:sp>
      <p:sp>
        <p:nvSpPr>
          <p:cNvPr id="34" name="Shape 32"/>
          <p:cNvSpPr/>
          <p:nvPr/>
        </p:nvSpPr>
        <p:spPr>
          <a:xfrm>
            <a:off x="7071183" y="3429000"/>
            <a:ext cx="5120512" cy="116300"/>
          </a:xfrm>
          <a:prstGeom prst="rect">
            <a:avLst/>
          </a:prstGeom>
          <a:solidFill>
            <a:srgbClr val="3549D0"/>
          </a:solidFill>
          <a:ln/>
        </p:spPr>
      </p:sp>
      <p:sp>
        <p:nvSpPr>
          <p:cNvPr id="35" name="Shape 33"/>
          <p:cNvSpPr/>
          <p:nvPr/>
        </p:nvSpPr>
        <p:spPr>
          <a:xfrm>
            <a:off x="7071183" y="3536156"/>
            <a:ext cx="5120512" cy="116300"/>
          </a:xfrm>
          <a:prstGeom prst="rect">
            <a:avLst/>
          </a:prstGeom>
          <a:solidFill>
            <a:srgbClr val="344ACF"/>
          </a:solidFill>
          <a:ln/>
        </p:spPr>
      </p:sp>
      <p:sp>
        <p:nvSpPr>
          <p:cNvPr id="36" name="Shape 34"/>
          <p:cNvSpPr/>
          <p:nvPr/>
        </p:nvSpPr>
        <p:spPr>
          <a:xfrm>
            <a:off x="7071183" y="3643313"/>
            <a:ext cx="5120512" cy="116300"/>
          </a:xfrm>
          <a:prstGeom prst="rect">
            <a:avLst/>
          </a:prstGeom>
          <a:solidFill>
            <a:srgbClr val="334BCF"/>
          </a:solidFill>
          <a:ln/>
        </p:spPr>
      </p:sp>
      <p:sp>
        <p:nvSpPr>
          <p:cNvPr id="37" name="Shape 35"/>
          <p:cNvSpPr/>
          <p:nvPr/>
        </p:nvSpPr>
        <p:spPr>
          <a:xfrm>
            <a:off x="7071183" y="3750469"/>
            <a:ext cx="5120512" cy="116300"/>
          </a:xfrm>
          <a:prstGeom prst="rect">
            <a:avLst/>
          </a:prstGeom>
          <a:solidFill>
            <a:srgbClr val="324CCE"/>
          </a:solidFill>
          <a:ln/>
        </p:spPr>
      </p:sp>
      <p:sp>
        <p:nvSpPr>
          <p:cNvPr id="38" name="Shape 36"/>
          <p:cNvSpPr/>
          <p:nvPr/>
        </p:nvSpPr>
        <p:spPr>
          <a:xfrm>
            <a:off x="7071183" y="3857625"/>
            <a:ext cx="5120512" cy="116300"/>
          </a:xfrm>
          <a:prstGeom prst="rect">
            <a:avLst/>
          </a:prstGeom>
          <a:solidFill>
            <a:srgbClr val="314ECD"/>
          </a:solidFill>
          <a:ln/>
        </p:spPr>
      </p:sp>
      <p:sp>
        <p:nvSpPr>
          <p:cNvPr id="39" name="Shape 37"/>
          <p:cNvSpPr/>
          <p:nvPr/>
        </p:nvSpPr>
        <p:spPr>
          <a:xfrm>
            <a:off x="7071183" y="3964781"/>
            <a:ext cx="5120512" cy="116300"/>
          </a:xfrm>
          <a:prstGeom prst="rect">
            <a:avLst/>
          </a:prstGeom>
          <a:solidFill>
            <a:srgbClr val="304FCD"/>
          </a:solidFill>
          <a:ln/>
        </p:spPr>
      </p:sp>
      <p:sp>
        <p:nvSpPr>
          <p:cNvPr id="40" name="Shape 38"/>
          <p:cNvSpPr/>
          <p:nvPr/>
        </p:nvSpPr>
        <p:spPr>
          <a:xfrm>
            <a:off x="7071183" y="4071938"/>
            <a:ext cx="5120512" cy="116300"/>
          </a:xfrm>
          <a:prstGeom prst="rect">
            <a:avLst/>
          </a:prstGeom>
          <a:solidFill>
            <a:srgbClr val="2F50CC"/>
          </a:solidFill>
          <a:ln/>
        </p:spPr>
      </p:sp>
      <p:sp>
        <p:nvSpPr>
          <p:cNvPr id="41" name="Shape 39"/>
          <p:cNvSpPr/>
          <p:nvPr/>
        </p:nvSpPr>
        <p:spPr>
          <a:xfrm>
            <a:off x="7071183" y="4179094"/>
            <a:ext cx="5120512" cy="116300"/>
          </a:xfrm>
          <a:prstGeom prst="rect">
            <a:avLst/>
          </a:prstGeom>
          <a:solidFill>
            <a:srgbClr val="2F51CC"/>
          </a:solidFill>
          <a:ln/>
        </p:spPr>
      </p:sp>
      <p:sp>
        <p:nvSpPr>
          <p:cNvPr id="42" name="Shape 40"/>
          <p:cNvSpPr/>
          <p:nvPr/>
        </p:nvSpPr>
        <p:spPr>
          <a:xfrm>
            <a:off x="7071183" y="4286250"/>
            <a:ext cx="5120512" cy="116300"/>
          </a:xfrm>
          <a:prstGeom prst="rect">
            <a:avLst/>
          </a:prstGeom>
          <a:solidFill>
            <a:srgbClr val="2E53CB"/>
          </a:solidFill>
          <a:ln/>
        </p:spPr>
      </p:sp>
      <p:sp>
        <p:nvSpPr>
          <p:cNvPr id="43" name="Shape 41"/>
          <p:cNvSpPr/>
          <p:nvPr/>
        </p:nvSpPr>
        <p:spPr>
          <a:xfrm>
            <a:off x="7071183" y="4393406"/>
            <a:ext cx="5120512" cy="116300"/>
          </a:xfrm>
          <a:prstGeom prst="rect">
            <a:avLst/>
          </a:prstGeom>
          <a:solidFill>
            <a:srgbClr val="2D54CB"/>
          </a:solidFill>
          <a:ln/>
        </p:spPr>
      </p:sp>
      <p:sp>
        <p:nvSpPr>
          <p:cNvPr id="44" name="Shape 42"/>
          <p:cNvSpPr/>
          <p:nvPr/>
        </p:nvSpPr>
        <p:spPr>
          <a:xfrm>
            <a:off x="7071183" y="4500563"/>
            <a:ext cx="5120512" cy="116300"/>
          </a:xfrm>
          <a:prstGeom prst="rect">
            <a:avLst/>
          </a:prstGeom>
          <a:solidFill>
            <a:srgbClr val="2C55CA"/>
          </a:solidFill>
          <a:ln/>
        </p:spPr>
      </p:sp>
      <p:sp>
        <p:nvSpPr>
          <p:cNvPr id="45" name="Shape 43"/>
          <p:cNvSpPr/>
          <p:nvPr/>
        </p:nvSpPr>
        <p:spPr>
          <a:xfrm>
            <a:off x="7071183" y="4607719"/>
            <a:ext cx="5120512" cy="116300"/>
          </a:xfrm>
          <a:prstGeom prst="rect">
            <a:avLst/>
          </a:prstGeom>
          <a:solidFill>
            <a:srgbClr val="2B56C9"/>
          </a:solidFill>
          <a:ln/>
        </p:spPr>
      </p:sp>
      <p:sp>
        <p:nvSpPr>
          <p:cNvPr id="46" name="Shape 44"/>
          <p:cNvSpPr/>
          <p:nvPr/>
        </p:nvSpPr>
        <p:spPr>
          <a:xfrm>
            <a:off x="7071183" y="4714875"/>
            <a:ext cx="5120512" cy="116300"/>
          </a:xfrm>
          <a:prstGeom prst="rect">
            <a:avLst/>
          </a:prstGeom>
          <a:solidFill>
            <a:srgbClr val="2A57C9"/>
          </a:solidFill>
          <a:ln/>
        </p:spPr>
      </p:sp>
      <p:sp>
        <p:nvSpPr>
          <p:cNvPr id="47" name="Shape 45"/>
          <p:cNvSpPr/>
          <p:nvPr/>
        </p:nvSpPr>
        <p:spPr>
          <a:xfrm>
            <a:off x="7071183" y="4822031"/>
            <a:ext cx="5120512" cy="116300"/>
          </a:xfrm>
          <a:prstGeom prst="rect">
            <a:avLst/>
          </a:prstGeom>
          <a:solidFill>
            <a:srgbClr val="2959C8"/>
          </a:solidFill>
          <a:ln/>
        </p:spPr>
      </p:sp>
      <p:sp>
        <p:nvSpPr>
          <p:cNvPr id="48" name="Shape 46"/>
          <p:cNvSpPr/>
          <p:nvPr/>
        </p:nvSpPr>
        <p:spPr>
          <a:xfrm>
            <a:off x="7071183" y="4929188"/>
            <a:ext cx="5120512" cy="116300"/>
          </a:xfrm>
          <a:prstGeom prst="rect">
            <a:avLst/>
          </a:prstGeom>
          <a:solidFill>
            <a:srgbClr val="295AC8"/>
          </a:solidFill>
          <a:ln/>
        </p:spPr>
      </p:sp>
      <p:sp>
        <p:nvSpPr>
          <p:cNvPr id="49" name="Shape 47"/>
          <p:cNvSpPr/>
          <p:nvPr/>
        </p:nvSpPr>
        <p:spPr>
          <a:xfrm>
            <a:off x="7071183" y="5036344"/>
            <a:ext cx="5120512" cy="116300"/>
          </a:xfrm>
          <a:prstGeom prst="rect">
            <a:avLst/>
          </a:prstGeom>
          <a:solidFill>
            <a:srgbClr val="285BC7"/>
          </a:solidFill>
          <a:ln/>
        </p:spPr>
      </p:sp>
      <p:sp>
        <p:nvSpPr>
          <p:cNvPr id="50" name="Shape 48"/>
          <p:cNvSpPr/>
          <p:nvPr/>
        </p:nvSpPr>
        <p:spPr>
          <a:xfrm>
            <a:off x="7071183" y="5143500"/>
            <a:ext cx="5120512" cy="116300"/>
          </a:xfrm>
          <a:prstGeom prst="rect">
            <a:avLst/>
          </a:prstGeom>
          <a:solidFill>
            <a:srgbClr val="275CC7"/>
          </a:solidFill>
          <a:ln/>
        </p:spPr>
      </p:sp>
      <p:sp>
        <p:nvSpPr>
          <p:cNvPr id="51" name="Shape 49"/>
          <p:cNvSpPr/>
          <p:nvPr/>
        </p:nvSpPr>
        <p:spPr>
          <a:xfrm>
            <a:off x="7071183" y="5250656"/>
            <a:ext cx="5120512" cy="116300"/>
          </a:xfrm>
          <a:prstGeom prst="rect">
            <a:avLst/>
          </a:prstGeom>
          <a:solidFill>
            <a:srgbClr val="265EC6"/>
          </a:solidFill>
          <a:ln/>
        </p:spPr>
      </p:sp>
      <p:sp>
        <p:nvSpPr>
          <p:cNvPr id="52" name="Shape 50"/>
          <p:cNvSpPr/>
          <p:nvPr/>
        </p:nvSpPr>
        <p:spPr>
          <a:xfrm>
            <a:off x="7071183" y="5357813"/>
            <a:ext cx="5120512" cy="116300"/>
          </a:xfrm>
          <a:prstGeom prst="rect">
            <a:avLst/>
          </a:prstGeom>
          <a:solidFill>
            <a:srgbClr val="255FC5"/>
          </a:solidFill>
          <a:ln/>
        </p:spPr>
      </p:sp>
      <p:sp>
        <p:nvSpPr>
          <p:cNvPr id="53" name="Shape 51"/>
          <p:cNvSpPr/>
          <p:nvPr/>
        </p:nvSpPr>
        <p:spPr>
          <a:xfrm>
            <a:off x="7071183" y="5464969"/>
            <a:ext cx="5120512" cy="116300"/>
          </a:xfrm>
          <a:prstGeom prst="rect">
            <a:avLst/>
          </a:prstGeom>
          <a:solidFill>
            <a:srgbClr val="2460C5"/>
          </a:solidFill>
          <a:ln/>
        </p:spPr>
      </p:sp>
      <p:sp>
        <p:nvSpPr>
          <p:cNvPr id="54" name="Shape 52"/>
          <p:cNvSpPr/>
          <p:nvPr/>
        </p:nvSpPr>
        <p:spPr>
          <a:xfrm>
            <a:off x="7071183" y="5572125"/>
            <a:ext cx="5120512" cy="116300"/>
          </a:xfrm>
          <a:prstGeom prst="rect">
            <a:avLst/>
          </a:prstGeom>
          <a:solidFill>
            <a:srgbClr val="2361C4"/>
          </a:solidFill>
          <a:ln/>
        </p:spPr>
      </p:sp>
      <p:sp>
        <p:nvSpPr>
          <p:cNvPr id="55" name="Shape 53"/>
          <p:cNvSpPr/>
          <p:nvPr/>
        </p:nvSpPr>
        <p:spPr>
          <a:xfrm>
            <a:off x="7071183" y="5679281"/>
            <a:ext cx="5120512" cy="116300"/>
          </a:xfrm>
          <a:prstGeom prst="rect">
            <a:avLst/>
          </a:prstGeom>
          <a:solidFill>
            <a:srgbClr val="2363C4"/>
          </a:solidFill>
          <a:ln/>
        </p:spPr>
      </p:sp>
      <p:sp>
        <p:nvSpPr>
          <p:cNvPr id="56" name="Shape 54"/>
          <p:cNvSpPr/>
          <p:nvPr/>
        </p:nvSpPr>
        <p:spPr>
          <a:xfrm>
            <a:off x="7071183" y="5786438"/>
            <a:ext cx="5120512" cy="116300"/>
          </a:xfrm>
          <a:prstGeom prst="rect">
            <a:avLst/>
          </a:prstGeom>
          <a:solidFill>
            <a:srgbClr val="2264C3"/>
          </a:solidFill>
          <a:ln/>
        </p:spPr>
      </p:sp>
      <p:sp>
        <p:nvSpPr>
          <p:cNvPr id="57" name="Shape 55"/>
          <p:cNvSpPr/>
          <p:nvPr/>
        </p:nvSpPr>
        <p:spPr>
          <a:xfrm>
            <a:off x="7071183" y="5893594"/>
            <a:ext cx="5120512" cy="116300"/>
          </a:xfrm>
          <a:prstGeom prst="rect">
            <a:avLst/>
          </a:prstGeom>
          <a:solidFill>
            <a:srgbClr val="2165C3"/>
          </a:solidFill>
          <a:ln/>
        </p:spPr>
      </p:sp>
      <p:sp>
        <p:nvSpPr>
          <p:cNvPr id="58" name="Shape 56"/>
          <p:cNvSpPr/>
          <p:nvPr/>
        </p:nvSpPr>
        <p:spPr>
          <a:xfrm>
            <a:off x="7071183" y="6000750"/>
            <a:ext cx="5120512" cy="116300"/>
          </a:xfrm>
          <a:prstGeom prst="rect">
            <a:avLst/>
          </a:prstGeom>
          <a:solidFill>
            <a:srgbClr val="2066C2"/>
          </a:solidFill>
          <a:ln/>
        </p:spPr>
      </p:sp>
      <p:sp>
        <p:nvSpPr>
          <p:cNvPr id="59" name="Shape 57"/>
          <p:cNvSpPr/>
          <p:nvPr/>
        </p:nvSpPr>
        <p:spPr>
          <a:xfrm>
            <a:off x="7071183" y="6107906"/>
            <a:ext cx="5120512" cy="116300"/>
          </a:xfrm>
          <a:prstGeom prst="rect">
            <a:avLst/>
          </a:prstGeom>
          <a:solidFill>
            <a:srgbClr val="1F68C1"/>
          </a:solidFill>
          <a:ln/>
        </p:spPr>
      </p:sp>
      <p:sp>
        <p:nvSpPr>
          <p:cNvPr id="60" name="Shape 58"/>
          <p:cNvSpPr/>
          <p:nvPr/>
        </p:nvSpPr>
        <p:spPr>
          <a:xfrm>
            <a:off x="7071183" y="6215063"/>
            <a:ext cx="5120512" cy="116300"/>
          </a:xfrm>
          <a:prstGeom prst="rect">
            <a:avLst/>
          </a:prstGeom>
          <a:solidFill>
            <a:srgbClr val="1E69C1"/>
          </a:solidFill>
          <a:ln/>
        </p:spPr>
      </p:sp>
      <p:sp>
        <p:nvSpPr>
          <p:cNvPr id="61" name="Shape 59"/>
          <p:cNvSpPr/>
          <p:nvPr/>
        </p:nvSpPr>
        <p:spPr>
          <a:xfrm>
            <a:off x="7071183" y="6322219"/>
            <a:ext cx="5120512" cy="116300"/>
          </a:xfrm>
          <a:prstGeom prst="rect">
            <a:avLst/>
          </a:prstGeom>
          <a:solidFill>
            <a:srgbClr val="1D6AC0"/>
          </a:solidFill>
          <a:ln/>
        </p:spPr>
      </p:sp>
      <p:sp>
        <p:nvSpPr>
          <p:cNvPr id="62" name="Shape 60"/>
          <p:cNvSpPr/>
          <p:nvPr/>
        </p:nvSpPr>
        <p:spPr>
          <a:xfrm>
            <a:off x="7071183" y="6429375"/>
            <a:ext cx="5120512" cy="116300"/>
          </a:xfrm>
          <a:prstGeom prst="rect">
            <a:avLst/>
          </a:prstGeom>
          <a:solidFill>
            <a:srgbClr val="1D6BC0"/>
          </a:solidFill>
          <a:ln/>
        </p:spPr>
      </p:sp>
      <p:sp>
        <p:nvSpPr>
          <p:cNvPr id="63" name="Shape 61"/>
          <p:cNvSpPr/>
          <p:nvPr/>
        </p:nvSpPr>
        <p:spPr>
          <a:xfrm>
            <a:off x="7071183" y="6536531"/>
            <a:ext cx="5120512" cy="116300"/>
          </a:xfrm>
          <a:prstGeom prst="rect">
            <a:avLst/>
          </a:prstGeom>
          <a:solidFill>
            <a:srgbClr val="1C6DBF"/>
          </a:solidFill>
          <a:ln/>
        </p:spPr>
      </p:sp>
      <p:sp>
        <p:nvSpPr>
          <p:cNvPr id="64" name="Shape 62"/>
          <p:cNvSpPr/>
          <p:nvPr/>
        </p:nvSpPr>
        <p:spPr>
          <a:xfrm>
            <a:off x="7071183" y="6643688"/>
            <a:ext cx="5120512" cy="116300"/>
          </a:xfrm>
          <a:prstGeom prst="rect">
            <a:avLst/>
          </a:prstGeom>
          <a:solidFill>
            <a:srgbClr val="1B6EBF"/>
          </a:solidFill>
          <a:ln/>
        </p:spPr>
      </p:sp>
      <p:sp>
        <p:nvSpPr>
          <p:cNvPr id="65" name="Shape 63"/>
          <p:cNvSpPr/>
          <p:nvPr/>
        </p:nvSpPr>
        <p:spPr>
          <a:xfrm>
            <a:off x="7071183" y="6750844"/>
            <a:ext cx="5120512" cy="116300"/>
          </a:xfrm>
          <a:prstGeom prst="rect">
            <a:avLst/>
          </a:prstGeom>
          <a:solidFill>
            <a:srgbClr val="1A6FBE"/>
          </a:solidFill>
          <a:ln/>
        </p:spPr>
      </p:sp>
      <p:sp>
        <p:nvSpPr>
          <p:cNvPr id="66" name="Text 64"/>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QUALIFICATION</a:t>
            </a:r>
            <a:endParaRPr lang="en-US" sz="1100" dirty="0"/>
          </a:p>
        </p:txBody>
      </p:sp>
      <p:sp>
        <p:nvSpPr>
          <p:cNvPr id="67" name="Text 65"/>
          <p:cNvSpPr/>
          <p:nvPr/>
        </p:nvSpPr>
        <p:spPr>
          <a:xfrm>
            <a:off x="548640" y="1417320"/>
            <a:ext cx="6156783" cy="2194560"/>
          </a:xfrm>
          <a:prstGeom prst="rect">
            <a:avLst/>
          </a:prstGeom>
          <a:noFill/>
          <a:ln/>
        </p:spPr>
        <p:txBody>
          <a:bodyPr wrap="square" lIns="0" tIns="0" rIns="0" bIns="0" rtlCol="0" anchor="t"/>
          <a:lstStyle/>
          <a:p>
            <a:pPr algn="l" indent="0" marL="0">
              <a:buNone/>
            </a:pPr>
            <a:r>
              <a:rPr lang="en-US" sz="4200" b="1" spc="-50" kern="0" dirty="0">
                <a:solidFill>
                  <a:srgbClr val="0F1733"/>
                </a:solidFill>
                <a:latin typeface="Calibri" pitchFamily="34" charset="0"/>
                <a:ea typeface="Calibri" pitchFamily="34" charset="-122"/>
                <a:cs typeface="Calibri" pitchFamily="34" charset="-120"/>
              </a:rPr>
              <a:t>AI does the qualification step you were doing in your head.</a:t>
            </a:r>
            <a:endParaRPr lang="en-US" sz="4200" dirty="0"/>
          </a:p>
        </p:txBody>
      </p:sp>
      <p:sp>
        <p:nvSpPr>
          <p:cNvPr id="68" name="Text 66"/>
          <p:cNvSpPr/>
          <p:nvPr/>
        </p:nvSpPr>
        <p:spPr>
          <a:xfrm>
            <a:off x="548640" y="3657600"/>
            <a:ext cx="6156783" cy="2377440"/>
          </a:xfrm>
          <a:prstGeom prst="rect">
            <a:avLst/>
          </a:prstGeom>
          <a:noFill/>
          <a:ln/>
        </p:spPr>
        <p:txBody>
          <a:bodyPr wrap="square" lIns="0" tIns="0" rIns="0" bIns="0" rtlCol="0" anchor="t"/>
          <a:lstStyle/>
          <a:p>
            <a:pPr algn="l" indent="0" marL="0">
              <a:spcAft>
                <a:spcPts val="800"/>
              </a:spcAft>
              <a:buNone/>
            </a:pPr>
            <a:r>
              <a:rPr lang="en-US" sz="1500" dirty="0">
                <a:solidFill>
                  <a:srgbClr val="2A3358"/>
                </a:solidFill>
                <a:latin typeface="Calibri" pitchFamily="34" charset="0"/>
                <a:ea typeface="Calibri" pitchFamily="34" charset="-122"/>
                <a:cs typeface="Calibri" pitchFamily="34" charset="-120"/>
              </a:rPr>
              <a:t>You used to open every creator profile, read the bio, check the recent posts, and form an instinctive yes-or-no. The AI fit score does that systematically — reading each creator's public footprint and rating them 0–100 against the criteria you defined.</a:t>
            </a:r>
            <a:endParaRPr lang="en-US" sz="1500" dirty="0"/>
          </a:p>
        </p:txBody>
      </p:sp>
      <p:sp>
        <p:nvSpPr>
          <p:cNvPr id="69" name="Text 67"/>
          <p:cNvSpPr/>
          <p:nvPr/>
        </p:nvSpPr>
        <p:spPr>
          <a:xfrm>
            <a:off x="7436943" y="1371600"/>
            <a:ext cx="4388992" cy="2377440"/>
          </a:xfrm>
          <a:prstGeom prst="rect">
            <a:avLst/>
          </a:prstGeom>
          <a:noFill/>
          <a:ln/>
        </p:spPr>
        <p:txBody>
          <a:bodyPr wrap="square" lIns="0" tIns="0" rIns="0" bIns="0" rtlCol="0" anchor="t"/>
          <a:lstStyle/>
          <a:p>
            <a:pPr algn="l" indent="0" marL="0">
              <a:buNone/>
            </a:pPr>
            <a:r>
              <a:rPr lang="en-US" sz="9600" b="1" spc="-200" kern="0" dirty="0">
                <a:solidFill>
                  <a:srgbClr val="FFFFFF"/>
                </a:solidFill>
                <a:latin typeface="Calibri" pitchFamily="34" charset="0"/>
                <a:ea typeface="Calibri" pitchFamily="34" charset="-122"/>
                <a:cs typeface="Calibri" pitchFamily="34" charset="-120"/>
              </a:rPr>
              <a:t>0–100</a:t>
            </a:r>
            <a:endParaRPr lang="en-US" sz="9600" dirty="0"/>
          </a:p>
        </p:txBody>
      </p:sp>
      <p:sp>
        <p:nvSpPr>
          <p:cNvPr id="70" name="Text 68"/>
          <p:cNvSpPr/>
          <p:nvPr/>
        </p:nvSpPr>
        <p:spPr>
          <a:xfrm>
            <a:off x="7436943" y="3840480"/>
            <a:ext cx="4388992" cy="1828800"/>
          </a:xfrm>
          <a:prstGeom prst="rect">
            <a:avLst/>
          </a:prstGeom>
          <a:noFill/>
          <a:ln/>
        </p:spPr>
        <p:txBody>
          <a:bodyPr wrap="square" lIns="0" tIns="0" rIns="0" bIns="0" rtlCol="0" anchor="t"/>
          <a:lstStyle/>
          <a:p>
            <a:pPr algn="l" indent="0" marL="0">
              <a:buNone/>
            </a:pPr>
            <a:r>
              <a:rPr lang="en-US" sz="1600" dirty="0">
                <a:solidFill>
                  <a:srgbClr val="FFFFFF">
                    <a:alpha val="90000"/>
                  </a:srgbClr>
                </a:solidFill>
                <a:latin typeface="Calibri" pitchFamily="34" charset="0"/>
                <a:ea typeface="Calibri" pitchFamily="34" charset="-122"/>
                <a:cs typeface="Calibri" pitchFamily="34" charset="-120"/>
              </a:rPr>
              <a:t>Every creator scored on the same scale. Sortable. Filterable. Explainable.</a:t>
            </a:r>
            <a:endParaRPr lang="en-US" sz="1600" dirty="0"/>
          </a:p>
        </p:txBody>
      </p:sp>
      <p:sp>
        <p:nvSpPr>
          <p:cNvPr id="71" name="Shape 69"/>
          <p:cNvSpPr/>
          <p:nvPr/>
        </p:nvSpPr>
        <p:spPr>
          <a:xfrm>
            <a:off x="548640" y="502920"/>
            <a:ext cx="292608" cy="292608"/>
          </a:xfrm>
          <a:prstGeom prst="roundRect">
            <a:avLst>
              <a:gd name="adj" fmla="val 25000"/>
            </a:avLst>
          </a:prstGeom>
          <a:solidFill>
            <a:srgbClr val="5028C2"/>
          </a:solidFill>
          <a:ln/>
        </p:spPr>
      </p:sp>
      <p:sp>
        <p:nvSpPr>
          <p:cNvPr id="72" name="Shape 70"/>
          <p:cNvSpPr/>
          <p:nvPr/>
        </p:nvSpPr>
        <p:spPr>
          <a:xfrm>
            <a:off x="548640" y="502920"/>
            <a:ext cx="292608" cy="292608"/>
          </a:xfrm>
          <a:prstGeom prst="roundRect">
            <a:avLst>
              <a:gd name="adj" fmla="val 25000"/>
            </a:avLst>
          </a:prstGeom>
          <a:solidFill>
            <a:srgbClr val="1A6FBE">
              <a:alpha val="50000"/>
            </a:srgbClr>
          </a:solidFill>
          <a:ln/>
        </p:spPr>
      </p:sp>
      <p:sp>
        <p:nvSpPr>
          <p:cNvPr id="73" name="Text 71"/>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4" name="Text 72"/>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5" name="Text 73"/>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08 · AI fit score  ·  vB</a:t>
            </a:r>
            <a:endParaRPr lang="en-US" sz="900" dirty="0"/>
          </a:p>
        </p:txBody>
      </p:sp>
      <p:sp>
        <p:nvSpPr>
          <p:cNvPr id="76" name="Text 74"/>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7" name="Text 75"/>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051 / 126</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HOW SCORING WORKS</a:t>
            </a:r>
            <a:endParaRPr lang="en-US" sz="1100" dirty="0"/>
          </a:p>
        </p:txBody>
      </p:sp>
      <p:sp>
        <p:nvSpPr>
          <p:cNvPr id="3" name="Text 1"/>
          <p:cNvSpPr/>
          <p:nvPr/>
        </p:nvSpPr>
        <p:spPr>
          <a:xfrm>
            <a:off x="548640" y="1417320"/>
            <a:ext cx="11094415" cy="1188720"/>
          </a:xfrm>
          <a:prstGeom prst="rect">
            <a:avLst/>
          </a:prstGeom>
          <a:noFill/>
          <a:ln/>
        </p:spPr>
        <p:txBody>
          <a:bodyPr wrap="square" lIns="0" tIns="0" rIns="0" bIns="0" rtlCol="0" anchor="t"/>
          <a:lstStyle/>
          <a:p>
            <a:pPr algn="l" indent="0" marL="0">
              <a:buNone/>
            </a:pPr>
            <a:r>
              <a:rPr lang="en-US" sz="3800" b="1" spc="-50" kern="0" dirty="0">
                <a:solidFill>
                  <a:srgbClr val="0F1733"/>
                </a:solidFill>
                <a:latin typeface="Calibri" pitchFamily="34" charset="0"/>
                <a:ea typeface="Calibri" pitchFamily="34" charset="-122"/>
                <a:cs typeface="Calibri" pitchFamily="34" charset="-120"/>
              </a:rPr>
              <a:t>The score is structured, not a vibe check.</a:t>
            </a:r>
            <a:endParaRPr lang="en-US" sz="3800" dirty="0"/>
          </a:p>
        </p:txBody>
      </p:sp>
      <p:sp>
        <p:nvSpPr>
          <p:cNvPr id="4" name="Text 2"/>
          <p:cNvSpPr/>
          <p:nvPr/>
        </p:nvSpPr>
        <p:spPr>
          <a:xfrm>
            <a:off x="548640" y="2606040"/>
            <a:ext cx="8534187" cy="457200"/>
          </a:xfrm>
          <a:prstGeom prst="rect">
            <a:avLst/>
          </a:prstGeom>
          <a:noFill/>
          <a:ln/>
        </p:spPr>
        <p:txBody>
          <a:bodyPr wrap="square" lIns="0" tIns="0" rIns="0" bIns="0" rtlCol="0" anchor="t"/>
          <a:lstStyle/>
          <a:p>
            <a:pPr algn="l" indent="0" marL="0">
              <a:buNone/>
            </a:pPr>
            <a:r>
              <a:rPr lang="en-US" sz="1600" dirty="0">
                <a:solidFill>
                  <a:srgbClr val="2A3358"/>
                </a:solidFill>
                <a:latin typeface="Calibri" pitchFamily="34" charset="0"/>
                <a:ea typeface="Calibri" pitchFamily="34" charset="-122"/>
                <a:cs typeface="Calibri" pitchFamily="34" charset="-120"/>
              </a:rPr>
              <a:t>Each score breaks down into named components — so you can trust it and tune it.</a:t>
            </a:r>
            <a:endParaRPr lang="en-US" sz="1600" dirty="0"/>
          </a:p>
        </p:txBody>
      </p:sp>
      <p:sp>
        <p:nvSpPr>
          <p:cNvPr id="5" name="Shape 3"/>
          <p:cNvSpPr/>
          <p:nvPr/>
        </p:nvSpPr>
        <p:spPr>
          <a:xfrm>
            <a:off x="548640" y="3108960"/>
            <a:ext cx="3545738" cy="3017520"/>
          </a:xfrm>
          <a:prstGeom prst="roundRect">
            <a:avLst>
              <a:gd name="adj" fmla="val 3636"/>
            </a:avLst>
          </a:prstGeom>
          <a:solidFill>
            <a:srgbClr val="FFFFFF"/>
          </a:solidFill>
          <a:ln w="9525">
            <a:solidFill>
              <a:srgbClr val="E5E7F0"/>
            </a:solidFill>
            <a:prstDash val="solid"/>
          </a:ln>
        </p:spPr>
      </p:sp>
      <p:sp>
        <p:nvSpPr>
          <p:cNvPr id="6" name="Shape 4"/>
          <p:cNvSpPr/>
          <p:nvPr/>
        </p:nvSpPr>
        <p:spPr>
          <a:xfrm>
            <a:off x="548640" y="3108960"/>
            <a:ext cx="3545738" cy="73152"/>
          </a:xfrm>
          <a:prstGeom prst="rect">
            <a:avLst/>
          </a:prstGeom>
          <a:solidFill>
            <a:srgbClr val="5028C2"/>
          </a:solidFill>
          <a:ln/>
        </p:spPr>
      </p:sp>
      <p:sp>
        <p:nvSpPr>
          <p:cNvPr id="7" name="Shape 5"/>
          <p:cNvSpPr/>
          <p:nvPr/>
        </p:nvSpPr>
        <p:spPr>
          <a:xfrm>
            <a:off x="868680" y="3474720"/>
            <a:ext cx="457200" cy="457200"/>
          </a:xfrm>
          <a:prstGeom prst="ellipse">
            <a:avLst/>
          </a:prstGeom>
          <a:solidFill>
            <a:srgbClr val="5028C2"/>
          </a:solidFill>
          <a:ln/>
        </p:spPr>
      </p:sp>
      <p:sp>
        <p:nvSpPr>
          <p:cNvPr id="8" name="Text 6"/>
          <p:cNvSpPr/>
          <p:nvPr/>
        </p:nvSpPr>
        <p:spPr>
          <a:xfrm>
            <a:off x="868680"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9" name="Text 7"/>
          <p:cNvSpPr/>
          <p:nvPr/>
        </p:nvSpPr>
        <p:spPr>
          <a:xfrm>
            <a:off x="868680"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Audience signal</a:t>
            </a:r>
            <a:endParaRPr lang="en-US" sz="1800" dirty="0"/>
          </a:p>
        </p:txBody>
      </p:sp>
      <p:sp>
        <p:nvSpPr>
          <p:cNvPr id="10" name="Text 8"/>
          <p:cNvSpPr/>
          <p:nvPr/>
        </p:nvSpPr>
        <p:spPr>
          <a:xfrm>
            <a:off x="868680"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Audience size, engagement, retention, growth trajectory. Each platform's public signal, normalized.</a:t>
            </a:r>
            <a:endParaRPr lang="en-US" sz="1300" dirty="0"/>
          </a:p>
        </p:txBody>
      </p:sp>
      <p:sp>
        <p:nvSpPr>
          <p:cNvPr id="11" name="Shape 9"/>
          <p:cNvSpPr/>
          <p:nvPr/>
        </p:nvSpPr>
        <p:spPr>
          <a:xfrm>
            <a:off x="4322978" y="3108960"/>
            <a:ext cx="3545738" cy="3017520"/>
          </a:xfrm>
          <a:prstGeom prst="roundRect">
            <a:avLst>
              <a:gd name="adj" fmla="val 3636"/>
            </a:avLst>
          </a:prstGeom>
          <a:solidFill>
            <a:srgbClr val="FFFFFF"/>
          </a:solidFill>
          <a:ln w="9525">
            <a:solidFill>
              <a:srgbClr val="E5E7F0"/>
            </a:solidFill>
            <a:prstDash val="solid"/>
          </a:ln>
        </p:spPr>
      </p:sp>
      <p:sp>
        <p:nvSpPr>
          <p:cNvPr id="12" name="Shape 10"/>
          <p:cNvSpPr/>
          <p:nvPr/>
        </p:nvSpPr>
        <p:spPr>
          <a:xfrm>
            <a:off x="4322978" y="3108960"/>
            <a:ext cx="3545738" cy="73152"/>
          </a:xfrm>
          <a:prstGeom prst="rect">
            <a:avLst/>
          </a:prstGeom>
          <a:solidFill>
            <a:srgbClr val="3548D0"/>
          </a:solidFill>
          <a:ln/>
        </p:spPr>
      </p:sp>
      <p:sp>
        <p:nvSpPr>
          <p:cNvPr id="13" name="Shape 11"/>
          <p:cNvSpPr/>
          <p:nvPr/>
        </p:nvSpPr>
        <p:spPr>
          <a:xfrm>
            <a:off x="4643018" y="3474720"/>
            <a:ext cx="457200" cy="457200"/>
          </a:xfrm>
          <a:prstGeom prst="ellipse">
            <a:avLst/>
          </a:prstGeom>
          <a:solidFill>
            <a:srgbClr val="3548D0"/>
          </a:solidFill>
          <a:ln/>
        </p:spPr>
      </p:sp>
      <p:sp>
        <p:nvSpPr>
          <p:cNvPr id="14" name="Text 12"/>
          <p:cNvSpPr/>
          <p:nvPr/>
        </p:nvSpPr>
        <p:spPr>
          <a:xfrm>
            <a:off x="4643018"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5" name="Text 13"/>
          <p:cNvSpPr/>
          <p:nvPr/>
        </p:nvSpPr>
        <p:spPr>
          <a:xfrm>
            <a:off x="4643018"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Content fit</a:t>
            </a:r>
            <a:endParaRPr lang="en-US" sz="1800" dirty="0"/>
          </a:p>
        </p:txBody>
      </p:sp>
      <p:sp>
        <p:nvSpPr>
          <p:cNvPr id="16" name="Text 14"/>
          <p:cNvSpPr/>
          <p:nvPr/>
        </p:nvSpPr>
        <p:spPr>
          <a:xfrm>
            <a:off x="4643018"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Topic match, post cadence, content seriousness, language. Compared to the ICP you described.</a:t>
            </a:r>
            <a:endParaRPr lang="en-US" sz="1300" dirty="0"/>
          </a:p>
        </p:txBody>
      </p:sp>
      <p:sp>
        <p:nvSpPr>
          <p:cNvPr id="17" name="Shape 15"/>
          <p:cNvSpPr/>
          <p:nvPr/>
        </p:nvSpPr>
        <p:spPr>
          <a:xfrm>
            <a:off x="8097317" y="3108960"/>
            <a:ext cx="3545738" cy="3017520"/>
          </a:xfrm>
          <a:prstGeom prst="roundRect">
            <a:avLst>
              <a:gd name="adj" fmla="val 3636"/>
            </a:avLst>
          </a:prstGeom>
          <a:solidFill>
            <a:srgbClr val="FFFFFF"/>
          </a:solidFill>
          <a:ln w="9525">
            <a:solidFill>
              <a:srgbClr val="E5E7F0"/>
            </a:solidFill>
            <a:prstDash val="solid"/>
          </a:ln>
        </p:spPr>
      </p:sp>
      <p:sp>
        <p:nvSpPr>
          <p:cNvPr id="18" name="Shape 16"/>
          <p:cNvSpPr/>
          <p:nvPr/>
        </p:nvSpPr>
        <p:spPr>
          <a:xfrm>
            <a:off x="8097317" y="3108960"/>
            <a:ext cx="3545738" cy="73152"/>
          </a:xfrm>
          <a:prstGeom prst="rect">
            <a:avLst/>
          </a:prstGeom>
          <a:solidFill>
            <a:srgbClr val="1A6FBE"/>
          </a:solidFill>
          <a:ln/>
        </p:spPr>
      </p:sp>
      <p:sp>
        <p:nvSpPr>
          <p:cNvPr id="19" name="Shape 17"/>
          <p:cNvSpPr/>
          <p:nvPr/>
        </p:nvSpPr>
        <p:spPr>
          <a:xfrm>
            <a:off x="8417357" y="3474720"/>
            <a:ext cx="457200" cy="457200"/>
          </a:xfrm>
          <a:prstGeom prst="ellipse">
            <a:avLst/>
          </a:prstGeom>
          <a:solidFill>
            <a:srgbClr val="1A6FBE"/>
          </a:solidFill>
          <a:ln/>
        </p:spPr>
      </p:sp>
      <p:sp>
        <p:nvSpPr>
          <p:cNvPr id="20" name="Text 18"/>
          <p:cNvSpPr/>
          <p:nvPr/>
        </p:nvSpPr>
        <p:spPr>
          <a:xfrm>
            <a:off x="8417357"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9"/>
          <p:cNvSpPr/>
          <p:nvPr/>
        </p:nvSpPr>
        <p:spPr>
          <a:xfrm>
            <a:off x="8417357"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Brand fit</a:t>
            </a:r>
            <a:endParaRPr lang="en-US" sz="1800" dirty="0"/>
          </a:p>
        </p:txBody>
      </p:sp>
      <p:sp>
        <p:nvSpPr>
          <p:cNvPr id="22" name="Text 20"/>
          <p:cNvSpPr/>
          <p:nvPr/>
        </p:nvSpPr>
        <p:spPr>
          <a:xfrm>
            <a:off x="8417357"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Tone alignment, audience overlap with your existing customers, signal of B2B vs. consumer focus.</a:t>
            </a:r>
            <a:endParaRPr lang="en-US" sz="1300" dirty="0"/>
          </a:p>
        </p:txBody>
      </p:sp>
      <p:sp>
        <p:nvSpPr>
          <p:cNvPr id="23" name="Shape 21"/>
          <p:cNvSpPr/>
          <p:nvPr/>
        </p:nvSpPr>
        <p:spPr>
          <a:xfrm>
            <a:off x="548640" y="502920"/>
            <a:ext cx="292608" cy="292608"/>
          </a:xfrm>
          <a:prstGeom prst="roundRect">
            <a:avLst>
              <a:gd name="adj" fmla="val 25000"/>
            </a:avLst>
          </a:prstGeom>
          <a:solidFill>
            <a:srgbClr val="5028C2"/>
          </a:solidFill>
          <a:ln/>
        </p:spPr>
      </p:sp>
      <p:sp>
        <p:nvSpPr>
          <p:cNvPr id="24" name="Shape 22"/>
          <p:cNvSpPr/>
          <p:nvPr/>
        </p:nvSpPr>
        <p:spPr>
          <a:xfrm>
            <a:off x="548640" y="502920"/>
            <a:ext cx="292608" cy="292608"/>
          </a:xfrm>
          <a:prstGeom prst="roundRect">
            <a:avLst>
              <a:gd name="adj" fmla="val 25000"/>
            </a:avLst>
          </a:prstGeom>
          <a:solidFill>
            <a:srgbClr val="1A6FBE">
              <a:alpha val="50000"/>
            </a:srgbClr>
          </a:solidFill>
          <a:ln/>
        </p:spPr>
      </p:sp>
      <p:sp>
        <p:nvSpPr>
          <p:cNvPr id="25" name="Text 23"/>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6" name="Text 24"/>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7" name="Text 25"/>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08 · AI fit score  ·  vC</a:t>
            </a:r>
            <a:endParaRPr lang="en-US" sz="900" dirty="0"/>
          </a:p>
        </p:txBody>
      </p:sp>
      <p:sp>
        <p:nvSpPr>
          <p:cNvPr id="28" name="Text 26"/>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29" name="Text 27"/>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052 / 126</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320040" cy="116300"/>
          </a:xfrm>
          <a:prstGeom prst="rect">
            <a:avLst/>
          </a:prstGeom>
          <a:solidFill>
            <a:srgbClr val="5028C2"/>
          </a:solidFill>
          <a:ln/>
        </p:spPr>
      </p:sp>
      <p:sp>
        <p:nvSpPr>
          <p:cNvPr id="3" name="Shape 1"/>
          <p:cNvSpPr/>
          <p:nvPr/>
        </p:nvSpPr>
        <p:spPr>
          <a:xfrm>
            <a:off x="0" y="107156"/>
            <a:ext cx="320040" cy="116300"/>
          </a:xfrm>
          <a:prstGeom prst="rect">
            <a:avLst/>
          </a:prstGeom>
          <a:solidFill>
            <a:srgbClr val="4F29C2"/>
          </a:solidFill>
          <a:ln/>
        </p:spPr>
      </p:sp>
      <p:sp>
        <p:nvSpPr>
          <p:cNvPr id="4" name="Shape 2"/>
          <p:cNvSpPr/>
          <p:nvPr/>
        </p:nvSpPr>
        <p:spPr>
          <a:xfrm>
            <a:off x="0" y="214313"/>
            <a:ext cx="320040" cy="116300"/>
          </a:xfrm>
          <a:prstGeom prst="rect">
            <a:avLst/>
          </a:prstGeom>
          <a:solidFill>
            <a:srgbClr val="4E2AC3"/>
          </a:solidFill>
          <a:ln/>
        </p:spPr>
      </p:sp>
      <p:sp>
        <p:nvSpPr>
          <p:cNvPr id="5" name="Shape 3"/>
          <p:cNvSpPr/>
          <p:nvPr/>
        </p:nvSpPr>
        <p:spPr>
          <a:xfrm>
            <a:off x="0" y="321469"/>
            <a:ext cx="320040" cy="116300"/>
          </a:xfrm>
          <a:prstGeom prst="rect">
            <a:avLst/>
          </a:prstGeom>
          <a:solidFill>
            <a:srgbClr val="4D2BC3"/>
          </a:solidFill>
          <a:ln/>
        </p:spPr>
      </p:sp>
      <p:sp>
        <p:nvSpPr>
          <p:cNvPr id="6" name="Shape 4"/>
          <p:cNvSpPr/>
          <p:nvPr/>
        </p:nvSpPr>
        <p:spPr>
          <a:xfrm>
            <a:off x="0" y="428625"/>
            <a:ext cx="320040" cy="116300"/>
          </a:xfrm>
          <a:prstGeom prst="rect">
            <a:avLst/>
          </a:prstGeom>
          <a:solidFill>
            <a:srgbClr val="4D2CC4"/>
          </a:solidFill>
          <a:ln/>
        </p:spPr>
      </p:sp>
      <p:sp>
        <p:nvSpPr>
          <p:cNvPr id="7" name="Shape 5"/>
          <p:cNvSpPr/>
          <p:nvPr/>
        </p:nvSpPr>
        <p:spPr>
          <a:xfrm>
            <a:off x="0" y="535781"/>
            <a:ext cx="320040" cy="116300"/>
          </a:xfrm>
          <a:prstGeom prst="rect">
            <a:avLst/>
          </a:prstGeom>
          <a:solidFill>
            <a:srgbClr val="4C2DC4"/>
          </a:solidFill>
          <a:ln/>
        </p:spPr>
      </p:sp>
      <p:sp>
        <p:nvSpPr>
          <p:cNvPr id="8" name="Shape 6"/>
          <p:cNvSpPr/>
          <p:nvPr/>
        </p:nvSpPr>
        <p:spPr>
          <a:xfrm>
            <a:off x="0" y="642938"/>
            <a:ext cx="320040" cy="116300"/>
          </a:xfrm>
          <a:prstGeom prst="rect">
            <a:avLst/>
          </a:prstGeom>
          <a:solidFill>
            <a:srgbClr val="4B2EC5"/>
          </a:solidFill>
          <a:ln/>
        </p:spPr>
      </p:sp>
      <p:sp>
        <p:nvSpPr>
          <p:cNvPr id="9" name="Shape 7"/>
          <p:cNvSpPr/>
          <p:nvPr/>
        </p:nvSpPr>
        <p:spPr>
          <a:xfrm>
            <a:off x="0" y="750094"/>
            <a:ext cx="320040" cy="116300"/>
          </a:xfrm>
          <a:prstGeom prst="rect">
            <a:avLst/>
          </a:prstGeom>
          <a:solidFill>
            <a:srgbClr val="4A2FC5"/>
          </a:solidFill>
          <a:ln/>
        </p:spPr>
      </p:sp>
      <p:sp>
        <p:nvSpPr>
          <p:cNvPr id="10" name="Shape 8"/>
          <p:cNvSpPr/>
          <p:nvPr/>
        </p:nvSpPr>
        <p:spPr>
          <a:xfrm>
            <a:off x="0" y="857250"/>
            <a:ext cx="320040" cy="116300"/>
          </a:xfrm>
          <a:prstGeom prst="rect">
            <a:avLst/>
          </a:prstGeom>
          <a:solidFill>
            <a:srgbClr val="4930C6"/>
          </a:solidFill>
          <a:ln/>
        </p:spPr>
      </p:sp>
      <p:sp>
        <p:nvSpPr>
          <p:cNvPr id="11" name="Shape 9"/>
          <p:cNvSpPr/>
          <p:nvPr/>
        </p:nvSpPr>
        <p:spPr>
          <a:xfrm>
            <a:off x="0" y="964406"/>
            <a:ext cx="320040" cy="116300"/>
          </a:xfrm>
          <a:prstGeom prst="rect">
            <a:avLst/>
          </a:prstGeom>
          <a:solidFill>
            <a:srgbClr val="4831C6"/>
          </a:solidFill>
          <a:ln/>
        </p:spPr>
      </p:sp>
      <p:sp>
        <p:nvSpPr>
          <p:cNvPr id="12" name="Shape 10"/>
          <p:cNvSpPr/>
          <p:nvPr/>
        </p:nvSpPr>
        <p:spPr>
          <a:xfrm>
            <a:off x="0" y="1071563"/>
            <a:ext cx="320040" cy="116300"/>
          </a:xfrm>
          <a:prstGeom prst="rect">
            <a:avLst/>
          </a:prstGeom>
          <a:solidFill>
            <a:srgbClr val="4732C6"/>
          </a:solidFill>
          <a:ln/>
        </p:spPr>
      </p:sp>
      <p:sp>
        <p:nvSpPr>
          <p:cNvPr id="13" name="Shape 11"/>
          <p:cNvSpPr/>
          <p:nvPr/>
        </p:nvSpPr>
        <p:spPr>
          <a:xfrm>
            <a:off x="0" y="1178719"/>
            <a:ext cx="320040" cy="116300"/>
          </a:xfrm>
          <a:prstGeom prst="rect">
            <a:avLst/>
          </a:prstGeom>
          <a:solidFill>
            <a:srgbClr val="4733C7"/>
          </a:solidFill>
          <a:ln/>
        </p:spPr>
      </p:sp>
      <p:sp>
        <p:nvSpPr>
          <p:cNvPr id="14" name="Shape 12"/>
          <p:cNvSpPr/>
          <p:nvPr/>
        </p:nvSpPr>
        <p:spPr>
          <a:xfrm>
            <a:off x="0" y="1285875"/>
            <a:ext cx="320040" cy="116300"/>
          </a:xfrm>
          <a:prstGeom prst="rect">
            <a:avLst/>
          </a:prstGeom>
          <a:solidFill>
            <a:srgbClr val="4634C7"/>
          </a:solidFill>
          <a:ln/>
        </p:spPr>
      </p:sp>
      <p:sp>
        <p:nvSpPr>
          <p:cNvPr id="15" name="Shape 13"/>
          <p:cNvSpPr/>
          <p:nvPr/>
        </p:nvSpPr>
        <p:spPr>
          <a:xfrm>
            <a:off x="0" y="1393031"/>
            <a:ext cx="320040" cy="116300"/>
          </a:xfrm>
          <a:prstGeom prst="rect">
            <a:avLst/>
          </a:prstGeom>
          <a:solidFill>
            <a:srgbClr val="4535C8"/>
          </a:solidFill>
          <a:ln/>
        </p:spPr>
      </p:sp>
      <p:sp>
        <p:nvSpPr>
          <p:cNvPr id="16" name="Shape 14"/>
          <p:cNvSpPr/>
          <p:nvPr/>
        </p:nvSpPr>
        <p:spPr>
          <a:xfrm>
            <a:off x="0" y="1500188"/>
            <a:ext cx="320040" cy="116300"/>
          </a:xfrm>
          <a:prstGeom prst="rect">
            <a:avLst/>
          </a:prstGeom>
          <a:solidFill>
            <a:srgbClr val="4436C8"/>
          </a:solidFill>
          <a:ln/>
        </p:spPr>
      </p:sp>
      <p:sp>
        <p:nvSpPr>
          <p:cNvPr id="17" name="Shape 15"/>
          <p:cNvSpPr/>
          <p:nvPr/>
        </p:nvSpPr>
        <p:spPr>
          <a:xfrm>
            <a:off x="0" y="1607344"/>
            <a:ext cx="320040" cy="116300"/>
          </a:xfrm>
          <a:prstGeom prst="rect">
            <a:avLst/>
          </a:prstGeom>
          <a:solidFill>
            <a:srgbClr val="4337C9"/>
          </a:solidFill>
          <a:ln/>
        </p:spPr>
      </p:sp>
      <p:sp>
        <p:nvSpPr>
          <p:cNvPr id="18" name="Shape 16"/>
          <p:cNvSpPr/>
          <p:nvPr/>
        </p:nvSpPr>
        <p:spPr>
          <a:xfrm>
            <a:off x="0" y="1714500"/>
            <a:ext cx="320040" cy="116300"/>
          </a:xfrm>
          <a:prstGeom prst="rect">
            <a:avLst/>
          </a:prstGeom>
          <a:solidFill>
            <a:srgbClr val="4238C9"/>
          </a:solidFill>
          <a:ln/>
        </p:spPr>
      </p:sp>
      <p:sp>
        <p:nvSpPr>
          <p:cNvPr id="19" name="Shape 17"/>
          <p:cNvSpPr/>
          <p:nvPr/>
        </p:nvSpPr>
        <p:spPr>
          <a:xfrm>
            <a:off x="0" y="1821656"/>
            <a:ext cx="320040" cy="116300"/>
          </a:xfrm>
          <a:prstGeom prst="rect">
            <a:avLst/>
          </a:prstGeom>
          <a:solidFill>
            <a:srgbClr val="4139CA"/>
          </a:solidFill>
          <a:ln/>
        </p:spPr>
      </p:sp>
      <p:sp>
        <p:nvSpPr>
          <p:cNvPr id="20" name="Shape 18"/>
          <p:cNvSpPr/>
          <p:nvPr/>
        </p:nvSpPr>
        <p:spPr>
          <a:xfrm>
            <a:off x="0" y="1928813"/>
            <a:ext cx="320040" cy="116300"/>
          </a:xfrm>
          <a:prstGeom prst="rect">
            <a:avLst/>
          </a:prstGeom>
          <a:solidFill>
            <a:srgbClr val="413ACA"/>
          </a:solidFill>
          <a:ln/>
        </p:spPr>
      </p:sp>
      <p:sp>
        <p:nvSpPr>
          <p:cNvPr id="21" name="Shape 19"/>
          <p:cNvSpPr/>
          <p:nvPr/>
        </p:nvSpPr>
        <p:spPr>
          <a:xfrm>
            <a:off x="0" y="2035969"/>
            <a:ext cx="320040" cy="116300"/>
          </a:xfrm>
          <a:prstGeom prst="rect">
            <a:avLst/>
          </a:prstGeom>
          <a:solidFill>
            <a:srgbClr val="403BCA"/>
          </a:solidFill>
          <a:ln/>
        </p:spPr>
      </p:sp>
      <p:sp>
        <p:nvSpPr>
          <p:cNvPr id="22" name="Shape 20"/>
          <p:cNvSpPr/>
          <p:nvPr/>
        </p:nvSpPr>
        <p:spPr>
          <a:xfrm>
            <a:off x="0" y="2143125"/>
            <a:ext cx="320040" cy="116300"/>
          </a:xfrm>
          <a:prstGeom prst="rect">
            <a:avLst/>
          </a:prstGeom>
          <a:solidFill>
            <a:srgbClr val="3F3CCB"/>
          </a:solidFill>
          <a:ln/>
        </p:spPr>
      </p:sp>
      <p:sp>
        <p:nvSpPr>
          <p:cNvPr id="23" name="Shape 21"/>
          <p:cNvSpPr/>
          <p:nvPr/>
        </p:nvSpPr>
        <p:spPr>
          <a:xfrm>
            <a:off x="0" y="2250281"/>
            <a:ext cx="320040" cy="116300"/>
          </a:xfrm>
          <a:prstGeom prst="rect">
            <a:avLst/>
          </a:prstGeom>
          <a:solidFill>
            <a:srgbClr val="3E3DCB"/>
          </a:solidFill>
          <a:ln/>
        </p:spPr>
      </p:sp>
      <p:sp>
        <p:nvSpPr>
          <p:cNvPr id="24" name="Shape 22"/>
          <p:cNvSpPr/>
          <p:nvPr/>
        </p:nvSpPr>
        <p:spPr>
          <a:xfrm>
            <a:off x="0" y="2357438"/>
            <a:ext cx="320040" cy="116300"/>
          </a:xfrm>
          <a:prstGeom prst="rect">
            <a:avLst/>
          </a:prstGeom>
          <a:solidFill>
            <a:srgbClr val="3D3ECC"/>
          </a:solidFill>
          <a:ln/>
        </p:spPr>
      </p:sp>
      <p:sp>
        <p:nvSpPr>
          <p:cNvPr id="25" name="Shape 23"/>
          <p:cNvSpPr/>
          <p:nvPr/>
        </p:nvSpPr>
        <p:spPr>
          <a:xfrm>
            <a:off x="0" y="2464594"/>
            <a:ext cx="320040" cy="116300"/>
          </a:xfrm>
          <a:prstGeom prst="rect">
            <a:avLst/>
          </a:prstGeom>
          <a:solidFill>
            <a:srgbClr val="3C3FCC"/>
          </a:solidFill>
          <a:ln/>
        </p:spPr>
      </p:sp>
      <p:sp>
        <p:nvSpPr>
          <p:cNvPr id="26" name="Shape 24"/>
          <p:cNvSpPr/>
          <p:nvPr/>
        </p:nvSpPr>
        <p:spPr>
          <a:xfrm>
            <a:off x="0" y="2571750"/>
            <a:ext cx="320040" cy="116300"/>
          </a:xfrm>
          <a:prstGeom prst="rect">
            <a:avLst/>
          </a:prstGeom>
          <a:solidFill>
            <a:srgbClr val="3B40CD"/>
          </a:solidFill>
          <a:ln/>
        </p:spPr>
      </p:sp>
      <p:sp>
        <p:nvSpPr>
          <p:cNvPr id="27" name="Shape 25"/>
          <p:cNvSpPr/>
          <p:nvPr/>
        </p:nvSpPr>
        <p:spPr>
          <a:xfrm>
            <a:off x="0" y="2678906"/>
            <a:ext cx="320040" cy="116300"/>
          </a:xfrm>
          <a:prstGeom prst="rect">
            <a:avLst/>
          </a:prstGeom>
          <a:solidFill>
            <a:srgbClr val="3B41CD"/>
          </a:solidFill>
          <a:ln/>
        </p:spPr>
      </p:sp>
      <p:sp>
        <p:nvSpPr>
          <p:cNvPr id="28" name="Shape 26"/>
          <p:cNvSpPr/>
          <p:nvPr/>
        </p:nvSpPr>
        <p:spPr>
          <a:xfrm>
            <a:off x="0" y="2786063"/>
            <a:ext cx="320040" cy="116300"/>
          </a:xfrm>
          <a:prstGeom prst="rect">
            <a:avLst/>
          </a:prstGeom>
          <a:solidFill>
            <a:srgbClr val="3A42CE"/>
          </a:solidFill>
          <a:ln/>
        </p:spPr>
      </p:sp>
      <p:sp>
        <p:nvSpPr>
          <p:cNvPr id="29" name="Shape 27"/>
          <p:cNvSpPr/>
          <p:nvPr/>
        </p:nvSpPr>
        <p:spPr>
          <a:xfrm>
            <a:off x="0" y="2893219"/>
            <a:ext cx="320040" cy="116300"/>
          </a:xfrm>
          <a:prstGeom prst="rect">
            <a:avLst/>
          </a:prstGeom>
          <a:solidFill>
            <a:srgbClr val="3943CE"/>
          </a:solidFill>
          <a:ln/>
        </p:spPr>
      </p:sp>
      <p:sp>
        <p:nvSpPr>
          <p:cNvPr id="30" name="Shape 28"/>
          <p:cNvSpPr/>
          <p:nvPr/>
        </p:nvSpPr>
        <p:spPr>
          <a:xfrm>
            <a:off x="0" y="3000375"/>
            <a:ext cx="320040" cy="116300"/>
          </a:xfrm>
          <a:prstGeom prst="rect">
            <a:avLst/>
          </a:prstGeom>
          <a:solidFill>
            <a:srgbClr val="3844CE"/>
          </a:solidFill>
          <a:ln/>
        </p:spPr>
      </p:sp>
      <p:sp>
        <p:nvSpPr>
          <p:cNvPr id="31" name="Shape 29"/>
          <p:cNvSpPr/>
          <p:nvPr/>
        </p:nvSpPr>
        <p:spPr>
          <a:xfrm>
            <a:off x="0" y="3107531"/>
            <a:ext cx="320040" cy="116300"/>
          </a:xfrm>
          <a:prstGeom prst="rect">
            <a:avLst/>
          </a:prstGeom>
          <a:solidFill>
            <a:srgbClr val="3745CF"/>
          </a:solidFill>
          <a:ln/>
        </p:spPr>
      </p:sp>
      <p:sp>
        <p:nvSpPr>
          <p:cNvPr id="32" name="Shape 30"/>
          <p:cNvSpPr/>
          <p:nvPr/>
        </p:nvSpPr>
        <p:spPr>
          <a:xfrm>
            <a:off x="0" y="3214688"/>
            <a:ext cx="320040" cy="116300"/>
          </a:xfrm>
          <a:prstGeom prst="rect">
            <a:avLst/>
          </a:prstGeom>
          <a:solidFill>
            <a:srgbClr val="3646CF"/>
          </a:solidFill>
          <a:ln/>
        </p:spPr>
      </p:sp>
      <p:sp>
        <p:nvSpPr>
          <p:cNvPr id="33" name="Shape 31"/>
          <p:cNvSpPr/>
          <p:nvPr/>
        </p:nvSpPr>
        <p:spPr>
          <a:xfrm>
            <a:off x="0" y="3321844"/>
            <a:ext cx="320040" cy="116300"/>
          </a:xfrm>
          <a:prstGeom prst="rect">
            <a:avLst/>
          </a:prstGeom>
          <a:solidFill>
            <a:srgbClr val="3547D0"/>
          </a:solidFill>
          <a:ln/>
        </p:spPr>
      </p:sp>
      <p:sp>
        <p:nvSpPr>
          <p:cNvPr id="34" name="Shape 32"/>
          <p:cNvSpPr/>
          <p:nvPr/>
        </p:nvSpPr>
        <p:spPr>
          <a:xfrm>
            <a:off x="0" y="3429000"/>
            <a:ext cx="320040" cy="116300"/>
          </a:xfrm>
          <a:prstGeom prst="rect">
            <a:avLst/>
          </a:prstGeom>
          <a:solidFill>
            <a:srgbClr val="3549D0"/>
          </a:solidFill>
          <a:ln/>
        </p:spPr>
      </p:sp>
      <p:sp>
        <p:nvSpPr>
          <p:cNvPr id="35" name="Shape 33"/>
          <p:cNvSpPr/>
          <p:nvPr/>
        </p:nvSpPr>
        <p:spPr>
          <a:xfrm>
            <a:off x="0" y="3536156"/>
            <a:ext cx="320040" cy="116300"/>
          </a:xfrm>
          <a:prstGeom prst="rect">
            <a:avLst/>
          </a:prstGeom>
          <a:solidFill>
            <a:srgbClr val="344ACF"/>
          </a:solidFill>
          <a:ln/>
        </p:spPr>
      </p:sp>
      <p:sp>
        <p:nvSpPr>
          <p:cNvPr id="36" name="Shape 34"/>
          <p:cNvSpPr/>
          <p:nvPr/>
        </p:nvSpPr>
        <p:spPr>
          <a:xfrm>
            <a:off x="0" y="3643313"/>
            <a:ext cx="320040" cy="116300"/>
          </a:xfrm>
          <a:prstGeom prst="rect">
            <a:avLst/>
          </a:prstGeom>
          <a:solidFill>
            <a:srgbClr val="334BCF"/>
          </a:solidFill>
          <a:ln/>
        </p:spPr>
      </p:sp>
      <p:sp>
        <p:nvSpPr>
          <p:cNvPr id="37" name="Shape 35"/>
          <p:cNvSpPr/>
          <p:nvPr/>
        </p:nvSpPr>
        <p:spPr>
          <a:xfrm>
            <a:off x="0" y="3750469"/>
            <a:ext cx="320040" cy="116300"/>
          </a:xfrm>
          <a:prstGeom prst="rect">
            <a:avLst/>
          </a:prstGeom>
          <a:solidFill>
            <a:srgbClr val="324CCE"/>
          </a:solidFill>
          <a:ln/>
        </p:spPr>
      </p:sp>
      <p:sp>
        <p:nvSpPr>
          <p:cNvPr id="38" name="Shape 36"/>
          <p:cNvSpPr/>
          <p:nvPr/>
        </p:nvSpPr>
        <p:spPr>
          <a:xfrm>
            <a:off x="0" y="3857625"/>
            <a:ext cx="320040" cy="116300"/>
          </a:xfrm>
          <a:prstGeom prst="rect">
            <a:avLst/>
          </a:prstGeom>
          <a:solidFill>
            <a:srgbClr val="314ECD"/>
          </a:solidFill>
          <a:ln/>
        </p:spPr>
      </p:sp>
      <p:sp>
        <p:nvSpPr>
          <p:cNvPr id="39" name="Shape 37"/>
          <p:cNvSpPr/>
          <p:nvPr/>
        </p:nvSpPr>
        <p:spPr>
          <a:xfrm>
            <a:off x="0" y="3964781"/>
            <a:ext cx="320040" cy="116300"/>
          </a:xfrm>
          <a:prstGeom prst="rect">
            <a:avLst/>
          </a:prstGeom>
          <a:solidFill>
            <a:srgbClr val="304FCD"/>
          </a:solidFill>
          <a:ln/>
        </p:spPr>
      </p:sp>
      <p:sp>
        <p:nvSpPr>
          <p:cNvPr id="40" name="Shape 38"/>
          <p:cNvSpPr/>
          <p:nvPr/>
        </p:nvSpPr>
        <p:spPr>
          <a:xfrm>
            <a:off x="0" y="4071938"/>
            <a:ext cx="320040" cy="116300"/>
          </a:xfrm>
          <a:prstGeom prst="rect">
            <a:avLst/>
          </a:prstGeom>
          <a:solidFill>
            <a:srgbClr val="2F50CC"/>
          </a:solidFill>
          <a:ln/>
        </p:spPr>
      </p:sp>
      <p:sp>
        <p:nvSpPr>
          <p:cNvPr id="41" name="Shape 39"/>
          <p:cNvSpPr/>
          <p:nvPr/>
        </p:nvSpPr>
        <p:spPr>
          <a:xfrm>
            <a:off x="0" y="4179094"/>
            <a:ext cx="320040" cy="116300"/>
          </a:xfrm>
          <a:prstGeom prst="rect">
            <a:avLst/>
          </a:prstGeom>
          <a:solidFill>
            <a:srgbClr val="2F51CC"/>
          </a:solidFill>
          <a:ln/>
        </p:spPr>
      </p:sp>
      <p:sp>
        <p:nvSpPr>
          <p:cNvPr id="42" name="Shape 40"/>
          <p:cNvSpPr/>
          <p:nvPr/>
        </p:nvSpPr>
        <p:spPr>
          <a:xfrm>
            <a:off x="0" y="4286250"/>
            <a:ext cx="320040" cy="116300"/>
          </a:xfrm>
          <a:prstGeom prst="rect">
            <a:avLst/>
          </a:prstGeom>
          <a:solidFill>
            <a:srgbClr val="2E53CB"/>
          </a:solidFill>
          <a:ln/>
        </p:spPr>
      </p:sp>
      <p:sp>
        <p:nvSpPr>
          <p:cNvPr id="43" name="Shape 41"/>
          <p:cNvSpPr/>
          <p:nvPr/>
        </p:nvSpPr>
        <p:spPr>
          <a:xfrm>
            <a:off x="0" y="4393406"/>
            <a:ext cx="320040" cy="116300"/>
          </a:xfrm>
          <a:prstGeom prst="rect">
            <a:avLst/>
          </a:prstGeom>
          <a:solidFill>
            <a:srgbClr val="2D54CB"/>
          </a:solidFill>
          <a:ln/>
        </p:spPr>
      </p:sp>
      <p:sp>
        <p:nvSpPr>
          <p:cNvPr id="44" name="Shape 42"/>
          <p:cNvSpPr/>
          <p:nvPr/>
        </p:nvSpPr>
        <p:spPr>
          <a:xfrm>
            <a:off x="0" y="4500563"/>
            <a:ext cx="320040" cy="116300"/>
          </a:xfrm>
          <a:prstGeom prst="rect">
            <a:avLst/>
          </a:prstGeom>
          <a:solidFill>
            <a:srgbClr val="2C55CA"/>
          </a:solidFill>
          <a:ln/>
        </p:spPr>
      </p:sp>
      <p:sp>
        <p:nvSpPr>
          <p:cNvPr id="45" name="Shape 43"/>
          <p:cNvSpPr/>
          <p:nvPr/>
        </p:nvSpPr>
        <p:spPr>
          <a:xfrm>
            <a:off x="0" y="4607719"/>
            <a:ext cx="320040" cy="116300"/>
          </a:xfrm>
          <a:prstGeom prst="rect">
            <a:avLst/>
          </a:prstGeom>
          <a:solidFill>
            <a:srgbClr val="2B56C9"/>
          </a:solidFill>
          <a:ln/>
        </p:spPr>
      </p:sp>
      <p:sp>
        <p:nvSpPr>
          <p:cNvPr id="46" name="Shape 44"/>
          <p:cNvSpPr/>
          <p:nvPr/>
        </p:nvSpPr>
        <p:spPr>
          <a:xfrm>
            <a:off x="0" y="4714875"/>
            <a:ext cx="320040" cy="116300"/>
          </a:xfrm>
          <a:prstGeom prst="rect">
            <a:avLst/>
          </a:prstGeom>
          <a:solidFill>
            <a:srgbClr val="2A57C9"/>
          </a:solidFill>
          <a:ln/>
        </p:spPr>
      </p:sp>
      <p:sp>
        <p:nvSpPr>
          <p:cNvPr id="47" name="Shape 45"/>
          <p:cNvSpPr/>
          <p:nvPr/>
        </p:nvSpPr>
        <p:spPr>
          <a:xfrm>
            <a:off x="0" y="4822031"/>
            <a:ext cx="320040" cy="116300"/>
          </a:xfrm>
          <a:prstGeom prst="rect">
            <a:avLst/>
          </a:prstGeom>
          <a:solidFill>
            <a:srgbClr val="2959C8"/>
          </a:solidFill>
          <a:ln/>
        </p:spPr>
      </p:sp>
      <p:sp>
        <p:nvSpPr>
          <p:cNvPr id="48" name="Shape 46"/>
          <p:cNvSpPr/>
          <p:nvPr/>
        </p:nvSpPr>
        <p:spPr>
          <a:xfrm>
            <a:off x="0" y="4929188"/>
            <a:ext cx="320040" cy="116300"/>
          </a:xfrm>
          <a:prstGeom prst="rect">
            <a:avLst/>
          </a:prstGeom>
          <a:solidFill>
            <a:srgbClr val="295AC8"/>
          </a:solidFill>
          <a:ln/>
        </p:spPr>
      </p:sp>
      <p:sp>
        <p:nvSpPr>
          <p:cNvPr id="49" name="Shape 47"/>
          <p:cNvSpPr/>
          <p:nvPr/>
        </p:nvSpPr>
        <p:spPr>
          <a:xfrm>
            <a:off x="0" y="5036344"/>
            <a:ext cx="320040" cy="116300"/>
          </a:xfrm>
          <a:prstGeom prst="rect">
            <a:avLst/>
          </a:prstGeom>
          <a:solidFill>
            <a:srgbClr val="285BC7"/>
          </a:solidFill>
          <a:ln/>
        </p:spPr>
      </p:sp>
      <p:sp>
        <p:nvSpPr>
          <p:cNvPr id="50" name="Shape 48"/>
          <p:cNvSpPr/>
          <p:nvPr/>
        </p:nvSpPr>
        <p:spPr>
          <a:xfrm>
            <a:off x="0" y="5143500"/>
            <a:ext cx="320040" cy="116300"/>
          </a:xfrm>
          <a:prstGeom prst="rect">
            <a:avLst/>
          </a:prstGeom>
          <a:solidFill>
            <a:srgbClr val="275CC7"/>
          </a:solidFill>
          <a:ln/>
        </p:spPr>
      </p:sp>
      <p:sp>
        <p:nvSpPr>
          <p:cNvPr id="51" name="Shape 49"/>
          <p:cNvSpPr/>
          <p:nvPr/>
        </p:nvSpPr>
        <p:spPr>
          <a:xfrm>
            <a:off x="0" y="5250656"/>
            <a:ext cx="320040" cy="116300"/>
          </a:xfrm>
          <a:prstGeom prst="rect">
            <a:avLst/>
          </a:prstGeom>
          <a:solidFill>
            <a:srgbClr val="265EC6"/>
          </a:solidFill>
          <a:ln/>
        </p:spPr>
      </p:sp>
      <p:sp>
        <p:nvSpPr>
          <p:cNvPr id="52" name="Shape 50"/>
          <p:cNvSpPr/>
          <p:nvPr/>
        </p:nvSpPr>
        <p:spPr>
          <a:xfrm>
            <a:off x="0" y="5357813"/>
            <a:ext cx="320040" cy="116300"/>
          </a:xfrm>
          <a:prstGeom prst="rect">
            <a:avLst/>
          </a:prstGeom>
          <a:solidFill>
            <a:srgbClr val="255FC5"/>
          </a:solidFill>
          <a:ln/>
        </p:spPr>
      </p:sp>
      <p:sp>
        <p:nvSpPr>
          <p:cNvPr id="53" name="Shape 51"/>
          <p:cNvSpPr/>
          <p:nvPr/>
        </p:nvSpPr>
        <p:spPr>
          <a:xfrm>
            <a:off x="0" y="5464969"/>
            <a:ext cx="320040" cy="116300"/>
          </a:xfrm>
          <a:prstGeom prst="rect">
            <a:avLst/>
          </a:prstGeom>
          <a:solidFill>
            <a:srgbClr val="2460C5"/>
          </a:solidFill>
          <a:ln/>
        </p:spPr>
      </p:sp>
      <p:sp>
        <p:nvSpPr>
          <p:cNvPr id="54" name="Shape 52"/>
          <p:cNvSpPr/>
          <p:nvPr/>
        </p:nvSpPr>
        <p:spPr>
          <a:xfrm>
            <a:off x="0" y="5572125"/>
            <a:ext cx="320040" cy="116300"/>
          </a:xfrm>
          <a:prstGeom prst="rect">
            <a:avLst/>
          </a:prstGeom>
          <a:solidFill>
            <a:srgbClr val="2361C4"/>
          </a:solidFill>
          <a:ln/>
        </p:spPr>
      </p:sp>
      <p:sp>
        <p:nvSpPr>
          <p:cNvPr id="55" name="Shape 53"/>
          <p:cNvSpPr/>
          <p:nvPr/>
        </p:nvSpPr>
        <p:spPr>
          <a:xfrm>
            <a:off x="0" y="5679281"/>
            <a:ext cx="320040" cy="116300"/>
          </a:xfrm>
          <a:prstGeom prst="rect">
            <a:avLst/>
          </a:prstGeom>
          <a:solidFill>
            <a:srgbClr val="2363C4"/>
          </a:solidFill>
          <a:ln/>
        </p:spPr>
      </p:sp>
      <p:sp>
        <p:nvSpPr>
          <p:cNvPr id="56" name="Shape 54"/>
          <p:cNvSpPr/>
          <p:nvPr/>
        </p:nvSpPr>
        <p:spPr>
          <a:xfrm>
            <a:off x="0" y="5786438"/>
            <a:ext cx="320040" cy="116300"/>
          </a:xfrm>
          <a:prstGeom prst="rect">
            <a:avLst/>
          </a:prstGeom>
          <a:solidFill>
            <a:srgbClr val="2264C3"/>
          </a:solidFill>
          <a:ln/>
        </p:spPr>
      </p:sp>
      <p:sp>
        <p:nvSpPr>
          <p:cNvPr id="57" name="Shape 55"/>
          <p:cNvSpPr/>
          <p:nvPr/>
        </p:nvSpPr>
        <p:spPr>
          <a:xfrm>
            <a:off x="0" y="5893594"/>
            <a:ext cx="320040" cy="116300"/>
          </a:xfrm>
          <a:prstGeom prst="rect">
            <a:avLst/>
          </a:prstGeom>
          <a:solidFill>
            <a:srgbClr val="2165C3"/>
          </a:solidFill>
          <a:ln/>
        </p:spPr>
      </p:sp>
      <p:sp>
        <p:nvSpPr>
          <p:cNvPr id="58" name="Shape 56"/>
          <p:cNvSpPr/>
          <p:nvPr/>
        </p:nvSpPr>
        <p:spPr>
          <a:xfrm>
            <a:off x="0" y="6000750"/>
            <a:ext cx="320040" cy="116300"/>
          </a:xfrm>
          <a:prstGeom prst="rect">
            <a:avLst/>
          </a:prstGeom>
          <a:solidFill>
            <a:srgbClr val="2066C2"/>
          </a:solidFill>
          <a:ln/>
        </p:spPr>
      </p:sp>
      <p:sp>
        <p:nvSpPr>
          <p:cNvPr id="59" name="Shape 57"/>
          <p:cNvSpPr/>
          <p:nvPr/>
        </p:nvSpPr>
        <p:spPr>
          <a:xfrm>
            <a:off x="0" y="6107906"/>
            <a:ext cx="320040" cy="116300"/>
          </a:xfrm>
          <a:prstGeom prst="rect">
            <a:avLst/>
          </a:prstGeom>
          <a:solidFill>
            <a:srgbClr val="1F68C1"/>
          </a:solidFill>
          <a:ln/>
        </p:spPr>
      </p:sp>
      <p:sp>
        <p:nvSpPr>
          <p:cNvPr id="60" name="Shape 58"/>
          <p:cNvSpPr/>
          <p:nvPr/>
        </p:nvSpPr>
        <p:spPr>
          <a:xfrm>
            <a:off x="0" y="6215063"/>
            <a:ext cx="320040" cy="116300"/>
          </a:xfrm>
          <a:prstGeom prst="rect">
            <a:avLst/>
          </a:prstGeom>
          <a:solidFill>
            <a:srgbClr val="1E69C1"/>
          </a:solidFill>
          <a:ln/>
        </p:spPr>
      </p:sp>
      <p:sp>
        <p:nvSpPr>
          <p:cNvPr id="61" name="Shape 59"/>
          <p:cNvSpPr/>
          <p:nvPr/>
        </p:nvSpPr>
        <p:spPr>
          <a:xfrm>
            <a:off x="0" y="6322219"/>
            <a:ext cx="320040" cy="116300"/>
          </a:xfrm>
          <a:prstGeom prst="rect">
            <a:avLst/>
          </a:prstGeom>
          <a:solidFill>
            <a:srgbClr val="1D6AC0"/>
          </a:solidFill>
          <a:ln/>
        </p:spPr>
      </p:sp>
      <p:sp>
        <p:nvSpPr>
          <p:cNvPr id="62" name="Shape 60"/>
          <p:cNvSpPr/>
          <p:nvPr/>
        </p:nvSpPr>
        <p:spPr>
          <a:xfrm>
            <a:off x="0" y="6429375"/>
            <a:ext cx="320040" cy="116300"/>
          </a:xfrm>
          <a:prstGeom prst="rect">
            <a:avLst/>
          </a:prstGeom>
          <a:solidFill>
            <a:srgbClr val="1D6BC0"/>
          </a:solidFill>
          <a:ln/>
        </p:spPr>
      </p:sp>
      <p:sp>
        <p:nvSpPr>
          <p:cNvPr id="63" name="Shape 61"/>
          <p:cNvSpPr/>
          <p:nvPr/>
        </p:nvSpPr>
        <p:spPr>
          <a:xfrm>
            <a:off x="0" y="6536531"/>
            <a:ext cx="320040" cy="116300"/>
          </a:xfrm>
          <a:prstGeom prst="rect">
            <a:avLst/>
          </a:prstGeom>
          <a:solidFill>
            <a:srgbClr val="1C6DBF"/>
          </a:solidFill>
          <a:ln/>
        </p:spPr>
      </p:sp>
      <p:sp>
        <p:nvSpPr>
          <p:cNvPr id="64" name="Shape 62"/>
          <p:cNvSpPr/>
          <p:nvPr/>
        </p:nvSpPr>
        <p:spPr>
          <a:xfrm>
            <a:off x="0" y="6643688"/>
            <a:ext cx="320040" cy="116300"/>
          </a:xfrm>
          <a:prstGeom prst="rect">
            <a:avLst/>
          </a:prstGeom>
          <a:solidFill>
            <a:srgbClr val="1B6EBF"/>
          </a:solidFill>
          <a:ln/>
        </p:spPr>
      </p:sp>
      <p:sp>
        <p:nvSpPr>
          <p:cNvPr id="65" name="Shape 63"/>
          <p:cNvSpPr/>
          <p:nvPr/>
        </p:nvSpPr>
        <p:spPr>
          <a:xfrm>
            <a:off x="0" y="6750844"/>
            <a:ext cx="320040" cy="116300"/>
          </a:xfrm>
          <a:prstGeom prst="rect">
            <a:avLst/>
          </a:prstGeom>
          <a:solidFill>
            <a:srgbClr val="1A6FBE"/>
          </a:solidFill>
          <a:ln/>
        </p:spPr>
      </p:sp>
      <p:sp>
        <p:nvSpPr>
          <p:cNvPr id="66" name="Text 64"/>
          <p:cNvSpPr/>
          <p:nvPr/>
        </p:nvSpPr>
        <p:spPr>
          <a:xfrm>
            <a:off x="73152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TIME SAVED</a:t>
            </a:r>
            <a:endParaRPr lang="en-US" sz="1100" dirty="0"/>
          </a:p>
        </p:txBody>
      </p:sp>
      <p:sp>
        <p:nvSpPr>
          <p:cNvPr id="67" name="Text 65"/>
          <p:cNvSpPr/>
          <p:nvPr/>
        </p:nvSpPr>
        <p:spPr>
          <a:xfrm>
            <a:off x="548640" y="1554480"/>
            <a:ext cx="11094415" cy="3200400"/>
          </a:xfrm>
          <a:prstGeom prst="rect">
            <a:avLst/>
          </a:prstGeom>
          <a:noFill/>
          <a:ln/>
        </p:spPr>
        <p:txBody>
          <a:bodyPr wrap="square" lIns="0" tIns="0" rIns="0" bIns="0" rtlCol="0" anchor="ctr"/>
          <a:lstStyle/>
          <a:p>
            <a:pPr algn="l" indent="0" marL="0">
              <a:buNone/>
            </a:pPr>
            <a:r>
              <a:rPr lang="en-US" sz="22000" b="1" spc="-600" kern="0" dirty="0">
                <a:solidFill>
                  <a:srgbClr val="5028C2"/>
                </a:solidFill>
                <a:latin typeface="Calibri" pitchFamily="34" charset="0"/>
                <a:ea typeface="Calibri" pitchFamily="34" charset="-122"/>
                <a:cs typeface="Calibri" pitchFamily="34" charset="-120"/>
              </a:rPr>
              <a:t>95%</a:t>
            </a:r>
            <a:endParaRPr lang="en-US" sz="22000" dirty="0"/>
          </a:p>
        </p:txBody>
      </p:sp>
      <p:sp>
        <p:nvSpPr>
          <p:cNvPr id="68" name="Text 66"/>
          <p:cNvSpPr/>
          <p:nvPr/>
        </p:nvSpPr>
        <p:spPr>
          <a:xfrm>
            <a:off x="548640" y="4983480"/>
            <a:ext cx="11094415" cy="457200"/>
          </a:xfrm>
          <a:prstGeom prst="rect">
            <a:avLst/>
          </a:prstGeom>
          <a:noFill/>
          <a:ln/>
        </p:spPr>
        <p:txBody>
          <a:bodyPr wrap="square" lIns="0" tIns="0" rIns="0" bIns="0" rtlCol="0" anchor="t"/>
          <a:lstStyle/>
          <a:p>
            <a:pPr algn="l" indent="0" marL="0">
              <a:buNone/>
            </a:pPr>
            <a:r>
              <a:rPr lang="en-US" sz="2200" b="1" dirty="0">
                <a:solidFill>
                  <a:srgbClr val="0F1733"/>
                </a:solidFill>
                <a:latin typeface="Calibri" pitchFamily="34" charset="0"/>
                <a:ea typeface="Calibri" pitchFamily="34" charset="-122"/>
                <a:cs typeface="Calibri" pitchFamily="34" charset="-120"/>
              </a:rPr>
              <a:t>Reduction in profile-by-profile reading time vs. manual qualification.</a:t>
            </a:r>
            <a:endParaRPr lang="en-US" sz="2200" dirty="0"/>
          </a:p>
        </p:txBody>
      </p:sp>
      <p:sp>
        <p:nvSpPr>
          <p:cNvPr id="69" name="Text 67"/>
          <p:cNvSpPr/>
          <p:nvPr/>
        </p:nvSpPr>
        <p:spPr>
          <a:xfrm>
            <a:off x="548640" y="5486400"/>
            <a:ext cx="10637215" cy="640080"/>
          </a:xfrm>
          <a:prstGeom prst="rect">
            <a:avLst/>
          </a:prstGeom>
          <a:noFill/>
          <a:ln/>
        </p:spPr>
        <p:txBody>
          <a:bodyPr wrap="square" lIns="0" tIns="0" rIns="0" bIns="0" rtlCol="0" anchor="t"/>
          <a:lstStyle/>
          <a:p>
            <a:pPr algn="l" indent="0" marL="0">
              <a:buNone/>
            </a:pPr>
            <a:r>
              <a:rPr lang="en-US" sz="1300" dirty="0">
                <a:solidFill>
                  <a:srgbClr val="2A3358"/>
                </a:solidFill>
                <a:latin typeface="Calibri" pitchFamily="34" charset="0"/>
                <a:ea typeface="Calibri" pitchFamily="34" charset="-122"/>
                <a:cs typeface="Calibri" pitchFamily="34" charset="-120"/>
              </a:rPr>
              <a:t>Instead of opening 200 creator profiles to find the right 10, you open the top 10 ranked by AI fit score. The remaining 190 get filtered without losing the long tail — they're still in your CRM, just at the bottom.</a:t>
            </a:r>
            <a:endParaRPr lang="en-US" sz="13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08 · AI fit score  ·  vD</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053 / 126</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1ECFF"/>
        </a:solidFill>
      </p:bgPr>
    </p:bg>
    <p:spTree>
      <p:nvGrpSpPr>
        <p:cNvPr id="1" name=""/>
        <p:cNvGrpSpPr/>
        <p:nvPr/>
      </p:nvGrpSpPr>
      <p:grpSpPr>
        <a:xfrm>
          <a:off x="0" y="0"/>
          <a:ext cx="0" cy="0"/>
          <a:chOff x="0" y="0"/>
          <a:chExt cx="0" cy="0"/>
        </a:xfrm>
      </p:grpSpPr>
      <p:sp>
        <p:nvSpPr>
          <p:cNvPr id="2" name="Text 0"/>
          <p:cNvSpPr/>
          <p:nvPr/>
        </p:nvSpPr>
        <p:spPr>
          <a:xfrm>
            <a:off x="457200" y="365760"/>
            <a:ext cx="2286000" cy="2286000"/>
          </a:xfrm>
          <a:prstGeom prst="rect">
            <a:avLst/>
          </a:prstGeom>
          <a:noFill/>
          <a:ln/>
        </p:spPr>
        <p:txBody>
          <a:bodyPr wrap="square" lIns="0" tIns="0" rIns="0" bIns="0" rtlCol="0" anchor="t"/>
          <a:lstStyle/>
          <a:p>
            <a:pPr algn="l" indent="0" marL="0">
              <a:buNone/>
            </a:pPr>
            <a:r>
              <a:rPr lang="en-US" sz="24000" b="1" dirty="0">
                <a:solidFill>
                  <a:srgbClr val="5028C2"/>
                </a:solidFill>
                <a:latin typeface="Georgia" pitchFamily="34" charset="0"/>
                <a:ea typeface="Georgia" pitchFamily="34" charset="-122"/>
                <a:cs typeface="Georgia" pitchFamily="34" charset="-120"/>
              </a:rPr>
              <a:t>"</a:t>
            </a:r>
            <a:endParaRPr lang="en-US" sz="24000" dirty="0"/>
          </a:p>
        </p:txBody>
      </p:sp>
      <p:sp>
        <p:nvSpPr>
          <p:cNvPr id="3" name="Text 1"/>
          <p:cNvSpPr/>
          <p:nvPr/>
        </p:nvSpPr>
        <p:spPr>
          <a:xfrm>
            <a:off x="1920240" y="1737360"/>
            <a:ext cx="9722815" cy="3108960"/>
          </a:xfrm>
          <a:prstGeom prst="rect">
            <a:avLst/>
          </a:prstGeom>
          <a:noFill/>
          <a:ln/>
        </p:spPr>
        <p:txBody>
          <a:bodyPr wrap="square" lIns="0" tIns="0" rIns="0" bIns="0" rtlCol="0" anchor="t"/>
          <a:lstStyle/>
          <a:p>
            <a:pPr algn="l" indent="0" marL="0">
              <a:buNone/>
            </a:pPr>
            <a:r>
              <a:rPr lang="en-US" sz="3000" i="1" dirty="0">
                <a:solidFill>
                  <a:srgbClr val="0F1733"/>
                </a:solidFill>
                <a:latin typeface="Georgia" pitchFamily="34" charset="0"/>
                <a:ea typeface="Georgia" pitchFamily="34" charset="-122"/>
                <a:cs typeface="Georgia" pitchFamily="34" charset="-120"/>
              </a:rPr>
              <a:t>The score gave me explicit permission to skip 80% of the results — and the 20% I opened were almost always right.</a:t>
            </a:r>
            <a:endParaRPr lang="en-US" sz="3000" dirty="0"/>
          </a:p>
        </p:txBody>
      </p:sp>
      <p:sp>
        <p:nvSpPr>
          <p:cNvPr id="4" name="Shape 2"/>
          <p:cNvSpPr/>
          <p:nvPr/>
        </p:nvSpPr>
        <p:spPr>
          <a:xfrm>
            <a:off x="1920240" y="5120640"/>
            <a:ext cx="640080" cy="0"/>
          </a:xfrm>
          <a:prstGeom prst="line">
            <a:avLst/>
          </a:prstGeom>
          <a:noFill/>
          <a:ln w="25400">
            <a:solidFill>
              <a:srgbClr val="5028C2"/>
            </a:solidFill>
            <a:prstDash val="solid"/>
          </a:ln>
        </p:spPr>
      </p:sp>
      <p:sp>
        <p:nvSpPr>
          <p:cNvPr id="5" name="Text 3"/>
          <p:cNvSpPr/>
          <p:nvPr/>
        </p:nvSpPr>
        <p:spPr>
          <a:xfrm>
            <a:off x="1920240" y="5212080"/>
            <a:ext cx="9722815" cy="457200"/>
          </a:xfrm>
          <a:prstGeom prst="rect">
            <a:avLst/>
          </a:prstGeom>
          <a:noFill/>
          <a:ln/>
        </p:spPr>
        <p:txBody>
          <a:bodyPr wrap="square" lIns="0" tIns="0" rIns="0" bIns="0" rtlCol="0" anchor="t"/>
          <a:lstStyle/>
          <a:p>
            <a:pPr algn="l" indent="0" marL="0">
              <a:buNone/>
            </a:pPr>
            <a:r>
              <a:rPr lang="en-US" sz="1400" b="1" spc="100" kern="0" dirty="0">
                <a:solidFill>
                  <a:srgbClr val="3D1E96"/>
                </a:solidFill>
                <a:latin typeface="Calibri" pitchFamily="34" charset="0"/>
                <a:ea typeface="Calibri" pitchFamily="34" charset="-122"/>
                <a:cs typeface="Calibri" pitchFamily="34" charset="-120"/>
              </a:rPr>
              <a:t>Beta user — design SaaS founder</a:t>
            </a:r>
            <a:endParaRPr lang="en-US" sz="1400" dirty="0"/>
          </a:p>
        </p:txBody>
      </p:sp>
      <p:sp>
        <p:nvSpPr>
          <p:cNvPr id="6" name="Text 4"/>
          <p:cNvSpPr/>
          <p:nvPr/>
        </p:nvSpPr>
        <p:spPr>
          <a:xfrm>
            <a:off x="1920240" y="5532120"/>
            <a:ext cx="9722815" cy="365760"/>
          </a:xfrm>
          <a:prstGeom prst="rect">
            <a:avLst/>
          </a:prstGeom>
          <a:noFill/>
          <a:ln/>
        </p:spPr>
        <p:txBody>
          <a:bodyPr wrap="square" lIns="0" tIns="0" rIns="0" bIns="0" rtlCol="0" anchor="t"/>
          <a:lstStyle/>
          <a:p>
            <a:pPr algn="l" indent="0" marL="0">
              <a:buNone/>
            </a:pPr>
            <a:r>
              <a:rPr lang="en-US" sz="1200" dirty="0">
                <a:solidFill>
                  <a:srgbClr val="6B7493"/>
                </a:solidFill>
                <a:latin typeface="Calibri" pitchFamily="34" charset="0"/>
                <a:ea typeface="Calibri" pitchFamily="34" charset="-122"/>
                <a:cs typeface="Calibri" pitchFamily="34" charset="-120"/>
              </a:rPr>
              <a:t>On the value of structured qualification</a:t>
            </a:r>
            <a:endParaRPr lang="en-US" sz="1200" dirty="0"/>
          </a:p>
        </p:txBody>
      </p:sp>
      <p:sp>
        <p:nvSpPr>
          <p:cNvPr id="7" name="Shape 5"/>
          <p:cNvSpPr/>
          <p:nvPr/>
        </p:nvSpPr>
        <p:spPr>
          <a:xfrm>
            <a:off x="548640" y="502920"/>
            <a:ext cx="292608" cy="292608"/>
          </a:xfrm>
          <a:prstGeom prst="roundRect">
            <a:avLst>
              <a:gd name="adj" fmla="val 25000"/>
            </a:avLst>
          </a:prstGeom>
          <a:solidFill>
            <a:srgbClr val="5028C2"/>
          </a:solidFill>
          <a:ln/>
        </p:spPr>
      </p:sp>
      <p:sp>
        <p:nvSpPr>
          <p:cNvPr id="8" name="Shape 6"/>
          <p:cNvSpPr/>
          <p:nvPr/>
        </p:nvSpPr>
        <p:spPr>
          <a:xfrm>
            <a:off x="548640" y="502920"/>
            <a:ext cx="292608" cy="292608"/>
          </a:xfrm>
          <a:prstGeom prst="roundRect">
            <a:avLst>
              <a:gd name="adj" fmla="val 25000"/>
            </a:avLst>
          </a:prstGeom>
          <a:solidFill>
            <a:srgbClr val="1A6FBE">
              <a:alpha val="50000"/>
            </a:srgbClr>
          </a:solidFill>
          <a:ln/>
        </p:spPr>
      </p:sp>
      <p:sp>
        <p:nvSpPr>
          <p:cNvPr id="9" name="Text 7"/>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0" name="Text 8"/>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1" name="Text 9"/>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08 · AI fit score  ·  vE</a:t>
            </a:r>
            <a:endParaRPr lang="en-US" sz="900" dirty="0"/>
          </a:p>
        </p:txBody>
      </p:sp>
      <p:sp>
        <p:nvSpPr>
          <p:cNvPr id="12" name="Text 10"/>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3" name="Text 11"/>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054 / 126</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a:off x="3047924" y="0"/>
            <a:ext cx="9143771" cy="6858000"/>
          </a:xfrm>
          <a:prstGeom prst="rtTriangle">
            <a:avLst/>
          </a:prstGeom>
          <a:solidFill>
            <a:srgbClr val="5028C2"/>
          </a:solidFill>
          <a:ln/>
        </p:spPr>
      </p:sp>
      <p:sp>
        <p:nvSpPr>
          <p:cNvPr id="3" name="Shape 1"/>
          <p:cNvSpPr/>
          <p:nvPr/>
        </p:nvSpPr>
        <p:spPr>
          <a:xfrm flipH="1">
            <a:off x="4876678" y="1028700"/>
            <a:ext cx="7924602" cy="6515100"/>
          </a:xfrm>
          <a:prstGeom prst="rtTriangle">
            <a:avLst/>
          </a:prstGeom>
          <a:solidFill>
            <a:srgbClr val="1A6FBE">
              <a:alpha val="75000"/>
            </a:srgbClr>
          </a:solidFill>
          <a:ln/>
        </p:spPr>
      </p:sp>
      <p:sp>
        <p:nvSpPr>
          <p:cNvPr id="4" name="Text 2"/>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AI FIT SCORE</a:t>
            </a:r>
            <a:endParaRPr lang="en-US" sz="1100" dirty="0"/>
          </a:p>
        </p:txBody>
      </p:sp>
      <p:sp>
        <p:nvSpPr>
          <p:cNvPr id="5" name="Text 3"/>
          <p:cNvSpPr/>
          <p:nvPr/>
        </p:nvSpPr>
        <p:spPr>
          <a:xfrm>
            <a:off x="548640" y="1417320"/>
            <a:ext cx="6095848" cy="2286000"/>
          </a:xfrm>
          <a:prstGeom prst="rect">
            <a:avLst/>
          </a:prstGeom>
          <a:noFill/>
          <a:ln/>
        </p:spPr>
        <p:txBody>
          <a:bodyPr wrap="square" lIns="0" tIns="0" rIns="0" bIns="0" rtlCol="0" anchor="t"/>
          <a:lstStyle/>
          <a:p>
            <a:pPr algn="l" indent="0" marL="0">
              <a:buNone/>
            </a:pPr>
            <a:r>
              <a:rPr lang="en-US" sz="4000" b="1" spc="-50" kern="0" dirty="0">
                <a:solidFill>
                  <a:srgbClr val="0F1733"/>
                </a:solidFill>
                <a:latin typeface="Calibri" pitchFamily="34" charset="0"/>
                <a:ea typeface="Calibri" pitchFamily="34" charset="-122"/>
                <a:cs typeface="Calibri" pitchFamily="34" charset="-120"/>
              </a:rPr>
              <a:t>Trustworthy because it's explained.</a:t>
            </a:r>
            <a:endParaRPr lang="en-US" sz="4000" dirty="0"/>
          </a:p>
        </p:txBody>
      </p:sp>
      <p:sp>
        <p:nvSpPr>
          <p:cNvPr id="6" name="Text 4"/>
          <p:cNvSpPr/>
          <p:nvPr/>
        </p:nvSpPr>
        <p:spPr>
          <a:xfrm>
            <a:off x="548640" y="3840480"/>
            <a:ext cx="5821528" cy="2103120"/>
          </a:xfrm>
          <a:prstGeom prst="rect">
            <a:avLst/>
          </a:prstGeom>
          <a:noFill/>
          <a:ln/>
        </p:spPr>
        <p:txBody>
          <a:bodyPr wrap="square" lIns="0" tIns="0" rIns="0" bIns="0" rtlCol="0" anchor="t"/>
          <a:lstStyle/>
          <a:p>
            <a:pPr algn="l" indent="0" marL="0">
              <a:spcAft>
                <a:spcPts val="600"/>
              </a:spcAft>
              <a:buNone/>
            </a:pPr>
            <a:r>
              <a:rPr lang="en-US" sz="1400" dirty="0">
                <a:solidFill>
                  <a:srgbClr val="2A3358"/>
                </a:solidFill>
                <a:latin typeface="Calibri" pitchFamily="34" charset="0"/>
                <a:ea typeface="Calibri" pitchFamily="34" charset="-122"/>
                <a:cs typeface="Calibri" pitchFamily="34" charset="-120"/>
              </a:rPr>
              <a:t>Every score is broken into audience, content, and brand fit components — so you can see why a creator scored 87 and what would push them higher. No black-box ranking; every score is auditable.</a:t>
            </a:r>
            <a:endParaRPr lang="en-US" sz="1400" dirty="0"/>
          </a:p>
        </p:txBody>
      </p:sp>
      <p:sp>
        <p:nvSpPr>
          <p:cNvPr id="7" name="Text 5"/>
          <p:cNvSpPr/>
          <p:nvPr/>
        </p:nvSpPr>
        <p:spPr>
          <a:xfrm>
            <a:off x="6705432" y="2926080"/>
            <a:ext cx="4876678" cy="3291840"/>
          </a:xfrm>
          <a:prstGeom prst="rect">
            <a:avLst/>
          </a:prstGeom>
          <a:noFill/>
          <a:ln/>
        </p:spPr>
        <p:txBody>
          <a:bodyPr wrap="square" lIns="0" tIns="0" rIns="0" bIns="0" rtlCol="0" anchor="ctr"/>
          <a:lstStyle/>
          <a:p>
            <a:pPr algn="r" indent="0" marL="0">
              <a:buNone/>
            </a:pPr>
            <a:r>
              <a:rPr lang="en-US" sz="3200" b="1" spc="-50" kern="0" dirty="0">
                <a:solidFill>
                  <a:srgbClr val="FFFFFF"/>
                </a:solidFill>
                <a:latin typeface="Calibri" pitchFamily="34" charset="0"/>
                <a:ea typeface="Calibri" pitchFamily="34" charset="-122"/>
                <a:cs typeface="Calibri" pitchFamily="34" charset="-120"/>
              </a:rPr>
              <a:t>Score:</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87/100</a:t>
            </a:r>
            <a:endParaRPr lang="en-US" sz="3200" dirty="0"/>
          </a:p>
          <a:p>
            <a:pPr algn="r" indent="0" marL="0">
              <a:buNone/>
            </a:pP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Why?</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Shown.</a:t>
            </a:r>
            <a:endParaRPr lang="en-US" sz="3200" dirty="0"/>
          </a:p>
        </p:txBody>
      </p:sp>
      <p:sp>
        <p:nvSpPr>
          <p:cNvPr id="8" name="Shape 6"/>
          <p:cNvSpPr/>
          <p:nvPr/>
        </p:nvSpPr>
        <p:spPr>
          <a:xfrm>
            <a:off x="548640" y="502920"/>
            <a:ext cx="292608" cy="292608"/>
          </a:xfrm>
          <a:prstGeom prst="roundRect">
            <a:avLst>
              <a:gd name="adj" fmla="val 25000"/>
            </a:avLst>
          </a:prstGeom>
          <a:solidFill>
            <a:srgbClr val="5028C2"/>
          </a:solidFill>
          <a:ln/>
        </p:spPr>
      </p:sp>
      <p:sp>
        <p:nvSpPr>
          <p:cNvPr id="9" name="Shape 7"/>
          <p:cNvSpPr/>
          <p:nvPr/>
        </p:nvSpPr>
        <p:spPr>
          <a:xfrm>
            <a:off x="548640" y="502920"/>
            <a:ext cx="292608" cy="292608"/>
          </a:xfrm>
          <a:prstGeom prst="roundRect">
            <a:avLst>
              <a:gd name="adj" fmla="val 25000"/>
            </a:avLst>
          </a:prstGeom>
          <a:solidFill>
            <a:srgbClr val="1A6FBE">
              <a:alpha val="50000"/>
            </a:srgbClr>
          </a:solidFill>
          <a:ln/>
        </p:spPr>
      </p:sp>
      <p:sp>
        <p:nvSpPr>
          <p:cNvPr id="10" name="Text 8"/>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1" name="Text 9"/>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2" name="Text 10"/>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08 · AI fit score  ·  vF</a:t>
            </a:r>
            <a:endParaRPr lang="en-US" sz="900" dirty="0"/>
          </a:p>
        </p:txBody>
      </p:sp>
      <p:sp>
        <p:nvSpPr>
          <p:cNvPr id="13" name="Text 11"/>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4" name="Text 12"/>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055 / 126</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CFAF6"/>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AI FIT SCORE</a:t>
            </a:r>
            <a:endParaRPr lang="en-US" sz="1100" dirty="0"/>
          </a:p>
        </p:txBody>
      </p:sp>
      <p:sp>
        <p:nvSpPr>
          <p:cNvPr id="3" name="Text 1"/>
          <p:cNvSpPr/>
          <p:nvPr/>
        </p:nvSpPr>
        <p:spPr>
          <a:xfrm>
            <a:off x="548640" y="1417320"/>
            <a:ext cx="11094415" cy="914400"/>
          </a:xfrm>
          <a:prstGeom prst="rect">
            <a:avLst/>
          </a:prstGeom>
          <a:noFill/>
          <a:ln/>
        </p:spPr>
        <p:txBody>
          <a:bodyPr wrap="square" lIns="0" tIns="0" rIns="0" bIns="0" rtlCol="0" anchor="t"/>
          <a:lstStyle/>
          <a:p>
            <a:pPr algn="l" indent="0" marL="0">
              <a:buNone/>
            </a:pPr>
            <a:r>
              <a:rPr lang="en-US" sz="3400" b="1" spc="-50" kern="0" dirty="0">
                <a:solidFill>
                  <a:srgbClr val="0F1733"/>
                </a:solidFill>
                <a:latin typeface="Calibri" pitchFamily="34" charset="0"/>
                <a:ea typeface="Calibri" pitchFamily="34" charset="-122"/>
                <a:cs typeface="Calibri" pitchFamily="34" charset="-120"/>
              </a:rPr>
              <a:t>The qualification layer that didn't exist before.</a:t>
            </a:r>
            <a:endParaRPr lang="en-US" sz="3400" dirty="0"/>
          </a:p>
        </p:txBody>
      </p:sp>
      <p:sp>
        <p:nvSpPr>
          <p:cNvPr id="4" name="Shape 2"/>
          <p:cNvSpPr/>
          <p:nvPr/>
        </p:nvSpPr>
        <p:spPr>
          <a:xfrm>
            <a:off x="548640" y="2514600"/>
            <a:ext cx="5464912" cy="67008"/>
          </a:xfrm>
          <a:prstGeom prst="rect">
            <a:avLst/>
          </a:prstGeom>
          <a:solidFill>
            <a:srgbClr val="5028C2"/>
          </a:solidFill>
          <a:ln/>
        </p:spPr>
      </p:sp>
      <p:sp>
        <p:nvSpPr>
          <p:cNvPr id="5" name="Shape 3"/>
          <p:cNvSpPr/>
          <p:nvPr/>
        </p:nvSpPr>
        <p:spPr>
          <a:xfrm>
            <a:off x="548640" y="2572464"/>
            <a:ext cx="5464912" cy="67008"/>
          </a:xfrm>
          <a:prstGeom prst="rect">
            <a:avLst/>
          </a:prstGeom>
          <a:solidFill>
            <a:srgbClr val="4F29C2"/>
          </a:solidFill>
          <a:ln/>
        </p:spPr>
      </p:sp>
      <p:sp>
        <p:nvSpPr>
          <p:cNvPr id="6" name="Shape 4"/>
          <p:cNvSpPr/>
          <p:nvPr/>
        </p:nvSpPr>
        <p:spPr>
          <a:xfrm>
            <a:off x="548640" y="2630329"/>
            <a:ext cx="5464912" cy="67008"/>
          </a:xfrm>
          <a:prstGeom prst="rect">
            <a:avLst/>
          </a:prstGeom>
          <a:solidFill>
            <a:srgbClr val="4E2AC3"/>
          </a:solidFill>
          <a:ln/>
        </p:spPr>
      </p:sp>
      <p:sp>
        <p:nvSpPr>
          <p:cNvPr id="7" name="Shape 5"/>
          <p:cNvSpPr/>
          <p:nvPr/>
        </p:nvSpPr>
        <p:spPr>
          <a:xfrm>
            <a:off x="548640" y="2688193"/>
            <a:ext cx="5464912" cy="67008"/>
          </a:xfrm>
          <a:prstGeom prst="rect">
            <a:avLst/>
          </a:prstGeom>
          <a:solidFill>
            <a:srgbClr val="4D2BC3"/>
          </a:solidFill>
          <a:ln/>
        </p:spPr>
      </p:sp>
      <p:sp>
        <p:nvSpPr>
          <p:cNvPr id="8" name="Shape 6"/>
          <p:cNvSpPr/>
          <p:nvPr/>
        </p:nvSpPr>
        <p:spPr>
          <a:xfrm>
            <a:off x="548640" y="2746058"/>
            <a:ext cx="5464912" cy="67008"/>
          </a:xfrm>
          <a:prstGeom prst="rect">
            <a:avLst/>
          </a:prstGeom>
          <a:solidFill>
            <a:srgbClr val="4D2CC4"/>
          </a:solidFill>
          <a:ln/>
        </p:spPr>
      </p:sp>
      <p:sp>
        <p:nvSpPr>
          <p:cNvPr id="9" name="Shape 7"/>
          <p:cNvSpPr/>
          <p:nvPr/>
        </p:nvSpPr>
        <p:spPr>
          <a:xfrm>
            <a:off x="548640" y="2803922"/>
            <a:ext cx="5464912" cy="67008"/>
          </a:xfrm>
          <a:prstGeom prst="rect">
            <a:avLst/>
          </a:prstGeom>
          <a:solidFill>
            <a:srgbClr val="4C2DC4"/>
          </a:solidFill>
          <a:ln/>
        </p:spPr>
      </p:sp>
      <p:sp>
        <p:nvSpPr>
          <p:cNvPr id="10" name="Shape 8"/>
          <p:cNvSpPr/>
          <p:nvPr/>
        </p:nvSpPr>
        <p:spPr>
          <a:xfrm>
            <a:off x="548640" y="2861786"/>
            <a:ext cx="5464912" cy="67008"/>
          </a:xfrm>
          <a:prstGeom prst="rect">
            <a:avLst/>
          </a:prstGeom>
          <a:solidFill>
            <a:srgbClr val="4B2EC5"/>
          </a:solidFill>
          <a:ln/>
        </p:spPr>
      </p:sp>
      <p:sp>
        <p:nvSpPr>
          <p:cNvPr id="11" name="Shape 9"/>
          <p:cNvSpPr/>
          <p:nvPr/>
        </p:nvSpPr>
        <p:spPr>
          <a:xfrm>
            <a:off x="548640" y="2919651"/>
            <a:ext cx="5464912" cy="67008"/>
          </a:xfrm>
          <a:prstGeom prst="rect">
            <a:avLst/>
          </a:prstGeom>
          <a:solidFill>
            <a:srgbClr val="4A2FC5"/>
          </a:solidFill>
          <a:ln/>
        </p:spPr>
      </p:sp>
      <p:sp>
        <p:nvSpPr>
          <p:cNvPr id="12" name="Shape 10"/>
          <p:cNvSpPr/>
          <p:nvPr/>
        </p:nvSpPr>
        <p:spPr>
          <a:xfrm>
            <a:off x="548640" y="2977515"/>
            <a:ext cx="5464912" cy="67008"/>
          </a:xfrm>
          <a:prstGeom prst="rect">
            <a:avLst/>
          </a:prstGeom>
          <a:solidFill>
            <a:srgbClr val="4930C6"/>
          </a:solidFill>
          <a:ln/>
        </p:spPr>
      </p:sp>
      <p:sp>
        <p:nvSpPr>
          <p:cNvPr id="13" name="Shape 11"/>
          <p:cNvSpPr/>
          <p:nvPr/>
        </p:nvSpPr>
        <p:spPr>
          <a:xfrm>
            <a:off x="548640" y="3035379"/>
            <a:ext cx="5464912" cy="67008"/>
          </a:xfrm>
          <a:prstGeom prst="rect">
            <a:avLst/>
          </a:prstGeom>
          <a:solidFill>
            <a:srgbClr val="4831C6"/>
          </a:solidFill>
          <a:ln/>
        </p:spPr>
      </p:sp>
      <p:sp>
        <p:nvSpPr>
          <p:cNvPr id="14" name="Shape 12"/>
          <p:cNvSpPr/>
          <p:nvPr/>
        </p:nvSpPr>
        <p:spPr>
          <a:xfrm>
            <a:off x="548640" y="3093244"/>
            <a:ext cx="5464912" cy="67008"/>
          </a:xfrm>
          <a:prstGeom prst="rect">
            <a:avLst/>
          </a:prstGeom>
          <a:solidFill>
            <a:srgbClr val="4732C6"/>
          </a:solidFill>
          <a:ln/>
        </p:spPr>
      </p:sp>
      <p:sp>
        <p:nvSpPr>
          <p:cNvPr id="15" name="Shape 13"/>
          <p:cNvSpPr/>
          <p:nvPr/>
        </p:nvSpPr>
        <p:spPr>
          <a:xfrm>
            <a:off x="548640" y="3151108"/>
            <a:ext cx="5464912" cy="67008"/>
          </a:xfrm>
          <a:prstGeom prst="rect">
            <a:avLst/>
          </a:prstGeom>
          <a:solidFill>
            <a:srgbClr val="4733C7"/>
          </a:solidFill>
          <a:ln/>
        </p:spPr>
      </p:sp>
      <p:sp>
        <p:nvSpPr>
          <p:cNvPr id="16" name="Shape 14"/>
          <p:cNvSpPr/>
          <p:nvPr/>
        </p:nvSpPr>
        <p:spPr>
          <a:xfrm>
            <a:off x="548640" y="3208973"/>
            <a:ext cx="5464912" cy="67008"/>
          </a:xfrm>
          <a:prstGeom prst="rect">
            <a:avLst/>
          </a:prstGeom>
          <a:solidFill>
            <a:srgbClr val="4634C7"/>
          </a:solidFill>
          <a:ln/>
        </p:spPr>
      </p:sp>
      <p:sp>
        <p:nvSpPr>
          <p:cNvPr id="17" name="Shape 15"/>
          <p:cNvSpPr/>
          <p:nvPr/>
        </p:nvSpPr>
        <p:spPr>
          <a:xfrm>
            <a:off x="548640" y="3266837"/>
            <a:ext cx="5464912" cy="67008"/>
          </a:xfrm>
          <a:prstGeom prst="rect">
            <a:avLst/>
          </a:prstGeom>
          <a:solidFill>
            <a:srgbClr val="4535C8"/>
          </a:solidFill>
          <a:ln/>
        </p:spPr>
      </p:sp>
      <p:sp>
        <p:nvSpPr>
          <p:cNvPr id="18" name="Shape 16"/>
          <p:cNvSpPr/>
          <p:nvPr/>
        </p:nvSpPr>
        <p:spPr>
          <a:xfrm>
            <a:off x="548640" y="3324701"/>
            <a:ext cx="5464912" cy="67008"/>
          </a:xfrm>
          <a:prstGeom prst="rect">
            <a:avLst/>
          </a:prstGeom>
          <a:solidFill>
            <a:srgbClr val="4436C8"/>
          </a:solidFill>
          <a:ln/>
        </p:spPr>
      </p:sp>
      <p:sp>
        <p:nvSpPr>
          <p:cNvPr id="19" name="Shape 17"/>
          <p:cNvSpPr/>
          <p:nvPr/>
        </p:nvSpPr>
        <p:spPr>
          <a:xfrm>
            <a:off x="548640" y="3382566"/>
            <a:ext cx="5464912" cy="67008"/>
          </a:xfrm>
          <a:prstGeom prst="rect">
            <a:avLst/>
          </a:prstGeom>
          <a:solidFill>
            <a:srgbClr val="4337C9"/>
          </a:solidFill>
          <a:ln/>
        </p:spPr>
      </p:sp>
      <p:sp>
        <p:nvSpPr>
          <p:cNvPr id="20" name="Shape 18"/>
          <p:cNvSpPr/>
          <p:nvPr/>
        </p:nvSpPr>
        <p:spPr>
          <a:xfrm>
            <a:off x="548640" y="3440430"/>
            <a:ext cx="5464912" cy="67008"/>
          </a:xfrm>
          <a:prstGeom prst="rect">
            <a:avLst/>
          </a:prstGeom>
          <a:solidFill>
            <a:srgbClr val="4238C9"/>
          </a:solidFill>
          <a:ln/>
        </p:spPr>
      </p:sp>
      <p:sp>
        <p:nvSpPr>
          <p:cNvPr id="21" name="Shape 19"/>
          <p:cNvSpPr/>
          <p:nvPr/>
        </p:nvSpPr>
        <p:spPr>
          <a:xfrm>
            <a:off x="548640" y="3498294"/>
            <a:ext cx="5464912" cy="67008"/>
          </a:xfrm>
          <a:prstGeom prst="rect">
            <a:avLst/>
          </a:prstGeom>
          <a:solidFill>
            <a:srgbClr val="4139CA"/>
          </a:solidFill>
          <a:ln/>
        </p:spPr>
      </p:sp>
      <p:sp>
        <p:nvSpPr>
          <p:cNvPr id="22" name="Shape 20"/>
          <p:cNvSpPr/>
          <p:nvPr/>
        </p:nvSpPr>
        <p:spPr>
          <a:xfrm>
            <a:off x="548640" y="3556159"/>
            <a:ext cx="5464912" cy="67008"/>
          </a:xfrm>
          <a:prstGeom prst="rect">
            <a:avLst/>
          </a:prstGeom>
          <a:solidFill>
            <a:srgbClr val="413ACA"/>
          </a:solidFill>
          <a:ln/>
        </p:spPr>
      </p:sp>
      <p:sp>
        <p:nvSpPr>
          <p:cNvPr id="23" name="Shape 21"/>
          <p:cNvSpPr/>
          <p:nvPr/>
        </p:nvSpPr>
        <p:spPr>
          <a:xfrm>
            <a:off x="548640" y="3614023"/>
            <a:ext cx="5464912" cy="67008"/>
          </a:xfrm>
          <a:prstGeom prst="rect">
            <a:avLst/>
          </a:prstGeom>
          <a:solidFill>
            <a:srgbClr val="403BCA"/>
          </a:solidFill>
          <a:ln/>
        </p:spPr>
      </p:sp>
      <p:sp>
        <p:nvSpPr>
          <p:cNvPr id="24" name="Shape 22"/>
          <p:cNvSpPr/>
          <p:nvPr/>
        </p:nvSpPr>
        <p:spPr>
          <a:xfrm>
            <a:off x="548640" y="3671888"/>
            <a:ext cx="5464912" cy="67008"/>
          </a:xfrm>
          <a:prstGeom prst="rect">
            <a:avLst/>
          </a:prstGeom>
          <a:solidFill>
            <a:srgbClr val="3F3CCB"/>
          </a:solidFill>
          <a:ln/>
        </p:spPr>
      </p:sp>
      <p:sp>
        <p:nvSpPr>
          <p:cNvPr id="25" name="Shape 23"/>
          <p:cNvSpPr/>
          <p:nvPr/>
        </p:nvSpPr>
        <p:spPr>
          <a:xfrm>
            <a:off x="548640" y="3729752"/>
            <a:ext cx="5464912" cy="67008"/>
          </a:xfrm>
          <a:prstGeom prst="rect">
            <a:avLst/>
          </a:prstGeom>
          <a:solidFill>
            <a:srgbClr val="3E3DCB"/>
          </a:solidFill>
          <a:ln/>
        </p:spPr>
      </p:sp>
      <p:sp>
        <p:nvSpPr>
          <p:cNvPr id="26" name="Shape 24"/>
          <p:cNvSpPr/>
          <p:nvPr/>
        </p:nvSpPr>
        <p:spPr>
          <a:xfrm>
            <a:off x="548640" y="3787616"/>
            <a:ext cx="5464912" cy="67008"/>
          </a:xfrm>
          <a:prstGeom prst="rect">
            <a:avLst/>
          </a:prstGeom>
          <a:solidFill>
            <a:srgbClr val="3D3ECC"/>
          </a:solidFill>
          <a:ln/>
        </p:spPr>
      </p:sp>
      <p:sp>
        <p:nvSpPr>
          <p:cNvPr id="27" name="Shape 25"/>
          <p:cNvSpPr/>
          <p:nvPr/>
        </p:nvSpPr>
        <p:spPr>
          <a:xfrm>
            <a:off x="548640" y="3845481"/>
            <a:ext cx="5464912" cy="67008"/>
          </a:xfrm>
          <a:prstGeom prst="rect">
            <a:avLst/>
          </a:prstGeom>
          <a:solidFill>
            <a:srgbClr val="3C3FCC"/>
          </a:solidFill>
          <a:ln/>
        </p:spPr>
      </p:sp>
      <p:sp>
        <p:nvSpPr>
          <p:cNvPr id="28" name="Shape 26"/>
          <p:cNvSpPr/>
          <p:nvPr/>
        </p:nvSpPr>
        <p:spPr>
          <a:xfrm>
            <a:off x="548640" y="3903345"/>
            <a:ext cx="5464912" cy="67008"/>
          </a:xfrm>
          <a:prstGeom prst="rect">
            <a:avLst/>
          </a:prstGeom>
          <a:solidFill>
            <a:srgbClr val="3B40CD"/>
          </a:solidFill>
          <a:ln/>
        </p:spPr>
      </p:sp>
      <p:sp>
        <p:nvSpPr>
          <p:cNvPr id="29" name="Shape 27"/>
          <p:cNvSpPr/>
          <p:nvPr/>
        </p:nvSpPr>
        <p:spPr>
          <a:xfrm>
            <a:off x="548640" y="3961209"/>
            <a:ext cx="5464912" cy="67008"/>
          </a:xfrm>
          <a:prstGeom prst="rect">
            <a:avLst/>
          </a:prstGeom>
          <a:solidFill>
            <a:srgbClr val="3B41CD"/>
          </a:solidFill>
          <a:ln/>
        </p:spPr>
      </p:sp>
      <p:sp>
        <p:nvSpPr>
          <p:cNvPr id="30" name="Shape 28"/>
          <p:cNvSpPr/>
          <p:nvPr/>
        </p:nvSpPr>
        <p:spPr>
          <a:xfrm>
            <a:off x="548640" y="4019074"/>
            <a:ext cx="5464912" cy="67008"/>
          </a:xfrm>
          <a:prstGeom prst="rect">
            <a:avLst/>
          </a:prstGeom>
          <a:solidFill>
            <a:srgbClr val="3A42CE"/>
          </a:solidFill>
          <a:ln/>
        </p:spPr>
      </p:sp>
      <p:sp>
        <p:nvSpPr>
          <p:cNvPr id="31" name="Shape 29"/>
          <p:cNvSpPr/>
          <p:nvPr/>
        </p:nvSpPr>
        <p:spPr>
          <a:xfrm>
            <a:off x="548640" y="4076938"/>
            <a:ext cx="5464912" cy="67008"/>
          </a:xfrm>
          <a:prstGeom prst="rect">
            <a:avLst/>
          </a:prstGeom>
          <a:solidFill>
            <a:srgbClr val="3943CE"/>
          </a:solidFill>
          <a:ln/>
        </p:spPr>
      </p:sp>
      <p:sp>
        <p:nvSpPr>
          <p:cNvPr id="32" name="Shape 30"/>
          <p:cNvSpPr/>
          <p:nvPr/>
        </p:nvSpPr>
        <p:spPr>
          <a:xfrm>
            <a:off x="548640" y="4134802"/>
            <a:ext cx="5464912" cy="67008"/>
          </a:xfrm>
          <a:prstGeom prst="rect">
            <a:avLst/>
          </a:prstGeom>
          <a:solidFill>
            <a:srgbClr val="3844CE"/>
          </a:solidFill>
          <a:ln/>
        </p:spPr>
      </p:sp>
      <p:sp>
        <p:nvSpPr>
          <p:cNvPr id="33" name="Shape 31"/>
          <p:cNvSpPr/>
          <p:nvPr/>
        </p:nvSpPr>
        <p:spPr>
          <a:xfrm>
            <a:off x="548640" y="4192667"/>
            <a:ext cx="5464912" cy="67008"/>
          </a:xfrm>
          <a:prstGeom prst="rect">
            <a:avLst/>
          </a:prstGeom>
          <a:solidFill>
            <a:srgbClr val="3745CF"/>
          </a:solidFill>
          <a:ln/>
        </p:spPr>
      </p:sp>
      <p:sp>
        <p:nvSpPr>
          <p:cNvPr id="34" name="Shape 32"/>
          <p:cNvSpPr/>
          <p:nvPr/>
        </p:nvSpPr>
        <p:spPr>
          <a:xfrm>
            <a:off x="548640" y="4250531"/>
            <a:ext cx="5464912" cy="67008"/>
          </a:xfrm>
          <a:prstGeom prst="rect">
            <a:avLst/>
          </a:prstGeom>
          <a:solidFill>
            <a:srgbClr val="3646CF"/>
          </a:solidFill>
          <a:ln/>
        </p:spPr>
      </p:sp>
      <p:sp>
        <p:nvSpPr>
          <p:cNvPr id="35" name="Shape 33"/>
          <p:cNvSpPr/>
          <p:nvPr/>
        </p:nvSpPr>
        <p:spPr>
          <a:xfrm>
            <a:off x="548640" y="4308396"/>
            <a:ext cx="5464912" cy="67008"/>
          </a:xfrm>
          <a:prstGeom prst="rect">
            <a:avLst/>
          </a:prstGeom>
          <a:solidFill>
            <a:srgbClr val="3547D0"/>
          </a:solidFill>
          <a:ln/>
        </p:spPr>
      </p:sp>
      <p:sp>
        <p:nvSpPr>
          <p:cNvPr id="36" name="Shape 34"/>
          <p:cNvSpPr/>
          <p:nvPr/>
        </p:nvSpPr>
        <p:spPr>
          <a:xfrm>
            <a:off x="548640" y="4366260"/>
            <a:ext cx="5464912" cy="67008"/>
          </a:xfrm>
          <a:prstGeom prst="rect">
            <a:avLst/>
          </a:prstGeom>
          <a:solidFill>
            <a:srgbClr val="3549D0"/>
          </a:solidFill>
          <a:ln/>
        </p:spPr>
      </p:sp>
      <p:sp>
        <p:nvSpPr>
          <p:cNvPr id="37" name="Shape 35"/>
          <p:cNvSpPr/>
          <p:nvPr/>
        </p:nvSpPr>
        <p:spPr>
          <a:xfrm>
            <a:off x="548640" y="4424124"/>
            <a:ext cx="5464912" cy="67008"/>
          </a:xfrm>
          <a:prstGeom prst="rect">
            <a:avLst/>
          </a:prstGeom>
          <a:solidFill>
            <a:srgbClr val="344ACF"/>
          </a:solidFill>
          <a:ln/>
        </p:spPr>
      </p:sp>
      <p:sp>
        <p:nvSpPr>
          <p:cNvPr id="38" name="Shape 36"/>
          <p:cNvSpPr/>
          <p:nvPr/>
        </p:nvSpPr>
        <p:spPr>
          <a:xfrm>
            <a:off x="548640" y="4481989"/>
            <a:ext cx="5464912" cy="67008"/>
          </a:xfrm>
          <a:prstGeom prst="rect">
            <a:avLst/>
          </a:prstGeom>
          <a:solidFill>
            <a:srgbClr val="334BCF"/>
          </a:solidFill>
          <a:ln/>
        </p:spPr>
      </p:sp>
      <p:sp>
        <p:nvSpPr>
          <p:cNvPr id="39" name="Shape 37"/>
          <p:cNvSpPr/>
          <p:nvPr/>
        </p:nvSpPr>
        <p:spPr>
          <a:xfrm>
            <a:off x="548640" y="4539853"/>
            <a:ext cx="5464912" cy="67008"/>
          </a:xfrm>
          <a:prstGeom prst="rect">
            <a:avLst/>
          </a:prstGeom>
          <a:solidFill>
            <a:srgbClr val="324CCE"/>
          </a:solidFill>
          <a:ln/>
        </p:spPr>
      </p:sp>
      <p:sp>
        <p:nvSpPr>
          <p:cNvPr id="40" name="Shape 38"/>
          <p:cNvSpPr/>
          <p:nvPr/>
        </p:nvSpPr>
        <p:spPr>
          <a:xfrm>
            <a:off x="548640" y="4597717"/>
            <a:ext cx="5464912" cy="67008"/>
          </a:xfrm>
          <a:prstGeom prst="rect">
            <a:avLst/>
          </a:prstGeom>
          <a:solidFill>
            <a:srgbClr val="314ECD"/>
          </a:solidFill>
          <a:ln/>
        </p:spPr>
      </p:sp>
      <p:sp>
        <p:nvSpPr>
          <p:cNvPr id="41" name="Shape 39"/>
          <p:cNvSpPr/>
          <p:nvPr/>
        </p:nvSpPr>
        <p:spPr>
          <a:xfrm>
            <a:off x="548640" y="4655582"/>
            <a:ext cx="5464912" cy="67008"/>
          </a:xfrm>
          <a:prstGeom prst="rect">
            <a:avLst/>
          </a:prstGeom>
          <a:solidFill>
            <a:srgbClr val="304FCD"/>
          </a:solidFill>
          <a:ln/>
        </p:spPr>
      </p:sp>
      <p:sp>
        <p:nvSpPr>
          <p:cNvPr id="42" name="Shape 40"/>
          <p:cNvSpPr/>
          <p:nvPr/>
        </p:nvSpPr>
        <p:spPr>
          <a:xfrm>
            <a:off x="548640" y="4713446"/>
            <a:ext cx="5464912" cy="67008"/>
          </a:xfrm>
          <a:prstGeom prst="rect">
            <a:avLst/>
          </a:prstGeom>
          <a:solidFill>
            <a:srgbClr val="2F50CC"/>
          </a:solidFill>
          <a:ln/>
        </p:spPr>
      </p:sp>
      <p:sp>
        <p:nvSpPr>
          <p:cNvPr id="43" name="Shape 41"/>
          <p:cNvSpPr/>
          <p:nvPr/>
        </p:nvSpPr>
        <p:spPr>
          <a:xfrm>
            <a:off x="548640" y="4771311"/>
            <a:ext cx="5464912" cy="67008"/>
          </a:xfrm>
          <a:prstGeom prst="rect">
            <a:avLst/>
          </a:prstGeom>
          <a:solidFill>
            <a:srgbClr val="2F51CC"/>
          </a:solidFill>
          <a:ln/>
        </p:spPr>
      </p:sp>
      <p:sp>
        <p:nvSpPr>
          <p:cNvPr id="44" name="Shape 42"/>
          <p:cNvSpPr/>
          <p:nvPr/>
        </p:nvSpPr>
        <p:spPr>
          <a:xfrm>
            <a:off x="548640" y="4829175"/>
            <a:ext cx="5464912" cy="67008"/>
          </a:xfrm>
          <a:prstGeom prst="rect">
            <a:avLst/>
          </a:prstGeom>
          <a:solidFill>
            <a:srgbClr val="2E53CB"/>
          </a:solidFill>
          <a:ln/>
        </p:spPr>
      </p:sp>
      <p:sp>
        <p:nvSpPr>
          <p:cNvPr id="45" name="Shape 43"/>
          <p:cNvSpPr/>
          <p:nvPr/>
        </p:nvSpPr>
        <p:spPr>
          <a:xfrm>
            <a:off x="548640" y="4887039"/>
            <a:ext cx="5464912" cy="67008"/>
          </a:xfrm>
          <a:prstGeom prst="rect">
            <a:avLst/>
          </a:prstGeom>
          <a:solidFill>
            <a:srgbClr val="2D54CB"/>
          </a:solidFill>
          <a:ln/>
        </p:spPr>
      </p:sp>
      <p:sp>
        <p:nvSpPr>
          <p:cNvPr id="46" name="Shape 44"/>
          <p:cNvSpPr/>
          <p:nvPr/>
        </p:nvSpPr>
        <p:spPr>
          <a:xfrm>
            <a:off x="548640" y="4944904"/>
            <a:ext cx="5464912" cy="67008"/>
          </a:xfrm>
          <a:prstGeom prst="rect">
            <a:avLst/>
          </a:prstGeom>
          <a:solidFill>
            <a:srgbClr val="2C55CA"/>
          </a:solidFill>
          <a:ln/>
        </p:spPr>
      </p:sp>
      <p:sp>
        <p:nvSpPr>
          <p:cNvPr id="47" name="Shape 45"/>
          <p:cNvSpPr/>
          <p:nvPr/>
        </p:nvSpPr>
        <p:spPr>
          <a:xfrm>
            <a:off x="548640" y="5002768"/>
            <a:ext cx="5464912" cy="67008"/>
          </a:xfrm>
          <a:prstGeom prst="rect">
            <a:avLst/>
          </a:prstGeom>
          <a:solidFill>
            <a:srgbClr val="2B56C9"/>
          </a:solidFill>
          <a:ln/>
        </p:spPr>
      </p:sp>
      <p:sp>
        <p:nvSpPr>
          <p:cNvPr id="48" name="Shape 46"/>
          <p:cNvSpPr/>
          <p:nvPr/>
        </p:nvSpPr>
        <p:spPr>
          <a:xfrm>
            <a:off x="548640" y="5060633"/>
            <a:ext cx="5464912" cy="67008"/>
          </a:xfrm>
          <a:prstGeom prst="rect">
            <a:avLst/>
          </a:prstGeom>
          <a:solidFill>
            <a:srgbClr val="2A57C9"/>
          </a:solidFill>
          <a:ln/>
        </p:spPr>
      </p:sp>
      <p:sp>
        <p:nvSpPr>
          <p:cNvPr id="49" name="Shape 47"/>
          <p:cNvSpPr/>
          <p:nvPr/>
        </p:nvSpPr>
        <p:spPr>
          <a:xfrm>
            <a:off x="548640" y="5118497"/>
            <a:ext cx="5464912" cy="67008"/>
          </a:xfrm>
          <a:prstGeom prst="rect">
            <a:avLst/>
          </a:prstGeom>
          <a:solidFill>
            <a:srgbClr val="2959C8"/>
          </a:solidFill>
          <a:ln/>
        </p:spPr>
      </p:sp>
      <p:sp>
        <p:nvSpPr>
          <p:cNvPr id="50" name="Shape 48"/>
          <p:cNvSpPr/>
          <p:nvPr/>
        </p:nvSpPr>
        <p:spPr>
          <a:xfrm>
            <a:off x="548640" y="5176361"/>
            <a:ext cx="5464912" cy="67008"/>
          </a:xfrm>
          <a:prstGeom prst="rect">
            <a:avLst/>
          </a:prstGeom>
          <a:solidFill>
            <a:srgbClr val="295AC8"/>
          </a:solidFill>
          <a:ln/>
        </p:spPr>
      </p:sp>
      <p:sp>
        <p:nvSpPr>
          <p:cNvPr id="51" name="Shape 49"/>
          <p:cNvSpPr/>
          <p:nvPr/>
        </p:nvSpPr>
        <p:spPr>
          <a:xfrm>
            <a:off x="548640" y="5234226"/>
            <a:ext cx="5464912" cy="67008"/>
          </a:xfrm>
          <a:prstGeom prst="rect">
            <a:avLst/>
          </a:prstGeom>
          <a:solidFill>
            <a:srgbClr val="285BC7"/>
          </a:solidFill>
          <a:ln/>
        </p:spPr>
      </p:sp>
      <p:sp>
        <p:nvSpPr>
          <p:cNvPr id="52" name="Shape 50"/>
          <p:cNvSpPr/>
          <p:nvPr/>
        </p:nvSpPr>
        <p:spPr>
          <a:xfrm>
            <a:off x="548640" y="5292090"/>
            <a:ext cx="5464912" cy="67008"/>
          </a:xfrm>
          <a:prstGeom prst="rect">
            <a:avLst/>
          </a:prstGeom>
          <a:solidFill>
            <a:srgbClr val="275CC7"/>
          </a:solidFill>
          <a:ln/>
        </p:spPr>
      </p:sp>
      <p:sp>
        <p:nvSpPr>
          <p:cNvPr id="53" name="Shape 51"/>
          <p:cNvSpPr/>
          <p:nvPr/>
        </p:nvSpPr>
        <p:spPr>
          <a:xfrm>
            <a:off x="548640" y="5349954"/>
            <a:ext cx="5464912" cy="67008"/>
          </a:xfrm>
          <a:prstGeom prst="rect">
            <a:avLst/>
          </a:prstGeom>
          <a:solidFill>
            <a:srgbClr val="265EC6"/>
          </a:solidFill>
          <a:ln/>
        </p:spPr>
      </p:sp>
      <p:sp>
        <p:nvSpPr>
          <p:cNvPr id="54" name="Shape 52"/>
          <p:cNvSpPr/>
          <p:nvPr/>
        </p:nvSpPr>
        <p:spPr>
          <a:xfrm>
            <a:off x="548640" y="5407819"/>
            <a:ext cx="5464912" cy="67008"/>
          </a:xfrm>
          <a:prstGeom prst="rect">
            <a:avLst/>
          </a:prstGeom>
          <a:solidFill>
            <a:srgbClr val="255FC5"/>
          </a:solidFill>
          <a:ln/>
        </p:spPr>
      </p:sp>
      <p:sp>
        <p:nvSpPr>
          <p:cNvPr id="55" name="Shape 53"/>
          <p:cNvSpPr/>
          <p:nvPr/>
        </p:nvSpPr>
        <p:spPr>
          <a:xfrm>
            <a:off x="548640" y="5465683"/>
            <a:ext cx="5464912" cy="67008"/>
          </a:xfrm>
          <a:prstGeom prst="rect">
            <a:avLst/>
          </a:prstGeom>
          <a:solidFill>
            <a:srgbClr val="2460C5"/>
          </a:solidFill>
          <a:ln/>
        </p:spPr>
      </p:sp>
      <p:sp>
        <p:nvSpPr>
          <p:cNvPr id="56" name="Shape 54"/>
          <p:cNvSpPr/>
          <p:nvPr/>
        </p:nvSpPr>
        <p:spPr>
          <a:xfrm>
            <a:off x="548640" y="5523548"/>
            <a:ext cx="5464912" cy="67008"/>
          </a:xfrm>
          <a:prstGeom prst="rect">
            <a:avLst/>
          </a:prstGeom>
          <a:solidFill>
            <a:srgbClr val="2361C4"/>
          </a:solidFill>
          <a:ln/>
        </p:spPr>
      </p:sp>
      <p:sp>
        <p:nvSpPr>
          <p:cNvPr id="57" name="Shape 55"/>
          <p:cNvSpPr/>
          <p:nvPr/>
        </p:nvSpPr>
        <p:spPr>
          <a:xfrm>
            <a:off x="548640" y="5581412"/>
            <a:ext cx="5464912" cy="67008"/>
          </a:xfrm>
          <a:prstGeom prst="rect">
            <a:avLst/>
          </a:prstGeom>
          <a:solidFill>
            <a:srgbClr val="2363C4"/>
          </a:solidFill>
          <a:ln/>
        </p:spPr>
      </p:sp>
      <p:sp>
        <p:nvSpPr>
          <p:cNvPr id="58" name="Shape 56"/>
          <p:cNvSpPr/>
          <p:nvPr/>
        </p:nvSpPr>
        <p:spPr>
          <a:xfrm>
            <a:off x="548640" y="5639276"/>
            <a:ext cx="5464912" cy="67008"/>
          </a:xfrm>
          <a:prstGeom prst="rect">
            <a:avLst/>
          </a:prstGeom>
          <a:solidFill>
            <a:srgbClr val="2264C3"/>
          </a:solidFill>
          <a:ln/>
        </p:spPr>
      </p:sp>
      <p:sp>
        <p:nvSpPr>
          <p:cNvPr id="59" name="Shape 57"/>
          <p:cNvSpPr/>
          <p:nvPr/>
        </p:nvSpPr>
        <p:spPr>
          <a:xfrm>
            <a:off x="548640" y="5697141"/>
            <a:ext cx="5464912" cy="67008"/>
          </a:xfrm>
          <a:prstGeom prst="rect">
            <a:avLst/>
          </a:prstGeom>
          <a:solidFill>
            <a:srgbClr val="2165C3"/>
          </a:solidFill>
          <a:ln/>
        </p:spPr>
      </p:sp>
      <p:sp>
        <p:nvSpPr>
          <p:cNvPr id="60" name="Shape 58"/>
          <p:cNvSpPr/>
          <p:nvPr/>
        </p:nvSpPr>
        <p:spPr>
          <a:xfrm>
            <a:off x="548640" y="5755005"/>
            <a:ext cx="5464912" cy="67008"/>
          </a:xfrm>
          <a:prstGeom prst="rect">
            <a:avLst/>
          </a:prstGeom>
          <a:solidFill>
            <a:srgbClr val="2066C2"/>
          </a:solidFill>
          <a:ln/>
        </p:spPr>
      </p:sp>
      <p:sp>
        <p:nvSpPr>
          <p:cNvPr id="61" name="Shape 59"/>
          <p:cNvSpPr/>
          <p:nvPr/>
        </p:nvSpPr>
        <p:spPr>
          <a:xfrm>
            <a:off x="548640" y="5812869"/>
            <a:ext cx="5464912" cy="67008"/>
          </a:xfrm>
          <a:prstGeom prst="rect">
            <a:avLst/>
          </a:prstGeom>
          <a:solidFill>
            <a:srgbClr val="1F68C1"/>
          </a:solidFill>
          <a:ln/>
        </p:spPr>
      </p:sp>
      <p:sp>
        <p:nvSpPr>
          <p:cNvPr id="62" name="Shape 60"/>
          <p:cNvSpPr/>
          <p:nvPr/>
        </p:nvSpPr>
        <p:spPr>
          <a:xfrm>
            <a:off x="548640" y="5870734"/>
            <a:ext cx="5464912" cy="67008"/>
          </a:xfrm>
          <a:prstGeom prst="rect">
            <a:avLst/>
          </a:prstGeom>
          <a:solidFill>
            <a:srgbClr val="1E69C1"/>
          </a:solidFill>
          <a:ln/>
        </p:spPr>
      </p:sp>
      <p:sp>
        <p:nvSpPr>
          <p:cNvPr id="63" name="Shape 61"/>
          <p:cNvSpPr/>
          <p:nvPr/>
        </p:nvSpPr>
        <p:spPr>
          <a:xfrm>
            <a:off x="548640" y="5928598"/>
            <a:ext cx="5464912" cy="67008"/>
          </a:xfrm>
          <a:prstGeom prst="rect">
            <a:avLst/>
          </a:prstGeom>
          <a:solidFill>
            <a:srgbClr val="1D6AC0"/>
          </a:solidFill>
          <a:ln/>
        </p:spPr>
      </p:sp>
      <p:sp>
        <p:nvSpPr>
          <p:cNvPr id="64" name="Shape 62"/>
          <p:cNvSpPr/>
          <p:nvPr/>
        </p:nvSpPr>
        <p:spPr>
          <a:xfrm>
            <a:off x="548640" y="5986463"/>
            <a:ext cx="5464912" cy="67008"/>
          </a:xfrm>
          <a:prstGeom prst="rect">
            <a:avLst/>
          </a:prstGeom>
          <a:solidFill>
            <a:srgbClr val="1D6BC0"/>
          </a:solidFill>
          <a:ln/>
        </p:spPr>
      </p:sp>
      <p:sp>
        <p:nvSpPr>
          <p:cNvPr id="65" name="Shape 63"/>
          <p:cNvSpPr/>
          <p:nvPr/>
        </p:nvSpPr>
        <p:spPr>
          <a:xfrm>
            <a:off x="548640" y="6044327"/>
            <a:ext cx="5464912" cy="67008"/>
          </a:xfrm>
          <a:prstGeom prst="rect">
            <a:avLst/>
          </a:prstGeom>
          <a:solidFill>
            <a:srgbClr val="1C6DBF"/>
          </a:solidFill>
          <a:ln/>
        </p:spPr>
      </p:sp>
      <p:sp>
        <p:nvSpPr>
          <p:cNvPr id="66" name="Shape 64"/>
          <p:cNvSpPr/>
          <p:nvPr/>
        </p:nvSpPr>
        <p:spPr>
          <a:xfrm>
            <a:off x="548640" y="6102191"/>
            <a:ext cx="5464912" cy="67008"/>
          </a:xfrm>
          <a:prstGeom prst="rect">
            <a:avLst/>
          </a:prstGeom>
          <a:solidFill>
            <a:srgbClr val="1B6EBF"/>
          </a:solidFill>
          <a:ln/>
        </p:spPr>
      </p:sp>
      <p:sp>
        <p:nvSpPr>
          <p:cNvPr id="67" name="Shape 65"/>
          <p:cNvSpPr/>
          <p:nvPr/>
        </p:nvSpPr>
        <p:spPr>
          <a:xfrm>
            <a:off x="548640" y="6160056"/>
            <a:ext cx="5464912" cy="67008"/>
          </a:xfrm>
          <a:prstGeom prst="rect">
            <a:avLst/>
          </a:prstGeom>
          <a:solidFill>
            <a:srgbClr val="1A6FBE"/>
          </a:solidFill>
          <a:ln/>
        </p:spPr>
      </p:sp>
      <p:sp>
        <p:nvSpPr>
          <p:cNvPr id="68" name="Text 66"/>
          <p:cNvSpPr/>
          <p:nvPr/>
        </p:nvSpPr>
        <p:spPr>
          <a:xfrm>
            <a:off x="914400" y="2880360"/>
            <a:ext cx="4733392" cy="914400"/>
          </a:xfrm>
          <a:prstGeom prst="rect">
            <a:avLst/>
          </a:prstGeom>
          <a:noFill/>
          <a:ln/>
        </p:spPr>
        <p:txBody>
          <a:bodyPr wrap="square" lIns="0" tIns="0" rIns="0" bIns="0" rtlCol="0" anchor="t"/>
          <a:lstStyle/>
          <a:p>
            <a:pPr algn="l" indent="0" marL="0">
              <a:buNone/>
            </a:pPr>
            <a:r>
              <a:rPr lang="en-US" sz="1100" b="1" spc="300" kern="0" dirty="0">
                <a:solidFill>
                  <a:srgbClr val="FFFFFF"/>
                </a:solidFill>
                <a:latin typeface="Calibri" pitchFamily="34" charset="0"/>
                <a:ea typeface="Calibri" pitchFamily="34" charset="-122"/>
                <a:cs typeface="Calibri" pitchFamily="34" charset="-120"/>
              </a:rPr>
              <a:t>AI FIT SCORE</a:t>
            </a:r>
            <a:endParaRPr lang="en-US" sz="1100" dirty="0"/>
          </a:p>
        </p:txBody>
      </p:sp>
      <p:sp>
        <p:nvSpPr>
          <p:cNvPr id="69" name="Text 67"/>
          <p:cNvSpPr/>
          <p:nvPr/>
        </p:nvSpPr>
        <p:spPr>
          <a:xfrm>
            <a:off x="914400" y="3383280"/>
            <a:ext cx="4733392" cy="2011680"/>
          </a:xfrm>
          <a:prstGeom prst="rect">
            <a:avLst/>
          </a:prstGeom>
          <a:noFill/>
          <a:ln/>
        </p:spPr>
        <p:txBody>
          <a:bodyPr wrap="square" lIns="0" tIns="0" rIns="0" bIns="0" rtlCol="0" anchor="t"/>
          <a:lstStyle/>
          <a:p>
            <a:pPr algn="l" indent="0" marL="0">
              <a:buNone/>
            </a:pPr>
            <a:r>
              <a:rPr lang="en-US" sz="3200" b="1" spc="-50" kern="0" dirty="0">
                <a:solidFill>
                  <a:srgbClr val="FFFFFF"/>
                </a:solidFill>
                <a:latin typeface="Calibri" pitchFamily="34" charset="0"/>
                <a:ea typeface="Calibri" pitchFamily="34" charset="-122"/>
                <a:cs typeface="Calibri" pitchFamily="34" charset="-120"/>
              </a:rPr>
              <a:t>0–100, explained, against your ICP.</a:t>
            </a:r>
            <a:endParaRPr lang="en-US" sz="3200" dirty="0"/>
          </a:p>
        </p:txBody>
      </p:sp>
      <p:sp>
        <p:nvSpPr>
          <p:cNvPr id="70" name="Text 68"/>
          <p:cNvSpPr/>
          <p:nvPr/>
        </p:nvSpPr>
        <p:spPr>
          <a:xfrm>
            <a:off x="914400" y="5166360"/>
            <a:ext cx="4733392" cy="10972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Every creator in your search gets a score from 0 to 100, with named sub-scores for audience, content fit, and brand alignment. Trust the top of the list and ignore the bottom.</a:t>
            </a:r>
            <a:endParaRPr lang="en-US" sz="1300" dirty="0"/>
          </a:p>
        </p:txBody>
      </p:sp>
      <p:sp>
        <p:nvSpPr>
          <p:cNvPr id="71" name="Shape 69"/>
          <p:cNvSpPr/>
          <p:nvPr/>
        </p:nvSpPr>
        <p:spPr>
          <a:xfrm>
            <a:off x="6178144" y="2514600"/>
            <a:ext cx="5464912" cy="1124712"/>
          </a:xfrm>
          <a:prstGeom prst="roundRect">
            <a:avLst>
              <a:gd name="adj" fmla="val 9756"/>
            </a:avLst>
          </a:prstGeom>
          <a:solidFill>
            <a:srgbClr val="FFFFFF"/>
          </a:solidFill>
          <a:ln w="9525">
            <a:solidFill>
              <a:srgbClr val="E5E7F0"/>
            </a:solidFill>
            <a:prstDash val="solid"/>
          </a:ln>
        </p:spPr>
      </p:sp>
      <p:sp>
        <p:nvSpPr>
          <p:cNvPr id="72" name="Shape 70"/>
          <p:cNvSpPr/>
          <p:nvPr/>
        </p:nvSpPr>
        <p:spPr>
          <a:xfrm>
            <a:off x="6178144" y="2514600"/>
            <a:ext cx="73152" cy="1124712"/>
          </a:xfrm>
          <a:prstGeom prst="rect">
            <a:avLst/>
          </a:prstGeom>
          <a:solidFill>
            <a:srgbClr val="5028C2"/>
          </a:solidFill>
          <a:ln/>
        </p:spPr>
      </p:sp>
      <p:sp>
        <p:nvSpPr>
          <p:cNvPr id="73" name="Text 71"/>
          <p:cNvSpPr/>
          <p:nvPr/>
        </p:nvSpPr>
        <p:spPr>
          <a:xfrm>
            <a:off x="6434176" y="2697480"/>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Audience signal</a:t>
            </a:r>
            <a:endParaRPr lang="en-US" sz="1600" dirty="0"/>
          </a:p>
        </p:txBody>
      </p:sp>
      <p:sp>
        <p:nvSpPr>
          <p:cNvPr id="74" name="Text 72"/>
          <p:cNvSpPr/>
          <p:nvPr/>
        </p:nvSpPr>
        <p:spPr>
          <a:xfrm>
            <a:off x="6434176" y="3081528"/>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Size, engagement, growth, retention.</a:t>
            </a:r>
            <a:endParaRPr lang="en-US" sz="1200" dirty="0"/>
          </a:p>
        </p:txBody>
      </p:sp>
      <p:sp>
        <p:nvSpPr>
          <p:cNvPr id="75" name="Shape 73"/>
          <p:cNvSpPr/>
          <p:nvPr/>
        </p:nvSpPr>
        <p:spPr>
          <a:xfrm>
            <a:off x="6178144" y="3803904"/>
            <a:ext cx="5464912" cy="1124712"/>
          </a:xfrm>
          <a:prstGeom prst="roundRect">
            <a:avLst>
              <a:gd name="adj" fmla="val 9756"/>
            </a:avLst>
          </a:prstGeom>
          <a:solidFill>
            <a:srgbClr val="FFFFFF"/>
          </a:solidFill>
          <a:ln w="9525">
            <a:solidFill>
              <a:srgbClr val="E5E7F0"/>
            </a:solidFill>
            <a:prstDash val="solid"/>
          </a:ln>
        </p:spPr>
      </p:sp>
      <p:sp>
        <p:nvSpPr>
          <p:cNvPr id="76" name="Shape 74"/>
          <p:cNvSpPr/>
          <p:nvPr/>
        </p:nvSpPr>
        <p:spPr>
          <a:xfrm>
            <a:off x="6178144" y="3803904"/>
            <a:ext cx="73152" cy="1124712"/>
          </a:xfrm>
          <a:prstGeom prst="rect">
            <a:avLst/>
          </a:prstGeom>
          <a:solidFill>
            <a:srgbClr val="3548D0"/>
          </a:solidFill>
          <a:ln/>
        </p:spPr>
      </p:sp>
      <p:sp>
        <p:nvSpPr>
          <p:cNvPr id="77" name="Text 75"/>
          <p:cNvSpPr/>
          <p:nvPr/>
        </p:nvSpPr>
        <p:spPr>
          <a:xfrm>
            <a:off x="6434176" y="3986784"/>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Content fit</a:t>
            </a:r>
            <a:endParaRPr lang="en-US" sz="1600" dirty="0"/>
          </a:p>
        </p:txBody>
      </p:sp>
      <p:sp>
        <p:nvSpPr>
          <p:cNvPr id="78" name="Text 76"/>
          <p:cNvSpPr/>
          <p:nvPr/>
        </p:nvSpPr>
        <p:spPr>
          <a:xfrm>
            <a:off x="6434176" y="4370832"/>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Topic, cadence, language, seriousness.</a:t>
            </a:r>
            <a:endParaRPr lang="en-US" sz="1200" dirty="0"/>
          </a:p>
        </p:txBody>
      </p:sp>
      <p:sp>
        <p:nvSpPr>
          <p:cNvPr id="79" name="Shape 77"/>
          <p:cNvSpPr/>
          <p:nvPr/>
        </p:nvSpPr>
        <p:spPr>
          <a:xfrm>
            <a:off x="6178144" y="5093208"/>
            <a:ext cx="5464912" cy="1124712"/>
          </a:xfrm>
          <a:prstGeom prst="roundRect">
            <a:avLst>
              <a:gd name="adj" fmla="val 9756"/>
            </a:avLst>
          </a:prstGeom>
          <a:solidFill>
            <a:srgbClr val="FFFFFF"/>
          </a:solidFill>
          <a:ln w="9525">
            <a:solidFill>
              <a:srgbClr val="E5E7F0"/>
            </a:solidFill>
            <a:prstDash val="solid"/>
          </a:ln>
        </p:spPr>
      </p:sp>
      <p:sp>
        <p:nvSpPr>
          <p:cNvPr id="80" name="Shape 78"/>
          <p:cNvSpPr/>
          <p:nvPr/>
        </p:nvSpPr>
        <p:spPr>
          <a:xfrm>
            <a:off x="6178144" y="5093208"/>
            <a:ext cx="73152" cy="1124712"/>
          </a:xfrm>
          <a:prstGeom prst="rect">
            <a:avLst/>
          </a:prstGeom>
          <a:solidFill>
            <a:srgbClr val="1A6FBE"/>
          </a:solidFill>
          <a:ln/>
        </p:spPr>
      </p:sp>
      <p:sp>
        <p:nvSpPr>
          <p:cNvPr id="81" name="Text 79"/>
          <p:cNvSpPr/>
          <p:nvPr/>
        </p:nvSpPr>
        <p:spPr>
          <a:xfrm>
            <a:off x="6434176" y="5276088"/>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Brand alignment</a:t>
            </a:r>
            <a:endParaRPr lang="en-US" sz="1600" dirty="0"/>
          </a:p>
        </p:txBody>
      </p:sp>
      <p:sp>
        <p:nvSpPr>
          <p:cNvPr id="82" name="Text 80"/>
          <p:cNvSpPr/>
          <p:nvPr/>
        </p:nvSpPr>
        <p:spPr>
          <a:xfrm>
            <a:off x="6434176" y="5660136"/>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Tone, audience overlap, focus.</a:t>
            </a:r>
            <a:endParaRPr lang="en-US" sz="1200" dirty="0"/>
          </a:p>
        </p:txBody>
      </p:sp>
      <p:sp>
        <p:nvSpPr>
          <p:cNvPr id="83" name="Shape 81"/>
          <p:cNvSpPr/>
          <p:nvPr/>
        </p:nvSpPr>
        <p:spPr>
          <a:xfrm>
            <a:off x="548640" y="502920"/>
            <a:ext cx="292608" cy="292608"/>
          </a:xfrm>
          <a:prstGeom prst="roundRect">
            <a:avLst>
              <a:gd name="adj" fmla="val 25000"/>
            </a:avLst>
          </a:prstGeom>
          <a:solidFill>
            <a:srgbClr val="5028C2"/>
          </a:solidFill>
          <a:ln/>
        </p:spPr>
      </p:sp>
      <p:sp>
        <p:nvSpPr>
          <p:cNvPr id="84" name="Shape 82"/>
          <p:cNvSpPr/>
          <p:nvPr/>
        </p:nvSpPr>
        <p:spPr>
          <a:xfrm>
            <a:off x="548640" y="502920"/>
            <a:ext cx="292608" cy="292608"/>
          </a:xfrm>
          <a:prstGeom prst="roundRect">
            <a:avLst>
              <a:gd name="adj" fmla="val 25000"/>
            </a:avLst>
          </a:prstGeom>
          <a:solidFill>
            <a:srgbClr val="1A6FBE">
              <a:alpha val="50000"/>
            </a:srgbClr>
          </a:solidFill>
          <a:ln/>
        </p:spPr>
      </p:sp>
      <p:sp>
        <p:nvSpPr>
          <p:cNvPr id="85" name="Text 83"/>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86" name="Text 84"/>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87" name="Text 85"/>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08 · AI fit score  ·  vG</a:t>
            </a:r>
            <a:endParaRPr lang="en-US" sz="900" dirty="0"/>
          </a:p>
        </p:txBody>
      </p:sp>
      <p:sp>
        <p:nvSpPr>
          <p:cNvPr id="88" name="Text 86"/>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89" name="Text 87"/>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056 / 126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80015" y="-914400"/>
            <a:ext cx="3200400" cy="3200400"/>
          </a:xfrm>
          <a:prstGeom prst="ellipse">
            <a:avLst/>
          </a:prstGeom>
          <a:solidFill>
            <a:srgbClr val="F1ECFF"/>
          </a:solidFill>
          <a:ln/>
        </p:spPr>
      </p:sp>
      <p:sp>
        <p:nvSpPr>
          <p:cNvPr id="3" name="Shape 1"/>
          <p:cNvSpPr/>
          <p:nvPr/>
        </p:nvSpPr>
        <p:spPr>
          <a:xfrm>
            <a:off x="10820095" y="-548640"/>
            <a:ext cx="2194560" cy="2194560"/>
          </a:xfrm>
          <a:prstGeom prst="ellipse">
            <a:avLst/>
          </a:prstGeom>
          <a:solidFill>
            <a:srgbClr val="E8F1FB">
              <a:alpha val="60000"/>
            </a:srgbClr>
          </a:solidFill>
          <a:ln/>
        </p:spPr>
      </p:sp>
      <p:sp>
        <p:nvSpPr>
          <p:cNvPr id="4" name="Shape 2"/>
          <p:cNvSpPr/>
          <p:nvPr/>
        </p:nvSpPr>
        <p:spPr>
          <a:xfrm>
            <a:off x="548640" y="5486400"/>
            <a:ext cx="54864" cy="54864"/>
          </a:xfrm>
          <a:prstGeom prst="ellipse">
            <a:avLst/>
          </a:prstGeom>
          <a:solidFill>
            <a:srgbClr val="5028C2">
              <a:alpha val="30000"/>
            </a:srgbClr>
          </a:solidFill>
          <a:ln/>
        </p:spPr>
      </p:sp>
      <p:sp>
        <p:nvSpPr>
          <p:cNvPr id="5" name="Shape 3"/>
          <p:cNvSpPr/>
          <p:nvPr/>
        </p:nvSpPr>
        <p:spPr>
          <a:xfrm>
            <a:off x="548640" y="5650992"/>
            <a:ext cx="54864" cy="54864"/>
          </a:xfrm>
          <a:prstGeom prst="ellipse">
            <a:avLst/>
          </a:prstGeom>
          <a:solidFill>
            <a:srgbClr val="5028C2">
              <a:alpha val="30000"/>
            </a:srgbClr>
          </a:solidFill>
          <a:ln/>
        </p:spPr>
      </p:sp>
      <p:sp>
        <p:nvSpPr>
          <p:cNvPr id="6" name="Shape 4"/>
          <p:cNvSpPr/>
          <p:nvPr/>
        </p:nvSpPr>
        <p:spPr>
          <a:xfrm>
            <a:off x="548640" y="5815584"/>
            <a:ext cx="54864" cy="54864"/>
          </a:xfrm>
          <a:prstGeom prst="ellipse">
            <a:avLst/>
          </a:prstGeom>
          <a:solidFill>
            <a:srgbClr val="5028C2">
              <a:alpha val="30000"/>
            </a:srgbClr>
          </a:solidFill>
          <a:ln/>
        </p:spPr>
      </p:sp>
      <p:sp>
        <p:nvSpPr>
          <p:cNvPr id="7" name="Shape 5"/>
          <p:cNvSpPr/>
          <p:nvPr/>
        </p:nvSpPr>
        <p:spPr>
          <a:xfrm>
            <a:off x="713232" y="5486400"/>
            <a:ext cx="54864" cy="54864"/>
          </a:xfrm>
          <a:prstGeom prst="ellipse">
            <a:avLst/>
          </a:prstGeom>
          <a:solidFill>
            <a:srgbClr val="5028C2">
              <a:alpha val="30000"/>
            </a:srgbClr>
          </a:solidFill>
          <a:ln/>
        </p:spPr>
      </p:sp>
      <p:sp>
        <p:nvSpPr>
          <p:cNvPr id="8" name="Shape 6"/>
          <p:cNvSpPr/>
          <p:nvPr/>
        </p:nvSpPr>
        <p:spPr>
          <a:xfrm>
            <a:off x="713232" y="5650992"/>
            <a:ext cx="54864" cy="54864"/>
          </a:xfrm>
          <a:prstGeom prst="ellipse">
            <a:avLst/>
          </a:prstGeom>
          <a:solidFill>
            <a:srgbClr val="5028C2">
              <a:alpha val="30000"/>
            </a:srgbClr>
          </a:solidFill>
          <a:ln/>
        </p:spPr>
      </p:sp>
      <p:sp>
        <p:nvSpPr>
          <p:cNvPr id="9" name="Shape 7"/>
          <p:cNvSpPr/>
          <p:nvPr/>
        </p:nvSpPr>
        <p:spPr>
          <a:xfrm>
            <a:off x="713232" y="5815584"/>
            <a:ext cx="54864" cy="54864"/>
          </a:xfrm>
          <a:prstGeom prst="ellipse">
            <a:avLst/>
          </a:prstGeom>
          <a:solidFill>
            <a:srgbClr val="5028C2">
              <a:alpha val="30000"/>
            </a:srgbClr>
          </a:solidFill>
          <a:ln/>
        </p:spPr>
      </p:sp>
      <p:sp>
        <p:nvSpPr>
          <p:cNvPr id="10" name="Shape 8"/>
          <p:cNvSpPr/>
          <p:nvPr/>
        </p:nvSpPr>
        <p:spPr>
          <a:xfrm>
            <a:off x="877824" y="5486400"/>
            <a:ext cx="54864" cy="54864"/>
          </a:xfrm>
          <a:prstGeom prst="ellipse">
            <a:avLst/>
          </a:prstGeom>
          <a:solidFill>
            <a:srgbClr val="5028C2">
              <a:alpha val="30000"/>
            </a:srgbClr>
          </a:solidFill>
          <a:ln/>
        </p:spPr>
      </p:sp>
      <p:sp>
        <p:nvSpPr>
          <p:cNvPr id="11" name="Shape 9"/>
          <p:cNvSpPr/>
          <p:nvPr/>
        </p:nvSpPr>
        <p:spPr>
          <a:xfrm>
            <a:off x="877824" y="5650992"/>
            <a:ext cx="54864" cy="54864"/>
          </a:xfrm>
          <a:prstGeom prst="ellipse">
            <a:avLst/>
          </a:prstGeom>
          <a:solidFill>
            <a:srgbClr val="5028C2">
              <a:alpha val="30000"/>
            </a:srgbClr>
          </a:solidFill>
          <a:ln/>
        </p:spPr>
      </p:sp>
      <p:sp>
        <p:nvSpPr>
          <p:cNvPr id="12" name="Shape 10"/>
          <p:cNvSpPr/>
          <p:nvPr/>
        </p:nvSpPr>
        <p:spPr>
          <a:xfrm>
            <a:off x="877824" y="5815584"/>
            <a:ext cx="54864" cy="54864"/>
          </a:xfrm>
          <a:prstGeom prst="ellipse">
            <a:avLst/>
          </a:prstGeom>
          <a:solidFill>
            <a:srgbClr val="5028C2">
              <a:alpha val="30000"/>
            </a:srgbClr>
          </a:solidFill>
          <a:ln/>
        </p:spPr>
      </p:sp>
      <p:sp>
        <p:nvSpPr>
          <p:cNvPr id="13" name="Shape 11"/>
          <p:cNvSpPr/>
          <p:nvPr/>
        </p:nvSpPr>
        <p:spPr>
          <a:xfrm>
            <a:off x="1042416" y="5486400"/>
            <a:ext cx="54864" cy="54864"/>
          </a:xfrm>
          <a:prstGeom prst="ellipse">
            <a:avLst/>
          </a:prstGeom>
          <a:solidFill>
            <a:srgbClr val="5028C2">
              <a:alpha val="30000"/>
            </a:srgbClr>
          </a:solidFill>
          <a:ln/>
        </p:spPr>
      </p:sp>
      <p:sp>
        <p:nvSpPr>
          <p:cNvPr id="14" name="Shape 12"/>
          <p:cNvSpPr/>
          <p:nvPr/>
        </p:nvSpPr>
        <p:spPr>
          <a:xfrm>
            <a:off x="1042416" y="5650992"/>
            <a:ext cx="54864" cy="54864"/>
          </a:xfrm>
          <a:prstGeom prst="ellipse">
            <a:avLst/>
          </a:prstGeom>
          <a:solidFill>
            <a:srgbClr val="5028C2">
              <a:alpha val="30000"/>
            </a:srgbClr>
          </a:solidFill>
          <a:ln/>
        </p:spPr>
      </p:sp>
      <p:sp>
        <p:nvSpPr>
          <p:cNvPr id="15" name="Shape 13"/>
          <p:cNvSpPr/>
          <p:nvPr/>
        </p:nvSpPr>
        <p:spPr>
          <a:xfrm>
            <a:off x="1042416" y="5815584"/>
            <a:ext cx="54864" cy="54864"/>
          </a:xfrm>
          <a:prstGeom prst="ellipse">
            <a:avLst/>
          </a:prstGeom>
          <a:solidFill>
            <a:srgbClr val="5028C2">
              <a:alpha val="30000"/>
            </a:srgbClr>
          </a:solidFill>
          <a:ln/>
        </p:spPr>
      </p:sp>
      <p:sp>
        <p:nvSpPr>
          <p:cNvPr id="16" name="Shape 14"/>
          <p:cNvSpPr/>
          <p:nvPr/>
        </p:nvSpPr>
        <p:spPr>
          <a:xfrm>
            <a:off x="1207008" y="5486400"/>
            <a:ext cx="54864" cy="54864"/>
          </a:xfrm>
          <a:prstGeom prst="ellipse">
            <a:avLst/>
          </a:prstGeom>
          <a:solidFill>
            <a:srgbClr val="5028C2">
              <a:alpha val="30000"/>
            </a:srgbClr>
          </a:solidFill>
          <a:ln/>
        </p:spPr>
      </p:sp>
      <p:sp>
        <p:nvSpPr>
          <p:cNvPr id="17" name="Shape 15"/>
          <p:cNvSpPr/>
          <p:nvPr/>
        </p:nvSpPr>
        <p:spPr>
          <a:xfrm>
            <a:off x="1207008" y="5650992"/>
            <a:ext cx="54864" cy="54864"/>
          </a:xfrm>
          <a:prstGeom prst="ellipse">
            <a:avLst/>
          </a:prstGeom>
          <a:solidFill>
            <a:srgbClr val="5028C2">
              <a:alpha val="30000"/>
            </a:srgbClr>
          </a:solidFill>
          <a:ln/>
        </p:spPr>
      </p:sp>
      <p:sp>
        <p:nvSpPr>
          <p:cNvPr id="18" name="Shape 16"/>
          <p:cNvSpPr/>
          <p:nvPr/>
        </p:nvSpPr>
        <p:spPr>
          <a:xfrm>
            <a:off x="1207008" y="5815584"/>
            <a:ext cx="54864" cy="54864"/>
          </a:xfrm>
          <a:prstGeom prst="ellipse">
            <a:avLst/>
          </a:prstGeom>
          <a:solidFill>
            <a:srgbClr val="5028C2">
              <a:alpha val="30000"/>
            </a:srgbClr>
          </a:solidFill>
          <a:ln/>
        </p:spPr>
      </p:sp>
      <p:sp>
        <p:nvSpPr>
          <p:cNvPr id="19" name="Shape 17"/>
          <p:cNvSpPr/>
          <p:nvPr/>
        </p:nvSpPr>
        <p:spPr>
          <a:xfrm>
            <a:off x="1371600" y="5486400"/>
            <a:ext cx="54864" cy="54864"/>
          </a:xfrm>
          <a:prstGeom prst="ellipse">
            <a:avLst/>
          </a:prstGeom>
          <a:solidFill>
            <a:srgbClr val="5028C2">
              <a:alpha val="30000"/>
            </a:srgbClr>
          </a:solidFill>
          <a:ln/>
        </p:spPr>
      </p:sp>
      <p:sp>
        <p:nvSpPr>
          <p:cNvPr id="20" name="Shape 18"/>
          <p:cNvSpPr/>
          <p:nvPr/>
        </p:nvSpPr>
        <p:spPr>
          <a:xfrm>
            <a:off x="1371600" y="5650992"/>
            <a:ext cx="54864" cy="54864"/>
          </a:xfrm>
          <a:prstGeom prst="ellipse">
            <a:avLst/>
          </a:prstGeom>
          <a:solidFill>
            <a:srgbClr val="5028C2">
              <a:alpha val="30000"/>
            </a:srgbClr>
          </a:solidFill>
          <a:ln/>
        </p:spPr>
      </p:sp>
      <p:sp>
        <p:nvSpPr>
          <p:cNvPr id="21" name="Shape 19"/>
          <p:cNvSpPr/>
          <p:nvPr/>
        </p:nvSpPr>
        <p:spPr>
          <a:xfrm>
            <a:off x="1371600" y="5815584"/>
            <a:ext cx="54864" cy="54864"/>
          </a:xfrm>
          <a:prstGeom prst="ellipse">
            <a:avLst/>
          </a:prstGeom>
          <a:solidFill>
            <a:srgbClr val="5028C2">
              <a:alpha val="30000"/>
            </a:srgbClr>
          </a:solidFill>
          <a:ln/>
        </p:spPr>
      </p:sp>
      <p:sp>
        <p:nvSpPr>
          <p:cNvPr id="22" name="Text 20"/>
          <p:cNvSpPr/>
          <p:nvPr/>
        </p:nvSpPr>
        <p:spPr>
          <a:xfrm>
            <a:off x="548640" y="1097280"/>
            <a:ext cx="11094415"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FEATURE · OUTREACH + CRM</a:t>
            </a:r>
            <a:endParaRPr lang="en-US" sz="1100" dirty="0"/>
          </a:p>
        </p:txBody>
      </p:sp>
      <p:sp>
        <p:nvSpPr>
          <p:cNvPr id="23" name="Text 21"/>
          <p:cNvSpPr/>
          <p:nvPr/>
        </p:nvSpPr>
        <p:spPr>
          <a:xfrm>
            <a:off x="548640" y="1554480"/>
            <a:ext cx="11094415" cy="3108960"/>
          </a:xfrm>
          <a:prstGeom prst="rect">
            <a:avLst/>
          </a:prstGeom>
          <a:noFill/>
          <a:ln/>
        </p:spPr>
        <p:txBody>
          <a:bodyPr wrap="square" lIns="0" tIns="0" rIns="0" bIns="0" rtlCol="0" anchor="t"/>
          <a:lstStyle/>
          <a:p>
            <a:pPr algn="l" indent="0" marL="0">
              <a:buNone/>
            </a:pPr>
            <a:r>
              <a:rPr lang="en-US" sz="4600" b="1" spc="-100" kern="0" dirty="0">
                <a:solidFill>
                  <a:srgbClr val="0F1733"/>
                </a:solidFill>
                <a:latin typeface="Calibri" pitchFamily="34" charset="0"/>
                <a:ea typeface="Calibri" pitchFamily="34" charset="-122"/>
                <a:cs typeface="Calibri" pitchFamily="34" charset="-120"/>
              </a:rPr>
              <a:t>Send through your own inbox. Track every reply automatically.</a:t>
            </a:r>
            <a:endParaRPr lang="en-US" sz="4600" dirty="0"/>
          </a:p>
        </p:txBody>
      </p:sp>
      <p:sp>
        <p:nvSpPr>
          <p:cNvPr id="24" name="Text 22"/>
          <p:cNvSpPr/>
          <p:nvPr/>
        </p:nvSpPr>
        <p:spPr>
          <a:xfrm>
            <a:off x="548640" y="4754880"/>
            <a:ext cx="9265615" cy="1097280"/>
          </a:xfrm>
          <a:prstGeom prst="rect">
            <a:avLst/>
          </a:prstGeom>
          <a:noFill/>
          <a:ln/>
        </p:spPr>
        <p:txBody>
          <a:bodyPr wrap="square" lIns="0" tIns="0" rIns="0" bIns="0" rtlCol="0" anchor="t"/>
          <a:lstStyle/>
          <a:p>
            <a:pPr algn="l" indent="0" marL="0">
              <a:buNone/>
            </a:pPr>
            <a:r>
              <a:rPr lang="en-US" sz="1800" dirty="0">
                <a:solidFill>
                  <a:srgbClr val="2A3358"/>
                </a:solidFill>
                <a:latin typeface="Calibri" pitchFamily="34" charset="0"/>
                <a:ea typeface="Calibri" pitchFamily="34" charset="-122"/>
                <a:cs typeface="Calibri" pitchFamily="34" charset="-120"/>
              </a:rPr>
              <a:t>Gmail compose, Instagram DM, LinkedIn message — all native. Replies land in the CRM. Status updates itself. You just write the message.</a:t>
            </a:r>
            <a:endParaRPr lang="en-US" sz="1800" dirty="0"/>
          </a:p>
        </p:txBody>
      </p:sp>
      <p:sp>
        <p:nvSpPr>
          <p:cNvPr id="25" name="Shape 23"/>
          <p:cNvSpPr/>
          <p:nvPr/>
        </p:nvSpPr>
        <p:spPr>
          <a:xfrm>
            <a:off x="548640" y="502920"/>
            <a:ext cx="292608" cy="292608"/>
          </a:xfrm>
          <a:prstGeom prst="roundRect">
            <a:avLst>
              <a:gd name="adj" fmla="val 25000"/>
            </a:avLst>
          </a:prstGeom>
          <a:solidFill>
            <a:srgbClr val="5028C2"/>
          </a:solidFill>
          <a:ln/>
        </p:spPr>
      </p:sp>
      <p:sp>
        <p:nvSpPr>
          <p:cNvPr id="26" name="Shape 24"/>
          <p:cNvSpPr/>
          <p:nvPr/>
        </p:nvSpPr>
        <p:spPr>
          <a:xfrm>
            <a:off x="548640" y="502920"/>
            <a:ext cx="292608" cy="292608"/>
          </a:xfrm>
          <a:prstGeom prst="roundRect">
            <a:avLst>
              <a:gd name="adj" fmla="val 25000"/>
            </a:avLst>
          </a:prstGeom>
          <a:solidFill>
            <a:srgbClr val="1A6FBE">
              <a:alpha val="50000"/>
            </a:srgbClr>
          </a:solidFill>
          <a:ln/>
        </p:spPr>
      </p:sp>
      <p:sp>
        <p:nvSpPr>
          <p:cNvPr id="27" name="Text 25"/>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8" name="Text 26"/>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9" name="Text 27"/>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09 · Native outreach + CRM  ·  vA</a:t>
            </a:r>
            <a:endParaRPr lang="en-US" sz="900" dirty="0"/>
          </a:p>
        </p:txBody>
      </p:sp>
      <p:sp>
        <p:nvSpPr>
          <p:cNvPr id="30" name="Text 28"/>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31" name="Text 29"/>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057 / 126</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071183" y="0"/>
            <a:ext cx="5120512" cy="116300"/>
          </a:xfrm>
          <a:prstGeom prst="rect">
            <a:avLst/>
          </a:prstGeom>
          <a:solidFill>
            <a:srgbClr val="5028C2"/>
          </a:solidFill>
          <a:ln/>
        </p:spPr>
      </p:sp>
      <p:sp>
        <p:nvSpPr>
          <p:cNvPr id="3" name="Shape 1"/>
          <p:cNvSpPr/>
          <p:nvPr/>
        </p:nvSpPr>
        <p:spPr>
          <a:xfrm>
            <a:off x="7071183" y="107156"/>
            <a:ext cx="5120512" cy="116300"/>
          </a:xfrm>
          <a:prstGeom prst="rect">
            <a:avLst/>
          </a:prstGeom>
          <a:solidFill>
            <a:srgbClr val="4F29C2"/>
          </a:solidFill>
          <a:ln/>
        </p:spPr>
      </p:sp>
      <p:sp>
        <p:nvSpPr>
          <p:cNvPr id="4" name="Shape 2"/>
          <p:cNvSpPr/>
          <p:nvPr/>
        </p:nvSpPr>
        <p:spPr>
          <a:xfrm>
            <a:off x="7071183" y="214313"/>
            <a:ext cx="5120512" cy="116300"/>
          </a:xfrm>
          <a:prstGeom prst="rect">
            <a:avLst/>
          </a:prstGeom>
          <a:solidFill>
            <a:srgbClr val="4E2AC3"/>
          </a:solidFill>
          <a:ln/>
        </p:spPr>
      </p:sp>
      <p:sp>
        <p:nvSpPr>
          <p:cNvPr id="5" name="Shape 3"/>
          <p:cNvSpPr/>
          <p:nvPr/>
        </p:nvSpPr>
        <p:spPr>
          <a:xfrm>
            <a:off x="7071183" y="321469"/>
            <a:ext cx="5120512" cy="116300"/>
          </a:xfrm>
          <a:prstGeom prst="rect">
            <a:avLst/>
          </a:prstGeom>
          <a:solidFill>
            <a:srgbClr val="4D2BC3"/>
          </a:solidFill>
          <a:ln/>
        </p:spPr>
      </p:sp>
      <p:sp>
        <p:nvSpPr>
          <p:cNvPr id="6" name="Shape 4"/>
          <p:cNvSpPr/>
          <p:nvPr/>
        </p:nvSpPr>
        <p:spPr>
          <a:xfrm>
            <a:off x="7071183" y="428625"/>
            <a:ext cx="5120512" cy="116300"/>
          </a:xfrm>
          <a:prstGeom prst="rect">
            <a:avLst/>
          </a:prstGeom>
          <a:solidFill>
            <a:srgbClr val="4D2CC4"/>
          </a:solidFill>
          <a:ln/>
        </p:spPr>
      </p:sp>
      <p:sp>
        <p:nvSpPr>
          <p:cNvPr id="7" name="Shape 5"/>
          <p:cNvSpPr/>
          <p:nvPr/>
        </p:nvSpPr>
        <p:spPr>
          <a:xfrm>
            <a:off x="7071183" y="535781"/>
            <a:ext cx="5120512" cy="116300"/>
          </a:xfrm>
          <a:prstGeom prst="rect">
            <a:avLst/>
          </a:prstGeom>
          <a:solidFill>
            <a:srgbClr val="4C2DC4"/>
          </a:solidFill>
          <a:ln/>
        </p:spPr>
      </p:sp>
      <p:sp>
        <p:nvSpPr>
          <p:cNvPr id="8" name="Shape 6"/>
          <p:cNvSpPr/>
          <p:nvPr/>
        </p:nvSpPr>
        <p:spPr>
          <a:xfrm>
            <a:off x="7071183" y="642938"/>
            <a:ext cx="5120512" cy="116300"/>
          </a:xfrm>
          <a:prstGeom prst="rect">
            <a:avLst/>
          </a:prstGeom>
          <a:solidFill>
            <a:srgbClr val="4B2EC5"/>
          </a:solidFill>
          <a:ln/>
        </p:spPr>
      </p:sp>
      <p:sp>
        <p:nvSpPr>
          <p:cNvPr id="9" name="Shape 7"/>
          <p:cNvSpPr/>
          <p:nvPr/>
        </p:nvSpPr>
        <p:spPr>
          <a:xfrm>
            <a:off x="7071183" y="750094"/>
            <a:ext cx="5120512" cy="116300"/>
          </a:xfrm>
          <a:prstGeom prst="rect">
            <a:avLst/>
          </a:prstGeom>
          <a:solidFill>
            <a:srgbClr val="4A2FC5"/>
          </a:solidFill>
          <a:ln/>
        </p:spPr>
      </p:sp>
      <p:sp>
        <p:nvSpPr>
          <p:cNvPr id="10" name="Shape 8"/>
          <p:cNvSpPr/>
          <p:nvPr/>
        </p:nvSpPr>
        <p:spPr>
          <a:xfrm>
            <a:off x="7071183" y="857250"/>
            <a:ext cx="5120512" cy="116300"/>
          </a:xfrm>
          <a:prstGeom prst="rect">
            <a:avLst/>
          </a:prstGeom>
          <a:solidFill>
            <a:srgbClr val="4930C6"/>
          </a:solidFill>
          <a:ln/>
        </p:spPr>
      </p:sp>
      <p:sp>
        <p:nvSpPr>
          <p:cNvPr id="11" name="Shape 9"/>
          <p:cNvSpPr/>
          <p:nvPr/>
        </p:nvSpPr>
        <p:spPr>
          <a:xfrm>
            <a:off x="7071183" y="964406"/>
            <a:ext cx="5120512" cy="116300"/>
          </a:xfrm>
          <a:prstGeom prst="rect">
            <a:avLst/>
          </a:prstGeom>
          <a:solidFill>
            <a:srgbClr val="4831C6"/>
          </a:solidFill>
          <a:ln/>
        </p:spPr>
      </p:sp>
      <p:sp>
        <p:nvSpPr>
          <p:cNvPr id="12" name="Shape 10"/>
          <p:cNvSpPr/>
          <p:nvPr/>
        </p:nvSpPr>
        <p:spPr>
          <a:xfrm>
            <a:off x="7071183" y="1071563"/>
            <a:ext cx="5120512" cy="116300"/>
          </a:xfrm>
          <a:prstGeom prst="rect">
            <a:avLst/>
          </a:prstGeom>
          <a:solidFill>
            <a:srgbClr val="4732C6"/>
          </a:solidFill>
          <a:ln/>
        </p:spPr>
      </p:sp>
      <p:sp>
        <p:nvSpPr>
          <p:cNvPr id="13" name="Shape 11"/>
          <p:cNvSpPr/>
          <p:nvPr/>
        </p:nvSpPr>
        <p:spPr>
          <a:xfrm>
            <a:off x="7071183" y="1178719"/>
            <a:ext cx="5120512" cy="116300"/>
          </a:xfrm>
          <a:prstGeom prst="rect">
            <a:avLst/>
          </a:prstGeom>
          <a:solidFill>
            <a:srgbClr val="4733C7"/>
          </a:solidFill>
          <a:ln/>
        </p:spPr>
      </p:sp>
      <p:sp>
        <p:nvSpPr>
          <p:cNvPr id="14" name="Shape 12"/>
          <p:cNvSpPr/>
          <p:nvPr/>
        </p:nvSpPr>
        <p:spPr>
          <a:xfrm>
            <a:off x="7071183" y="1285875"/>
            <a:ext cx="5120512" cy="116300"/>
          </a:xfrm>
          <a:prstGeom prst="rect">
            <a:avLst/>
          </a:prstGeom>
          <a:solidFill>
            <a:srgbClr val="4634C7"/>
          </a:solidFill>
          <a:ln/>
        </p:spPr>
      </p:sp>
      <p:sp>
        <p:nvSpPr>
          <p:cNvPr id="15" name="Shape 13"/>
          <p:cNvSpPr/>
          <p:nvPr/>
        </p:nvSpPr>
        <p:spPr>
          <a:xfrm>
            <a:off x="7071183" y="1393031"/>
            <a:ext cx="5120512" cy="116300"/>
          </a:xfrm>
          <a:prstGeom prst="rect">
            <a:avLst/>
          </a:prstGeom>
          <a:solidFill>
            <a:srgbClr val="4535C8"/>
          </a:solidFill>
          <a:ln/>
        </p:spPr>
      </p:sp>
      <p:sp>
        <p:nvSpPr>
          <p:cNvPr id="16" name="Shape 14"/>
          <p:cNvSpPr/>
          <p:nvPr/>
        </p:nvSpPr>
        <p:spPr>
          <a:xfrm>
            <a:off x="7071183" y="1500188"/>
            <a:ext cx="5120512" cy="116300"/>
          </a:xfrm>
          <a:prstGeom prst="rect">
            <a:avLst/>
          </a:prstGeom>
          <a:solidFill>
            <a:srgbClr val="4436C8"/>
          </a:solidFill>
          <a:ln/>
        </p:spPr>
      </p:sp>
      <p:sp>
        <p:nvSpPr>
          <p:cNvPr id="17" name="Shape 15"/>
          <p:cNvSpPr/>
          <p:nvPr/>
        </p:nvSpPr>
        <p:spPr>
          <a:xfrm>
            <a:off x="7071183" y="1607344"/>
            <a:ext cx="5120512" cy="116300"/>
          </a:xfrm>
          <a:prstGeom prst="rect">
            <a:avLst/>
          </a:prstGeom>
          <a:solidFill>
            <a:srgbClr val="4337C9"/>
          </a:solidFill>
          <a:ln/>
        </p:spPr>
      </p:sp>
      <p:sp>
        <p:nvSpPr>
          <p:cNvPr id="18" name="Shape 16"/>
          <p:cNvSpPr/>
          <p:nvPr/>
        </p:nvSpPr>
        <p:spPr>
          <a:xfrm>
            <a:off x="7071183" y="1714500"/>
            <a:ext cx="5120512" cy="116300"/>
          </a:xfrm>
          <a:prstGeom prst="rect">
            <a:avLst/>
          </a:prstGeom>
          <a:solidFill>
            <a:srgbClr val="4238C9"/>
          </a:solidFill>
          <a:ln/>
        </p:spPr>
      </p:sp>
      <p:sp>
        <p:nvSpPr>
          <p:cNvPr id="19" name="Shape 17"/>
          <p:cNvSpPr/>
          <p:nvPr/>
        </p:nvSpPr>
        <p:spPr>
          <a:xfrm>
            <a:off x="7071183" y="1821656"/>
            <a:ext cx="5120512" cy="116300"/>
          </a:xfrm>
          <a:prstGeom prst="rect">
            <a:avLst/>
          </a:prstGeom>
          <a:solidFill>
            <a:srgbClr val="4139CA"/>
          </a:solidFill>
          <a:ln/>
        </p:spPr>
      </p:sp>
      <p:sp>
        <p:nvSpPr>
          <p:cNvPr id="20" name="Shape 18"/>
          <p:cNvSpPr/>
          <p:nvPr/>
        </p:nvSpPr>
        <p:spPr>
          <a:xfrm>
            <a:off x="7071183" y="1928813"/>
            <a:ext cx="5120512" cy="116300"/>
          </a:xfrm>
          <a:prstGeom prst="rect">
            <a:avLst/>
          </a:prstGeom>
          <a:solidFill>
            <a:srgbClr val="413ACA"/>
          </a:solidFill>
          <a:ln/>
        </p:spPr>
      </p:sp>
      <p:sp>
        <p:nvSpPr>
          <p:cNvPr id="21" name="Shape 19"/>
          <p:cNvSpPr/>
          <p:nvPr/>
        </p:nvSpPr>
        <p:spPr>
          <a:xfrm>
            <a:off x="7071183" y="2035969"/>
            <a:ext cx="5120512" cy="116300"/>
          </a:xfrm>
          <a:prstGeom prst="rect">
            <a:avLst/>
          </a:prstGeom>
          <a:solidFill>
            <a:srgbClr val="403BCA"/>
          </a:solidFill>
          <a:ln/>
        </p:spPr>
      </p:sp>
      <p:sp>
        <p:nvSpPr>
          <p:cNvPr id="22" name="Shape 20"/>
          <p:cNvSpPr/>
          <p:nvPr/>
        </p:nvSpPr>
        <p:spPr>
          <a:xfrm>
            <a:off x="7071183" y="2143125"/>
            <a:ext cx="5120512" cy="116300"/>
          </a:xfrm>
          <a:prstGeom prst="rect">
            <a:avLst/>
          </a:prstGeom>
          <a:solidFill>
            <a:srgbClr val="3F3CCB"/>
          </a:solidFill>
          <a:ln/>
        </p:spPr>
      </p:sp>
      <p:sp>
        <p:nvSpPr>
          <p:cNvPr id="23" name="Shape 21"/>
          <p:cNvSpPr/>
          <p:nvPr/>
        </p:nvSpPr>
        <p:spPr>
          <a:xfrm>
            <a:off x="7071183" y="2250281"/>
            <a:ext cx="5120512" cy="116300"/>
          </a:xfrm>
          <a:prstGeom prst="rect">
            <a:avLst/>
          </a:prstGeom>
          <a:solidFill>
            <a:srgbClr val="3E3DCB"/>
          </a:solidFill>
          <a:ln/>
        </p:spPr>
      </p:sp>
      <p:sp>
        <p:nvSpPr>
          <p:cNvPr id="24" name="Shape 22"/>
          <p:cNvSpPr/>
          <p:nvPr/>
        </p:nvSpPr>
        <p:spPr>
          <a:xfrm>
            <a:off x="7071183" y="2357438"/>
            <a:ext cx="5120512" cy="116300"/>
          </a:xfrm>
          <a:prstGeom prst="rect">
            <a:avLst/>
          </a:prstGeom>
          <a:solidFill>
            <a:srgbClr val="3D3ECC"/>
          </a:solidFill>
          <a:ln/>
        </p:spPr>
      </p:sp>
      <p:sp>
        <p:nvSpPr>
          <p:cNvPr id="25" name="Shape 23"/>
          <p:cNvSpPr/>
          <p:nvPr/>
        </p:nvSpPr>
        <p:spPr>
          <a:xfrm>
            <a:off x="7071183" y="2464594"/>
            <a:ext cx="5120512" cy="116300"/>
          </a:xfrm>
          <a:prstGeom prst="rect">
            <a:avLst/>
          </a:prstGeom>
          <a:solidFill>
            <a:srgbClr val="3C3FCC"/>
          </a:solidFill>
          <a:ln/>
        </p:spPr>
      </p:sp>
      <p:sp>
        <p:nvSpPr>
          <p:cNvPr id="26" name="Shape 24"/>
          <p:cNvSpPr/>
          <p:nvPr/>
        </p:nvSpPr>
        <p:spPr>
          <a:xfrm>
            <a:off x="7071183" y="2571750"/>
            <a:ext cx="5120512" cy="116300"/>
          </a:xfrm>
          <a:prstGeom prst="rect">
            <a:avLst/>
          </a:prstGeom>
          <a:solidFill>
            <a:srgbClr val="3B40CD"/>
          </a:solidFill>
          <a:ln/>
        </p:spPr>
      </p:sp>
      <p:sp>
        <p:nvSpPr>
          <p:cNvPr id="27" name="Shape 25"/>
          <p:cNvSpPr/>
          <p:nvPr/>
        </p:nvSpPr>
        <p:spPr>
          <a:xfrm>
            <a:off x="7071183" y="2678906"/>
            <a:ext cx="5120512" cy="116300"/>
          </a:xfrm>
          <a:prstGeom prst="rect">
            <a:avLst/>
          </a:prstGeom>
          <a:solidFill>
            <a:srgbClr val="3B41CD"/>
          </a:solidFill>
          <a:ln/>
        </p:spPr>
      </p:sp>
      <p:sp>
        <p:nvSpPr>
          <p:cNvPr id="28" name="Shape 26"/>
          <p:cNvSpPr/>
          <p:nvPr/>
        </p:nvSpPr>
        <p:spPr>
          <a:xfrm>
            <a:off x="7071183" y="2786063"/>
            <a:ext cx="5120512" cy="116300"/>
          </a:xfrm>
          <a:prstGeom prst="rect">
            <a:avLst/>
          </a:prstGeom>
          <a:solidFill>
            <a:srgbClr val="3A42CE"/>
          </a:solidFill>
          <a:ln/>
        </p:spPr>
      </p:sp>
      <p:sp>
        <p:nvSpPr>
          <p:cNvPr id="29" name="Shape 27"/>
          <p:cNvSpPr/>
          <p:nvPr/>
        </p:nvSpPr>
        <p:spPr>
          <a:xfrm>
            <a:off x="7071183" y="2893219"/>
            <a:ext cx="5120512" cy="116300"/>
          </a:xfrm>
          <a:prstGeom prst="rect">
            <a:avLst/>
          </a:prstGeom>
          <a:solidFill>
            <a:srgbClr val="3943CE"/>
          </a:solidFill>
          <a:ln/>
        </p:spPr>
      </p:sp>
      <p:sp>
        <p:nvSpPr>
          <p:cNvPr id="30" name="Shape 28"/>
          <p:cNvSpPr/>
          <p:nvPr/>
        </p:nvSpPr>
        <p:spPr>
          <a:xfrm>
            <a:off x="7071183" y="3000375"/>
            <a:ext cx="5120512" cy="116300"/>
          </a:xfrm>
          <a:prstGeom prst="rect">
            <a:avLst/>
          </a:prstGeom>
          <a:solidFill>
            <a:srgbClr val="3844CE"/>
          </a:solidFill>
          <a:ln/>
        </p:spPr>
      </p:sp>
      <p:sp>
        <p:nvSpPr>
          <p:cNvPr id="31" name="Shape 29"/>
          <p:cNvSpPr/>
          <p:nvPr/>
        </p:nvSpPr>
        <p:spPr>
          <a:xfrm>
            <a:off x="7071183" y="3107531"/>
            <a:ext cx="5120512" cy="116300"/>
          </a:xfrm>
          <a:prstGeom prst="rect">
            <a:avLst/>
          </a:prstGeom>
          <a:solidFill>
            <a:srgbClr val="3745CF"/>
          </a:solidFill>
          <a:ln/>
        </p:spPr>
      </p:sp>
      <p:sp>
        <p:nvSpPr>
          <p:cNvPr id="32" name="Shape 30"/>
          <p:cNvSpPr/>
          <p:nvPr/>
        </p:nvSpPr>
        <p:spPr>
          <a:xfrm>
            <a:off x="7071183" y="3214688"/>
            <a:ext cx="5120512" cy="116300"/>
          </a:xfrm>
          <a:prstGeom prst="rect">
            <a:avLst/>
          </a:prstGeom>
          <a:solidFill>
            <a:srgbClr val="3646CF"/>
          </a:solidFill>
          <a:ln/>
        </p:spPr>
      </p:sp>
      <p:sp>
        <p:nvSpPr>
          <p:cNvPr id="33" name="Shape 31"/>
          <p:cNvSpPr/>
          <p:nvPr/>
        </p:nvSpPr>
        <p:spPr>
          <a:xfrm>
            <a:off x="7071183" y="3321844"/>
            <a:ext cx="5120512" cy="116300"/>
          </a:xfrm>
          <a:prstGeom prst="rect">
            <a:avLst/>
          </a:prstGeom>
          <a:solidFill>
            <a:srgbClr val="3547D0"/>
          </a:solidFill>
          <a:ln/>
        </p:spPr>
      </p:sp>
      <p:sp>
        <p:nvSpPr>
          <p:cNvPr id="34" name="Shape 32"/>
          <p:cNvSpPr/>
          <p:nvPr/>
        </p:nvSpPr>
        <p:spPr>
          <a:xfrm>
            <a:off x="7071183" y="3429000"/>
            <a:ext cx="5120512" cy="116300"/>
          </a:xfrm>
          <a:prstGeom prst="rect">
            <a:avLst/>
          </a:prstGeom>
          <a:solidFill>
            <a:srgbClr val="3549D0"/>
          </a:solidFill>
          <a:ln/>
        </p:spPr>
      </p:sp>
      <p:sp>
        <p:nvSpPr>
          <p:cNvPr id="35" name="Shape 33"/>
          <p:cNvSpPr/>
          <p:nvPr/>
        </p:nvSpPr>
        <p:spPr>
          <a:xfrm>
            <a:off x="7071183" y="3536156"/>
            <a:ext cx="5120512" cy="116300"/>
          </a:xfrm>
          <a:prstGeom prst="rect">
            <a:avLst/>
          </a:prstGeom>
          <a:solidFill>
            <a:srgbClr val="344ACF"/>
          </a:solidFill>
          <a:ln/>
        </p:spPr>
      </p:sp>
      <p:sp>
        <p:nvSpPr>
          <p:cNvPr id="36" name="Shape 34"/>
          <p:cNvSpPr/>
          <p:nvPr/>
        </p:nvSpPr>
        <p:spPr>
          <a:xfrm>
            <a:off x="7071183" y="3643313"/>
            <a:ext cx="5120512" cy="116300"/>
          </a:xfrm>
          <a:prstGeom prst="rect">
            <a:avLst/>
          </a:prstGeom>
          <a:solidFill>
            <a:srgbClr val="334BCF"/>
          </a:solidFill>
          <a:ln/>
        </p:spPr>
      </p:sp>
      <p:sp>
        <p:nvSpPr>
          <p:cNvPr id="37" name="Shape 35"/>
          <p:cNvSpPr/>
          <p:nvPr/>
        </p:nvSpPr>
        <p:spPr>
          <a:xfrm>
            <a:off x="7071183" y="3750469"/>
            <a:ext cx="5120512" cy="116300"/>
          </a:xfrm>
          <a:prstGeom prst="rect">
            <a:avLst/>
          </a:prstGeom>
          <a:solidFill>
            <a:srgbClr val="324CCE"/>
          </a:solidFill>
          <a:ln/>
        </p:spPr>
      </p:sp>
      <p:sp>
        <p:nvSpPr>
          <p:cNvPr id="38" name="Shape 36"/>
          <p:cNvSpPr/>
          <p:nvPr/>
        </p:nvSpPr>
        <p:spPr>
          <a:xfrm>
            <a:off x="7071183" y="3857625"/>
            <a:ext cx="5120512" cy="116300"/>
          </a:xfrm>
          <a:prstGeom prst="rect">
            <a:avLst/>
          </a:prstGeom>
          <a:solidFill>
            <a:srgbClr val="314ECD"/>
          </a:solidFill>
          <a:ln/>
        </p:spPr>
      </p:sp>
      <p:sp>
        <p:nvSpPr>
          <p:cNvPr id="39" name="Shape 37"/>
          <p:cNvSpPr/>
          <p:nvPr/>
        </p:nvSpPr>
        <p:spPr>
          <a:xfrm>
            <a:off x="7071183" y="3964781"/>
            <a:ext cx="5120512" cy="116300"/>
          </a:xfrm>
          <a:prstGeom prst="rect">
            <a:avLst/>
          </a:prstGeom>
          <a:solidFill>
            <a:srgbClr val="304FCD"/>
          </a:solidFill>
          <a:ln/>
        </p:spPr>
      </p:sp>
      <p:sp>
        <p:nvSpPr>
          <p:cNvPr id="40" name="Shape 38"/>
          <p:cNvSpPr/>
          <p:nvPr/>
        </p:nvSpPr>
        <p:spPr>
          <a:xfrm>
            <a:off x="7071183" y="4071938"/>
            <a:ext cx="5120512" cy="116300"/>
          </a:xfrm>
          <a:prstGeom prst="rect">
            <a:avLst/>
          </a:prstGeom>
          <a:solidFill>
            <a:srgbClr val="2F50CC"/>
          </a:solidFill>
          <a:ln/>
        </p:spPr>
      </p:sp>
      <p:sp>
        <p:nvSpPr>
          <p:cNvPr id="41" name="Shape 39"/>
          <p:cNvSpPr/>
          <p:nvPr/>
        </p:nvSpPr>
        <p:spPr>
          <a:xfrm>
            <a:off x="7071183" y="4179094"/>
            <a:ext cx="5120512" cy="116300"/>
          </a:xfrm>
          <a:prstGeom prst="rect">
            <a:avLst/>
          </a:prstGeom>
          <a:solidFill>
            <a:srgbClr val="2F51CC"/>
          </a:solidFill>
          <a:ln/>
        </p:spPr>
      </p:sp>
      <p:sp>
        <p:nvSpPr>
          <p:cNvPr id="42" name="Shape 40"/>
          <p:cNvSpPr/>
          <p:nvPr/>
        </p:nvSpPr>
        <p:spPr>
          <a:xfrm>
            <a:off x="7071183" y="4286250"/>
            <a:ext cx="5120512" cy="116300"/>
          </a:xfrm>
          <a:prstGeom prst="rect">
            <a:avLst/>
          </a:prstGeom>
          <a:solidFill>
            <a:srgbClr val="2E53CB"/>
          </a:solidFill>
          <a:ln/>
        </p:spPr>
      </p:sp>
      <p:sp>
        <p:nvSpPr>
          <p:cNvPr id="43" name="Shape 41"/>
          <p:cNvSpPr/>
          <p:nvPr/>
        </p:nvSpPr>
        <p:spPr>
          <a:xfrm>
            <a:off x="7071183" y="4393406"/>
            <a:ext cx="5120512" cy="116300"/>
          </a:xfrm>
          <a:prstGeom prst="rect">
            <a:avLst/>
          </a:prstGeom>
          <a:solidFill>
            <a:srgbClr val="2D54CB"/>
          </a:solidFill>
          <a:ln/>
        </p:spPr>
      </p:sp>
      <p:sp>
        <p:nvSpPr>
          <p:cNvPr id="44" name="Shape 42"/>
          <p:cNvSpPr/>
          <p:nvPr/>
        </p:nvSpPr>
        <p:spPr>
          <a:xfrm>
            <a:off x="7071183" y="4500563"/>
            <a:ext cx="5120512" cy="116300"/>
          </a:xfrm>
          <a:prstGeom prst="rect">
            <a:avLst/>
          </a:prstGeom>
          <a:solidFill>
            <a:srgbClr val="2C55CA"/>
          </a:solidFill>
          <a:ln/>
        </p:spPr>
      </p:sp>
      <p:sp>
        <p:nvSpPr>
          <p:cNvPr id="45" name="Shape 43"/>
          <p:cNvSpPr/>
          <p:nvPr/>
        </p:nvSpPr>
        <p:spPr>
          <a:xfrm>
            <a:off x="7071183" y="4607719"/>
            <a:ext cx="5120512" cy="116300"/>
          </a:xfrm>
          <a:prstGeom prst="rect">
            <a:avLst/>
          </a:prstGeom>
          <a:solidFill>
            <a:srgbClr val="2B56C9"/>
          </a:solidFill>
          <a:ln/>
        </p:spPr>
      </p:sp>
      <p:sp>
        <p:nvSpPr>
          <p:cNvPr id="46" name="Shape 44"/>
          <p:cNvSpPr/>
          <p:nvPr/>
        </p:nvSpPr>
        <p:spPr>
          <a:xfrm>
            <a:off x="7071183" y="4714875"/>
            <a:ext cx="5120512" cy="116300"/>
          </a:xfrm>
          <a:prstGeom prst="rect">
            <a:avLst/>
          </a:prstGeom>
          <a:solidFill>
            <a:srgbClr val="2A57C9"/>
          </a:solidFill>
          <a:ln/>
        </p:spPr>
      </p:sp>
      <p:sp>
        <p:nvSpPr>
          <p:cNvPr id="47" name="Shape 45"/>
          <p:cNvSpPr/>
          <p:nvPr/>
        </p:nvSpPr>
        <p:spPr>
          <a:xfrm>
            <a:off x="7071183" y="4822031"/>
            <a:ext cx="5120512" cy="116300"/>
          </a:xfrm>
          <a:prstGeom prst="rect">
            <a:avLst/>
          </a:prstGeom>
          <a:solidFill>
            <a:srgbClr val="2959C8"/>
          </a:solidFill>
          <a:ln/>
        </p:spPr>
      </p:sp>
      <p:sp>
        <p:nvSpPr>
          <p:cNvPr id="48" name="Shape 46"/>
          <p:cNvSpPr/>
          <p:nvPr/>
        </p:nvSpPr>
        <p:spPr>
          <a:xfrm>
            <a:off x="7071183" y="4929188"/>
            <a:ext cx="5120512" cy="116300"/>
          </a:xfrm>
          <a:prstGeom prst="rect">
            <a:avLst/>
          </a:prstGeom>
          <a:solidFill>
            <a:srgbClr val="295AC8"/>
          </a:solidFill>
          <a:ln/>
        </p:spPr>
      </p:sp>
      <p:sp>
        <p:nvSpPr>
          <p:cNvPr id="49" name="Shape 47"/>
          <p:cNvSpPr/>
          <p:nvPr/>
        </p:nvSpPr>
        <p:spPr>
          <a:xfrm>
            <a:off x="7071183" y="5036344"/>
            <a:ext cx="5120512" cy="116300"/>
          </a:xfrm>
          <a:prstGeom prst="rect">
            <a:avLst/>
          </a:prstGeom>
          <a:solidFill>
            <a:srgbClr val="285BC7"/>
          </a:solidFill>
          <a:ln/>
        </p:spPr>
      </p:sp>
      <p:sp>
        <p:nvSpPr>
          <p:cNvPr id="50" name="Shape 48"/>
          <p:cNvSpPr/>
          <p:nvPr/>
        </p:nvSpPr>
        <p:spPr>
          <a:xfrm>
            <a:off x="7071183" y="5143500"/>
            <a:ext cx="5120512" cy="116300"/>
          </a:xfrm>
          <a:prstGeom prst="rect">
            <a:avLst/>
          </a:prstGeom>
          <a:solidFill>
            <a:srgbClr val="275CC7"/>
          </a:solidFill>
          <a:ln/>
        </p:spPr>
      </p:sp>
      <p:sp>
        <p:nvSpPr>
          <p:cNvPr id="51" name="Shape 49"/>
          <p:cNvSpPr/>
          <p:nvPr/>
        </p:nvSpPr>
        <p:spPr>
          <a:xfrm>
            <a:off x="7071183" y="5250656"/>
            <a:ext cx="5120512" cy="116300"/>
          </a:xfrm>
          <a:prstGeom prst="rect">
            <a:avLst/>
          </a:prstGeom>
          <a:solidFill>
            <a:srgbClr val="265EC6"/>
          </a:solidFill>
          <a:ln/>
        </p:spPr>
      </p:sp>
      <p:sp>
        <p:nvSpPr>
          <p:cNvPr id="52" name="Shape 50"/>
          <p:cNvSpPr/>
          <p:nvPr/>
        </p:nvSpPr>
        <p:spPr>
          <a:xfrm>
            <a:off x="7071183" y="5357813"/>
            <a:ext cx="5120512" cy="116300"/>
          </a:xfrm>
          <a:prstGeom prst="rect">
            <a:avLst/>
          </a:prstGeom>
          <a:solidFill>
            <a:srgbClr val="255FC5"/>
          </a:solidFill>
          <a:ln/>
        </p:spPr>
      </p:sp>
      <p:sp>
        <p:nvSpPr>
          <p:cNvPr id="53" name="Shape 51"/>
          <p:cNvSpPr/>
          <p:nvPr/>
        </p:nvSpPr>
        <p:spPr>
          <a:xfrm>
            <a:off x="7071183" y="5464969"/>
            <a:ext cx="5120512" cy="116300"/>
          </a:xfrm>
          <a:prstGeom prst="rect">
            <a:avLst/>
          </a:prstGeom>
          <a:solidFill>
            <a:srgbClr val="2460C5"/>
          </a:solidFill>
          <a:ln/>
        </p:spPr>
      </p:sp>
      <p:sp>
        <p:nvSpPr>
          <p:cNvPr id="54" name="Shape 52"/>
          <p:cNvSpPr/>
          <p:nvPr/>
        </p:nvSpPr>
        <p:spPr>
          <a:xfrm>
            <a:off x="7071183" y="5572125"/>
            <a:ext cx="5120512" cy="116300"/>
          </a:xfrm>
          <a:prstGeom prst="rect">
            <a:avLst/>
          </a:prstGeom>
          <a:solidFill>
            <a:srgbClr val="2361C4"/>
          </a:solidFill>
          <a:ln/>
        </p:spPr>
      </p:sp>
      <p:sp>
        <p:nvSpPr>
          <p:cNvPr id="55" name="Shape 53"/>
          <p:cNvSpPr/>
          <p:nvPr/>
        </p:nvSpPr>
        <p:spPr>
          <a:xfrm>
            <a:off x="7071183" y="5679281"/>
            <a:ext cx="5120512" cy="116300"/>
          </a:xfrm>
          <a:prstGeom prst="rect">
            <a:avLst/>
          </a:prstGeom>
          <a:solidFill>
            <a:srgbClr val="2363C4"/>
          </a:solidFill>
          <a:ln/>
        </p:spPr>
      </p:sp>
      <p:sp>
        <p:nvSpPr>
          <p:cNvPr id="56" name="Shape 54"/>
          <p:cNvSpPr/>
          <p:nvPr/>
        </p:nvSpPr>
        <p:spPr>
          <a:xfrm>
            <a:off x="7071183" y="5786438"/>
            <a:ext cx="5120512" cy="116300"/>
          </a:xfrm>
          <a:prstGeom prst="rect">
            <a:avLst/>
          </a:prstGeom>
          <a:solidFill>
            <a:srgbClr val="2264C3"/>
          </a:solidFill>
          <a:ln/>
        </p:spPr>
      </p:sp>
      <p:sp>
        <p:nvSpPr>
          <p:cNvPr id="57" name="Shape 55"/>
          <p:cNvSpPr/>
          <p:nvPr/>
        </p:nvSpPr>
        <p:spPr>
          <a:xfrm>
            <a:off x="7071183" y="5893594"/>
            <a:ext cx="5120512" cy="116300"/>
          </a:xfrm>
          <a:prstGeom prst="rect">
            <a:avLst/>
          </a:prstGeom>
          <a:solidFill>
            <a:srgbClr val="2165C3"/>
          </a:solidFill>
          <a:ln/>
        </p:spPr>
      </p:sp>
      <p:sp>
        <p:nvSpPr>
          <p:cNvPr id="58" name="Shape 56"/>
          <p:cNvSpPr/>
          <p:nvPr/>
        </p:nvSpPr>
        <p:spPr>
          <a:xfrm>
            <a:off x="7071183" y="6000750"/>
            <a:ext cx="5120512" cy="116300"/>
          </a:xfrm>
          <a:prstGeom prst="rect">
            <a:avLst/>
          </a:prstGeom>
          <a:solidFill>
            <a:srgbClr val="2066C2"/>
          </a:solidFill>
          <a:ln/>
        </p:spPr>
      </p:sp>
      <p:sp>
        <p:nvSpPr>
          <p:cNvPr id="59" name="Shape 57"/>
          <p:cNvSpPr/>
          <p:nvPr/>
        </p:nvSpPr>
        <p:spPr>
          <a:xfrm>
            <a:off x="7071183" y="6107906"/>
            <a:ext cx="5120512" cy="116300"/>
          </a:xfrm>
          <a:prstGeom prst="rect">
            <a:avLst/>
          </a:prstGeom>
          <a:solidFill>
            <a:srgbClr val="1F68C1"/>
          </a:solidFill>
          <a:ln/>
        </p:spPr>
      </p:sp>
      <p:sp>
        <p:nvSpPr>
          <p:cNvPr id="60" name="Shape 58"/>
          <p:cNvSpPr/>
          <p:nvPr/>
        </p:nvSpPr>
        <p:spPr>
          <a:xfrm>
            <a:off x="7071183" y="6215063"/>
            <a:ext cx="5120512" cy="116300"/>
          </a:xfrm>
          <a:prstGeom prst="rect">
            <a:avLst/>
          </a:prstGeom>
          <a:solidFill>
            <a:srgbClr val="1E69C1"/>
          </a:solidFill>
          <a:ln/>
        </p:spPr>
      </p:sp>
      <p:sp>
        <p:nvSpPr>
          <p:cNvPr id="61" name="Shape 59"/>
          <p:cNvSpPr/>
          <p:nvPr/>
        </p:nvSpPr>
        <p:spPr>
          <a:xfrm>
            <a:off x="7071183" y="6322219"/>
            <a:ext cx="5120512" cy="116300"/>
          </a:xfrm>
          <a:prstGeom prst="rect">
            <a:avLst/>
          </a:prstGeom>
          <a:solidFill>
            <a:srgbClr val="1D6AC0"/>
          </a:solidFill>
          <a:ln/>
        </p:spPr>
      </p:sp>
      <p:sp>
        <p:nvSpPr>
          <p:cNvPr id="62" name="Shape 60"/>
          <p:cNvSpPr/>
          <p:nvPr/>
        </p:nvSpPr>
        <p:spPr>
          <a:xfrm>
            <a:off x="7071183" y="6429375"/>
            <a:ext cx="5120512" cy="116300"/>
          </a:xfrm>
          <a:prstGeom prst="rect">
            <a:avLst/>
          </a:prstGeom>
          <a:solidFill>
            <a:srgbClr val="1D6BC0"/>
          </a:solidFill>
          <a:ln/>
        </p:spPr>
      </p:sp>
      <p:sp>
        <p:nvSpPr>
          <p:cNvPr id="63" name="Shape 61"/>
          <p:cNvSpPr/>
          <p:nvPr/>
        </p:nvSpPr>
        <p:spPr>
          <a:xfrm>
            <a:off x="7071183" y="6536531"/>
            <a:ext cx="5120512" cy="116300"/>
          </a:xfrm>
          <a:prstGeom prst="rect">
            <a:avLst/>
          </a:prstGeom>
          <a:solidFill>
            <a:srgbClr val="1C6DBF"/>
          </a:solidFill>
          <a:ln/>
        </p:spPr>
      </p:sp>
      <p:sp>
        <p:nvSpPr>
          <p:cNvPr id="64" name="Shape 62"/>
          <p:cNvSpPr/>
          <p:nvPr/>
        </p:nvSpPr>
        <p:spPr>
          <a:xfrm>
            <a:off x="7071183" y="6643688"/>
            <a:ext cx="5120512" cy="116300"/>
          </a:xfrm>
          <a:prstGeom prst="rect">
            <a:avLst/>
          </a:prstGeom>
          <a:solidFill>
            <a:srgbClr val="1B6EBF"/>
          </a:solidFill>
          <a:ln/>
        </p:spPr>
      </p:sp>
      <p:sp>
        <p:nvSpPr>
          <p:cNvPr id="65" name="Shape 63"/>
          <p:cNvSpPr/>
          <p:nvPr/>
        </p:nvSpPr>
        <p:spPr>
          <a:xfrm>
            <a:off x="7071183" y="6750844"/>
            <a:ext cx="5120512" cy="116300"/>
          </a:xfrm>
          <a:prstGeom prst="rect">
            <a:avLst/>
          </a:prstGeom>
          <a:solidFill>
            <a:srgbClr val="1A6FBE"/>
          </a:solidFill>
          <a:ln/>
        </p:spPr>
      </p:sp>
      <p:sp>
        <p:nvSpPr>
          <p:cNvPr id="66" name="Text 64"/>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OUTREACH</a:t>
            </a:r>
            <a:endParaRPr lang="en-US" sz="1100" dirty="0"/>
          </a:p>
        </p:txBody>
      </p:sp>
      <p:sp>
        <p:nvSpPr>
          <p:cNvPr id="67" name="Text 65"/>
          <p:cNvSpPr/>
          <p:nvPr/>
        </p:nvSpPr>
        <p:spPr>
          <a:xfrm>
            <a:off x="548640" y="1417320"/>
            <a:ext cx="6156783" cy="2194560"/>
          </a:xfrm>
          <a:prstGeom prst="rect">
            <a:avLst/>
          </a:prstGeom>
          <a:noFill/>
          <a:ln/>
        </p:spPr>
        <p:txBody>
          <a:bodyPr wrap="square" lIns="0" tIns="0" rIns="0" bIns="0" rtlCol="0" anchor="t"/>
          <a:lstStyle/>
          <a:p>
            <a:pPr algn="l" indent="0" marL="0">
              <a:buNone/>
            </a:pPr>
            <a:r>
              <a:rPr lang="en-US" sz="4200" b="1" spc="-50" kern="0" dirty="0">
                <a:solidFill>
                  <a:srgbClr val="0F1733"/>
                </a:solidFill>
                <a:latin typeface="Calibri" pitchFamily="34" charset="0"/>
                <a:ea typeface="Calibri" pitchFamily="34" charset="-122"/>
                <a:cs typeface="Calibri" pitchFamily="34" charset="-120"/>
              </a:rPr>
              <a:t>Your inbox. Our tracking. Their reply.</a:t>
            </a:r>
            <a:endParaRPr lang="en-US" sz="4200" dirty="0"/>
          </a:p>
        </p:txBody>
      </p:sp>
      <p:sp>
        <p:nvSpPr>
          <p:cNvPr id="68" name="Text 66"/>
          <p:cNvSpPr/>
          <p:nvPr/>
        </p:nvSpPr>
        <p:spPr>
          <a:xfrm>
            <a:off x="548640" y="3657600"/>
            <a:ext cx="6156783" cy="1097280"/>
          </a:xfrm>
          <a:prstGeom prst="rect">
            <a:avLst/>
          </a:prstGeom>
          <a:noFill/>
          <a:ln/>
        </p:spPr>
        <p:txBody>
          <a:bodyPr wrap="square" lIns="0" tIns="0" rIns="0" bIns="0" rtlCol="0" anchor="t"/>
          <a:lstStyle/>
          <a:p>
            <a:pPr algn="l" indent="0" marL="0">
              <a:spcAft>
                <a:spcPts val="600"/>
              </a:spcAft>
              <a:buNone/>
            </a:pPr>
            <a:r>
              <a:rPr lang="en-US" sz="1400" dirty="0">
                <a:solidFill>
                  <a:srgbClr val="2A3358"/>
                </a:solidFill>
                <a:latin typeface="Calibri" pitchFamily="34" charset="0"/>
                <a:ea typeface="Calibri" pitchFamily="34" charset="-122"/>
                <a:cs typeface="Calibri" pitchFamily="34" charset="-120"/>
              </a:rPr>
              <a:t>Creator Outreach never proxies your messages through a generic shared sender. Every outreach goes through your own Gmail compose window, your own IG account, or your own LinkedIn — with our CRM watching for replies, follow-ups, and status changes silently in the background.</a:t>
            </a:r>
            <a:endParaRPr lang="en-US" sz="1400" dirty="0"/>
          </a:p>
        </p:txBody>
      </p:sp>
      <p:sp>
        <p:nvSpPr>
          <p:cNvPr id="69" name="Text 67"/>
          <p:cNvSpPr/>
          <p:nvPr/>
        </p:nvSpPr>
        <p:spPr>
          <a:xfrm>
            <a:off x="548640" y="4846320"/>
            <a:ext cx="6156783" cy="1463040"/>
          </a:xfrm>
          <a:prstGeom prst="rect">
            <a:avLst/>
          </a:prstGeom>
          <a:noFill/>
          <a:ln/>
        </p:spPr>
        <p:txBody>
          <a:bodyPr wrap="square" lIns="0" tIns="0" rIns="0" bIns="0" rtlCol="0" anchor="t"/>
          <a:lstStyle/>
          <a:p>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Native Gmail compose with template variables</a:t>
            </a:r>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Instagram and LinkedIn DM via your own accounts</a:t>
            </a:r>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Reply detection and status auto-update</a:t>
            </a:r>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Follow-up reminders surfaced at the right cadence</a:t>
            </a:r>
            <a:endParaRPr lang="en-US" sz="13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09 · Native outreach + CRM  ·  vB</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058 / 126</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THE CRM, BUILT FOR CREATORS</a:t>
            </a:r>
            <a:endParaRPr lang="en-US" sz="1100" dirty="0"/>
          </a:p>
        </p:txBody>
      </p:sp>
      <p:sp>
        <p:nvSpPr>
          <p:cNvPr id="3" name="Text 1"/>
          <p:cNvSpPr/>
          <p:nvPr/>
        </p:nvSpPr>
        <p:spPr>
          <a:xfrm>
            <a:off x="548640" y="1417320"/>
            <a:ext cx="11094415" cy="1188720"/>
          </a:xfrm>
          <a:prstGeom prst="rect">
            <a:avLst/>
          </a:prstGeom>
          <a:noFill/>
          <a:ln/>
        </p:spPr>
        <p:txBody>
          <a:bodyPr wrap="square" lIns="0" tIns="0" rIns="0" bIns="0" rtlCol="0" anchor="t"/>
          <a:lstStyle/>
          <a:p>
            <a:pPr algn="l" indent="0" marL="0">
              <a:buNone/>
            </a:pPr>
            <a:r>
              <a:rPr lang="en-US" sz="3800" b="1" spc="-50" kern="0" dirty="0">
                <a:solidFill>
                  <a:srgbClr val="0F1733"/>
                </a:solidFill>
                <a:latin typeface="Calibri" pitchFamily="34" charset="0"/>
                <a:ea typeface="Calibri" pitchFamily="34" charset="-122"/>
                <a:cs typeface="Calibri" pitchFamily="34" charset="-120"/>
              </a:rPr>
              <a:t>Three CRM surfaces tuned for the lifecycle.</a:t>
            </a:r>
            <a:endParaRPr lang="en-US" sz="3800" dirty="0"/>
          </a:p>
        </p:txBody>
      </p:sp>
      <p:sp>
        <p:nvSpPr>
          <p:cNvPr id="4" name="Text 2"/>
          <p:cNvSpPr/>
          <p:nvPr/>
        </p:nvSpPr>
        <p:spPr>
          <a:xfrm>
            <a:off x="548640" y="2606040"/>
            <a:ext cx="8534187" cy="457200"/>
          </a:xfrm>
          <a:prstGeom prst="rect">
            <a:avLst/>
          </a:prstGeom>
          <a:noFill/>
          <a:ln/>
        </p:spPr>
        <p:txBody>
          <a:bodyPr wrap="square" lIns="0" tIns="0" rIns="0" bIns="0" rtlCol="0" anchor="t"/>
          <a:lstStyle/>
          <a:p>
            <a:pPr algn="l" indent="0" marL="0">
              <a:buNone/>
            </a:pPr>
            <a:r>
              <a:rPr lang="en-US" sz="1600" dirty="0">
                <a:solidFill>
                  <a:srgbClr val="2A3358"/>
                </a:solidFill>
                <a:latin typeface="Calibri" pitchFamily="34" charset="0"/>
                <a:ea typeface="Calibri" pitchFamily="34" charset="-122"/>
                <a:cs typeface="Calibri" pitchFamily="34" charset="-120"/>
              </a:rPr>
              <a:t>Not a generic Pipedrive lookalike — a CRM that knows what a creator is and what stage means in this context.</a:t>
            </a:r>
            <a:endParaRPr lang="en-US" sz="1600" dirty="0"/>
          </a:p>
        </p:txBody>
      </p:sp>
      <p:sp>
        <p:nvSpPr>
          <p:cNvPr id="5" name="Shape 3"/>
          <p:cNvSpPr/>
          <p:nvPr/>
        </p:nvSpPr>
        <p:spPr>
          <a:xfrm>
            <a:off x="548640" y="3108960"/>
            <a:ext cx="3545738" cy="3017520"/>
          </a:xfrm>
          <a:prstGeom prst="roundRect">
            <a:avLst>
              <a:gd name="adj" fmla="val 3636"/>
            </a:avLst>
          </a:prstGeom>
          <a:solidFill>
            <a:srgbClr val="FFFFFF"/>
          </a:solidFill>
          <a:ln w="9525">
            <a:solidFill>
              <a:srgbClr val="E5E7F0"/>
            </a:solidFill>
            <a:prstDash val="solid"/>
          </a:ln>
        </p:spPr>
      </p:sp>
      <p:sp>
        <p:nvSpPr>
          <p:cNvPr id="6" name="Shape 4"/>
          <p:cNvSpPr/>
          <p:nvPr/>
        </p:nvSpPr>
        <p:spPr>
          <a:xfrm>
            <a:off x="548640" y="3108960"/>
            <a:ext cx="3545738" cy="73152"/>
          </a:xfrm>
          <a:prstGeom prst="rect">
            <a:avLst/>
          </a:prstGeom>
          <a:solidFill>
            <a:srgbClr val="5028C2"/>
          </a:solidFill>
          <a:ln/>
        </p:spPr>
      </p:sp>
      <p:sp>
        <p:nvSpPr>
          <p:cNvPr id="7" name="Shape 5"/>
          <p:cNvSpPr/>
          <p:nvPr/>
        </p:nvSpPr>
        <p:spPr>
          <a:xfrm>
            <a:off x="868680" y="3474720"/>
            <a:ext cx="457200" cy="457200"/>
          </a:xfrm>
          <a:prstGeom prst="ellipse">
            <a:avLst/>
          </a:prstGeom>
          <a:solidFill>
            <a:srgbClr val="5028C2"/>
          </a:solidFill>
          <a:ln/>
        </p:spPr>
      </p:sp>
      <p:sp>
        <p:nvSpPr>
          <p:cNvPr id="8" name="Text 6"/>
          <p:cNvSpPr/>
          <p:nvPr/>
        </p:nvSpPr>
        <p:spPr>
          <a:xfrm>
            <a:off x="868680"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9" name="Text 7"/>
          <p:cNvSpPr/>
          <p:nvPr/>
        </p:nvSpPr>
        <p:spPr>
          <a:xfrm>
            <a:off x="868680"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Pipeline</a:t>
            </a:r>
            <a:endParaRPr lang="en-US" sz="1800" dirty="0"/>
          </a:p>
        </p:txBody>
      </p:sp>
      <p:sp>
        <p:nvSpPr>
          <p:cNvPr id="10" name="Text 8"/>
          <p:cNvSpPr/>
          <p:nvPr/>
        </p:nvSpPr>
        <p:spPr>
          <a:xfrm>
            <a:off x="868680"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Kanban view by stage: Targeted → Contacted → Replied → Negotiating → Live → Done. Drag-and-drop, or let replies auto-advance.</a:t>
            </a:r>
            <a:endParaRPr lang="en-US" sz="1300" dirty="0"/>
          </a:p>
        </p:txBody>
      </p:sp>
      <p:sp>
        <p:nvSpPr>
          <p:cNvPr id="11" name="Shape 9"/>
          <p:cNvSpPr/>
          <p:nvPr/>
        </p:nvSpPr>
        <p:spPr>
          <a:xfrm>
            <a:off x="4322978" y="3108960"/>
            <a:ext cx="3545738" cy="3017520"/>
          </a:xfrm>
          <a:prstGeom prst="roundRect">
            <a:avLst>
              <a:gd name="adj" fmla="val 3636"/>
            </a:avLst>
          </a:prstGeom>
          <a:solidFill>
            <a:srgbClr val="FFFFFF"/>
          </a:solidFill>
          <a:ln w="9525">
            <a:solidFill>
              <a:srgbClr val="E5E7F0"/>
            </a:solidFill>
            <a:prstDash val="solid"/>
          </a:ln>
        </p:spPr>
      </p:sp>
      <p:sp>
        <p:nvSpPr>
          <p:cNvPr id="12" name="Shape 10"/>
          <p:cNvSpPr/>
          <p:nvPr/>
        </p:nvSpPr>
        <p:spPr>
          <a:xfrm>
            <a:off x="4322978" y="3108960"/>
            <a:ext cx="3545738" cy="73152"/>
          </a:xfrm>
          <a:prstGeom prst="rect">
            <a:avLst/>
          </a:prstGeom>
          <a:solidFill>
            <a:srgbClr val="3548D0"/>
          </a:solidFill>
          <a:ln/>
        </p:spPr>
      </p:sp>
      <p:sp>
        <p:nvSpPr>
          <p:cNvPr id="13" name="Shape 11"/>
          <p:cNvSpPr/>
          <p:nvPr/>
        </p:nvSpPr>
        <p:spPr>
          <a:xfrm>
            <a:off x="4643018" y="3474720"/>
            <a:ext cx="457200" cy="457200"/>
          </a:xfrm>
          <a:prstGeom prst="ellipse">
            <a:avLst/>
          </a:prstGeom>
          <a:solidFill>
            <a:srgbClr val="3548D0"/>
          </a:solidFill>
          <a:ln/>
        </p:spPr>
      </p:sp>
      <p:sp>
        <p:nvSpPr>
          <p:cNvPr id="14" name="Text 12"/>
          <p:cNvSpPr/>
          <p:nvPr/>
        </p:nvSpPr>
        <p:spPr>
          <a:xfrm>
            <a:off x="4643018"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5" name="Text 13"/>
          <p:cNvSpPr/>
          <p:nvPr/>
        </p:nvSpPr>
        <p:spPr>
          <a:xfrm>
            <a:off x="4643018"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Profile</a:t>
            </a:r>
            <a:endParaRPr lang="en-US" sz="1800" dirty="0"/>
          </a:p>
        </p:txBody>
      </p:sp>
      <p:sp>
        <p:nvSpPr>
          <p:cNvPr id="16" name="Text 14"/>
          <p:cNvSpPr/>
          <p:nvPr/>
        </p:nvSpPr>
        <p:spPr>
          <a:xfrm>
            <a:off x="4643018"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Every creator's full history: posts seen, messages sent, replies, notes, tags, and links to their public platforms.</a:t>
            </a:r>
            <a:endParaRPr lang="en-US" sz="1300" dirty="0"/>
          </a:p>
        </p:txBody>
      </p:sp>
      <p:sp>
        <p:nvSpPr>
          <p:cNvPr id="17" name="Shape 15"/>
          <p:cNvSpPr/>
          <p:nvPr/>
        </p:nvSpPr>
        <p:spPr>
          <a:xfrm>
            <a:off x="8097317" y="3108960"/>
            <a:ext cx="3545738" cy="3017520"/>
          </a:xfrm>
          <a:prstGeom prst="roundRect">
            <a:avLst>
              <a:gd name="adj" fmla="val 3636"/>
            </a:avLst>
          </a:prstGeom>
          <a:solidFill>
            <a:srgbClr val="FFFFFF"/>
          </a:solidFill>
          <a:ln w="9525">
            <a:solidFill>
              <a:srgbClr val="E5E7F0"/>
            </a:solidFill>
            <a:prstDash val="solid"/>
          </a:ln>
        </p:spPr>
      </p:sp>
      <p:sp>
        <p:nvSpPr>
          <p:cNvPr id="18" name="Shape 16"/>
          <p:cNvSpPr/>
          <p:nvPr/>
        </p:nvSpPr>
        <p:spPr>
          <a:xfrm>
            <a:off x="8097317" y="3108960"/>
            <a:ext cx="3545738" cy="73152"/>
          </a:xfrm>
          <a:prstGeom prst="rect">
            <a:avLst/>
          </a:prstGeom>
          <a:solidFill>
            <a:srgbClr val="1A6FBE"/>
          </a:solidFill>
          <a:ln/>
        </p:spPr>
      </p:sp>
      <p:sp>
        <p:nvSpPr>
          <p:cNvPr id="19" name="Shape 17"/>
          <p:cNvSpPr/>
          <p:nvPr/>
        </p:nvSpPr>
        <p:spPr>
          <a:xfrm>
            <a:off x="8417357" y="3474720"/>
            <a:ext cx="457200" cy="457200"/>
          </a:xfrm>
          <a:prstGeom prst="ellipse">
            <a:avLst/>
          </a:prstGeom>
          <a:solidFill>
            <a:srgbClr val="1A6FBE"/>
          </a:solidFill>
          <a:ln/>
        </p:spPr>
      </p:sp>
      <p:sp>
        <p:nvSpPr>
          <p:cNvPr id="20" name="Text 18"/>
          <p:cNvSpPr/>
          <p:nvPr/>
        </p:nvSpPr>
        <p:spPr>
          <a:xfrm>
            <a:off x="8417357"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9"/>
          <p:cNvSpPr/>
          <p:nvPr/>
        </p:nvSpPr>
        <p:spPr>
          <a:xfrm>
            <a:off x="8417357"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Follow-ups</a:t>
            </a:r>
            <a:endParaRPr lang="en-US" sz="1800" dirty="0"/>
          </a:p>
        </p:txBody>
      </p:sp>
      <p:sp>
        <p:nvSpPr>
          <p:cNvPr id="22" name="Text 20"/>
          <p:cNvSpPr/>
          <p:nvPr/>
        </p:nvSpPr>
        <p:spPr>
          <a:xfrm>
            <a:off x="8417357"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Auto-scheduled reminders for contacts who haven't replied. Surfaces ghosting cleanly before it costs you.</a:t>
            </a:r>
            <a:endParaRPr lang="en-US" sz="1300" dirty="0"/>
          </a:p>
        </p:txBody>
      </p:sp>
      <p:sp>
        <p:nvSpPr>
          <p:cNvPr id="23" name="Shape 21"/>
          <p:cNvSpPr/>
          <p:nvPr/>
        </p:nvSpPr>
        <p:spPr>
          <a:xfrm>
            <a:off x="548640" y="502920"/>
            <a:ext cx="292608" cy="292608"/>
          </a:xfrm>
          <a:prstGeom prst="roundRect">
            <a:avLst>
              <a:gd name="adj" fmla="val 25000"/>
            </a:avLst>
          </a:prstGeom>
          <a:solidFill>
            <a:srgbClr val="5028C2"/>
          </a:solidFill>
          <a:ln/>
        </p:spPr>
      </p:sp>
      <p:sp>
        <p:nvSpPr>
          <p:cNvPr id="24" name="Shape 22"/>
          <p:cNvSpPr/>
          <p:nvPr/>
        </p:nvSpPr>
        <p:spPr>
          <a:xfrm>
            <a:off x="548640" y="502920"/>
            <a:ext cx="292608" cy="292608"/>
          </a:xfrm>
          <a:prstGeom prst="roundRect">
            <a:avLst>
              <a:gd name="adj" fmla="val 25000"/>
            </a:avLst>
          </a:prstGeom>
          <a:solidFill>
            <a:srgbClr val="1A6FBE">
              <a:alpha val="50000"/>
            </a:srgbClr>
          </a:solidFill>
          <a:ln/>
        </p:spPr>
      </p:sp>
      <p:sp>
        <p:nvSpPr>
          <p:cNvPr id="25" name="Text 23"/>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6" name="Text 24"/>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7" name="Text 25"/>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09 · Native outreach + CRM  ·  vC</a:t>
            </a:r>
            <a:endParaRPr lang="en-US" sz="900" dirty="0"/>
          </a:p>
        </p:txBody>
      </p:sp>
      <p:sp>
        <p:nvSpPr>
          <p:cNvPr id="28" name="Text 26"/>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29" name="Text 27"/>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059 / 126</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320040" cy="116300"/>
          </a:xfrm>
          <a:prstGeom prst="rect">
            <a:avLst/>
          </a:prstGeom>
          <a:solidFill>
            <a:srgbClr val="5028C2"/>
          </a:solidFill>
          <a:ln/>
        </p:spPr>
      </p:sp>
      <p:sp>
        <p:nvSpPr>
          <p:cNvPr id="3" name="Shape 1"/>
          <p:cNvSpPr/>
          <p:nvPr/>
        </p:nvSpPr>
        <p:spPr>
          <a:xfrm>
            <a:off x="0" y="107156"/>
            <a:ext cx="320040" cy="116300"/>
          </a:xfrm>
          <a:prstGeom prst="rect">
            <a:avLst/>
          </a:prstGeom>
          <a:solidFill>
            <a:srgbClr val="4F29C2"/>
          </a:solidFill>
          <a:ln/>
        </p:spPr>
      </p:sp>
      <p:sp>
        <p:nvSpPr>
          <p:cNvPr id="4" name="Shape 2"/>
          <p:cNvSpPr/>
          <p:nvPr/>
        </p:nvSpPr>
        <p:spPr>
          <a:xfrm>
            <a:off x="0" y="214313"/>
            <a:ext cx="320040" cy="116300"/>
          </a:xfrm>
          <a:prstGeom prst="rect">
            <a:avLst/>
          </a:prstGeom>
          <a:solidFill>
            <a:srgbClr val="4E2AC3"/>
          </a:solidFill>
          <a:ln/>
        </p:spPr>
      </p:sp>
      <p:sp>
        <p:nvSpPr>
          <p:cNvPr id="5" name="Shape 3"/>
          <p:cNvSpPr/>
          <p:nvPr/>
        </p:nvSpPr>
        <p:spPr>
          <a:xfrm>
            <a:off x="0" y="321469"/>
            <a:ext cx="320040" cy="116300"/>
          </a:xfrm>
          <a:prstGeom prst="rect">
            <a:avLst/>
          </a:prstGeom>
          <a:solidFill>
            <a:srgbClr val="4D2BC3"/>
          </a:solidFill>
          <a:ln/>
        </p:spPr>
      </p:sp>
      <p:sp>
        <p:nvSpPr>
          <p:cNvPr id="6" name="Shape 4"/>
          <p:cNvSpPr/>
          <p:nvPr/>
        </p:nvSpPr>
        <p:spPr>
          <a:xfrm>
            <a:off x="0" y="428625"/>
            <a:ext cx="320040" cy="116300"/>
          </a:xfrm>
          <a:prstGeom prst="rect">
            <a:avLst/>
          </a:prstGeom>
          <a:solidFill>
            <a:srgbClr val="4D2CC4"/>
          </a:solidFill>
          <a:ln/>
        </p:spPr>
      </p:sp>
      <p:sp>
        <p:nvSpPr>
          <p:cNvPr id="7" name="Shape 5"/>
          <p:cNvSpPr/>
          <p:nvPr/>
        </p:nvSpPr>
        <p:spPr>
          <a:xfrm>
            <a:off x="0" y="535781"/>
            <a:ext cx="320040" cy="116300"/>
          </a:xfrm>
          <a:prstGeom prst="rect">
            <a:avLst/>
          </a:prstGeom>
          <a:solidFill>
            <a:srgbClr val="4C2DC4"/>
          </a:solidFill>
          <a:ln/>
        </p:spPr>
      </p:sp>
      <p:sp>
        <p:nvSpPr>
          <p:cNvPr id="8" name="Shape 6"/>
          <p:cNvSpPr/>
          <p:nvPr/>
        </p:nvSpPr>
        <p:spPr>
          <a:xfrm>
            <a:off x="0" y="642938"/>
            <a:ext cx="320040" cy="116300"/>
          </a:xfrm>
          <a:prstGeom prst="rect">
            <a:avLst/>
          </a:prstGeom>
          <a:solidFill>
            <a:srgbClr val="4B2EC5"/>
          </a:solidFill>
          <a:ln/>
        </p:spPr>
      </p:sp>
      <p:sp>
        <p:nvSpPr>
          <p:cNvPr id="9" name="Shape 7"/>
          <p:cNvSpPr/>
          <p:nvPr/>
        </p:nvSpPr>
        <p:spPr>
          <a:xfrm>
            <a:off x="0" y="750094"/>
            <a:ext cx="320040" cy="116300"/>
          </a:xfrm>
          <a:prstGeom prst="rect">
            <a:avLst/>
          </a:prstGeom>
          <a:solidFill>
            <a:srgbClr val="4A2FC5"/>
          </a:solidFill>
          <a:ln/>
        </p:spPr>
      </p:sp>
      <p:sp>
        <p:nvSpPr>
          <p:cNvPr id="10" name="Shape 8"/>
          <p:cNvSpPr/>
          <p:nvPr/>
        </p:nvSpPr>
        <p:spPr>
          <a:xfrm>
            <a:off x="0" y="857250"/>
            <a:ext cx="320040" cy="116300"/>
          </a:xfrm>
          <a:prstGeom prst="rect">
            <a:avLst/>
          </a:prstGeom>
          <a:solidFill>
            <a:srgbClr val="4930C6"/>
          </a:solidFill>
          <a:ln/>
        </p:spPr>
      </p:sp>
      <p:sp>
        <p:nvSpPr>
          <p:cNvPr id="11" name="Shape 9"/>
          <p:cNvSpPr/>
          <p:nvPr/>
        </p:nvSpPr>
        <p:spPr>
          <a:xfrm>
            <a:off x="0" y="964406"/>
            <a:ext cx="320040" cy="116300"/>
          </a:xfrm>
          <a:prstGeom prst="rect">
            <a:avLst/>
          </a:prstGeom>
          <a:solidFill>
            <a:srgbClr val="4831C6"/>
          </a:solidFill>
          <a:ln/>
        </p:spPr>
      </p:sp>
      <p:sp>
        <p:nvSpPr>
          <p:cNvPr id="12" name="Shape 10"/>
          <p:cNvSpPr/>
          <p:nvPr/>
        </p:nvSpPr>
        <p:spPr>
          <a:xfrm>
            <a:off x="0" y="1071563"/>
            <a:ext cx="320040" cy="116300"/>
          </a:xfrm>
          <a:prstGeom prst="rect">
            <a:avLst/>
          </a:prstGeom>
          <a:solidFill>
            <a:srgbClr val="4732C6"/>
          </a:solidFill>
          <a:ln/>
        </p:spPr>
      </p:sp>
      <p:sp>
        <p:nvSpPr>
          <p:cNvPr id="13" name="Shape 11"/>
          <p:cNvSpPr/>
          <p:nvPr/>
        </p:nvSpPr>
        <p:spPr>
          <a:xfrm>
            <a:off x="0" y="1178719"/>
            <a:ext cx="320040" cy="116300"/>
          </a:xfrm>
          <a:prstGeom prst="rect">
            <a:avLst/>
          </a:prstGeom>
          <a:solidFill>
            <a:srgbClr val="4733C7"/>
          </a:solidFill>
          <a:ln/>
        </p:spPr>
      </p:sp>
      <p:sp>
        <p:nvSpPr>
          <p:cNvPr id="14" name="Shape 12"/>
          <p:cNvSpPr/>
          <p:nvPr/>
        </p:nvSpPr>
        <p:spPr>
          <a:xfrm>
            <a:off x="0" y="1285875"/>
            <a:ext cx="320040" cy="116300"/>
          </a:xfrm>
          <a:prstGeom prst="rect">
            <a:avLst/>
          </a:prstGeom>
          <a:solidFill>
            <a:srgbClr val="4634C7"/>
          </a:solidFill>
          <a:ln/>
        </p:spPr>
      </p:sp>
      <p:sp>
        <p:nvSpPr>
          <p:cNvPr id="15" name="Shape 13"/>
          <p:cNvSpPr/>
          <p:nvPr/>
        </p:nvSpPr>
        <p:spPr>
          <a:xfrm>
            <a:off x="0" y="1393031"/>
            <a:ext cx="320040" cy="116300"/>
          </a:xfrm>
          <a:prstGeom prst="rect">
            <a:avLst/>
          </a:prstGeom>
          <a:solidFill>
            <a:srgbClr val="4535C8"/>
          </a:solidFill>
          <a:ln/>
        </p:spPr>
      </p:sp>
      <p:sp>
        <p:nvSpPr>
          <p:cNvPr id="16" name="Shape 14"/>
          <p:cNvSpPr/>
          <p:nvPr/>
        </p:nvSpPr>
        <p:spPr>
          <a:xfrm>
            <a:off x="0" y="1500188"/>
            <a:ext cx="320040" cy="116300"/>
          </a:xfrm>
          <a:prstGeom prst="rect">
            <a:avLst/>
          </a:prstGeom>
          <a:solidFill>
            <a:srgbClr val="4436C8"/>
          </a:solidFill>
          <a:ln/>
        </p:spPr>
      </p:sp>
      <p:sp>
        <p:nvSpPr>
          <p:cNvPr id="17" name="Shape 15"/>
          <p:cNvSpPr/>
          <p:nvPr/>
        </p:nvSpPr>
        <p:spPr>
          <a:xfrm>
            <a:off x="0" y="1607344"/>
            <a:ext cx="320040" cy="116300"/>
          </a:xfrm>
          <a:prstGeom prst="rect">
            <a:avLst/>
          </a:prstGeom>
          <a:solidFill>
            <a:srgbClr val="4337C9"/>
          </a:solidFill>
          <a:ln/>
        </p:spPr>
      </p:sp>
      <p:sp>
        <p:nvSpPr>
          <p:cNvPr id="18" name="Shape 16"/>
          <p:cNvSpPr/>
          <p:nvPr/>
        </p:nvSpPr>
        <p:spPr>
          <a:xfrm>
            <a:off x="0" y="1714500"/>
            <a:ext cx="320040" cy="116300"/>
          </a:xfrm>
          <a:prstGeom prst="rect">
            <a:avLst/>
          </a:prstGeom>
          <a:solidFill>
            <a:srgbClr val="4238C9"/>
          </a:solidFill>
          <a:ln/>
        </p:spPr>
      </p:sp>
      <p:sp>
        <p:nvSpPr>
          <p:cNvPr id="19" name="Shape 17"/>
          <p:cNvSpPr/>
          <p:nvPr/>
        </p:nvSpPr>
        <p:spPr>
          <a:xfrm>
            <a:off x="0" y="1821656"/>
            <a:ext cx="320040" cy="116300"/>
          </a:xfrm>
          <a:prstGeom prst="rect">
            <a:avLst/>
          </a:prstGeom>
          <a:solidFill>
            <a:srgbClr val="4139CA"/>
          </a:solidFill>
          <a:ln/>
        </p:spPr>
      </p:sp>
      <p:sp>
        <p:nvSpPr>
          <p:cNvPr id="20" name="Shape 18"/>
          <p:cNvSpPr/>
          <p:nvPr/>
        </p:nvSpPr>
        <p:spPr>
          <a:xfrm>
            <a:off x="0" y="1928813"/>
            <a:ext cx="320040" cy="116300"/>
          </a:xfrm>
          <a:prstGeom prst="rect">
            <a:avLst/>
          </a:prstGeom>
          <a:solidFill>
            <a:srgbClr val="413ACA"/>
          </a:solidFill>
          <a:ln/>
        </p:spPr>
      </p:sp>
      <p:sp>
        <p:nvSpPr>
          <p:cNvPr id="21" name="Shape 19"/>
          <p:cNvSpPr/>
          <p:nvPr/>
        </p:nvSpPr>
        <p:spPr>
          <a:xfrm>
            <a:off x="0" y="2035969"/>
            <a:ext cx="320040" cy="116300"/>
          </a:xfrm>
          <a:prstGeom prst="rect">
            <a:avLst/>
          </a:prstGeom>
          <a:solidFill>
            <a:srgbClr val="403BCA"/>
          </a:solidFill>
          <a:ln/>
        </p:spPr>
      </p:sp>
      <p:sp>
        <p:nvSpPr>
          <p:cNvPr id="22" name="Shape 20"/>
          <p:cNvSpPr/>
          <p:nvPr/>
        </p:nvSpPr>
        <p:spPr>
          <a:xfrm>
            <a:off x="0" y="2143125"/>
            <a:ext cx="320040" cy="116300"/>
          </a:xfrm>
          <a:prstGeom prst="rect">
            <a:avLst/>
          </a:prstGeom>
          <a:solidFill>
            <a:srgbClr val="3F3CCB"/>
          </a:solidFill>
          <a:ln/>
        </p:spPr>
      </p:sp>
      <p:sp>
        <p:nvSpPr>
          <p:cNvPr id="23" name="Shape 21"/>
          <p:cNvSpPr/>
          <p:nvPr/>
        </p:nvSpPr>
        <p:spPr>
          <a:xfrm>
            <a:off x="0" y="2250281"/>
            <a:ext cx="320040" cy="116300"/>
          </a:xfrm>
          <a:prstGeom prst="rect">
            <a:avLst/>
          </a:prstGeom>
          <a:solidFill>
            <a:srgbClr val="3E3DCB"/>
          </a:solidFill>
          <a:ln/>
        </p:spPr>
      </p:sp>
      <p:sp>
        <p:nvSpPr>
          <p:cNvPr id="24" name="Shape 22"/>
          <p:cNvSpPr/>
          <p:nvPr/>
        </p:nvSpPr>
        <p:spPr>
          <a:xfrm>
            <a:off x="0" y="2357438"/>
            <a:ext cx="320040" cy="116300"/>
          </a:xfrm>
          <a:prstGeom prst="rect">
            <a:avLst/>
          </a:prstGeom>
          <a:solidFill>
            <a:srgbClr val="3D3ECC"/>
          </a:solidFill>
          <a:ln/>
        </p:spPr>
      </p:sp>
      <p:sp>
        <p:nvSpPr>
          <p:cNvPr id="25" name="Shape 23"/>
          <p:cNvSpPr/>
          <p:nvPr/>
        </p:nvSpPr>
        <p:spPr>
          <a:xfrm>
            <a:off x="0" y="2464594"/>
            <a:ext cx="320040" cy="116300"/>
          </a:xfrm>
          <a:prstGeom prst="rect">
            <a:avLst/>
          </a:prstGeom>
          <a:solidFill>
            <a:srgbClr val="3C3FCC"/>
          </a:solidFill>
          <a:ln/>
        </p:spPr>
      </p:sp>
      <p:sp>
        <p:nvSpPr>
          <p:cNvPr id="26" name="Shape 24"/>
          <p:cNvSpPr/>
          <p:nvPr/>
        </p:nvSpPr>
        <p:spPr>
          <a:xfrm>
            <a:off x="0" y="2571750"/>
            <a:ext cx="320040" cy="116300"/>
          </a:xfrm>
          <a:prstGeom prst="rect">
            <a:avLst/>
          </a:prstGeom>
          <a:solidFill>
            <a:srgbClr val="3B40CD"/>
          </a:solidFill>
          <a:ln/>
        </p:spPr>
      </p:sp>
      <p:sp>
        <p:nvSpPr>
          <p:cNvPr id="27" name="Shape 25"/>
          <p:cNvSpPr/>
          <p:nvPr/>
        </p:nvSpPr>
        <p:spPr>
          <a:xfrm>
            <a:off x="0" y="2678906"/>
            <a:ext cx="320040" cy="116300"/>
          </a:xfrm>
          <a:prstGeom prst="rect">
            <a:avLst/>
          </a:prstGeom>
          <a:solidFill>
            <a:srgbClr val="3B41CD"/>
          </a:solidFill>
          <a:ln/>
        </p:spPr>
      </p:sp>
      <p:sp>
        <p:nvSpPr>
          <p:cNvPr id="28" name="Shape 26"/>
          <p:cNvSpPr/>
          <p:nvPr/>
        </p:nvSpPr>
        <p:spPr>
          <a:xfrm>
            <a:off x="0" y="2786063"/>
            <a:ext cx="320040" cy="116300"/>
          </a:xfrm>
          <a:prstGeom prst="rect">
            <a:avLst/>
          </a:prstGeom>
          <a:solidFill>
            <a:srgbClr val="3A42CE"/>
          </a:solidFill>
          <a:ln/>
        </p:spPr>
      </p:sp>
      <p:sp>
        <p:nvSpPr>
          <p:cNvPr id="29" name="Shape 27"/>
          <p:cNvSpPr/>
          <p:nvPr/>
        </p:nvSpPr>
        <p:spPr>
          <a:xfrm>
            <a:off x="0" y="2893219"/>
            <a:ext cx="320040" cy="116300"/>
          </a:xfrm>
          <a:prstGeom prst="rect">
            <a:avLst/>
          </a:prstGeom>
          <a:solidFill>
            <a:srgbClr val="3943CE"/>
          </a:solidFill>
          <a:ln/>
        </p:spPr>
      </p:sp>
      <p:sp>
        <p:nvSpPr>
          <p:cNvPr id="30" name="Shape 28"/>
          <p:cNvSpPr/>
          <p:nvPr/>
        </p:nvSpPr>
        <p:spPr>
          <a:xfrm>
            <a:off x="0" y="3000375"/>
            <a:ext cx="320040" cy="116300"/>
          </a:xfrm>
          <a:prstGeom prst="rect">
            <a:avLst/>
          </a:prstGeom>
          <a:solidFill>
            <a:srgbClr val="3844CE"/>
          </a:solidFill>
          <a:ln/>
        </p:spPr>
      </p:sp>
      <p:sp>
        <p:nvSpPr>
          <p:cNvPr id="31" name="Shape 29"/>
          <p:cNvSpPr/>
          <p:nvPr/>
        </p:nvSpPr>
        <p:spPr>
          <a:xfrm>
            <a:off x="0" y="3107531"/>
            <a:ext cx="320040" cy="116300"/>
          </a:xfrm>
          <a:prstGeom prst="rect">
            <a:avLst/>
          </a:prstGeom>
          <a:solidFill>
            <a:srgbClr val="3745CF"/>
          </a:solidFill>
          <a:ln/>
        </p:spPr>
      </p:sp>
      <p:sp>
        <p:nvSpPr>
          <p:cNvPr id="32" name="Shape 30"/>
          <p:cNvSpPr/>
          <p:nvPr/>
        </p:nvSpPr>
        <p:spPr>
          <a:xfrm>
            <a:off x="0" y="3214688"/>
            <a:ext cx="320040" cy="116300"/>
          </a:xfrm>
          <a:prstGeom prst="rect">
            <a:avLst/>
          </a:prstGeom>
          <a:solidFill>
            <a:srgbClr val="3646CF"/>
          </a:solidFill>
          <a:ln/>
        </p:spPr>
      </p:sp>
      <p:sp>
        <p:nvSpPr>
          <p:cNvPr id="33" name="Shape 31"/>
          <p:cNvSpPr/>
          <p:nvPr/>
        </p:nvSpPr>
        <p:spPr>
          <a:xfrm>
            <a:off x="0" y="3321844"/>
            <a:ext cx="320040" cy="116300"/>
          </a:xfrm>
          <a:prstGeom prst="rect">
            <a:avLst/>
          </a:prstGeom>
          <a:solidFill>
            <a:srgbClr val="3547D0"/>
          </a:solidFill>
          <a:ln/>
        </p:spPr>
      </p:sp>
      <p:sp>
        <p:nvSpPr>
          <p:cNvPr id="34" name="Shape 32"/>
          <p:cNvSpPr/>
          <p:nvPr/>
        </p:nvSpPr>
        <p:spPr>
          <a:xfrm>
            <a:off x="0" y="3429000"/>
            <a:ext cx="320040" cy="116300"/>
          </a:xfrm>
          <a:prstGeom prst="rect">
            <a:avLst/>
          </a:prstGeom>
          <a:solidFill>
            <a:srgbClr val="3549D0"/>
          </a:solidFill>
          <a:ln/>
        </p:spPr>
      </p:sp>
      <p:sp>
        <p:nvSpPr>
          <p:cNvPr id="35" name="Shape 33"/>
          <p:cNvSpPr/>
          <p:nvPr/>
        </p:nvSpPr>
        <p:spPr>
          <a:xfrm>
            <a:off x="0" y="3536156"/>
            <a:ext cx="320040" cy="116300"/>
          </a:xfrm>
          <a:prstGeom prst="rect">
            <a:avLst/>
          </a:prstGeom>
          <a:solidFill>
            <a:srgbClr val="344ACF"/>
          </a:solidFill>
          <a:ln/>
        </p:spPr>
      </p:sp>
      <p:sp>
        <p:nvSpPr>
          <p:cNvPr id="36" name="Shape 34"/>
          <p:cNvSpPr/>
          <p:nvPr/>
        </p:nvSpPr>
        <p:spPr>
          <a:xfrm>
            <a:off x="0" y="3643313"/>
            <a:ext cx="320040" cy="116300"/>
          </a:xfrm>
          <a:prstGeom prst="rect">
            <a:avLst/>
          </a:prstGeom>
          <a:solidFill>
            <a:srgbClr val="334BCF"/>
          </a:solidFill>
          <a:ln/>
        </p:spPr>
      </p:sp>
      <p:sp>
        <p:nvSpPr>
          <p:cNvPr id="37" name="Shape 35"/>
          <p:cNvSpPr/>
          <p:nvPr/>
        </p:nvSpPr>
        <p:spPr>
          <a:xfrm>
            <a:off x="0" y="3750469"/>
            <a:ext cx="320040" cy="116300"/>
          </a:xfrm>
          <a:prstGeom prst="rect">
            <a:avLst/>
          </a:prstGeom>
          <a:solidFill>
            <a:srgbClr val="324CCE"/>
          </a:solidFill>
          <a:ln/>
        </p:spPr>
      </p:sp>
      <p:sp>
        <p:nvSpPr>
          <p:cNvPr id="38" name="Shape 36"/>
          <p:cNvSpPr/>
          <p:nvPr/>
        </p:nvSpPr>
        <p:spPr>
          <a:xfrm>
            <a:off x="0" y="3857625"/>
            <a:ext cx="320040" cy="116300"/>
          </a:xfrm>
          <a:prstGeom prst="rect">
            <a:avLst/>
          </a:prstGeom>
          <a:solidFill>
            <a:srgbClr val="314ECD"/>
          </a:solidFill>
          <a:ln/>
        </p:spPr>
      </p:sp>
      <p:sp>
        <p:nvSpPr>
          <p:cNvPr id="39" name="Shape 37"/>
          <p:cNvSpPr/>
          <p:nvPr/>
        </p:nvSpPr>
        <p:spPr>
          <a:xfrm>
            <a:off x="0" y="3964781"/>
            <a:ext cx="320040" cy="116300"/>
          </a:xfrm>
          <a:prstGeom prst="rect">
            <a:avLst/>
          </a:prstGeom>
          <a:solidFill>
            <a:srgbClr val="304FCD"/>
          </a:solidFill>
          <a:ln/>
        </p:spPr>
      </p:sp>
      <p:sp>
        <p:nvSpPr>
          <p:cNvPr id="40" name="Shape 38"/>
          <p:cNvSpPr/>
          <p:nvPr/>
        </p:nvSpPr>
        <p:spPr>
          <a:xfrm>
            <a:off x="0" y="4071938"/>
            <a:ext cx="320040" cy="116300"/>
          </a:xfrm>
          <a:prstGeom prst="rect">
            <a:avLst/>
          </a:prstGeom>
          <a:solidFill>
            <a:srgbClr val="2F50CC"/>
          </a:solidFill>
          <a:ln/>
        </p:spPr>
      </p:sp>
      <p:sp>
        <p:nvSpPr>
          <p:cNvPr id="41" name="Shape 39"/>
          <p:cNvSpPr/>
          <p:nvPr/>
        </p:nvSpPr>
        <p:spPr>
          <a:xfrm>
            <a:off x="0" y="4179094"/>
            <a:ext cx="320040" cy="116300"/>
          </a:xfrm>
          <a:prstGeom prst="rect">
            <a:avLst/>
          </a:prstGeom>
          <a:solidFill>
            <a:srgbClr val="2F51CC"/>
          </a:solidFill>
          <a:ln/>
        </p:spPr>
      </p:sp>
      <p:sp>
        <p:nvSpPr>
          <p:cNvPr id="42" name="Shape 40"/>
          <p:cNvSpPr/>
          <p:nvPr/>
        </p:nvSpPr>
        <p:spPr>
          <a:xfrm>
            <a:off x="0" y="4286250"/>
            <a:ext cx="320040" cy="116300"/>
          </a:xfrm>
          <a:prstGeom prst="rect">
            <a:avLst/>
          </a:prstGeom>
          <a:solidFill>
            <a:srgbClr val="2E53CB"/>
          </a:solidFill>
          <a:ln/>
        </p:spPr>
      </p:sp>
      <p:sp>
        <p:nvSpPr>
          <p:cNvPr id="43" name="Shape 41"/>
          <p:cNvSpPr/>
          <p:nvPr/>
        </p:nvSpPr>
        <p:spPr>
          <a:xfrm>
            <a:off x="0" y="4393406"/>
            <a:ext cx="320040" cy="116300"/>
          </a:xfrm>
          <a:prstGeom prst="rect">
            <a:avLst/>
          </a:prstGeom>
          <a:solidFill>
            <a:srgbClr val="2D54CB"/>
          </a:solidFill>
          <a:ln/>
        </p:spPr>
      </p:sp>
      <p:sp>
        <p:nvSpPr>
          <p:cNvPr id="44" name="Shape 42"/>
          <p:cNvSpPr/>
          <p:nvPr/>
        </p:nvSpPr>
        <p:spPr>
          <a:xfrm>
            <a:off x="0" y="4500563"/>
            <a:ext cx="320040" cy="116300"/>
          </a:xfrm>
          <a:prstGeom prst="rect">
            <a:avLst/>
          </a:prstGeom>
          <a:solidFill>
            <a:srgbClr val="2C55CA"/>
          </a:solidFill>
          <a:ln/>
        </p:spPr>
      </p:sp>
      <p:sp>
        <p:nvSpPr>
          <p:cNvPr id="45" name="Shape 43"/>
          <p:cNvSpPr/>
          <p:nvPr/>
        </p:nvSpPr>
        <p:spPr>
          <a:xfrm>
            <a:off x="0" y="4607719"/>
            <a:ext cx="320040" cy="116300"/>
          </a:xfrm>
          <a:prstGeom prst="rect">
            <a:avLst/>
          </a:prstGeom>
          <a:solidFill>
            <a:srgbClr val="2B56C9"/>
          </a:solidFill>
          <a:ln/>
        </p:spPr>
      </p:sp>
      <p:sp>
        <p:nvSpPr>
          <p:cNvPr id="46" name="Shape 44"/>
          <p:cNvSpPr/>
          <p:nvPr/>
        </p:nvSpPr>
        <p:spPr>
          <a:xfrm>
            <a:off x="0" y="4714875"/>
            <a:ext cx="320040" cy="116300"/>
          </a:xfrm>
          <a:prstGeom prst="rect">
            <a:avLst/>
          </a:prstGeom>
          <a:solidFill>
            <a:srgbClr val="2A57C9"/>
          </a:solidFill>
          <a:ln/>
        </p:spPr>
      </p:sp>
      <p:sp>
        <p:nvSpPr>
          <p:cNvPr id="47" name="Shape 45"/>
          <p:cNvSpPr/>
          <p:nvPr/>
        </p:nvSpPr>
        <p:spPr>
          <a:xfrm>
            <a:off x="0" y="4822031"/>
            <a:ext cx="320040" cy="116300"/>
          </a:xfrm>
          <a:prstGeom prst="rect">
            <a:avLst/>
          </a:prstGeom>
          <a:solidFill>
            <a:srgbClr val="2959C8"/>
          </a:solidFill>
          <a:ln/>
        </p:spPr>
      </p:sp>
      <p:sp>
        <p:nvSpPr>
          <p:cNvPr id="48" name="Shape 46"/>
          <p:cNvSpPr/>
          <p:nvPr/>
        </p:nvSpPr>
        <p:spPr>
          <a:xfrm>
            <a:off x="0" y="4929188"/>
            <a:ext cx="320040" cy="116300"/>
          </a:xfrm>
          <a:prstGeom prst="rect">
            <a:avLst/>
          </a:prstGeom>
          <a:solidFill>
            <a:srgbClr val="295AC8"/>
          </a:solidFill>
          <a:ln/>
        </p:spPr>
      </p:sp>
      <p:sp>
        <p:nvSpPr>
          <p:cNvPr id="49" name="Shape 47"/>
          <p:cNvSpPr/>
          <p:nvPr/>
        </p:nvSpPr>
        <p:spPr>
          <a:xfrm>
            <a:off x="0" y="5036344"/>
            <a:ext cx="320040" cy="116300"/>
          </a:xfrm>
          <a:prstGeom prst="rect">
            <a:avLst/>
          </a:prstGeom>
          <a:solidFill>
            <a:srgbClr val="285BC7"/>
          </a:solidFill>
          <a:ln/>
        </p:spPr>
      </p:sp>
      <p:sp>
        <p:nvSpPr>
          <p:cNvPr id="50" name="Shape 48"/>
          <p:cNvSpPr/>
          <p:nvPr/>
        </p:nvSpPr>
        <p:spPr>
          <a:xfrm>
            <a:off x="0" y="5143500"/>
            <a:ext cx="320040" cy="116300"/>
          </a:xfrm>
          <a:prstGeom prst="rect">
            <a:avLst/>
          </a:prstGeom>
          <a:solidFill>
            <a:srgbClr val="275CC7"/>
          </a:solidFill>
          <a:ln/>
        </p:spPr>
      </p:sp>
      <p:sp>
        <p:nvSpPr>
          <p:cNvPr id="51" name="Shape 49"/>
          <p:cNvSpPr/>
          <p:nvPr/>
        </p:nvSpPr>
        <p:spPr>
          <a:xfrm>
            <a:off x="0" y="5250656"/>
            <a:ext cx="320040" cy="116300"/>
          </a:xfrm>
          <a:prstGeom prst="rect">
            <a:avLst/>
          </a:prstGeom>
          <a:solidFill>
            <a:srgbClr val="265EC6"/>
          </a:solidFill>
          <a:ln/>
        </p:spPr>
      </p:sp>
      <p:sp>
        <p:nvSpPr>
          <p:cNvPr id="52" name="Shape 50"/>
          <p:cNvSpPr/>
          <p:nvPr/>
        </p:nvSpPr>
        <p:spPr>
          <a:xfrm>
            <a:off x="0" y="5357813"/>
            <a:ext cx="320040" cy="116300"/>
          </a:xfrm>
          <a:prstGeom prst="rect">
            <a:avLst/>
          </a:prstGeom>
          <a:solidFill>
            <a:srgbClr val="255FC5"/>
          </a:solidFill>
          <a:ln/>
        </p:spPr>
      </p:sp>
      <p:sp>
        <p:nvSpPr>
          <p:cNvPr id="53" name="Shape 51"/>
          <p:cNvSpPr/>
          <p:nvPr/>
        </p:nvSpPr>
        <p:spPr>
          <a:xfrm>
            <a:off x="0" y="5464969"/>
            <a:ext cx="320040" cy="116300"/>
          </a:xfrm>
          <a:prstGeom prst="rect">
            <a:avLst/>
          </a:prstGeom>
          <a:solidFill>
            <a:srgbClr val="2460C5"/>
          </a:solidFill>
          <a:ln/>
        </p:spPr>
      </p:sp>
      <p:sp>
        <p:nvSpPr>
          <p:cNvPr id="54" name="Shape 52"/>
          <p:cNvSpPr/>
          <p:nvPr/>
        </p:nvSpPr>
        <p:spPr>
          <a:xfrm>
            <a:off x="0" y="5572125"/>
            <a:ext cx="320040" cy="116300"/>
          </a:xfrm>
          <a:prstGeom prst="rect">
            <a:avLst/>
          </a:prstGeom>
          <a:solidFill>
            <a:srgbClr val="2361C4"/>
          </a:solidFill>
          <a:ln/>
        </p:spPr>
      </p:sp>
      <p:sp>
        <p:nvSpPr>
          <p:cNvPr id="55" name="Shape 53"/>
          <p:cNvSpPr/>
          <p:nvPr/>
        </p:nvSpPr>
        <p:spPr>
          <a:xfrm>
            <a:off x="0" y="5679281"/>
            <a:ext cx="320040" cy="116300"/>
          </a:xfrm>
          <a:prstGeom prst="rect">
            <a:avLst/>
          </a:prstGeom>
          <a:solidFill>
            <a:srgbClr val="2363C4"/>
          </a:solidFill>
          <a:ln/>
        </p:spPr>
      </p:sp>
      <p:sp>
        <p:nvSpPr>
          <p:cNvPr id="56" name="Shape 54"/>
          <p:cNvSpPr/>
          <p:nvPr/>
        </p:nvSpPr>
        <p:spPr>
          <a:xfrm>
            <a:off x="0" y="5786438"/>
            <a:ext cx="320040" cy="116300"/>
          </a:xfrm>
          <a:prstGeom prst="rect">
            <a:avLst/>
          </a:prstGeom>
          <a:solidFill>
            <a:srgbClr val="2264C3"/>
          </a:solidFill>
          <a:ln/>
        </p:spPr>
      </p:sp>
      <p:sp>
        <p:nvSpPr>
          <p:cNvPr id="57" name="Shape 55"/>
          <p:cNvSpPr/>
          <p:nvPr/>
        </p:nvSpPr>
        <p:spPr>
          <a:xfrm>
            <a:off x="0" y="5893594"/>
            <a:ext cx="320040" cy="116300"/>
          </a:xfrm>
          <a:prstGeom prst="rect">
            <a:avLst/>
          </a:prstGeom>
          <a:solidFill>
            <a:srgbClr val="2165C3"/>
          </a:solidFill>
          <a:ln/>
        </p:spPr>
      </p:sp>
      <p:sp>
        <p:nvSpPr>
          <p:cNvPr id="58" name="Shape 56"/>
          <p:cNvSpPr/>
          <p:nvPr/>
        </p:nvSpPr>
        <p:spPr>
          <a:xfrm>
            <a:off x="0" y="6000750"/>
            <a:ext cx="320040" cy="116300"/>
          </a:xfrm>
          <a:prstGeom prst="rect">
            <a:avLst/>
          </a:prstGeom>
          <a:solidFill>
            <a:srgbClr val="2066C2"/>
          </a:solidFill>
          <a:ln/>
        </p:spPr>
      </p:sp>
      <p:sp>
        <p:nvSpPr>
          <p:cNvPr id="59" name="Shape 57"/>
          <p:cNvSpPr/>
          <p:nvPr/>
        </p:nvSpPr>
        <p:spPr>
          <a:xfrm>
            <a:off x="0" y="6107906"/>
            <a:ext cx="320040" cy="116300"/>
          </a:xfrm>
          <a:prstGeom prst="rect">
            <a:avLst/>
          </a:prstGeom>
          <a:solidFill>
            <a:srgbClr val="1F68C1"/>
          </a:solidFill>
          <a:ln/>
        </p:spPr>
      </p:sp>
      <p:sp>
        <p:nvSpPr>
          <p:cNvPr id="60" name="Shape 58"/>
          <p:cNvSpPr/>
          <p:nvPr/>
        </p:nvSpPr>
        <p:spPr>
          <a:xfrm>
            <a:off x="0" y="6215063"/>
            <a:ext cx="320040" cy="116300"/>
          </a:xfrm>
          <a:prstGeom prst="rect">
            <a:avLst/>
          </a:prstGeom>
          <a:solidFill>
            <a:srgbClr val="1E69C1"/>
          </a:solidFill>
          <a:ln/>
        </p:spPr>
      </p:sp>
      <p:sp>
        <p:nvSpPr>
          <p:cNvPr id="61" name="Shape 59"/>
          <p:cNvSpPr/>
          <p:nvPr/>
        </p:nvSpPr>
        <p:spPr>
          <a:xfrm>
            <a:off x="0" y="6322219"/>
            <a:ext cx="320040" cy="116300"/>
          </a:xfrm>
          <a:prstGeom prst="rect">
            <a:avLst/>
          </a:prstGeom>
          <a:solidFill>
            <a:srgbClr val="1D6AC0"/>
          </a:solidFill>
          <a:ln/>
        </p:spPr>
      </p:sp>
      <p:sp>
        <p:nvSpPr>
          <p:cNvPr id="62" name="Shape 60"/>
          <p:cNvSpPr/>
          <p:nvPr/>
        </p:nvSpPr>
        <p:spPr>
          <a:xfrm>
            <a:off x="0" y="6429375"/>
            <a:ext cx="320040" cy="116300"/>
          </a:xfrm>
          <a:prstGeom prst="rect">
            <a:avLst/>
          </a:prstGeom>
          <a:solidFill>
            <a:srgbClr val="1D6BC0"/>
          </a:solidFill>
          <a:ln/>
        </p:spPr>
      </p:sp>
      <p:sp>
        <p:nvSpPr>
          <p:cNvPr id="63" name="Shape 61"/>
          <p:cNvSpPr/>
          <p:nvPr/>
        </p:nvSpPr>
        <p:spPr>
          <a:xfrm>
            <a:off x="0" y="6536531"/>
            <a:ext cx="320040" cy="116300"/>
          </a:xfrm>
          <a:prstGeom prst="rect">
            <a:avLst/>
          </a:prstGeom>
          <a:solidFill>
            <a:srgbClr val="1C6DBF"/>
          </a:solidFill>
          <a:ln/>
        </p:spPr>
      </p:sp>
      <p:sp>
        <p:nvSpPr>
          <p:cNvPr id="64" name="Shape 62"/>
          <p:cNvSpPr/>
          <p:nvPr/>
        </p:nvSpPr>
        <p:spPr>
          <a:xfrm>
            <a:off x="0" y="6643688"/>
            <a:ext cx="320040" cy="116300"/>
          </a:xfrm>
          <a:prstGeom prst="rect">
            <a:avLst/>
          </a:prstGeom>
          <a:solidFill>
            <a:srgbClr val="1B6EBF"/>
          </a:solidFill>
          <a:ln/>
        </p:spPr>
      </p:sp>
      <p:sp>
        <p:nvSpPr>
          <p:cNvPr id="65" name="Shape 63"/>
          <p:cNvSpPr/>
          <p:nvPr/>
        </p:nvSpPr>
        <p:spPr>
          <a:xfrm>
            <a:off x="0" y="6750844"/>
            <a:ext cx="320040" cy="116300"/>
          </a:xfrm>
          <a:prstGeom prst="rect">
            <a:avLst/>
          </a:prstGeom>
          <a:solidFill>
            <a:srgbClr val="1A6FBE"/>
          </a:solidFill>
          <a:ln/>
        </p:spPr>
      </p:sp>
      <p:sp>
        <p:nvSpPr>
          <p:cNvPr id="66" name="Text 64"/>
          <p:cNvSpPr/>
          <p:nvPr/>
        </p:nvSpPr>
        <p:spPr>
          <a:xfrm>
            <a:off x="73152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REPLY TRACKING</a:t>
            </a:r>
            <a:endParaRPr lang="en-US" sz="1100" dirty="0"/>
          </a:p>
        </p:txBody>
      </p:sp>
      <p:sp>
        <p:nvSpPr>
          <p:cNvPr id="67" name="Text 65"/>
          <p:cNvSpPr/>
          <p:nvPr/>
        </p:nvSpPr>
        <p:spPr>
          <a:xfrm>
            <a:off x="548640" y="1554480"/>
            <a:ext cx="11094415" cy="3200400"/>
          </a:xfrm>
          <a:prstGeom prst="rect">
            <a:avLst/>
          </a:prstGeom>
          <a:noFill/>
          <a:ln/>
        </p:spPr>
        <p:txBody>
          <a:bodyPr wrap="square" lIns="0" tIns="0" rIns="0" bIns="0" rtlCol="0" anchor="ctr"/>
          <a:lstStyle/>
          <a:p>
            <a:pPr algn="l" indent="0" marL="0">
              <a:buNone/>
            </a:pPr>
            <a:r>
              <a:rPr lang="en-US" sz="22000" b="1" spc="-600" kern="0" dirty="0">
                <a:solidFill>
                  <a:srgbClr val="5028C2"/>
                </a:solidFill>
                <a:latin typeface="Calibri" pitchFamily="34" charset="0"/>
                <a:ea typeface="Calibri" pitchFamily="34" charset="-122"/>
                <a:cs typeface="Calibri" pitchFamily="34" charset="-120"/>
              </a:rPr>
              <a:t>100%</a:t>
            </a:r>
            <a:endParaRPr lang="en-US" sz="22000" dirty="0"/>
          </a:p>
        </p:txBody>
      </p:sp>
      <p:sp>
        <p:nvSpPr>
          <p:cNvPr id="68" name="Text 66"/>
          <p:cNvSpPr/>
          <p:nvPr/>
        </p:nvSpPr>
        <p:spPr>
          <a:xfrm>
            <a:off x="548640" y="4983480"/>
            <a:ext cx="11094415" cy="457200"/>
          </a:xfrm>
          <a:prstGeom prst="rect">
            <a:avLst/>
          </a:prstGeom>
          <a:noFill/>
          <a:ln/>
        </p:spPr>
        <p:txBody>
          <a:bodyPr wrap="square" lIns="0" tIns="0" rIns="0" bIns="0" rtlCol="0" anchor="t"/>
          <a:lstStyle/>
          <a:p>
            <a:pPr algn="l" indent="0" marL="0">
              <a:buNone/>
            </a:pPr>
            <a:r>
              <a:rPr lang="en-US" sz="2200" b="1" dirty="0">
                <a:solidFill>
                  <a:srgbClr val="0F1733"/>
                </a:solidFill>
                <a:latin typeface="Calibri" pitchFamily="34" charset="0"/>
                <a:ea typeface="Calibri" pitchFamily="34" charset="-122"/>
                <a:cs typeface="Calibri" pitchFamily="34" charset="-120"/>
              </a:rPr>
              <a:t>Of replies captured and matched to the original outreach.</a:t>
            </a:r>
            <a:endParaRPr lang="en-US" sz="2200" dirty="0"/>
          </a:p>
        </p:txBody>
      </p:sp>
      <p:sp>
        <p:nvSpPr>
          <p:cNvPr id="69" name="Text 67"/>
          <p:cNvSpPr/>
          <p:nvPr/>
        </p:nvSpPr>
        <p:spPr>
          <a:xfrm>
            <a:off x="548640" y="5486400"/>
            <a:ext cx="10637215" cy="640080"/>
          </a:xfrm>
          <a:prstGeom prst="rect">
            <a:avLst/>
          </a:prstGeom>
          <a:noFill/>
          <a:ln/>
        </p:spPr>
        <p:txBody>
          <a:bodyPr wrap="square" lIns="0" tIns="0" rIns="0" bIns="0" rtlCol="0" anchor="t"/>
          <a:lstStyle/>
          <a:p>
            <a:pPr algn="l" indent="0" marL="0">
              <a:buNone/>
            </a:pPr>
            <a:r>
              <a:rPr lang="en-US" sz="1300" dirty="0">
                <a:solidFill>
                  <a:srgbClr val="2A3358"/>
                </a:solidFill>
                <a:latin typeface="Calibri" pitchFamily="34" charset="0"/>
                <a:ea typeface="Calibri" pitchFamily="34" charset="-122"/>
                <a:cs typeface="Calibri" pitchFamily="34" charset="-120"/>
              </a:rPr>
              <a:t>No more replies lost in a personal inbox or a forgotten DM thread. Every reply gets linked back to the original outreach automatically — so the CRM is always accurate, and follow-up decisions are always informed.</a:t>
            </a:r>
            <a:endParaRPr lang="en-US" sz="13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09 · Native outreach + CRM  ·  vD</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060 / 126</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1ECFF"/>
        </a:solidFill>
      </p:bgPr>
    </p:bg>
    <p:spTree>
      <p:nvGrpSpPr>
        <p:cNvPr id="1" name=""/>
        <p:cNvGrpSpPr/>
        <p:nvPr/>
      </p:nvGrpSpPr>
      <p:grpSpPr>
        <a:xfrm>
          <a:off x="0" y="0"/>
          <a:ext cx="0" cy="0"/>
          <a:chOff x="0" y="0"/>
          <a:chExt cx="0" cy="0"/>
        </a:xfrm>
      </p:grpSpPr>
      <p:sp>
        <p:nvSpPr>
          <p:cNvPr id="2" name="Text 0"/>
          <p:cNvSpPr/>
          <p:nvPr/>
        </p:nvSpPr>
        <p:spPr>
          <a:xfrm>
            <a:off x="457200" y="365760"/>
            <a:ext cx="2286000" cy="2286000"/>
          </a:xfrm>
          <a:prstGeom prst="rect">
            <a:avLst/>
          </a:prstGeom>
          <a:noFill/>
          <a:ln/>
        </p:spPr>
        <p:txBody>
          <a:bodyPr wrap="square" lIns="0" tIns="0" rIns="0" bIns="0" rtlCol="0" anchor="t"/>
          <a:lstStyle/>
          <a:p>
            <a:pPr algn="l" indent="0" marL="0">
              <a:buNone/>
            </a:pPr>
            <a:r>
              <a:rPr lang="en-US" sz="24000" b="1" dirty="0">
                <a:solidFill>
                  <a:srgbClr val="5028C2"/>
                </a:solidFill>
                <a:latin typeface="Georgia" pitchFamily="34" charset="0"/>
                <a:ea typeface="Georgia" pitchFamily="34" charset="-122"/>
                <a:cs typeface="Georgia" pitchFamily="34" charset="-120"/>
              </a:rPr>
              <a:t>"</a:t>
            </a:r>
            <a:endParaRPr lang="en-US" sz="24000" dirty="0"/>
          </a:p>
        </p:txBody>
      </p:sp>
      <p:sp>
        <p:nvSpPr>
          <p:cNvPr id="3" name="Text 1"/>
          <p:cNvSpPr/>
          <p:nvPr/>
        </p:nvSpPr>
        <p:spPr>
          <a:xfrm>
            <a:off x="1920240" y="1737360"/>
            <a:ext cx="9722815" cy="3108960"/>
          </a:xfrm>
          <a:prstGeom prst="rect">
            <a:avLst/>
          </a:prstGeom>
          <a:noFill/>
          <a:ln/>
        </p:spPr>
        <p:txBody>
          <a:bodyPr wrap="square" lIns="0" tIns="0" rIns="0" bIns="0" rtlCol="0" anchor="t"/>
          <a:lstStyle/>
          <a:p>
            <a:pPr algn="l" indent="0" marL="0">
              <a:buNone/>
            </a:pPr>
            <a:r>
              <a:rPr lang="en-US" sz="3000" i="1" dirty="0">
                <a:solidFill>
                  <a:srgbClr val="0F1733"/>
                </a:solidFill>
                <a:latin typeface="Georgia" pitchFamily="34" charset="0"/>
                <a:ea typeface="Georgia" pitchFamily="34" charset="-122"/>
                <a:cs typeface="Georgia" pitchFamily="34" charset="-120"/>
              </a:rPr>
              <a:t>I used to forget which creators replied. Now I forget that I have a CRM at all — it just updates itself while I work.</a:t>
            </a:r>
            <a:endParaRPr lang="en-US" sz="3000" dirty="0"/>
          </a:p>
        </p:txBody>
      </p:sp>
      <p:sp>
        <p:nvSpPr>
          <p:cNvPr id="4" name="Shape 2"/>
          <p:cNvSpPr/>
          <p:nvPr/>
        </p:nvSpPr>
        <p:spPr>
          <a:xfrm>
            <a:off x="1920240" y="5120640"/>
            <a:ext cx="640080" cy="0"/>
          </a:xfrm>
          <a:prstGeom prst="line">
            <a:avLst/>
          </a:prstGeom>
          <a:noFill/>
          <a:ln w="25400">
            <a:solidFill>
              <a:srgbClr val="5028C2"/>
            </a:solidFill>
            <a:prstDash val="solid"/>
          </a:ln>
        </p:spPr>
      </p:sp>
      <p:sp>
        <p:nvSpPr>
          <p:cNvPr id="5" name="Text 3"/>
          <p:cNvSpPr/>
          <p:nvPr/>
        </p:nvSpPr>
        <p:spPr>
          <a:xfrm>
            <a:off x="1920240" y="5212080"/>
            <a:ext cx="9722815" cy="457200"/>
          </a:xfrm>
          <a:prstGeom prst="rect">
            <a:avLst/>
          </a:prstGeom>
          <a:noFill/>
          <a:ln/>
        </p:spPr>
        <p:txBody>
          <a:bodyPr wrap="square" lIns="0" tIns="0" rIns="0" bIns="0" rtlCol="0" anchor="t"/>
          <a:lstStyle/>
          <a:p>
            <a:pPr algn="l" indent="0" marL="0">
              <a:buNone/>
            </a:pPr>
            <a:r>
              <a:rPr lang="en-US" sz="1400" b="1" spc="100" kern="0" dirty="0">
                <a:solidFill>
                  <a:srgbClr val="3D1E96"/>
                </a:solidFill>
                <a:latin typeface="Calibri" pitchFamily="34" charset="0"/>
                <a:ea typeface="Calibri" pitchFamily="34" charset="-122"/>
                <a:cs typeface="Calibri" pitchFamily="34" charset="-120"/>
              </a:rPr>
              <a:t>Beta user</a:t>
            </a:r>
            <a:endParaRPr lang="en-US" sz="1400" dirty="0"/>
          </a:p>
        </p:txBody>
      </p:sp>
      <p:sp>
        <p:nvSpPr>
          <p:cNvPr id="6" name="Text 4"/>
          <p:cNvSpPr/>
          <p:nvPr/>
        </p:nvSpPr>
        <p:spPr>
          <a:xfrm>
            <a:off x="1920240" y="5532120"/>
            <a:ext cx="9722815" cy="365760"/>
          </a:xfrm>
          <a:prstGeom prst="rect">
            <a:avLst/>
          </a:prstGeom>
          <a:noFill/>
          <a:ln/>
        </p:spPr>
        <p:txBody>
          <a:bodyPr wrap="square" lIns="0" tIns="0" rIns="0" bIns="0" rtlCol="0" anchor="t"/>
          <a:lstStyle/>
          <a:p>
            <a:pPr algn="l" indent="0" marL="0">
              <a:buNone/>
            </a:pPr>
            <a:r>
              <a:rPr lang="en-US" sz="1200" dirty="0">
                <a:solidFill>
                  <a:srgbClr val="6B7493"/>
                </a:solidFill>
                <a:latin typeface="Calibri" pitchFamily="34" charset="0"/>
                <a:ea typeface="Calibri" pitchFamily="34" charset="-122"/>
                <a:cs typeface="Calibri" pitchFamily="34" charset="-120"/>
              </a:rPr>
              <a:t>On unattended status tracking</a:t>
            </a:r>
            <a:endParaRPr lang="en-US" sz="1200" dirty="0"/>
          </a:p>
        </p:txBody>
      </p:sp>
      <p:sp>
        <p:nvSpPr>
          <p:cNvPr id="7" name="Shape 5"/>
          <p:cNvSpPr/>
          <p:nvPr/>
        </p:nvSpPr>
        <p:spPr>
          <a:xfrm>
            <a:off x="548640" y="502920"/>
            <a:ext cx="292608" cy="292608"/>
          </a:xfrm>
          <a:prstGeom prst="roundRect">
            <a:avLst>
              <a:gd name="adj" fmla="val 25000"/>
            </a:avLst>
          </a:prstGeom>
          <a:solidFill>
            <a:srgbClr val="5028C2"/>
          </a:solidFill>
          <a:ln/>
        </p:spPr>
      </p:sp>
      <p:sp>
        <p:nvSpPr>
          <p:cNvPr id="8" name="Shape 6"/>
          <p:cNvSpPr/>
          <p:nvPr/>
        </p:nvSpPr>
        <p:spPr>
          <a:xfrm>
            <a:off x="548640" y="502920"/>
            <a:ext cx="292608" cy="292608"/>
          </a:xfrm>
          <a:prstGeom prst="roundRect">
            <a:avLst>
              <a:gd name="adj" fmla="val 25000"/>
            </a:avLst>
          </a:prstGeom>
          <a:solidFill>
            <a:srgbClr val="1A6FBE">
              <a:alpha val="50000"/>
            </a:srgbClr>
          </a:solidFill>
          <a:ln/>
        </p:spPr>
      </p:sp>
      <p:sp>
        <p:nvSpPr>
          <p:cNvPr id="9" name="Text 7"/>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0" name="Text 8"/>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1" name="Text 9"/>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09 · Native outreach + CRM  ·  vE</a:t>
            </a:r>
            <a:endParaRPr lang="en-US" sz="900" dirty="0"/>
          </a:p>
        </p:txBody>
      </p:sp>
      <p:sp>
        <p:nvSpPr>
          <p:cNvPr id="12" name="Text 10"/>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3" name="Text 11"/>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061 / 126</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a:off x="3047924" y="0"/>
            <a:ext cx="9143771" cy="6858000"/>
          </a:xfrm>
          <a:prstGeom prst="rtTriangle">
            <a:avLst/>
          </a:prstGeom>
          <a:solidFill>
            <a:srgbClr val="5028C2"/>
          </a:solidFill>
          <a:ln/>
        </p:spPr>
      </p:sp>
      <p:sp>
        <p:nvSpPr>
          <p:cNvPr id="3" name="Shape 1"/>
          <p:cNvSpPr/>
          <p:nvPr/>
        </p:nvSpPr>
        <p:spPr>
          <a:xfrm flipH="1">
            <a:off x="4876678" y="1028700"/>
            <a:ext cx="7924602" cy="6515100"/>
          </a:xfrm>
          <a:prstGeom prst="rtTriangle">
            <a:avLst/>
          </a:prstGeom>
          <a:solidFill>
            <a:srgbClr val="1A6FBE">
              <a:alpha val="75000"/>
            </a:srgbClr>
          </a:solidFill>
          <a:ln/>
        </p:spPr>
      </p:sp>
      <p:sp>
        <p:nvSpPr>
          <p:cNvPr id="4" name="Text 2"/>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OUTREACH + CRM</a:t>
            </a:r>
            <a:endParaRPr lang="en-US" sz="1100" dirty="0"/>
          </a:p>
        </p:txBody>
      </p:sp>
      <p:sp>
        <p:nvSpPr>
          <p:cNvPr id="5" name="Text 3"/>
          <p:cNvSpPr/>
          <p:nvPr/>
        </p:nvSpPr>
        <p:spPr>
          <a:xfrm>
            <a:off x="548640" y="1417320"/>
            <a:ext cx="6095848" cy="2286000"/>
          </a:xfrm>
          <a:prstGeom prst="rect">
            <a:avLst/>
          </a:prstGeom>
          <a:noFill/>
          <a:ln/>
        </p:spPr>
        <p:txBody>
          <a:bodyPr wrap="square" lIns="0" tIns="0" rIns="0" bIns="0" rtlCol="0" anchor="t"/>
          <a:lstStyle/>
          <a:p>
            <a:pPr algn="l" indent="0" marL="0">
              <a:buNone/>
            </a:pPr>
            <a:r>
              <a:rPr lang="en-US" sz="4000" b="1" spc="-50" kern="0" dirty="0">
                <a:solidFill>
                  <a:srgbClr val="0F1733"/>
                </a:solidFill>
                <a:latin typeface="Calibri" pitchFamily="34" charset="0"/>
                <a:ea typeface="Calibri" pitchFamily="34" charset="-122"/>
                <a:cs typeface="Calibri" pitchFamily="34" charset="-120"/>
              </a:rPr>
              <a:t>The CRM disappears into the workflow.</a:t>
            </a:r>
            <a:endParaRPr lang="en-US" sz="4000" dirty="0"/>
          </a:p>
        </p:txBody>
      </p:sp>
      <p:sp>
        <p:nvSpPr>
          <p:cNvPr id="6" name="Text 4"/>
          <p:cNvSpPr/>
          <p:nvPr/>
        </p:nvSpPr>
        <p:spPr>
          <a:xfrm>
            <a:off x="548640" y="3840480"/>
            <a:ext cx="5821528" cy="2103120"/>
          </a:xfrm>
          <a:prstGeom prst="rect">
            <a:avLst/>
          </a:prstGeom>
          <a:noFill/>
          <a:ln/>
        </p:spPr>
        <p:txBody>
          <a:bodyPr wrap="square" lIns="0" tIns="0" rIns="0" bIns="0" rtlCol="0" anchor="t"/>
          <a:lstStyle/>
          <a:p>
            <a:pPr algn="l" indent="0" marL="0">
              <a:spcAft>
                <a:spcPts val="600"/>
              </a:spcAft>
              <a:buNone/>
            </a:pPr>
            <a:r>
              <a:rPr lang="en-US" sz="1400" dirty="0">
                <a:solidFill>
                  <a:srgbClr val="2A3358"/>
                </a:solidFill>
                <a:latin typeface="Calibri" pitchFamily="34" charset="0"/>
                <a:ea typeface="Calibri" pitchFamily="34" charset="-122"/>
                <a:cs typeface="Calibri" pitchFamily="34" charset="-120"/>
              </a:rPr>
              <a:t>You send a message from your own Gmail. You see a reply in your own inbox. In the background, the CRM has captured the send, matched the reply, advanced the status, and scheduled the right follow-up. You never had to log anything.</a:t>
            </a:r>
            <a:endParaRPr lang="en-US" sz="1400" dirty="0"/>
          </a:p>
        </p:txBody>
      </p:sp>
      <p:sp>
        <p:nvSpPr>
          <p:cNvPr id="7" name="Text 5"/>
          <p:cNvSpPr/>
          <p:nvPr/>
        </p:nvSpPr>
        <p:spPr>
          <a:xfrm>
            <a:off x="6705432" y="2926080"/>
            <a:ext cx="4876678" cy="3291840"/>
          </a:xfrm>
          <a:prstGeom prst="rect">
            <a:avLst/>
          </a:prstGeom>
          <a:noFill/>
          <a:ln/>
        </p:spPr>
        <p:txBody>
          <a:bodyPr wrap="square" lIns="0" tIns="0" rIns="0" bIns="0" rtlCol="0" anchor="ctr"/>
          <a:lstStyle/>
          <a:p>
            <a:pPr algn="r" indent="0" marL="0">
              <a:buNone/>
            </a:pPr>
            <a:r>
              <a:rPr lang="en-US" sz="3200" b="1" spc="-50" kern="0" dirty="0">
                <a:solidFill>
                  <a:srgbClr val="FFFFFF"/>
                </a:solidFill>
                <a:latin typeface="Calibri" pitchFamily="34" charset="0"/>
                <a:ea typeface="Calibri" pitchFamily="34" charset="-122"/>
                <a:cs typeface="Calibri" pitchFamily="34" charset="-120"/>
              </a:rPr>
              <a:t>Send.</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Reply.</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Log itself.</a:t>
            </a:r>
            <a:endParaRPr lang="en-US" sz="3200" dirty="0"/>
          </a:p>
        </p:txBody>
      </p:sp>
      <p:sp>
        <p:nvSpPr>
          <p:cNvPr id="8" name="Shape 6"/>
          <p:cNvSpPr/>
          <p:nvPr/>
        </p:nvSpPr>
        <p:spPr>
          <a:xfrm>
            <a:off x="548640" y="502920"/>
            <a:ext cx="292608" cy="292608"/>
          </a:xfrm>
          <a:prstGeom prst="roundRect">
            <a:avLst>
              <a:gd name="adj" fmla="val 25000"/>
            </a:avLst>
          </a:prstGeom>
          <a:solidFill>
            <a:srgbClr val="5028C2"/>
          </a:solidFill>
          <a:ln/>
        </p:spPr>
      </p:sp>
      <p:sp>
        <p:nvSpPr>
          <p:cNvPr id="9" name="Shape 7"/>
          <p:cNvSpPr/>
          <p:nvPr/>
        </p:nvSpPr>
        <p:spPr>
          <a:xfrm>
            <a:off x="548640" y="502920"/>
            <a:ext cx="292608" cy="292608"/>
          </a:xfrm>
          <a:prstGeom prst="roundRect">
            <a:avLst>
              <a:gd name="adj" fmla="val 25000"/>
            </a:avLst>
          </a:prstGeom>
          <a:solidFill>
            <a:srgbClr val="1A6FBE">
              <a:alpha val="50000"/>
            </a:srgbClr>
          </a:solidFill>
          <a:ln/>
        </p:spPr>
      </p:sp>
      <p:sp>
        <p:nvSpPr>
          <p:cNvPr id="10" name="Text 8"/>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1" name="Text 9"/>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2" name="Text 10"/>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09 · Native outreach + CRM  ·  vF</a:t>
            </a:r>
            <a:endParaRPr lang="en-US" sz="900" dirty="0"/>
          </a:p>
        </p:txBody>
      </p:sp>
      <p:sp>
        <p:nvSpPr>
          <p:cNvPr id="13" name="Text 11"/>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4" name="Text 12"/>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062 / 126</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CFAF6"/>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OUTREACH + CRM</a:t>
            </a:r>
            <a:endParaRPr lang="en-US" sz="1100" dirty="0"/>
          </a:p>
        </p:txBody>
      </p:sp>
      <p:sp>
        <p:nvSpPr>
          <p:cNvPr id="3" name="Text 1"/>
          <p:cNvSpPr/>
          <p:nvPr/>
        </p:nvSpPr>
        <p:spPr>
          <a:xfrm>
            <a:off x="548640" y="1417320"/>
            <a:ext cx="11094415" cy="914400"/>
          </a:xfrm>
          <a:prstGeom prst="rect">
            <a:avLst/>
          </a:prstGeom>
          <a:noFill/>
          <a:ln/>
        </p:spPr>
        <p:txBody>
          <a:bodyPr wrap="square" lIns="0" tIns="0" rIns="0" bIns="0" rtlCol="0" anchor="t"/>
          <a:lstStyle/>
          <a:p>
            <a:pPr algn="l" indent="0" marL="0">
              <a:buNone/>
            </a:pPr>
            <a:r>
              <a:rPr lang="en-US" sz="3400" b="1" spc="-50" kern="0" dirty="0">
                <a:solidFill>
                  <a:srgbClr val="0F1733"/>
                </a:solidFill>
                <a:latin typeface="Calibri" pitchFamily="34" charset="0"/>
                <a:ea typeface="Calibri" pitchFamily="34" charset="-122"/>
                <a:cs typeface="Calibri" pitchFamily="34" charset="-120"/>
              </a:rPr>
              <a:t>The send + the system, finally in one place.</a:t>
            </a:r>
            <a:endParaRPr lang="en-US" sz="3400" dirty="0"/>
          </a:p>
        </p:txBody>
      </p:sp>
      <p:sp>
        <p:nvSpPr>
          <p:cNvPr id="4" name="Shape 2"/>
          <p:cNvSpPr/>
          <p:nvPr/>
        </p:nvSpPr>
        <p:spPr>
          <a:xfrm>
            <a:off x="548640" y="2514600"/>
            <a:ext cx="5464912" cy="67008"/>
          </a:xfrm>
          <a:prstGeom prst="rect">
            <a:avLst/>
          </a:prstGeom>
          <a:solidFill>
            <a:srgbClr val="5028C2"/>
          </a:solidFill>
          <a:ln/>
        </p:spPr>
      </p:sp>
      <p:sp>
        <p:nvSpPr>
          <p:cNvPr id="5" name="Shape 3"/>
          <p:cNvSpPr/>
          <p:nvPr/>
        </p:nvSpPr>
        <p:spPr>
          <a:xfrm>
            <a:off x="548640" y="2572464"/>
            <a:ext cx="5464912" cy="67008"/>
          </a:xfrm>
          <a:prstGeom prst="rect">
            <a:avLst/>
          </a:prstGeom>
          <a:solidFill>
            <a:srgbClr val="4F29C2"/>
          </a:solidFill>
          <a:ln/>
        </p:spPr>
      </p:sp>
      <p:sp>
        <p:nvSpPr>
          <p:cNvPr id="6" name="Shape 4"/>
          <p:cNvSpPr/>
          <p:nvPr/>
        </p:nvSpPr>
        <p:spPr>
          <a:xfrm>
            <a:off x="548640" y="2630329"/>
            <a:ext cx="5464912" cy="67008"/>
          </a:xfrm>
          <a:prstGeom prst="rect">
            <a:avLst/>
          </a:prstGeom>
          <a:solidFill>
            <a:srgbClr val="4E2AC3"/>
          </a:solidFill>
          <a:ln/>
        </p:spPr>
      </p:sp>
      <p:sp>
        <p:nvSpPr>
          <p:cNvPr id="7" name="Shape 5"/>
          <p:cNvSpPr/>
          <p:nvPr/>
        </p:nvSpPr>
        <p:spPr>
          <a:xfrm>
            <a:off x="548640" y="2688193"/>
            <a:ext cx="5464912" cy="67008"/>
          </a:xfrm>
          <a:prstGeom prst="rect">
            <a:avLst/>
          </a:prstGeom>
          <a:solidFill>
            <a:srgbClr val="4D2BC3"/>
          </a:solidFill>
          <a:ln/>
        </p:spPr>
      </p:sp>
      <p:sp>
        <p:nvSpPr>
          <p:cNvPr id="8" name="Shape 6"/>
          <p:cNvSpPr/>
          <p:nvPr/>
        </p:nvSpPr>
        <p:spPr>
          <a:xfrm>
            <a:off x="548640" y="2746058"/>
            <a:ext cx="5464912" cy="67008"/>
          </a:xfrm>
          <a:prstGeom prst="rect">
            <a:avLst/>
          </a:prstGeom>
          <a:solidFill>
            <a:srgbClr val="4D2CC4"/>
          </a:solidFill>
          <a:ln/>
        </p:spPr>
      </p:sp>
      <p:sp>
        <p:nvSpPr>
          <p:cNvPr id="9" name="Shape 7"/>
          <p:cNvSpPr/>
          <p:nvPr/>
        </p:nvSpPr>
        <p:spPr>
          <a:xfrm>
            <a:off x="548640" y="2803922"/>
            <a:ext cx="5464912" cy="67008"/>
          </a:xfrm>
          <a:prstGeom prst="rect">
            <a:avLst/>
          </a:prstGeom>
          <a:solidFill>
            <a:srgbClr val="4C2DC4"/>
          </a:solidFill>
          <a:ln/>
        </p:spPr>
      </p:sp>
      <p:sp>
        <p:nvSpPr>
          <p:cNvPr id="10" name="Shape 8"/>
          <p:cNvSpPr/>
          <p:nvPr/>
        </p:nvSpPr>
        <p:spPr>
          <a:xfrm>
            <a:off x="548640" y="2861786"/>
            <a:ext cx="5464912" cy="67008"/>
          </a:xfrm>
          <a:prstGeom prst="rect">
            <a:avLst/>
          </a:prstGeom>
          <a:solidFill>
            <a:srgbClr val="4B2EC5"/>
          </a:solidFill>
          <a:ln/>
        </p:spPr>
      </p:sp>
      <p:sp>
        <p:nvSpPr>
          <p:cNvPr id="11" name="Shape 9"/>
          <p:cNvSpPr/>
          <p:nvPr/>
        </p:nvSpPr>
        <p:spPr>
          <a:xfrm>
            <a:off x="548640" y="2919651"/>
            <a:ext cx="5464912" cy="67008"/>
          </a:xfrm>
          <a:prstGeom prst="rect">
            <a:avLst/>
          </a:prstGeom>
          <a:solidFill>
            <a:srgbClr val="4A2FC5"/>
          </a:solidFill>
          <a:ln/>
        </p:spPr>
      </p:sp>
      <p:sp>
        <p:nvSpPr>
          <p:cNvPr id="12" name="Shape 10"/>
          <p:cNvSpPr/>
          <p:nvPr/>
        </p:nvSpPr>
        <p:spPr>
          <a:xfrm>
            <a:off x="548640" y="2977515"/>
            <a:ext cx="5464912" cy="67008"/>
          </a:xfrm>
          <a:prstGeom prst="rect">
            <a:avLst/>
          </a:prstGeom>
          <a:solidFill>
            <a:srgbClr val="4930C6"/>
          </a:solidFill>
          <a:ln/>
        </p:spPr>
      </p:sp>
      <p:sp>
        <p:nvSpPr>
          <p:cNvPr id="13" name="Shape 11"/>
          <p:cNvSpPr/>
          <p:nvPr/>
        </p:nvSpPr>
        <p:spPr>
          <a:xfrm>
            <a:off x="548640" y="3035379"/>
            <a:ext cx="5464912" cy="67008"/>
          </a:xfrm>
          <a:prstGeom prst="rect">
            <a:avLst/>
          </a:prstGeom>
          <a:solidFill>
            <a:srgbClr val="4831C6"/>
          </a:solidFill>
          <a:ln/>
        </p:spPr>
      </p:sp>
      <p:sp>
        <p:nvSpPr>
          <p:cNvPr id="14" name="Shape 12"/>
          <p:cNvSpPr/>
          <p:nvPr/>
        </p:nvSpPr>
        <p:spPr>
          <a:xfrm>
            <a:off x="548640" y="3093244"/>
            <a:ext cx="5464912" cy="67008"/>
          </a:xfrm>
          <a:prstGeom prst="rect">
            <a:avLst/>
          </a:prstGeom>
          <a:solidFill>
            <a:srgbClr val="4732C6"/>
          </a:solidFill>
          <a:ln/>
        </p:spPr>
      </p:sp>
      <p:sp>
        <p:nvSpPr>
          <p:cNvPr id="15" name="Shape 13"/>
          <p:cNvSpPr/>
          <p:nvPr/>
        </p:nvSpPr>
        <p:spPr>
          <a:xfrm>
            <a:off x="548640" y="3151108"/>
            <a:ext cx="5464912" cy="67008"/>
          </a:xfrm>
          <a:prstGeom prst="rect">
            <a:avLst/>
          </a:prstGeom>
          <a:solidFill>
            <a:srgbClr val="4733C7"/>
          </a:solidFill>
          <a:ln/>
        </p:spPr>
      </p:sp>
      <p:sp>
        <p:nvSpPr>
          <p:cNvPr id="16" name="Shape 14"/>
          <p:cNvSpPr/>
          <p:nvPr/>
        </p:nvSpPr>
        <p:spPr>
          <a:xfrm>
            <a:off x="548640" y="3208973"/>
            <a:ext cx="5464912" cy="67008"/>
          </a:xfrm>
          <a:prstGeom prst="rect">
            <a:avLst/>
          </a:prstGeom>
          <a:solidFill>
            <a:srgbClr val="4634C7"/>
          </a:solidFill>
          <a:ln/>
        </p:spPr>
      </p:sp>
      <p:sp>
        <p:nvSpPr>
          <p:cNvPr id="17" name="Shape 15"/>
          <p:cNvSpPr/>
          <p:nvPr/>
        </p:nvSpPr>
        <p:spPr>
          <a:xfrm>
            <a:off x="548640" y="3266837"/>
            <a:ext cx="5464912" cy="67008"/>
          </a:xfrm>
          <a:prstGeom prst="rect">
            <a:avLst/>
          </a:prstGeom>
          <a:solidFill>
            <a:srgbClr val="4535C8"/>
          </a:solidFill>
          <a:ln/>
        </p:spPr>
      </p:sp>
      <p:sp>
        <p:nvSpPr>
          <p:cNvPr id="18" name="Shape 16"/>
          <p:cNvSpPr/>
          <p:nvPr/>
        </p:nvSpPr>
        <p:spPr>
          <a:xfrm>
            <a:off x="548640" y="3324701"/>
            <a:ext cx="5464912" cy="67008"/>
          </a:xfrm>
          <a:prstGeom prst="rect">
            <a:avLst/>
          </a:prstGeom>
          <a:solidFill>
            <a:srgbClr val="4436C8"/>
          </a:solidFill>
          <a:ln/>
        </p:spPr>
      </p:sp>
      <p:sp>
        <p:nvSpPr>
          <p:cNvPr id="19" name="Shape 17"/>
          <p:cNvSpPr/>
          <p:nvPr/>
        </p:nvSpPr>
        <p:spPr>
          <a:xfrm>
            <a:off x="548640" y="3382566"/>
            <a:ext cx="5464912" cy="67008"/>
          </a:xfrm>
          <a:prstGeom prst="rect">
            <a:avLst/>
          </a:prstGeom>
          <a:solidFill>
            <a:srgbClr val="4337C9"/>
          </a:solidFill>
          <a:ln/>
        </p:spPr>
      </p:sp>
      <p:sp>
        <p:nvSpPr>
          <p:cNvPr id="20" name="Shape 18"/>
          <p:cNvSpPr/>
          <p:nvPr/>
        </p:nvSpPr>
        <p:spPr>
          <a:xfrm>
            <a:off x="548640" y="3440430"/>
            <a:ext cx="5464912" cy="67008"/>
          </a:xfrm>
          <a:prstGeom prst="rect">
            <a:avLst/>
          </a:prstGeom>
          <a:solidFill>
            <a:srgbClr val="4238C9"/>
          </a:solidFill>
          <a:ln/>
        </p:spPr>
      </p:sp>
      <p:sp>
        <p:nvSpPr>
          <p:cNvPr id="21" name="Shape 19"/>
          <p:cNvSpPr/>
          <p:nvPr/>
        </p:nvSpPr>
        <p:spPr>
          <a:xfrm>
            <a:off x="548640" y="3498294"/>
            <a:ext cx="5464912" cy="67008"/>
          </a:xfrm>
          <a:prstGeom prst="rect">
            <a:avLst/>
          </a:prstGeom>
          <a:solidFill>
            <a:srgbClr val="4139CA"/>
          </a:solidFill>
          <a:ln/>
        </p:spPr>
      </p:sp>
      <p:sp>
        <p:nvSpPr>
          <p:cNvPr id="22" name="Shape 20"/>
          <p:cNvSpPr/>
          <p:nvPr/>
        </p:nvSpPr>
        <p:spPr>
          <a:xfrm>
            <a:off x="548640" y="3556159"/>
            <a:ext cx="5464912" cy="67008"/>
          </a:xfrm>
          <a:prstGeom prst="rect">
            <a:avLst/>
          </a:prstGeom>
          <a:solidFill>
            <a:srgbClr val="413ACA"/>
          </a:solidFill>
          <a:ln/>
        </p:spPr>
      </p:sp>
      <p:sp>
        <p:nvSpPr>
          <p:cNvPr id="23" name="Shape 21"/>
          <p:cNvSpPr/>
          <p:nvPr/>
        </p:nvSpPr>
        <p:spPr>
          <a:xfrm>
            <a:off x="548640" y="3614023"/>
            <a:ext cx="5464912" cy="67008"/>
          </a:xfrm>
          <a:prstGeom prst="rect">
            <a:avLst/>
          </a:prstGeom>
          <a:solidFill>
            <a:srgbClr val="403BCA"/>
          </a:solidFill>
          <a:ln/>
        </p:spPr>
      </p:sp>
      <p:sp>
        <p:nvSpPr>
          <p:cNvPr id="24" name="Shape 22"/>
          <p:cNvSpPr/>
          <p:nvPr/>
        </p:nvSpPr>
        <p:spPr>
          <a:xfrm>
            <a:off x="548640" y="3671888"/>
            <a:ext cx="5464912" cy="67008"/>
          </a:xfrm>
          <a:prstGeom prst="rect">
            <a:avLst/>
          </a:prstGeom>
          <a:solidFill>
            <a:srgbClr val="3F3CCB"/>
          </a:solidFill>
          <a:ln/>
        </p:spPr>
      </p:sp>
      <p:sp>
        <p:nvSpPr>
          <p:cNvPr id="25" name="Shape 23"/>
          <p:cNvSpPr/>
          <p:nvPr/>
        </p:nvSpPr>
        <p:spPr>
          <a:xfrm>
            <a:off x="548640" y="3729752"/>
            <a:ext cx="5464912" cy="67008"/>
          </a:xfrm>
          <a:prstGeom prst="rect">
            <a:avLst/>
          </a:prstGeom>
          <a:solidFill>
            <a:srgbClr val="3E3DCB"/>
          </a:solidFill>
          <a:ln/>
        </p:spPr>
      </p:sp>
      <p:sp>
        <p:nvSpPr>
          <p:cNvPr id="26" name="Shape 24"/>
          <p:cNvSpPr/>
          <p:nvPr/>
        </p:nvSpPr>
        <p:spPr>
          <a:xfrm>
            <a:off x="548640" y="3787616"/>
            <a:ext cx="5464912" cy="67008"/>
          </a:xfrm>
          <a:prstGeom prst="rect">
            <a:avLst/>
          </a:prstGeom>
          <a:solidFill>
            <a:srgbClr val="3D3ECC"/>
          </a:solidFill>
          <a:ln/>
        </p:spPr>
      </p:sp>
      <p:sp>
        <p:nvSpPr>
          <p:cNvPr id="27" name="Shape 25"/>
          <p:cNvSpPr/>
          <p:nvPr/>
        </p:nvSpPr>
        <p:spPr>
          <a:xfrm>
            <a:off x="548640" y="3845481"/>
            <a:ext cx="5464912" cy="67008"/>
          </a:xfrm>
          <a:prstGeom prst="rect">
            <a:avLst/>
          </a:prstGeom>
          <a:solidFill>
            <a:srgbClr val="3C3FCC"/>
          </a:solidFill>
          <a:ln/>
        </p:spPr>
      </p:sp>
      <p:sp>
        <p:nvSpPr>
          <p:cNvPr id="28" name="Shape 26"/>
          <p:cNvSpPr/>
          <p:nvPr/>
        </p:nvSpPr>
        <p:spPr>
          <a:xfrm>
            <a:off x="548640" y="3903345"/>
            <a:ext cx="5464912" cy="67008"/>
          </a:xfrm>
          <a:prstGeom prst="rect">
            <a:avLst/>
          </a:prstGeom>
          <a:solidFill>
            <a:srgbClr val="3B40CD"/>
          </a:solidFill>
          <a:ln/>
        </p:spPr>
      </p:sp>
      <p:sp>
        <p:nvSpPr>
          <p:cNvPr id="29" name="Shape 27"/>
          <p:cNvSpPr/>
          <p:nvPr/>
        </p:nvSpPr>
        <p:spPr>
          <a:xfrm>
            <a:off x="548640" y="3961209"/>
            <a:ext cx="5464912" cy="67008"/>
          </a:xfrm>
          <a:prstGeom prst="rect">
            <a:avLst/>
          </a:prstGeom>
          <a:solidFill>
            <a:srgbClr val="3B41CD"/>
          </a:solidFill>
          <a:ln/>
        </p:spPr>
      </p:sp>
      <p:sp>
        <p:nvSpPr>
          <p:cNvPr id="30" name="Shape 28"/>
          <p:cNvSpPr/>
          <p:nvPr/>
        </p:nvSpPr>
        <p:spPr>
          <a:xfrm>
            <a:off x="548640" y="4019074"/>
            <a:ext cx="5464912" cy="67008"/>
          </a:xfrm>
          <a:prstGeom prst="rect">
            <a:avLst/>
          </a:prstGeom>
          <a:solidFill>
            <a:srgbClr val="3A42CE"/>
          </a:solidFill>
          <a:ln/>
        </p:spPr>
      </p:sp>
      <p:sp>
        <p:nvSpPr>
          <p:cNvPr id="31" name="Shape 29"/>
          <p:cNvSpPr/>
          <p:nvPr/>
        </p:nvSpPr>
        <p:spPr>
          <a:xfrm>
            <a:off x="548640" y="4076938"/>
            <a:ext cx="5464912" cy="67008"/>
          </a:xfrm>
          <a:prstGeom prst="rect">
            <a:avLst/>
          </a:prstGeom>
          <a:solidFill>
            <a:srgbClr val="3943CE"/>
          </a:solidFill>
          <a:ln/>
        </p:spPr>
      </p:sp>
      <p:sp>
        <p:nvSpPr>
          <p:cNvPr id="32" name="Shape 30"/>
          <p:cNvSpPr/>
          <p:nvPr/>
        </p:nvSpPr>
        <p:spPr>
          <a:xfrm>
            <a:off x="548640" y="4134802"/>
            <a:ext cx="5464912" cy="67008"/>
          </a:xfrm>
          <a:prstGeom prst="rect">
            <a:avLst/>
          </a:prstGeom>
          <a:solidFill>
            <a:srgbClr val="3844CE"/>
          </a:solidFill>
          <a:ln/>
        </p:spPr>
      </p:sp>
      <p:sp>
        <p:nvSpPr>
          <p:cNvPr id="33" name="Shape 31"/>
          <p:cNvSpPr/>
          <p:nvPr/>
        </p:nvSpPr>
        <p:spPr>
          <a:xfrm>
            <a:off x="548640" y="4192667"/>
            <a:ext cx="5464912" cy="67008"/>
          </a:xfrm>
          <a:prstGeom prst="rect">
            <a:avLst/>
          </a:prstGeom>
          <a:solidFill>
            <a:srgbClr val="3745CF"/>
          </a:solidFill>
          <a:ln/>
        </p:spPr>
      </p:sp>
      <p:sp>
        <p:nvSpPr>
          <p:cNvPr id="34" name="Shape 32"/>
          <p:cNvSpPr/>
          <p:nvPr/>
        </p:nvSpPr>
        <p:spPr>
          <a:xfrm>
            <a:off x="548640" y="4250531"/>
            <a:ext cx="5464912" cy="67008"/>
          </a:xfrm>
          <a:prstGeom prst="rect">
            <a:avLst/>
          </a:prstGeom>
          <a:solidFill>
            <a:srgbClr val="3646CF"/>
          </a:solidFill>
          <a:ln/>
        </p:spPr>
      </p:sp>
      <p:sp>
        <p:nvSpPr>
          <p:cNvPr id="35" name="Shape 33"/>
          <p:cNvSpPr/>
          <p:nvPr/>
        </p:nvSpPr>
        <p:spPr>
          <a:xfrm>
            <a:off x="548640" y="4308396"/>
            <a:ext cx="5464912" cy="67008"/>
          </a:xfrm>
          <a:prstGeom prst="rect">
            <a:avLst/>
          </a:prstGeom>
          <a:solidFill>
            <a:srgbClr val="3547D0"/>
          </a:solidFill>
          <a:ln/>
        </p:spPr>
      </p:sp>
      <p:sp>
        <p:nvSpPr>
          <p:cNvPr id="36" name="Shape 34"/>
          <p:cNvSpPr/>
          <p:nvPr/>
        </p:nvSpPr>
        <p:spPr>
          <a:xfrm>
            <a:off x="548640" y="4366260"/>
            <a:ext cx="5464912" cy="67008"/>
          </a:xfrm>
          <a:prstGeom prst="rect">
            <a:avLst/>
          </a:prstGeom>
          <a:solidFill>
            <a:srgbClr val="3549D0"/>
          </a:solidFill>
          <a:ln/>
        </p:spPr>
      </p:sp>
      <p:sp>
        <p:nvSpPr>
          <p:cNvPr id="37" name="Shape 35"/>
          <p:cNvSpPr/>
          <p:nvPr/>
        </p:nvSpPr>
        <p:spPr>
          <a:xfrm>
            <a:off x="548640" y="4424124"/>
            <a:ext cx="5464912" cy="67008"/>
          </a:xfrm>
          <a:prstGeom prst="rect">
            <a:avLst/>
          </a:prstGeom>
          <a:solidFill>
            <a:srgbClr val="344ACF"/>
          </a:solidFill>
          <a:ln/>
        </p:spPr>
      </p:sp>
      <p:sp>
        <p:nvSpPr>
          <p:cNvPr id="38" name="Shape 36"/>
          <p:cNvSpPr/>
          <p:nvPr/>
        </p:nvSpPr>
        <p:spPr>
          <a:xfrm>
            <a:off x="548640" y="4481989"/>
            <a:ext cx="5464912" cy="67008"/>
          </a:xfrm>
          <a:prstGeom prst="rect">
            <a:avLst/>
          </a:prstGeom>
          <a:solidFill>
            <a:srgbClr val="334BCF"/>
          </a:solidFill>
          <a:ln/>
        </p:spPr>
      </p:sp>
      <p:sp>
        <p:nvSpPr>
          <p:cNvPr id="39" name="Shape 37"/>
          <p:cNvSpPr/>
          <p:nvPr/>
        </p:nvSpPr>
        <p:spPr>
          <a:xfrm>
            <a:off x="548640" y="4539853"/>
            <a:ext cx="5464912" cy="67008"/>
          </a:xfrm>
          <a:prstGeom prst="rect">
            <a:avLst/>
          </a:prstGeom>
          <a:solidFill>
            <a:srgbClr val="324CCE"/>
          </a:solidFill>
          <a:ln/>
        </p:spPr>
      </p:sp>
      <p:sp>
        <p:nvSpPr>
          <p:cNvPr id="40" name="Shape 38"/>
          <p:cNvSpPr/>
          <p:nvPr/>
        </p:nvSpPr>
        <p:spPr>
          <a:xfrm>
            <a:off x="548640" y="4597717"/>
            <a:ext cx="5464912" cy="67008"/>
          </a:xfrm>
          <a:prstGeom prst="rect">
            <a:avLst/>
          </a:prstGeom>
          <a:solidFill>
            <a:srgbClr val="314ECD"/>
          </a:solidFill>
          <a:ln/>
        </p:spPr>
      </p:sp>
      <p:sp>
        <p:nvSpPr>
          <p:cNvPr id="41" name="Shape 39"/>
          <p:cNvSpPr/>
          <p:nvPr/>
        </p:nvSpPr>
        <p:spPr>
          <a:xfrm>
            <a:off x="548640" y="4655582"/>
            <a:ext cx="5464912" cy="67008"/>
          </a:xfrm>
          <a:prstGeom prst="rect">
            <a:avLst/>
          </a:prstGeom>
          <a:solidFill>
            <a:srgbClr val="304FCD"/>
          </a:solidFill>
          <a:ln/>
        </p:spPr>
      </p:sp>
      <p:sp>
        <p:nvSpPr>
          <p:cNvPr id="42" name="Shape 40"/>
          <p:cNvSpPr/>
          <p:nvPr/>
        </p:nvSpPr>
        <p:spPr>
          <a:xfrm>
            <a:off x="548640" y="4713446"/>
            <a:ext cx="5464912" cy="67008"/>
          </a:xfrm>
          <a:prstGeom prst="rect">
            <a:avLst/>
          </a:prstGeom>
          <a:solidFill>
            <a:srgbClr val="2F50CC"/>
          </a:solidFill>
          <a:ln/>
        </p:spPr>
      </p:sp>
      <p:sp>
        <p:nvSpPr>
          <p:cNvPr id="43" name="Shape 41"/>
          <p:cNvSpPr/>
          <p:nvPr/>
        </p:nvSpPr>
        <p:spPr>
          <a:xfrm>
            <a:off x="548640" y="4771311"/>
            <a:ext cx="5464912" cy="67008"/>
          </a:xfrm>
          <a:prstGeom prst="rect">
            <a:avLst/>
          </a:prstGeom>
          <a:solidFill>
            <a:srgbClr val="2F51CC"/>
          </a:solidFill>
          <a:ln/>
        </p:spPr>
      </p:sp>
      <p:sp>
        <p:nvSpPr>
          <p:cNvPr id="44" name="Shape 42"/>
          <p:cNvSpPr/>
          <p:nvPr/>
        </p:nvSpPr>
        <p:spPr>
          <a:xfrm>
            <a:off x="548640" y="4829175"/>
            <a:ext cx="5464912" cy="67008"/>
          </a:xfrm>
          <a:prstGeom prst="rect">
            <a:avLst/>
          </a:prstGeom>
          <a:solidFill>
            <a:srgbClr val="2E53CB"/>
          </a:solidFill>
          <a:ln/>
        </p:spPr>
      </p:sp>
      <p:sp>
        <p:nvSpPr>
          <p:cNvPr id="45" name="Shape 43"/>
          <p:cNvSpPr/>
          <p:nvPr/>
        </p:nvSpPr>
        <p:spPr>
          <a:xfrm>
            <a:off x="548640" y="4887039"/>
            <a:ext cx="5464912" cy="67008"/>
          </a:xfrm>
          <a:prstGeom prst="rect">
            <a:avLst/>
          </a:prstGeom>
          <a:solidFill>
            <a:srgbClr val="2D54CB"/>
          </a:solidFill>
          <a:ln/>
        </p:spPr>
      </p:sp>
      <p:sp>
        <p:nvSpPr>
          <p:cNvPr id="46" name="Shape 44"/>
          <p:cNvSpPr/>
          <p:nvPr/>
        </p:nvSpPr>
        <p:spPr>
          <a:xfrm>
            <a:off x="548640" y="4944904"/>
            <a:ext cx="5464912" cy="67008"/>
          </a:xfrm>
          <a:prstGeom prst="rect">
            <a:avLst/>
          </a:prstGeom>
          <a:solidFill>
            <a:srgbClr val="2C55CA"/>
          </a:solidFill>
          <a:ln/>
        </p:spPr>
      </p:sp>
      <p:sp>
        <p:nvSpPr>
          <p:cNvPr id="47" name="Shape 45"/>
          <p:cNvSpPr/>
          <p:nvPr/>
        </p:nvSpPr>
        <p:spPr>
          <a:xfrm>
            <a:off x="548640" y="5002768"/>
            <a:ext cx="5464912" cy="67008"/>
          </a:xfrm>
          <a:prstGeom prst="rect">
            <a:avLst/>
          </a:prstGeom>
          <a:solidFill>
            <a:srgbClr val="2B56C9"/>
          </a:solidFill>
          <a:ln/>
        </p:spPr>
      </p:sp>
      <p:sp>
        <p:nvSpPr>
          <p:cNvPr id="48" name="Shape 46"/>
          <p:cNvSpPr/>
          <p:nvPr/>
        </p:nvSpPr>
        <p:spPr>
          <a:xfrm>
            <a:off x="548640" y="5060633"/>
            <a:ext cx="5464912" cy="67008"/>
          </a:xfrm>
          <a:prstGeom prst="rect">
            <a:avLst/>
          </a:prstGeom>
          <a:solidFill>
            <a:srgbClr val="2A57C9"/>
          </a:solidFill>
          <a:ln/>
        </p:spPr>
      </p:sp>
      <p:sp>
        <p:nvSpPr>
          <p:cNvPr id="49" name="Shape 47"/>
          <p:cNvSpPr/>
          <p:nvPr/>
        </p:nvSpPr>
        <p:spPr>
          <a:xfrm>
            <a:off x="548640" y="5118497"/>
            <a:ext cx="5464912" cy="67008"/>
          </a:xfrm>
          <a:prstGeom prst="rect">
            <a:avLst/>
          </a:prstGeom>
          <a:solidFill>
            <a:srgbClr val="2959C8"/>
          </a:solidFill>
          <a:ln/>
        </p:spPr>
      </p:sp>
      <p:sp>
        <p:nvSpPr>
          <p:cNvPr id="50" name="Shape 48"/>
          <p:cNvSpPr/>
          <p:nvPr/>
        </p:nvSpPr>
        <p:spPr>
          <a:xfrm>
            <a:off x="548640" y="5176361"/>
            <a:ext cx="5464912" cy="67008"/>
          </a:xfrm>
          <a:prstGeom prst="rect">
            <a:avLst/>
          </a:prstGeom>
          <a:solidFill>
            <a:srgbClr val="295AC8"/>
          </a:solidFill>
          <a:ln/>
        </p:spPr>
      </p:sp>
      <p:sp>
        <p:nvSpPr>
          <p:cNvPr id="51" name="Shape 49"/>
          <p:cNvSpPr/>
          <p:nvPr/>
        </p:nvSpPr>
        <p:spPr>
          <a:xfrm>
            <a:off x="548640" y="5234226"/>
            <a:ext cx="5464912" cy="67008"/>
          </a:xfrm>
          <a:prstGeom prst="rect">
            <a:avLst/>
          </a:prstGeom>
          <a:solidFill>
            <a:srgbClr val="285BC7"/>
          </a:solidFill>
          <a:ln/>
        </p:spPr>
      </p:sp>
      <p:sp>
        <p:nvSpPr>
          <p:cNvPr id="52" name="Shape 50"/>
          <p:cNvSpPr/>
          <p:nvPr/>
        </p:nvSpPr>
        <p:spPr>
          <a:xfrm>
            <a:off x="548640" y="5292090"/>
            <a:ext cx="5464912" cy="67008"/>
          </a:xfrm>
          <a:prstGeom prst="rect">
            <a:avLst/>
          </a:prstGeom>
          <a:solidFill>
            <a:srgbClr val="275CC7"/>
          </a:solidFill>
          <a:ln/>
        </p:spPr>
      </p:sp>
      <p:sp>
        <p:nvSpPr>
          <p:cNvPr id="53" name="Shape 51"/>
          <p:cNvSpPr/>
          <p:nvPr/>
        </p:nvSpPr>
        <p:spPr>
          <a:xfrm>
            <a:off x="548640" y="5349954"/>
            <a:ext cx="5464912" cy="67008"/>
          </a:xfrm>
          <a:prstGeom prst="rect">
            <a:avLst/>
          </a:prstGeom>
          <a:solidFill>
            <a:srgbClr val="265EC6"/>
          </a:solidFill>
          <a:ln/>
        </p:spPr>
      </p:sp>
      <p:sp>
        <p:nvSpPr>
          <p:cNvPr id="54" name="Shape 52"/>
          <p:cNvSpPr/>
          <p:nvPr/>
        </p:nvSpPr>
        <p:spPr>
          <a:xfrm>
            <a:off x="548640" y="5407819"/>
            <a:ext cx="5464912" cy="67008"/>
          </a:xfrm>
          <a:prstGeom prst="rect">
            <a:avLst/>
          </a:prstGeom>
          <a:solidFill>
            <a:srgbClr val="255FC5"/>
          </a:solidFill>
          <a:ln/>
        </p:spPr>
      </p:sp>
      <p:sp>
        <p:nvSpPr>
          <p:cNvPr id="55" name="Shape 53"/>
          <p:cNvSpPr/>
          <p:nvPr/>
        </p:nvSpPr>
        <p:spPr>
          <a:xfrm>
            <a:off x="548640" y="5465683"/>
            <a:ext cx="5464912" cy="67008"/>
          </a:xfrm>
          <a:prstGeom prst="rect">
            <a:avLst/>
          </a:prstGeom>
          <a:solidFill>
            <a:srgbClr val="2460C5"/>
          </a:solidFill>
          <a:ln/>
        </p:spPr>
      </p:sp>
      <p:sp>
        <p:nvSpPr>
          <p:cNvPr id="56" name="Shape 54"/>
          <p:cNvSpPr/>
          <p:nvPr/>
        </p:nvSpPr>
        <p:spPr>
          <a:xfrm>
            <a:off x="548640" y="5523548"/>
            <a:ext cx="5464912" cy="67008"/>
          </a:xfrm>
          <a:prstGeom prst="rect">
            <a:avLst/>
          </a:prstGeom>
          <a:solidFill>
            <a:srgbClr val="2361C4"/>
          </a:solidFill>
          <a:ln/>
        </p:spPr>
      </p:sp>
      <p:sp>
        <p:nvSpPr>
          <p:cNvPr id="57" name="Shape 55"/>
          <p:cNvSpPr/>
          <p:nvPr/>
        </p:nvSpPr>
        <p:spPr>
          <a:xfrm>
            <a:off x="548640" y="5581412"/>
            <a:ext cx="5464912" cy="67008"/>
          </a:xfrm>
          <a:prstGeom prst="rect">
            <a:avLst/>
          </a:prstGeom>
          <a:solidFill>
            <a:srgbClr val="2363C4"/>
          </a:solidFill>
          <a:ln/>
        </p:spPr>
      </p:sp>
      <p:sp>
        <p:nvSpPr>
          <p:cNvPr id="58" name="Shape 56"/>
          <p:cNvSpPr/>
          <p:nvPr/>
        </p:nvSpPr>
        <p:spPr>
          <a:xfrm>
            <a:off x="548640" y="5639276"/>
            <a:ext cx="5464912" cy="67008"/>
          </a:xfrm>
          <a:prstGeom prst="rect">
            <a:avLst/>
          </a:prstGeom>
          <a:solidFill>
            <a:srgbClr val="2264C3"/>
          </a:solidFill>
          <a:ln/>
        </p:spPr>
      </p:sp>
      <p:sp>
        <p:nvSpPr>
          <p:cNvPr id="59" name="Shape 57"/>
          <p:cNvSpPr/>
          <p:nvPr/>
        </p:nvSpPr>
        <p:spPr>
          <a:xfrm>
            <a:off x="548640" y="5697141"/>
            <a:ext cx="5464912" cy="67008"/>
          </a:xfrm>
          <a:prstGeom prst="rect">
            <a:avLst/>
          </a:prstGeom>
          <a:solidFill>
            <a:srgbClr val="2165C3"/>
          </a:solidFill>
          <a:ln/>
        </p:spPr>
      </p:sp>
      <p:sp>
        <p:nvSpPr>
          <p:cNvPr id="60" name="Shape 58"/>
          <p:cNvSpPr/>
          <p:nvPr/>
        </p:nvSpPr>
        <p:spPr>
          <a:xfrm>
            <a:off x="548640" y="5755005"/>
            <a:ext cx="5464912" cy="67008"/>
          </a:xfrm>
          <a:prstGeom prst="rect">
            <a:avLst/>
          </a:prstGeom>
          <a:solidFill>
            <a:srgbClr val="2066C2"/>
          </a:solidFill>
          <a:ln/>
        </p:spPr>
      </p:sp>
      <p:sp>
        <p:nvSpPr>
          <p:cNvPr id="61" name="Shape 59"/>
          <p:cNvSpPr/>
          <p:nvPr/>
        </p:nvSpPr>
        <p:spPr>
          <a:xfrm>
            <a:off x="548640" y="5812869"/>
            <a:ext cx="5464912" cy="67008"/>
          </a:xfrm>
          <a:prstGeom prst="rect">
            <a:avLst/>
          </a:prstGeom>
          <a:solidFill>
            <a:srgbClr val="1F68C1"/>
          </a:solidFill>
          <a:ln/>
        </p:spPr>
      </p:sp>
      <p:sp>
        <p:nvSpPr>
          <p:cNvPr id="62" name="Shape 60"/>
          <p:cNvSpPr/>
          <p:nvPr/>
        </p:nvSpPr>
        <p:spPr>
          <a:xfrm>
            <a:off x="548640" y="5870734"/>
            <a:ext cx="5464912" cy="67008"/>
          </a:xfrm>
          <a:prstGeom prst="rect">
            <a:avLst/>
          </a:prstGeom>
          <a:solidFill>
            <a:srgbClr val="1E69C1"/>
          </a:solidFill>
          <a:ln/>
        </p:spPr>
      </p:sp>
      <p:sp>
        <p:nvSpPr>
          <p:cNvPr id="63" name="Shape 61"/>
          <p:cNvSpPr/>
          <p:nvPr/>
        </p:nvSpPr>
        <p:spPr>
          <a:xfrm>
            <a:off x="548640" y="5928598"/>
            <a:ext cx="5464912" cy="67008"/>
          </a:xfrm>
          <a:prstGeom prst="rect">
            <a:avLst/>
          </a:prstGeom>
          <a:solidFill>
            <a:srgbClr val="1D6AC0"/>
          </a:solidFill>
          <a:ln/>
        </p:spPr>
      </p:sp>
      <p:sp>
        <p:nvSpPr>
          <p:cNvPr id="64" name="Shape 62"/>
          <p:cNvSpPr/>
          <p:nvPr/>
        </p:nvSpPr>
        <p:spPr>
          <a:xfrm>
            <a:off x="548640" y="5986463"/>
            <a:ext cx="5464912" cy="67008"/>
          </a:xfrm>
          <a:prstGeom prst="rect">
            <a:avLst/>
          </a:prstGeom>
          <a:solidFill>
            <a:srgbClr val="1D6BC0"/>
          </a:solidFill>
          <a:ln/>
        </p:spPr>
      </p:sp>
      <p:sp>
        <p:nvSpPr>
          <p:cNvPr id="65" name="Shape 63"/>
          <p:cNvSpPr/>
          <p:nvPr/>
        </p:nvSpPr>
        <p:spPr>
          <a:xfrm>
            <a:off x="548640" y="6044327"/>
            <a:ext cx="5464912" cy="67008"/>
          </a:xfrm>
          <a:prstGeom prst="rect">
            <a:avLst/>
          </a:prstGeom>
          <a:solidFill>
            <a:srgbClr val="1C6DBF"/>
          </a:solidFill>
          <a:ln/>
        </p:spPr>
      </p:sp>
      <p:sp>
        <p:nvSpPr>
          <p:cNvPr id="66" name="Shape 64"/>
          <p:cNvSpPr/>
          <p:nvPr/>
        </p:nvSpPr>
        <p:spPr>
          <a:xfrm>
            <a:off x="548640" y="6102191"/>
            <a:ext cx="5464912" cy="67008"/>
          </a:xfrm>
          <a:prstGeom prst="rect">
            <a:avLst/>
          </a:prstGeom>
          <a:solidFill>
            <a:srgbClr val="1B6EBF"/>
          </a:solidFill>
          <a:ln/>
        </p:spPr>
      </p:sp>
      <p:sp>
        <p:nvSpPr>
          <p:cNvPr id="67" name="Shape 65"/>
          <p:cNvSpPr/>
          <p:nvPr/>
        </p:nvSpPr>
        <p:spPr>
          <a:xfrm>
            <a:off x="548640" y="6160056"/>
            <a:ext cx="5464912" cy="67008"/>
          </a:xfrm>
          <a:prstGeom prst="rect">
            <a:avLst/>
          </a:prstGeom>
          <a:solidFill>
            <a:srgbClr val="1A6FBE"/>
          </a:solidFill>
          <a:ln/>
        </p:spPr>
      </p:sp>
      <p:sp>
        <p:nvSpPr>
          <p:cNvPr id="68" name="Text 66"/>
          <p:cNvSpPr/>
          <p:nvPr/>
        </p:nvSpPr>
        <p:spPr>
          <a:xfrm>
            <a:off x="914400" y="2880360"/>
            <a:ext cx="4733392" cy="914400"/>
          </a:xfrm>
          <a:prstGeom prst="rect">
            <a:avLst/>
          </a:prstGeom>
          <a:noFill/>
          <a:ln/>
        </p:spPr>
        <p:txBody>
          <a:bodyPr wrap="square" lIns="0" tIns="0" rIns="0" bIns="0" rtlCol="0" anchor="t"/>
          <a:lstStyle/>
          <a:p>
            <a:pPr algn="l" indent="0" marL="0">
              <a:buNone/>
            </a:pPr>
            <a:r>
              <a:rPr lang="en-US" sz="1100" b="1" spc="300" kern="0" dirty="0">
                <a:solidFill>
                  <a:srgbClr val="FFFFFF"/>
                </a:solidFill>
                <a:latin typeface="Calibri" pitchFamily="34" charset="0"/>
                <a:ea typeface="Calibri" pitchFamily="34" charset="-122"/>
                <a:cs typeface="Calibri" pitchFamily="34" charset="-120"/>
              </a:rPr>
              <a:t>NATIVE SEND + CRM</a:t>
            </a:r>
            <a:endParaRPr lang="en-US" sz="1100" dirty="0"/>
          </a:p>
        </p:txBody>
      </p:sp>
      <p:sp>
        <p:nvSpPr>
          <p:cNvPr id="69" name="Text 67"/>
          <p:cNvSpPr/>
          <p:nvPr/>
        </p:nvSpPr>
        <p:spPr>
          <a:xfrm>
            <a:off x="914400" y="3383280"/>
            <a:ext cx="4733392" cy="2011680"/>
          </a:xfrm>
          <a:prstGeom prst="rect">
            <a:avLst/>
          </a:prstGeom>
          <a:noFill/>
          <a:ln/>
        </p:spPr>
        <p:txBody>
          <a:bodyPr wrap="square" lIns="0" tIns="0" rIns="0" bIns="0" rtlCol="0" anchor="t"/>
          <a:lstStyle/>
          <a:p>
            <a:pPr algn="l" indent="0" marL="0">
              <a:buNone/>
            </a:pPr>
            <a:r>
              <a:rPr lang="en-US" sz="3200" b="1" spc="-50" kern="0" dirty="0">
                <a:solidFill>
                  <a:srgbClr val="FFFFFF"/>
                </a:solidFill>
                <a:latin typeface="Calibri" pitchFamily="34" charset="0"/>
                <a:ea typeface="Calibri" pitchFamily="34" charset="-122"/>
                <a:cs typeface="Calibri" pitchFamily="34" charset="-120"/>
              </a:rPr>
              <a:t>Send through your inbox. Track in our CRM.</a:t>
            </a:r>
            <a:endParaRPr lang="en-US" sz="3200" dirty="0"/>
          </a:p>
        </p:txBody>
      </p:sp>
      <p:sp>
        <p:nvSpPr>
          <p:cNvPr id="70" name="Text 68"/>
          <p:cNvSpPr/>
          <p:nvPr/>
        </p:nvSpPr>
        <p:spPr>
          <a:xfrm>
            <a:off x="914400" y="5166360"/>
            <a:ext cx="4733392" cy="10972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Gmail, Instagram, LinkedIn — all native. Replies land in the CRM, status auto-updates, follow-ups schedule themselves. The CRM disappears into the workflow.</a:t>
            </a:r>
            <a:endParaRPr lang="en-US" sz="1300" dirty="0"/>
          </a:p>
        </p:txBody>
      </p:sp>
      <p:sp>
        <p:nvSpPr>
          <p:cNvPr id="71" name="Shape 69"/>
          <p:cNvSpPr/>
          <p:nvPr/>
        </p:nvSpPr>
        <p:spPr>
          <a:xfrm>
            <a:off x="6178144" y="2514600"/>
            <a:ext cx="5464912" cy="1124712"/>
          </a:xfrm>
          <a:prstGeom prst="roundRect">
            <a:avLst>
              <a:gd name="adj" fmla="val 9756"/>
            </a:avLst>
          </a:prstGeom>
          <a:solidFill>
            <a:srgbClr val="FFFFFF"/>
          </a:solidFill>
          <a:ln w="9525">
            <a:solidFill>
              <a:srgbClr val="E5E7F0"/>
            </a:solidFill>
            <a:prstDash val="solid"/>
          </a:ln>
        </p:spPr>
      </p:sp>
      <p:sp>
        <p:nvSpPr>
          <p:cNvPr id="72" name="Shape 70"/>
          <p:cNvSpPr/>
          <p:nvPr/>
        </p:nvSpPr>
        <p:spPr>
          <a:xfrm>
            <a:off x="6178144" y="2514600"/>
            <a:ext cx="73152" cy="1124712"/>
          </a:xfrm>
          <a:prstGeom prst="rect">
            <a:avLst/>
          </a:prstGeom>
          <a:solidFill>
            <a:srgbClr val="5028C2"/>
          </a:solidFill>
          <a:ln/>
        </p:spPr>
      </p:sp>
      <p:sp>
        <p:nvSpPr>
          <p:cNvPr id="73" name="Text 71"/>
          <p:cNvSpPr/>
          <p:nvPr/>
        </p:nvSpPr>
        <p:spPr>
          <a:xfrm>
            <a:off x="6434176" y="2697480"/>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Send</a:t>
            </a:r>
            <a:endParaRPr lang="en-US" sz="1600" dirty="0"/>
          </a:p>
        </p:txBody>
      </p:sp>
      <p:sp>
        <p:nvSpPr>
          <p:cNvPr id="74" name="Text 72"/>
          <p:cNvSpPr/>
          <p:nvPr/>
        </p:nvSpPr>
        <p:spPr>
          <a:xfrm>
            <a:off x="6434176" y="3081528"/>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Native compose in your own accounts.</a:t>
            </a:r>
            <a:endParaRPr lang="en-US" sz="1200" dirty="0"/>
          </a:p>
        </p:txBody>
      </p:sp>
      <p:sp>
        <p:nvSpPr>
          <p:cNvPr id="75" name="Shape 73"/>
          <p:cNvSpPr/>
          <p:nvPr/>
        </p:nvSpPr>
        <p:spPr>
          <a:xfrm>
            <a:off x="6178144" y="3803904"/>
            <a:ext cx="5464912" cy="1124712"/>
          </a:xfrm>
          <a:prstGeom prst="roundRect">
            <a:avLst>
              <a:gd name="adj" fmla="val 9756"/>
            </a:avLst>
          </a:prstGeom>
          <a:solidFill>
            <a:srgbClr val="FFFFFF"/>
          </a:solidFill>
          <a:ln w="9525">
            <a:solidFill>
              <a:srgbClr val="E5E7F0"/>
            </a:solidFill>
            <a:prstDash val="solid"/>
          </a:ln>
        </p:spPr>
      </p:sp>
      <p:sp>
        <p:nvSpPr>
          <p:cNvPr id="76" name="Shape 74"/>
          <p:cNvSpPr/>
          <p:nvPr/>
        </p:nvSpPr>
        <p:spPr>
          <a:xfrm>
            <a:off x="6178144" y="3803904"/>
            <a:ext cx="73152" cy="1124712"/>
          </a:xfrm>
          <a:prstGeom prst="rect">
            <a:avLst/>
          </a:prstGeom>
          <a:solidFill>
            <a:srgbClr val="3548D0"/>
          </a:solidFill>
          <a:ln/>
        </p:spPr>
      </p:sp>
      <p:sp>
        <p:nvSpPr>
          <p:cNvPr id="77" name="Text 75"/>
          <p:cNvSpPr/>
          <p:nvPr/>
        </p:nvSpPr>
        <p:spPr>
          <a:xfrm>
            <a:off x="6434176" y="3986784"/>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Track</a:t>
            </a:r>
            <a:endParaRPr lang="en-US" sz="1600" dirty="0"/>
          </a:p>
        </p:txBody>
      </p:sp>
      <p:sp>
        <p:nvSpPr>
          <p:cNvPr id="78" name="Text 76"/>
          <p:cNvSpPr/>
          <p:nvPr/>
        </p:nvSpPr>
        <p:spPr>
          <a:xfrm>
            <a:off x="6434176" y="4370832"/>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Replies matched to outreach automatically.</a:t>
            </a:r>
            <a:endParaRPr lang="en-US" sz="1200" dirty="0"/>
          </a:p>
        </p:txBody>
      </p:sp>
      <p:sp>
        <p:nvSpPr>
          <p:cNvPr id="79" name="Shape 77"/>
          <p:cNvSpPr/>
          <p:nvPr/>
        </p:nvSpPr>
        <p:spPr>
          <a:xfrm>
            <a:off x="6178144" y="5093208"/>
            <a:ext cx="5464912" cy="1124712"/>
          </a:xfrm>
          <a:prstGeom prst="roundRect">
            <a:avLst>
              <a:gd name="adj" fmla="val 9756"/>
            </a:avLst>
          </a:prstGeom>
          <a:solidFill>
            <a:srgbClr val="FFFFFF"/>
          </a:solidFill>
          <a:ln w="9525">
            <a:solidFill>
              <a:srgbClr val="E5E7F0"/>
            </a:solidFill>
            <a:prstDash val="solid"/>
          </a:ln>
        </p:spPr>
      </p:sp>
      <p:sp>
        <p:nvSpPr>
          <p:cNvPr id="80" name="Shape 78"/>
          <p:cNvSpPr/>
          <p:nvPr/>
        </p:nvSpPr>
        <p:spPr>
          <a:xfrm>
            <a:off x="6178144" y="5093208"/>
            <a:ext cx="73152" cy="1124712"/>
          </a:xfrm>
          <a:prstGeom prst="rect">
            <a:avLst/>
          </a:prstGeom>
          <a:solidFill>
            <a:srgbClr val="1A6FBE"/>
          </a:solidFill>
          <a:ln/>
        </p:spPr>
      </p:sp>
      <p:sp>
        <p:nvSpPr>
          <p:cNvPr id="81" name="Text 79"/>
          <p:cNvSpPr/>
          <p:nvPr/>
        </p:nvSpPr>
        <p:spPr>
          <a:xfrm>
            <a:off x="6434176" y="5276088"/>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Follow up</a:t>
            </a:r>
            <a:endParaRPr lang="en-US" sz="1600" dirty="0"/>
          </a:p>
        </p:txBody>
      </p:sp>
      <p:sp>
        <p:nvSpPr>
          <p:cNvPr id="82" name="Text 80"/>
          <p:cNvSpPr/>
          <p:nvPr/>
        </p:nvSpPr>
        <p:spPr>
          <a:xfrm>
            <a:off x="6434176" y="5660136"/>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Reminders surfaced at the right cadence.</a:t>
            </a:r>
            <a:endParaRPr lang="en-US" sz="1200" dirty="0"/>
          </a:p>
        </p:txBody>
      </p:sp>
      <p:sp>
        <p:nvSpPr>
          <p:cNvPr id="83" name="Shape 81"/>
          <p:cNvSpPr/>
          <p:nvPr/>
        </p:nvSpPr>
        <p:spPr>
          <a:xfrm>
            <a:off x="548640" y="502920"/>
            <a:ext cx="292608" cy="292608"/>
          </a:xfrm>
          <a:prstGeom prst="roundRect">
            <a:avLst>
              <a:gd name="adj" fmla="val 25000"/>
            </a:avLst>
          </a:prstGeom>
          <a:solidFill>
            <a:srgbClr val="5028C2"/>
          </a:solidFill>
          <a:ln/>
        </p:spPr>
      </p:sp>
      <p:sp>
        <p:nvSpPr>
          <p:cNvPr id="84" name="Shape 82"/>
          <p:cNvSpPr/>
          <p:nvPr/>
        </p:nvSpPr>
        <p:spPr>
          <a:xfrm>
            <a:off x="548640" y="502920"/>
            <a:ext cx="292608" cy="292608"/>
          </a:xfrm>
          <a:prstGeom prst="roundRect">
            <a:avLst>
              <a:gd name="adj" fmla="val 25000"/>
            </a:avLst>
          </a:prstGeom>
          <a:solidFill>
            <a:srgbClr val="1A6FBE">
              <a:alpha val="50000"/>
            </a:srgbClr>
          </a:solidFill>
          <a:ln/>
        </p:spPr>
      </p:sp>
      <p:sp>
        <p:nvSpPr>
          <p:cNvPr id="85" name="Text 83"/>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86" name="Text 84"/>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87" name="Text 85"/>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09 · Native outreach + CRM  ·  vG</a:t>
            </a:r>
            <a:endParaRPr lang="en-US" sz="900" dirty="0"/>
          </a:p>
        </p:txBody>
      </p:sp>
      <p:sp>
        <p:nvSpPr>
          <p:cNvPr id="88" name="Text 86"/>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89" name="Text 87"/>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063 / 126</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80015" y="-914400"/>
            <a:ext cx="3200400" cy="3200400"/>
          </a:xfrm>
          <a:prstGeom prst="ellipse">
            <a:avLst/>
          </a:prstGeom>
          <a:solidFill>
            <a:srgbClr val="F1ECFF"/>
          </a:solidFill>
          <a:ln/>
        </p:spPr>
      </p:sp>
      <p:sp>
        <p:nvSpPr>
          <p:cNvPr id="3" name="Shape 1"/>
          <p:cNvSpPr/>
          <p:nvPr/>
        </p:nvSpPr>
        <p:spPr>
          <a:xfrm>
            <a:off x="10820095" y="-548640"/>
            <a:ext cx="2194560" cy="2194560"/>
          </a:xfrm>
          <a:prstGeom prst="ellipse">
            <a:avLst/>
          </a:prstGeom>
          <a:solidFill>
            <a:srgbClr val="E8F1FB">
              <a:alpha val="60000"/>
            </a:srgbClr>
          </a:solidFill>
          <a:ln/>
        </p:spPr>
      </p:sp>
      <p:sp>
        <p:nvSpPr>
          <p:cNvPr id="4" name="Shape 2"/>
          <p:cNvSpPr/>
          <p:nvPr/>
        </p:nvSpPr>
        <p:spPr>
          <a:xfrm>
            <a:off x="548640" y="5486400"/>
            <a:ext cx="54864" cy="54864"/>
          </a:xfrm>
          <a:prstGeom prst="ellipse">
            <a:avLst/>
          </a:prstGeom>
          <a:solidFill>
            <a:srgbClr val="5028C2">
              <a:alpha val="30000"/>
            </a:srgbClr>
          </a:solidFill>
          <a:ln/>
        </p:spPr>
      </p:sp>
      <p:sp>
        <p:nvSpPr>
          <p:cNvPr id="5" name="Shape 3"/>
          <p:cNvSpPr/>
          <p:nvPr/>
        </p:nvSpPr>
        <p:spPr>
          <a:xfrm>
            <a:off x="548640" y="5650992"/>
            <a:ext cx="54864" cy="54864"/>
          </a:xfrm>
          <a:prstGeom prst="ellipse">
            <a:avLst/>
          </a:prstGeom>
          <a:solidFill>
            <a:srgbClr val="5028C2">
              <a:alpha val="30000"/>
            </a:srgbClr>
          </a:solidFill>
          <a:ln/>
        </p:spPr>
      </p:sp>
      <p:sp>
        <p:nvSpPr>
          <p:cNvPr id="6" name="Shape 4"/>
          <p:cNvSpPr/>
          <p:nvPr/>
        </p:nvSpPr>
        <p:spPr>
          <a:xfrm>
            <a:off x="548640" y="5815584"/>
            <a:ext cx="54864" cy="54864"/>
          </a:xfrm>
          <a:prstGeom prst="ellipse">
            <a:avLst/>
          </a:prstGeom>
          <a:solidFill>
            <a:srgbClr val="5028C2">
              <a:alpha val="30000"/>
            </a:srgbClr>
          </a:solidFill>
          <a:ln/>
        </p:spPr>
      </p:sp>
      <p:sp>
        <p:nvSpPr>
          <p:cNvPr id="7" name="Shape 5"/>
          <p:cNvSpPr/>
          <p:nvPr/>
        </p:nvSpPr>
        <p:spPr>
          <a:xfrm>
            <a:off x="713232" y="5486400"/>
            <a:ext cx="54864" cy="54864"/>
          </a:xfrm>
          <a:prstGeom prst="ellipse">
            <a:avLst/>
          </a:prstGeom>
          <a:solidFill>
            <a:srgbClr val="5028C2">
              <a:alpha val="30000"/>
            </a:srgbClr>
          </a:solidFill>
          <a:ln/>
        </p:spPr>
      </p:sp>
      <p:sp>
        <p:nvSpPr>
          <p:cNvPr id="8" name="Shape 6"/>
          <p:cNvSpPr/>
          <p:nvPr/>
        </p:nvSpPr>
        <p:spPr>
          <a:xfrm>
            <a:off x="713232" y="5650992"/>
            <a:ext cx="54864" cy="54864"/>
          </a:xfrm>
          <a:prstGeom prst="ellipse">
            <a:avLst/>
          </a:prstGeom>
          <a:solidFill>
            <a:srgbClr val="5028C2">
              <a:alpha val="30000"/>
            </a:srgbClr>
          </a:solidFill>
          <a:ln/>
        </p:spPr>
      </p:sp>
      <p:sp>
        <p:nvSpPr>
          <p:cNvPr id="9" name="Shape 7"/>
          <p:cNvSpPr/>
          <p:nvPr/>
        </p:nvSpPr>
        <p:spPr>
          <a:xfrm>
            <a:off x="713232" y="5815584"/>
            <a:ext cx="54864" cy="54864"/>
          </a:xfrm>
          <a:prstGeom prst="ellipse">
            <a:avLst/>
          </a:prstGeom>
          <a:solidFill>
            <a:srgbClr val="5028C2">
              <a:alpha val="30000"/>
            </a:srgbClr>
          </a:solidFill>
          <a:ln/>
        </p:spPr>
      </p:sp>
      <p:sp>
        <p:nvSpPr>
          <p:cNvPr id="10" name="Shape 8"/>
          <p:cNvSpPr/>
          <p:nvPr/>
        </p:nvSpPr>
        <p:spPr>
          <a:xfrm>
            <a:off x="877824" y="5486400"/>
            <a:ext cx="54864" cy="54864"/>
          </a:xfrm>
          <a:prstGeom prst="ellipse">
            <a:avLst/>
          </a:prstGeom>
          <a:solidFill>
            <a:srgbClr val="5028C2">
              <a:alpha val="30000"/>
            </a:srgbClr>
          </a:solidFill>
          <a:ln/>
        </p:spPr>
      </p:sp>
      <p:sp>
        <p:nvSpPr>
          <p:cNvPr id="11" name="Shape 9"/>
          <p:cNvSpPr/>
          <p:nvPr/>
        </p:nvSpPr>
        <p:spPr>
          <a:xfrm>
            <a:off x="877824" y="5650992"/>
            <a:ext cx="54864" cy="54864"/>
          </a:xfrm>
          <a:prstGeom prst="ellipse">
            <a:avLst/>
          </a:prstGeom>
          <a:solidFill>
            <a:srgbClr val="5028C2">
              <a:alpha val="30000"/>
            </a:srgbClr>
          </a:solidFill>
          <a:ln/>
        </p:spPr>
      </p:sp>
      <p:sp>
        <p:nvSpPr>
          <p:cNvPr id="12" name="Shape 10"/>
          <p:cNvSpPr/>
          <p:nvPr/>
        </p:nvSpPr>
        <p:spPr>
          <a:xfrm>
            <a:off x="877824" y="5815584"/>
            <a:ext cx="54864" cy="54864"/>
          </a:xfrm>
          <a:prstGeom prst="ellipse">
            <a:avLst/>
          </a:prstGeom>
          <a:solidFill>
            <a:srgbClr val="5028C2">
              <a:alpha val="30000"/>
            </a:srgbClr>
          </a:solidFill>
          <a:ln/>
        </p:spPr>
      </p:sp>
      <p:sp>
        <p:nvSpPr>
          <p:cNvPr id="13" name="Shape 11"/>
          <p:cNvSpPr/>
          <p:nvPr/>
        </p:nvSpPr>
        <p:spPr>
          <a:xfrm>
            <a:off x="1042416" y="5486400"/>
            <a:ext cx="54864" cy="54864"/>
          </a:xfrm>
          <a:prstGeom prst="ellipse">
            <a:avLst/>
          </a:prstGeom>
          <a:solidFill>
            <a:srgbClr val="5028C2">
              <a:alpha val="30000"/>
            </a:srgbClr>
          </a:solidFill>
          <a:ln/>
        </p:spPr>
      </p:sp>
      <p:sp>
        <p:nvSpPr>
          <p:cNvPr id="14" name="Shape 12"/>
          <p:cNvSpPr/>
          <p:nvPr/>
        </p:nvSpPr>
        <p:spPr>
          <a:xfrm>
            <a:off x="1042416" y="5650992"/>
            <a:ext cx="54864" cy="54864"/>
          </a:xfrm>
          <a:prstGeom prst="ellipse">
            <a:avLst/>
          </a:prstGeom>
          <a:solidFill>
            <a:srgbClr val="5028C2">
              <a:alpha val="30000"/>
            </a:srgbClr>
          </a:solidFill>
          <a:ln/>
        </p:spPr>
      </p:sp>
      <p:sp>
        <p:nvSpPr>
          <p:cNvPr id="15" name="Shape 13"/>
          <p:cNvSpPr/>
          <p:nvPr/>
        </p:nvSpPr>
        <p:spPr>
          <a:xfrm>
            <a:off x="1042416" y="5815584"/>
            <a:ext cx="54864" cy="54864"/>
          </a:xfrm>
          <a:prstGeom prst="ellipse">
            <a:avLst/>
          </a:prstGeom>
          <a:solidFill>
            <a:srgbClr val="5028C2">
              <a:alpha val="30000"/>
            </a:srgbClr>
          </a:solidFill>
          <a:ln/>
        </p:spPr>
      </p:sp>
      <p:sp>
        <p:nvSpPr>
          <p:cNvPr id="16" name="Shape 14"/>
          <p:cNvSpPr/>
          <p:nvPr/>
        </p:nvSpPr>
        <p:spPr>
          <a:xfrm>
            <a:off x="1207008" y="5486400"/>
            <a:ext cx="54864" cy="54864"/>
          </a:xfrm>
          <a:prstGeom prst="ellipse">
            <a:avLst/>
          </a:prstGeom>
          <a:solidFill>
            <a:srgbClr val="5028C2">
              <a:alpha val="30000"/>
            </a:srgbClr>
          </a:solidFill>
          <a:ln/>
        </p:spPr>
      </p:sp>
      <p:sp>
        <p:nvSpPr>
          <p:cNvPr id="17" name="Shape 15"/>
          <p:cNvSpPr/>
          <p:nvPr/>
        </p:nvSpPr>
        <p:spPr>
          <a:xfrm>
            <a:off x="1207008" y="5650992"/>
            <a:ext cx="54864" cy="54864"/>
          </a:xfrm>
          <a:prstGeom prst="ellipse">
            <a:avLst/>
          </a:prstGeom>
          <a:solidFill>
            <a:srgbClr val="5028C2">
              <a:alpha val="30000"/>
            </a:srgbClr>
          </a:solidFill>
          <a:ln/>
        </p:spPr>
      </p:sp>
      <p:sp>
        <p:nvSpPr>
          <p:cNvPr id="18" name="Shape 16"/>
          <p:cNvSpPr/>
          <p:nvPr/>
        </p:nvSpPr>
        <p:spPr>
          <a:xfrm>
            <a:off x="1207008" y="5815584"/>
            <a:ext cx="54864" cy="54864"/>
          </a:xfrm>
          <a:prstGeom prst="ellipse">
            <a:avLst/>
          </a:prstGeom>
          <a:solidFill>
            <a:srgbClr val="5028C2">
              <a:alpha val="30000"/>
            </a:srgbClr>
          </a:solidFill>
          <a:ln/>
        </p:spPr>
      </p:sp>
      <p:sp>
        <p:nvSpPr>
          <p:cNvPr id="19" name="Shape 17"/>
          <p:cNvSpPr/>
          <p:nvPr/>
        </p:nvSpPr>
        <p:spPr>
          <a:xfrm>
            <a:off x="1371600" y="5486400"/>
            <a:ext cx="54864" cy="54864"/>
          </a:xfrm>
          <a:prstGeom prst="ellipse">
            <a:avLst/>
          </a:prstGeom>
          <a:solidFill>
            <a:srgbClr val="5028C2">
              <a:alpha val="30000"/>
            </a:srgbClr>
          </a:solidFill>
          <a:ln/>
        </p:spPr>
      </p:sp>
      <p:sp>
        <p:nvSpPr>
          <p:cNvPr id="20" name="Shape 18"/>
          <p:cNvSpPr/>
          <p:nvPr/>
        </p:nvSpPr>
        <p:spPr>
          <a:xfrm>
            <a:off x="1371600" y="5650992"/>
            <a:ext cx="54864" cy="54864"/>
          </a:xfrm>
          <a:prstGeom prst="ellipse">
            <a:avLst/>
          </a:prstGeom>
          <a:solidFill>
            <a:srgbClr val="5028C2">
              <a:alpha val="30000"/>
            </a:srgbClr>
          </a:solidFill>
          <a:ln/>
        </p:spPr>
      </p:sp>
      <p:sp>
        <p:nvSpPr>
          <p:cNvPr id="21" name="Shape 19"/>
          <p:cNvSpPr/>
          <p:nvPr/>
        </p:nvSpPr>
        <p:spPr>
          <a:xfrm>
            <a:off x="1371600" y="5815584"/>
            <a:ext cx="54864" cy="54864"/>
          </a:xfrm>
          <a:prstGeom prst="ellipse">
            <a:avLst/>
          </a:prstGeom>
          <a:solidFill>
            <a:srgbClr val="5028C2">
              <a:alpha val="30000"/>
            </a:srgbClr>
          </a:solidFill>
          <a:ln/>
        </p:spPr>
      </p:sp>
      <p:sp>
        <p:nvSpPr>
          <p:cNvPr id="22" name="Text 20"/>
          <p:cNvSpPr/>
          <p:nvPr/>
        </p:nvSpPr>
        <p:spPr>
          <a:xfrm>
            <a:off x="548640" y="1097280"/>
            <a:ext cx="11094415"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FEATURE · ANALYTICS</a:t>
            </a:r>
            <a:endParaRPr lang="en-US" sz="1100" dirty="0"/>
          </a:p>
        </p:txBody>
      </p:sp>
      <p:sp>
        <p:nvSpPr>
          <p:cNvPr id="23" name="Text 21"/>
          <p:cNvSpPr/>
          <p:nvPr/>
        </p:nvSpPr>
        <p:spPr>
          <a:xfrm>
            <a:off x="548640" y="1554480"/>
            <a:ext cx="11094415" cy="3108960"/>
          </a:xfrm>
          <a:prstGeom prst="rect">
            <a:avLst/>
          </a:prstGeom>
          <a:noFill/>
          <a:ln/>
        </p:spPr>
        <p:txBody>
          <a:bodyPr wrap="square" lIns="0" tIns="0" rIns="0" bIns="0" rtlCol="0" anchor="t"/>
          <a:lstStyle/>
          <a:p>
            <a:pPr algn="l" indent="0" marL="0">
              <a:buNone/>
            </a:pPr>
            <a:r>
              <a:rPr lang="en-US" sz="4800" b="1" spc="-100" kern="0" dirty="0">
                <a:solidFill>
                  <a:srgbClr val="0F1733"/>
                </a:solidFill>
                <a:latin typeface="Calibri" pitchFamily="34" charset="0"/>
                <a:ea typeface="Calibri" pitchFamily="34" charset="-122"/>
                <a:cs typeface="Calibri" pitchFamily="34" charset="-120"/>
              </a:rPr>
              <a:t>Every campaign learns. Every metric, yours.</a:t>
            </a:r>
            <a:endParaRPr lang="en-US" sz="4800" dirty="0"/>
          </a:p>
        </p:txBody>
      </p:sp>
      <p:sp>
        <p:nvSpPr>
          <p:cNvPr id="24" name="Text 22"/>
          <p:cNvSpPr/>
          <p:nvPr/>
        </p:nvSpPr>
        <p:spPr>
          <a:xfrm>
            <a:off x="548640" y="4754880"/>
            <a:ext cx="9265615" cy="1097280"/>
          </a:xfrm>
          <a:prstGeom prst="rect">
            <a:avLst/>
          </a:prstGeom>
          <a:noFill/>
          <a:ln/>
        </p:spPr>
        <p:txBody>
          <a:bodyPr wrap="square" lIns="0" tIns="0" rIns="0" bIns="0" rtlCol="0" anchor="t"/>
          <a:lstStyle/>
          <a:p>
            <a:pPr algn="l" indent="0" marL="0">
              <a:buNone/>
            </a:pPr>
            <a:r>
              <a:rPr lang="en-US" sz="1800" dirty="0">
                <a:solidFill>
                  <a:srgbClr val="2A3358"/>
                </a:solidFill>
                <a:latin typeface="Calibri" pitchFamily="34" charset="0"/>
                <a:ea typeface="Calibri" pitchFamily="34" charset="-122"/>
                <a:cs typeface="Calibri" pitchFamily="34" charset="-120"/>
              </a:rPr>
              <a:t>Reply rate by platform. Cost per qualified creator. Time-to-first-reply. The metrics no other tool tracks — built around how you actually measure success.</a:t>
            </a:r>
            <a:endParaRPr lang="en-US" sz="1800" dirty="0"/>
          </a:p>
        </p:txBody>
      </p:sp>
      <p:sp>
        <p:nvSpPr>
          <p:cNvPr id="25" name="Shape 23"/>
          <p:cNvSpPr/>
          <p:nvPr/>
        </p:nvSpPr>
        <p:spPr>
          <a:xfrm>
            <a:off x="548640" y="502920"/>
            <a:ext cx="292608" cy="292608"/>
          </a:xfrm>
          <a:prstGeom prst="roundRect">
            <a:avLst>
              <a:gd name="adj" fmla="val 25000"/>
            </a:avLst>
          </a:prstGeom>
          <a:solidFill>
            <a:srgbClr val="5028C2"/>
          </a:solidFill>
          <a:ln/>
        </p:spPr>
      </p:sp>
      <p:sp>
        <p:nvSpPr>
          <p:cNvPr id="26" name="Shape 24"/>
          <p:cNvSpPr/>
          <p:nvPr/>
        </p:nvSpPr>
        <p:spPr>
          <a:xfrm>
            <a:off x="548640" y="502920"/>
            <a:ext cx="292608" cy="292608"/>
          </a:xfrm>
          <a:prstGeom prst="roundRect">
            <a:avLst>
              <a:gd name="adj" fmla="val 25000"/>
            </a:avLst>
          </a:prstGeom>
          <a:solidFill>
            <a:srgbClr val="1A6FBE">
              <a:alpha val="50000"/>
            </a:srgbClr>
          </a:solidFill>
          <a:ln/>
        </p:spPr>
      </p:sp>
      <p:sp>
        <p:nvSpPr>
          <p:cNvPr id="27" name="Text 25"/>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8" name="Text 26"/>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9" name="Text 27"/>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10 · Custom analytics  ·  vA</a:t>
            </a:r>
            <a:endParaRPr lang="en-US" sz="900" dirty="0"/>
          </a:p>
        </p:txBody>
      </p:sp>
      <p:sp>
        <p:nvSpPr>
          <p:cNvPr id="30" name="Text 28"/>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31" name="Text 29"/>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064 / 126</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071183" y="0"/>
            <a:ext cx="5120512" cy="116300"/>
          </a:xfrm>
          <a:prstGeom prst="rect">
            <a:avLst/>
          </a:prstGeom>
          <a:solidFill>
            <a:srgbClr val="5028C2"/>
          </a:solidFill>
          <a:ln/>
        </p:spPr>
      </p:sp>
      <p:sp>
        <p:nvSpPr>
          <p:cNvPr id="3" name="Shape 1"/>
          <p:cNvSpPr/>
          <p:nvPr/>
        </p:nvSpPr>
        <p:spPr>
          <a:xfrm>
            <a:off x="7071183" y="107156"/>
            <a:ext cx="5120512" cy="116300"/>
          </a:xfrm>
          <a:prstGeom prst="rect">
            <a:avLst/>
          </a:prstGeom>
          <a:solidFill>
            <a:srgbClr val="4F29C2"/>
          </a:solidFill>
          <a:ln/>
        </p:spPr>
      </p:sp>
      <p:sp>
        <p:nvSpPr>
          <p:cNvPr id="4" name="Shape 2"/>
          <p:cNvSpPr/>
          <p:nvPr/>
        </p:nvSpPr>
        <p:spPr>
          <a:xfrm>
            <a:off x="7071183" y="214313"/>
            <a:ext cx="5120512" cy="116300"/>
          </a:xfrm>
          <a:prstGeom prst="rect">
            <a:avLst/>
          </a:prstGeom>
          <a:solidFill>
            <a:srgbClr val="4E2AC3"/>
          </a:solidFill>
          <a:ln/>
        </p:spPr>
      </p:sp>
      <p:sp>
        <p:nvSpPr>
          <p:cNvPr id="5" name="Shape 3"/>
          <p:cNvSpPr/>
          <p:nvPr/>
        </p:nvSpPr>
        <p:spPr>
          <a:xfrm>
            <a:off x="7071183" y="321469"/>
            <a:ext cx="5120512" cy="116300"/>
          </a:xfrm>
          <a:prstGeom prst="rect">
            <a:avLst/>
          </a:prstGeom>
          <a:solidFill>
            <a:srgbClr val="4D2BC3"/>
          </a:solidFill>
          <a:ln/>
        </p:spPr>
      </p:sp>
      <p:sp>
        <p:nvSpPr>
          <p:cNvPr id="6" name="Shape 4"/>
          <p:cNvSpPr/>
          <p:nvPr/>
        </p:nvSpPr>
        <p:spPr>
          <a:xfrm>
            <a:off x="7071183" y="428625"/>
            <a:ext cx="5120512" cy="116300"/>
          </a:xfrm>
          <a:prstGeom prst="rect">
            <a:avLst/>
          </a:prstGeom>
          <a:solidFill>
            <a:srgbClr val="4D2CC4"/>
          </a:solidFill>
          <a:ln/>
        </p:spPr>
      </p:sp>
      <p:sp>
        <p:nvSpPr>
          <p:cNvPr id="7" name="Shape 5"/>
          <p:cNvSpPr/>
          <p:nvPr/>
        </p:nvSpPr>
        <p:spPr>
          <a:xfrm>
            <a:off x="7071183" y="535781"/>
            <a:ext cx="5120512" cy="116300"/>
          </a:xfrm>
          <a:prstGeom prst="rect">
            <a:avLst/>
          </a:prstGeom>
          <a:solidFill>
            <a:srgbClr val="4C2DC4"/>
          </a:solidFill>
          <a:ln/>
        </p:spPr>
      </p:sp>
      <p:sp>
        <p:nvSpPr>
          <p:cNvPr id="8" name="Shape 6"/>
          <p:cNvSpPr/>
          <p:nvPr/>
        </p:nvSpPr>
        <p:spPr>
          <a:xfrm>
            <a:off x="7071183" y="642938"/>
            <a:ext cx="5120512" cy="116300"/>
          </a:xfrm>
          <a:prstGeom prst="rect">
            <a:avLst/>
          </a:prstGeom>
          <a:solidFill>
            <a:srgbClr val="4B2EC5"/>
          </a:solidFill>
          <a:ln/>
        </p:spPr>
      </p:sp>
      <p:sp>
        <p:nvSpPr>
          <p:cNvPr id="9" name="Shape 7"/>
          <p:cNvSpPr/>
          <p:nvPr/>
        </p:nvSpPr>
        <p:spPr>
          <a:xfrm>
            <a:off x="7071183" y="750094"/>
            <a:ext cx="5120512" cy="116300"/>
          </a:xfrm>
          <a:prstGeom prst="rect">
            <a:avLst/>
          </a:prstGeom>
          <a:solidFill>
            <a:srgbClr val="4A2FC5"/>
          </a:solidFill>
          <a:ln/>
        </p:spPr>
      </p:sp>
      <p:sp>
        <p:nvSpPr>
          <p:cNvPr id="10" name="Shape 8"/>
          <p:cNvSpPr/>
          <p:nvPr/>
        </p:nvSpPr>
        <p:spPr>
          <a:xfrm>
            <a:off x="7071183" y="857250"/>
            <a:ext cx="5120512" cy="116300"/>
          </a:xfrm>
          <a:prstGeom prst="rect">
            <a:avLst/>
          </a:prstGeom>
          <a:solidFill>
            <a:srgbClr val="4930C6"/>
          </a:solidFill>
          <a:ln/>
        </p:spPr>
      </p:sp>
      <p:sp>
        <p:nvSpPr>
          <p:cNvPr id="11" name="Shape 9"/>
          <p:cNvSpPr/>
          <p:nvPr/>
        </p:nvSpPr>
        <p:spPr>
          <a:xfrm>
            <a:off x="7071183" y="964406"/>
            <a:ext cx="5120512" cy="116300"/>
          </a:xfrm>
          <a:prstGeom prst="rect">
            <a:avLst/>
          </a:prstGeom>
          <a:solidFill>
            <a:srgbClr val="4831C6"/>
          </a:solidFill>
          <a:ln/>
        </p:spPr>
      </p:sp>
      <p:sp>
        <p:nvSpPr>
          <p:cNvPr id="12" name="Shape 10"/>
          <p:cNvSpPr/>
          <p:nvPr/>
        </p:nvSpPr>
        <p:spPr>
          <a:xfrm>
            <a:off x="7071183" y="1071563"/>
            <a:ext cx="5120512" cy="116300"/>
          </a:xfrm>
          <a:prstGeom prst="rect">
            <a:avLst/>
          </a:prstGeom>
          <a:solidFill>
            <a:srgbClr val="4732C6"/>
          </a:solidFill>
          <a:ln/>
        </p:spPr>
      </p:sp>
      <p:sp>
        <p:nvSpPr>
          <p:cNvPr id="13" name="Shape 11"/>
          <p:cNvSpPr/>
          <p:nvPr/>
        </p:nvSpPr>
        <p:spPr>
          <a:xfrm>
            <a:off x="7071183" y="1178719"/>
            <a:ext cx="5120512" cy="116300"/>
          </a:xfrm>
          <a:prstGeom prst="rect">
            <a:avLst/>
          </a:prstGeom>
          <a:solidFill>
            <a:srgbClr val="4733C7"/>
          </a:solidFill>
          <a:ln/>
        </p:spPr>
      </p:sp>
      <p:sp>
        <p:nvSpPr>
          <p:cNvPr id="14" name="Shape 12"/>
          <p:cNvSpPr/>
          <p:nvPr/>
        </p:nvSpPr>
        <p:spPr>
          <a:xfrm>
            <a:off x="7071183" y="1285875"/>
            <a:ext cx="5120512" cy="116300"/>
          </a:xfrm>
          <a:prstGeom prst="rect">
            <a:avLst/>
          </a:prstGeom>
          <a:solidFill>
            <a:srgbClr val="4634C7"/>
          </a:solidFill>
          <a:ln/>
        </p:spPr>
      </p:sp>
      <p:sp>
        <p:nvSpPr>
          <p:cNvPr id="15" name="Shape 13"/>
          <p:cNvSpPr/>
          <p:nvPr/>
        </p:nvSpPr>
        <p:spPr>
          <a:xfrm>
            <a:off x="7071183" y="1393031"/>
            <a:ext cx="5120512" cy="116300"/>
          </a:xfrm>
          <a:prstGeom prst="rect">
            <a:avLst/>
          </a:prstGeom>
          <a:solidFill>
            <a:srgbClr val="4535C8"/>
          </a:solidFill>
          <a:ln/>
        </p:spPr>
      </p:sp>
      <p:sp>
        <p:nvSpPr>
          <p:cNvPr id="16" name="Shape 14"/>
          <p:cNvSpPr/>
          <p:nvPr/>
        </p:nvSpPr>
        <p:spPr>
          <a:xfrm>
            <a:off x="7071183" y="1500188"/>
            <a:ext cx="5120512" cy="116300"/>
          </a:xfrm>
          <a:prstGeom prst="rect">
            <a:avLst/>
          </a:prstGeom>
          <a:solidFill>
            <a:srgbClr val="4436C8"/>
          </a:solidFill>
          <a:ln/>
        </p:spPr>
      </p:sp>
      <p:sp>
        <p:nvSpPr>
          <p:cNvPr id="17" name="Shape 15"/>
          <p:cNvSpPr/>
          <p:nvPr/>
        </p:nvSpPr>
        <p:spPr>
          <a:xfrm>
            <a:off x="7071183" y="1607344"/>
            <a:ext cx="5120512" cy="116300"/>
          </a:xfrm>
          <a:prstGeom prst="rect">
            <a:avLst/>
          </a:prstGeom>
          <a:solidFill>
            <a:srgbClr val="4337C9"/>
          </a:solidFill>
          <a:ln/>
        </p:spPr>
      </p:sp>
      <p:sp>
        <p:nvSpPr>
          <p:cNvPr id="18" name="Shape 16"/>
          <p:cNvSpPr/>
          <p:nvPr/>
        </p:nvSpPr>
        <p:spPr>
          <a:xfrm>
            <a:off x="7071183" y="1714500"/>
            <a:ext cx="5120512" cy="116300"/>
          </a:xfrm>
          <a:prstGeom prst="rect">
            <a:avLst/>
          </a:prstGeom>
          <a:solidFill>
            <a:srgbClr val="4238C9"/>
          </a:solidFill>
          <a:ln/>
        </p:spPr>
      </p:sp>
      <p:sp>
        <p:nvSpPr>
          <p:cNvPr id="19" name="Shape 17"/>
          <p:cNvSpPr/>
          <p:nvPr/>
        </p:nvSpPr>
        <p:spPr>
          <a:xfrm>
            <a:off x="7071183" y="1821656"/>
            <a:ext cx="5120512" cy="116300"/>
          </a:xfrm>
          <a:prstGeom prst="rect">
            <a:avLst/>
          </a:prstGeom>
          <a:solidFill>
            <a:srgbClr val="4139CA"/>
          </a:solidFill>
          <a:ln/>
        </p:spPr>
      </p:sp>
      <p:sp>
        <p:nvSpPr>
          <p:cNvPr id="20" name="Shape 18"/>
          <p:cNvSpPr/>
          <p:nvPr/>
        </p:nvSpPr>
        <p:spPr>
          <a:xfrm>
            <a:off x="7071183" y="1928813"/>
            <a:ext cx="5120512" cy="116300"/>
          </a:xfrm>
          <a:prstGeom prst="rect">
            <a:avLst/>
          </a:prstGeom>
          <a:solidFill>
            <a:srgbClr val="413ACA"/>
          </a:solidFill>
          <a:ln/>
        </p:spPr>
      </p:sp>
      <p:sp>
        <p:nvSpPr>
          <p:cNvPr id="21" name="Shape 19"/>
          <p:cNvSpPr/>
          <p:nvPr/>
        </p:nvSpPr>
        <p:spPr>
          <a:xfrm>
            <a:off x="7071183" y="2035969"/>
            <a:ext cx="5120512" cy="116300"/>
          </a:xfrm>
          <a:prstGeom prst="rect">
            <a:avLst/>
          </a:prstGeom>
          <a:solidFill>
            <a:srgbClr val="403BCA"/>
          </a:solidFill>
          <a:ln/>
        </p:spPr>
      </p:sp>
      <p:sp>
        <p:nvSpPr>
          <p:cNvPr id="22" name="Shape 20"/>
          <p:cNvSpPr/>
          <p:nvPr/>
        </p:nvSpPr>
        <p:spPr>
          <a:xfrm>
            <a:off x="7071183" y="2143125"/>
            <a:ext cx="5120512" cy="116300"/>
          </a:xfrm>
          <a:prstGeom prst="rect">
            <a:avLst/>
          </a:prstGeom>
          <a:solidFill>
            <a:srgbClr val="3F3CCB"/>
          </a:solidFill>
          <a:ln/>
        </p:spPr>
      </p:sp>
      <p:sp>
        <p:nvSpPr>
          <p:cNvPr id="23" name="Shape 21"/>
          <p:cNvSpPr/>
          <p:nvPr/>
        </p:nvSpPr>
        <p:spPr>
          <a:xfrm>
            <a:off x="7071183" y="2250281"/>
            <a:ext cx="5120512" cy="116300"/>
          </a:xfrm>
          <a:prstGeom prst="rect">
            <a:avLst/>
          </a:prstGeom>
          <a:solidFill>
            <a:srgbClr val="3E3DCB"/>
          </a:solidFill>
          <a:ln/>
        </p:spPr>
      </p:sp>
      <p:sp>
        <p:nvSpPr>
          <p:cNvPr id="24" name="Shape 22"/>
          <p:cNvSpPr/>
          <p:nvPr/>
        </p:nvSpPr>
        <p:spPr>
          <a:xfrm>
            <a:off x="7071183" y="2357438"/>
            <a:ext cx="5120512" cy="116300"/>
          </a:xfrm>
          <a:prstGeom prst="rect">
            <a:avLst/>
          </a:prstGeom>
          <a:solidFill>
            <a:srgbClr val="3D3ECC"/>
          </a:solidFill>
          <a:ln/>
        </p:spPr>
      </p:sp>
      <p:sp>
        <p:nvSpPr>
          <p:cNvPr id="25" name="Shape 23"/>
          <p:cNvSpPr/>
          <p:nvPr/>
        </p:nvSpPr>
        <p:spPr>
          <a:xfrm>
            <a:off x="7071183" y="2464594"/>
            <a:ext cx="5120512" cy="116300"/>
          </a:xfrm>
          <a:prstGeom prst="rect">
            <a:avLst/>
          </a:prstGeom>
          <a:solidFill>
            <a:srgbClr val="3C3FCC"/>
          </a:solidFill>
          <a:ln/>
        </p:spPr>
      </p:sp>
      <p:sp>
        <p:nvSpPr>
          <p:cNvPr id="26" name="Shape 24"/>
          <p:cNvSpPr/>
          <p:nvPr/>
        </p:nvSpPr>
        <p:spPr>
          <a:xfrm>
            <a:off x="7071183" y="2571750"/>
            <a:ext cx="5120512" cy="116300"/>
          </a:xfrm>
          <a:prstGeom prst="rect">
            <a:avLst/>
          </a:prstGeom>
          <a:solidFill>
            <a:srgbClr val="3B40CD"/>
          </a:solidFill>
          <a:ln/>
        </p:spPr>
      </p:sp>
      <p:sp>
        <p:nvSpPr>
          <p:cNvPr id="27" name="Shape 25"/>
          <p:cNvSpPr/>
          <p:nvPr/>
        </p:nvSpPr>
        <p:spPr>
          <a:xfrm>
            <a:off x="7071183" y="2678906"/>
            <a:ext cx="5120512" cy="116300"/>
          </a:xfrm>
          <a:prstGeom prst="rect">
            <a:avLst/>
          </a:prstGeom>
          <a:solidFill>
            <a:srgbClr val="3B41CD"/>
          </a:solidFill>
          <a:ln/>
        </p:spPr>
      </p:sp>
      <p:sp>
        <p:nvSpPr>
          <p:cNvPr id="28" name="Shape 26"/>
          <p:cNvSpPr/>
          <p:nvPr/>
        </p:nvSpPr>
        <p:spPr>
          <a:xfrm>
            <a:off x="7071183" y="2786063"/>
            <a:ext cx="5120512" cy="116300"/>
          </a:xfrm>
          <a:prstGeom prst="rect">
            <a:avLst/>
          </a:prstGeom>
          <a:solidFill>
            <a:srgbClr val="3A42CE"/>
          </a:solidFill>
          <a:ln/>
        </p:spPr>
      </p:sp>
      <p:sp>
        <p:nvSpPr>
          <p:cNvPr id="29" name="Shape 27"/>
          <p:cNvSpPr/>
          <p:nvPr/>
        </p:nvSpPr>
        <p:spPr>
          <a:xfrm>
            <a:off x="7071183" y="2893219"/>
            <a:ext cx="5120512" cy="116300"/>
          </a:xfrm>
          <a:prstGeom prst="rect">
            <a:avLst/>
          </a:prstGeom>
          <a:solidFill>
            <a:srgbClr val="3943CE"/>
          </a:solidFill>
          <a:ln/>
        </p:spPr>
      </p:sp>
      <p:sp>
        <p:nvSpPr>
          <p:cNvPr id="30" name="Shape 28"/>
          <p:cNvSpPr/>
          <p:nvPr/>
        </p:nvSpPr>
        <p:spPr>
          <a:xfrm>
            <a:off x="7071183" y="3000375"/>
            <a:ext cx="5120512" cy="116300"/>
          </a:xfrm>
          <a:prstGeom prst="rect">
            <a:avLst/>
          </a:prstGeom>
          <a:solidFill>
            <a:srgbClr val="3844CE"/>
          </a:solidFill>
          <a:ln/>
        </p:spPr>
      </p:sp>
      <p:sp>
        <p:nvSpPr>
          <p:cNvPr id="31" name="Shape 29"/>
          <p:cNvSpPr/>
          <p:nvPr/>
        </p:nvSpPr>
        <p:spPr>
          <a:xfrm>
            <a:off x="7071183" y="3107531"/>
            <a:ext cx="5120512" cy="116300"/>
          </a:xfrm>
          <a:prstGeom prst="rect">
            <a:avLst/>
          </a:prstGeom>
          <a:solidFill>
            <a:srgbClr val="3745CF"/>
          </a:solidFill>
          <a:ln/>
        </p:spPr>
      </p:sp>
      <p:sp>
        <p:nvSpPr>
          <p:cNvPr id="32" name="Shape 30"/>
          <p:cNvSpPr/>
          <p:nvPr/>
        </p:nvSpPr>
        <p:spPr>
          <a:xfrm>
            <a:off x="7071183" y="3214688"/>
            <a:ext cx="5120512" cy="116300"/>
          </a:xfrm>
          <a:prstGeom prst="rect">
            <a:avLst/>
          </a:prstGeom>
          <a:solidFill>
            <a:srgbClr val="3646CF"/>
          </a:solidFill>
          <a:ln/>
        </p:spPr>
      </p:sp>
      <p:sp>
        <p:nvSpPr>
          <p:cNvPr id="33" name="Shape 31"/>
          <p:cNvSpPr/>
          <p:nvPr/>
        </p:nvSpPr>
        <p:spPr>
          <a:xfrm>
            <a:off x="7071183" y="3321844"/>
            <a:ext cx="5120512" cy="116300"/>
          </a:xfrm>
          <a:prstGeom prst="rect">
            <a:avLst/>
          </a:prstGeom>
          <a:solidFill>
            <a:srgbClr val="3547D0"/>
          </a:solidFill>
          <a:ln/>
        </p:spPr>
      </p:sp>
      <p:sp>
        <p:nvSpPr>
          <p:cNvPr id="34" name="Shape 32"/>
          <p:cNvSpPr/>
          <p:nvPr/>
        </p:nvSpPr>
        <p:spPr>
          <a:xfrm>
            <a:off x="7071183" y="3429000"/>
            <a:ext cx="5120512" cy="116300"/>
          </a:xfrm>
          <a:prstGeom prst="rect">
            <a:avLst/>
          </a:prstGeom>
          <a:solidFill>
            <a:srgbClr val="3549D0"/>
          </a:solidFill>
          <a:ln/>
        </p:spPr>
      </p:sp>
      <p:sp>
        <p:nvSpPr>
          <p:cNvPr id="35" name="Shape 33"/>
          <p:cNvSpPr/>
          <p:nvPr/>
        </p:nvSpPr>
        <p:spPr>
          <a:xfrm>
            <a:off x="7071183" y="3536156"/>
            <a:ext cx="5120512" cy="116300"/>
          </a:xfrm>
          <a:prstGeom prst="rect">
            <a:avLst/>
          </a:prstGeom>
          <a:solidFill>
            <a:srgbClr val="344ACF"/>
          </a:solidFill>
          <a:ln/>
        </p:spPr>
      </p:sp>
      <p:sp>
        <p:nvSpPr>
          <p:cNvPr id="36" name="Shape 34"/>
          <p:cNvSpPr/>
          <p:nvPr/>
        </p:nvSpPr>
        <p:spPr>
          <a:xfrm>
            <a:off x="7071183" y="3643313"/>
            <a:ext cx="5120512" cy="116300"/>
          </a:xfrm>
          <a:prstGeom prst="rect">
            <a:avLst/>
          </a:prstGeom>
          <a:solidFill>
            <a:srgbClr val="334BCF"/>
          </a:solidFill>
          <a:ln/>
        </p:spPr>
      </p:sp>
      <p:sp>
        <p:nvSpPr>
          <p:cNvPr id="37" name="Shape 35"/>
          <p:cNvSpPr/>
          <p:nvPr/>
        </p:nvSpPr>
        <p:spPr>
          <a:xfrm>
            <a:off x="7071183" y="3750469"/>
            <a:ext cx="5120512" cy="116300"/>
          </a:xfrm>
          <a:prstGeom prst="rect">
            <a:avLst/>
          </a:prstGeom>
          <a:solidFill>
            <a:srgbClr val="324CCE"/>
          </a:solidFill>
          <a:ln/>
        </p:spPr>
      </p:sp>
      <p:sp>
        <p:nvSpPr>
          <p:cNvPr id="38" name="Shape 36"/>
          <p:cNvSpPr/>
          <p:nvPr/>
        </p:nvSpPr>
        <p:spPr>
          <a:xfrm>
            <a:off x="7071183" y="3857625"/>
            <a:ext cx="5120512" cy="116300"/>
          </a:xfrm>
          <a:prstGeom prst="rect">
            <a:avLst/>
          </a:prstGeom>
          <a:solidFill>
            <a:srgbClr val="314ECD"/>
          </a:solidFill>
          <a:ln/>
        </p:spPr>
      </p:sp>
      <p:sp>
        <p:nvSpPr>
          <p:cNvPr id="39" name="Shape 37"/>
          <p:cNvSpPr/>
          <p:nvPr/>
        </p:nvSpPr>
        <p:spPr>
          <a:xfrm>
            <a:off x="7071183" y="3964781"/>
            <a:ext cx="5120512" cy="116300"/>
          </a:xfrm>
          <a:prstGeom prst="rect">
            <a:avLst/>
          </a:prstGeom>
          <a:solidFill>
            <a:srgbClr val="304FCD"/>
          </a:solidFill>
          <a:ln/>
        </p:spPr>
      </p:sp>
      <p:sp>
        <p:nvSpPr>
          <p:cNvPr id="40" name="Shape 38"/>
          <p:cNvSpPr/>
          <p:nvPr/>
        </p:nvSpPr>
        <p:spPr>
          <a:xfrm>
            <a:off x="7071183" y="4071938"/>
            <a:ext cx="5120512" cy="116300"/>
          </a:xfrm>
          <a:prstGeom prst="rect">
            <a:avLst/>
          </a:prstGeom>
          <a:solidFill>
            <a:srgbClr val="2F50CC"/>
          </a:solidFill>
          <a:ln/>
        </p:spPr>
      </p:sp>
      <p:sp>
        <p:nvSpPr>
          <p:cNvPr id="41" name="Shape 39"/>
          <p:cNvSpPr/>
          <p:nvPr/>
        </p:nvSpPr>
        <p:spPr>
          <a:xfrm>
            <a:off x="7071183" y="4179094"/>
            <a:ext cx="5120512" cy="116300"/>
          </a:xfrm>
          <a:prstGeom prst="rect">
            <a:avLst/>
          </a:prstGeom>
          <a:solidFill>
            <a:srgbClr val="2F51CC"/>
          </a:solidFill>
          <a:ln/>
        </p:spPr>
      </p:sp>
      <p:sp>
        <p:nvSpPr>
          <p:cNvPr id="42" name="Shape 40"/>
          <p:cNvSpPr/>
          <p:nvPr/>
        </p:nvSpPr>
        <p:spPr>
          <a:xfrm>
            <a:off x="7071183" y="4286250"/>
            <a:ext cx="5120512" cy="116300"/>
          </a:xfrm>
          <a:prstGeom prst="rect">
            <a:avLst/>
          </a:prstGeom>
          <a:solidFill>
            <a:srgbClr val="2E53CB"/>
          </a:solidFill>
          <a:ln/>
        </p:spPr>
      </p:sp>
      <p:sp>
        <p:nvSpPr>
          <p:cNvPr id="43" name="Shape 41"/>
          <p:cNvSpPr/>
          <p:nvPr/>
        </p:nvSpPr>
        <p:spPr>
          <a:xfrm>
            <a:off x="7071183" y="4393406"/>
            <a:ext cx="5120512" cy="116300"/>
          </a:xfrm>
          <a:prstGeom prst="rect">
            <a:avLst/>
          </a:prstGeom>
          <a:solidFill>
            <a:srgbClr val="2D54CB"/>
          </a:solidFill>
          <a:ln/>
        </p:spPr>
      </p:sp>
      <p:sp>
        <p:nvSpPr>
          <p:cNvPr id="44" name="Shape 42"/>
          <p:cNvSpPr/>
          <p:nvPr/>
        </p:nvSpPr>
        <p:spPr>
          <a:xfrm>
            <a:off x="7071183" y="4500563"/>
            <a:ext cx="5120512" cy="116300"/>
          </a:xfrm>
          <a:prstGeom prst="rect">
            <a:avLst/>
          </a:prstGeom>
          <a:solidFill>
            <a:srgbClr val="2C55CA"/>
          </a:solidFill>
          <a:ln/>
        </p:spPr>
      </p:sp>
      <p:sp>
        <p:nvSpPr>
          <p:cNvPr id="45" name="Shape 43"/>
          <p:cNvSpPr/>
          <p:nvPr/>
        </p:nvSpPr>
        <p:spPr>
          <a:xfrm>
            <a:off x="7071183" y="4607719"/>
            <a:ext cx="5120512" cy="116300"/>
          </a:xfrm>
          <a:prstGeom prst="rect">
            <a:avLst/>
          </a:prstGeom>
          <a:solidFill>
            <a:srgbClr val="2B56C9"/>
          </a:solidFill>
          <a:ln/>
        </p:spPr>
      </p:sp>
      <p:sp>
        <p:nvSpPr>
          <p:cNvPr id="46" name="Shape 44"/>
          <p:cNvSpPr/>
          <p:nvPr/>
        </p:nvSpPr>
        <p:spPr>
          <a:xfrm>
            <a:off x="7071183" y="4714875"/>
            <a:ext cx="5120512" cy="116300"/>
          </a:xfrm>
          <a:prstGeom prst="rect">
            <a:avLst/>
          </a:prstGeom>
          <a:solidFill>
            <a:srgbClr val="2A57C9"/>
          </a:solidFill>
          <a:ln/>
        </p:spPr>
      </p:sp>
      <p:sp>
        <p:nvSpPr>
          <p:cNvPr id="47" name="Shape 45"/>
          <p:cNvSpPr/>
          <p:nvPr/>
        </p:nvSpPr>
        <p:spPr>
          <a:xfrm>
            <a:off x="7071183" y="4822031"/>
            <a:ext cx="5120512" cy="116300"/>
          </a:xfrm>
          <a:prstGeom prst="rect">
            <a:avLst/>
          </a:prstGeom>
          <a:solidFill>
            <a:srgbClr val="2959C8"/>
          </a:solidFill>
          <a:ln/>
        </p:spPr>
      </p:sp>
      <p:sp>
        <p:nvSpPr>
          <p:cNvPr id="48" name="Shape 46"/>
          <p:cNvSpPr/>
          <p:nvPr/>
        </p:nvSpPr>
        <p:spPr>
          <a:xfrm>
            <a:off x="7071183" y="4929188"/>
            <a:ext cx="5120512" cy="116300"/>
          </a:xfrm>
          <a:prstGeom prst="rect">
            <a:avLst/>
          </a:prstGeom>
          <a:solidFill>
            <a:srgbClr val="295AC8"/>
          </a:solidFill>
          <a:ln/>
        </p:spPr>
      </p:sp>
      <p:sp>
        <p:nvSpPr>
          <p:cNvPr id="49" name="Shape 47"/>
          <p:cNvSpPr/>
          <p:nvPr/>
        </p:nvSpPr>
        <p:spPr>
          <a:xfrm>
            <a:off x="7071183" y="5036344"/>
            <a:ext cx="5120512" cy="116300"/>
          </a:xfrm>
          <a:prstGeom prst="rect">
            <a:avLst/>
          </a:prstGeom>
          <a:solidFill>
            <a:srgbClr val="285BC7"/>
          </a:solidFill>
          <a:ln/>
        </p:spPr>
      </p:sp>
      <p:sp>
        <p:nvSpPr>
          <p:cNvPr id="50" name="Shape 48"/>
          <p:cNvSpPr/>
          <p:nvPr/>
        </p:nvSpPr>
        <p:spPr>
          <a:xfrm>
            <a:off x="7071183" y="5143500"/>
            <a:ext cx="5120512" cy="116300"/>
          </a:xfrm>
          <a:prstGeom prst="rect">
            <a:avLst/>
          </a:prstGeom>
          <a:solidFill>
            <a:srgbClr val="275CC7"/>
          </a:solidFill>
          <a:ln/>
        </p:spPr>
      </p:sp>
      <p:sp>
        <p:nvSpPr>
          <p:cNvPr id="51" name="Shape 49"/>
          <p:cNvSpPr/>
          <p:nvPr/>
        </p:nvSpPr>
        <p:spPr>
          <a:xfrm>
            <a:off x="7071183" y="5250656"/>
            <a:ext cx="5120512" cy="116300"/>
          </a:xfrm>
          <a:prstGeom prst="rect">
            <a:avLst/>
          </a:prstGeom>
          <a:solidFill>
            <a:srgbClr val="265EC6"/>
          </a:solidFill>
          <a:ln/>
        </p:spPr>
      </p:sp>
      <p:sp>
        <p:nvSpPr>
          <p:cNvPr id="52" name="Shape 50"/>
          <p:cNvSpPr/>
          <p:nvPr/>
        </p:nvSpPr>
        <p:spPr>
          <a:xfrm>
            <a:off x="7071183" y="5357813"/>
            <a:ext cx="5120512" cy="116300"/>
          </a:xfrm>
          <a:prstGeom prst="rect">
            <a:avLst/>
          </a:prstGeom>
          <a:solidFill>
            <a:srgbClr val="255FC5"/>
          </a:solidFill>
          <a:ln/>
        </p:spPr>
      </p:sp>
      <p:sp>
        <p:nvSpPr>
          <p:cNvPr id="53" name="Shape 51"/>
          <p:cNvSpPr/>
          <p:nvPr/>
        </p:nvSpPr>
        <p:spPr>
          <a:xfrm>
            <a:off x="7071183" y="5464969"/>
            <a:ext cx="5120512" cy="116300"/>
          </a:xfrm>
          <a:prstGeom prst="rect">
            <a:avLst/>
          </a:prstGeom>
          <a:solidFill>
            <a:srgbClr val="2460C5"/>
          </a:solidFill>
          <a:ln/>
        </p:spPr>
      </p:sp>
      <p:sp>
        <p:nvSpPr>
          <p:cNvPr id="54" name="Shape 52"/>
          <p:cNvSpPr/>
          <p:nvPr/>
        </p:nvSpPr>
        <p:spPr>
          <a:xfrm>
            <a:off x="7071183" y="5572125"/>
            <a:ext cx="5120512" cy="116300"/>
          </a:xfrm>
          <a:prstGeom prst="rect">
            <a:avLst/>
          </a:prstGeom>
          <a:solidFill>
            <a:srgbClr val="2361C4"/>
          </a:solidFill>
          <a:ln/>
        </p:spPr>
      </p:sp>
      <p:sp>
        <p:nvSpPr>
          <p:cNvPr id="55" name="Shape 53"/>
          <p:cNvSpPr/>
          <p:nvPr/>
        </p:nvSpPr>
        <p:spPr>
          <a:xfrm>
            <a:off x="7071183" y="5679281"/>
            <a:ext cx="5120512" cy="116300"/>
          </a:xfrm>
          <a:prstGeom prst="rect">
            <a:avLst/>
          </a:prstGeom>
          <a:solidFill>
            <a:srgbClr val="2363C4"/>
          </a:solidFill>
          <a:ln/>
        </p:spPr>
      </p:sp>
      <p:sp>
        <p:nvSpPr>
          <p:cNvPr id="56" name="Shape 54"/>
          <p:cNvSpPr/>
          <p:nvPr/>
        </p:nvSpPr>
        <p:spPr>
          <a:xfrm>
            <a:off x="7071183" y="5786438"/>
            <a:ext cx="5120512" cy="116300"/>
          </a:xfrm>
          <a:prstGeom prst="rect">
            <a:avLst/>
          </a:prstGeom>
          <a:solidFill>
            <a:srgbClr val="2264C3"/>
          </a:solidFill>
          <a:ln/>
        </p:spPr>
      </p:sp>
      <p:sp>
        <p:nvSpPr>
          <p:cNvPr id="57" name="Shape 55"/>
          <p:cNvSpPr/>
          <p:nvPr/>
        </p:nvSpPr>
        <p:spPr>
          <a:xfrm>
            <a:off x="7071183" y="5893594"/>
            <a:ext cx="5120512" cy="116300"/>
          </a:xfrm>
          <a:prstGeom prst="rect">
            <a:avLst/>
          </a:prstGeom>
          <a:solidFill>
            <a:srgbClr val="2165C3"/>
          </a:solidFill>
          <a:ln/>
        </p:spPr>
      </p:sp>
      <p:sp>
        <p:nvSpPr>
          <p:cNvPr id="58" name="Shape 56"/>
          <p:cNvSpPr/>
          <p:nvPr/>
        </p:nvSpPr>
        <p:spPr>
          <a:xfrm>
            <a:off x="7071183" y="6000750"/>
            <a:ext cx="5120512" cy="116300"/>
          </a:xfrm>
          <a:prstGeom prst="rect">
            <a:avLst/>
          </a:prstGeom>
          <a:solidFill>
            <a:srgbClr val="2066C2"/>
          </a:solidFill>
          <a:ln/>
        </p:spPr>
      </p:sp>
      <p:sp>
        <p:nvSpPr>
          <p:cNvPr id="59" name="Shape 57"/>
          <p:cNvSpPr/>
          <p:nvPr/>
        </p:nvSpPr>
        <p:spPr>
          <a:xfrm>
            <a:off x="7071183" y="6107906"/>
            <a:ext cx="5120512" cy="116300"/>
          </a:xfrm>
          <a:prstGeom prst="rect">
            <a:avLst/>
          </a:prstGeom>
          <a:solidFill>
            <a:srgbClr val="1F68C1"/>
          </a:solidFill>
          <a:ln/>
        </p:spPr>
      </p:sp>
      <p:sp>
        <p:nvSpPr>
          <p:cNvPr id="60" name="Shape 58"/>
          <p:cNvSpPr/>
          <p:nvPr/>
        </p:nvSpPr>
        <p:spPr>
          <a:xfrm>
            <a:off x="7071183" y="6215063"/>
            <a:ext cx="5120512" cy="116300"/>
          </a:xfrm>
          <a:prstGeom prst="rect">
            <a:avLst/>
          </a:prstGeom>
          <a:solidFill>
            <a:srgbClr val="1E69C1"/>
          </a:solidFill>
          <a:ln/>
        </p:spPr>
      </p:sp>
      <p:sp>
        <p:nvSpPr>
          <p:cNvPr id="61" name="Shape 59"/>
          <p:cNvSpPr/>
          <p:nvPr/>
        </p:nvSpPr>
        <p:spPr>
          <a:xfrm>
            <a:off x="7071183" y="6322219"/>
            <a:ext cx="5120512" cy="116300"/>
          </a:xfrm>
          <a:prstGeom prst="rect">
            <a:avLst/>
          </a:prstGeom>
          <a:solidFill>
            <a:srgbClr val="1D6AC0"/>
          </a:solidFill>
          <a:ln/>
        </p:spPr>
      </p:sp>
      <p:sp>
        <p:nvSpPr>
          <p:cNvPr id="62" name="Shape 60"/>
          <p:cNvSpPr/>
          <p:nvPr/>
        </p:nvSpPr>
        <p:spPr>
          <a:xfrm>
            <a:off x="7071183" y="6429375"/>
            <a:ext cx="5120512" cy="116300"/>
          </a:xfrm>
          <a:prstGeom prst="rect">
            <a:avLst/>
          </a:prstGeom>
          <a:solidFill>
            <a:srgbClr val="1D6BC0"/>
          </a:solidFill>
          <a:ln/>
        </p:spPr>
      </p:sp>
      <p:sp>
        <p:nvSpPr>
          <p:cNvPr id="63" name="Shape 61"/>
          <p:cNvSpPr/>
          <p:nvPr/>
        </p:nvSpPr>
        <p:spPr>
          <a:xfrm>
            <a:off x="7071183" y="6536531"/>
            <a:ext cx="5120512" cy="116300"/>
          </a:xfrm>
          <a:prstGeom prst="rect">
            <a:avLst/>
          </a:prstGeom>
          <a:solidFill>
            <a:srgbClr val="1C6DBF"/>
          </a:solidFill>
          <a:ln/>
        </p:spPr>
      </p:sp>
      <p:sp>
        <p:nvSpPr>
          <p:cNvPr id="64" name="Shape 62"/>
          <p:cNvSpPr/>
          <p:nvPr/>
        </p:nvSpPr>
        <p:spPr>
          <a:xfrm>
            <a:off x="7071183" y="6643688"/>
            <a:ext cx="5120512" cy="116300"/>
          </a:xfrm>
          <a:prstGeom prst="rect">
            <a:avLst/>
          </a:prstGeom>
          <a:solidFill>
            <a:srgbClr val="1B6EBF"/>
          </a:solidFill>
          <a:ln/>
        </p:spPr>
      </p:sp>
      <p:sp>
        <p:nvSpPr>
          <p:cNvPr id="65" name="Shape 63"/>
          <p:cNvSpPr/>
          <p:nvPr/>
        </p:nvSpPr>
        <p:spPr>
          <a:xfrm>
            <a:off x="7071183" y="6750844"/>
            <a:ext cx="5120512" cy="116300"/>
          </a:xfrm>
          <a:prstGeom prst="rect">
            <a:avLst/>
          </a:prstGeom>
          <a:solidFill>
            <a:srgbClr val="1A6FBE"/>
          </a:solidFill>
          <a:ln/>
        </p:spPr>
      </p:sp>
      <p:sp>
        <p:nvSpPr>
          <p:cNvPr id="66" name="Text 64"/>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ANALYTICS</a:t>
            </a:r>
            <a:endParaRPr lang="en-US" sz="1100" dirty="0"/>
          </a:p>
        </p:txBody>
      </p:sp>
      <p:sp>
        <p:nvSpPr>
          <p:cNvPr id="67" name="Text 65"/>
          <p:cNvSpPr/>
          <p:nvPr/>
        </p:nvSpPr>
        <p:spPr>
          <a:xfrm>
            <a:off x="548640" y="1417320"/>
            <a:ext cx="6156783" cy="2194560"/>
          </a:xfrm>
          <a:prstGeom prst="rect">
            <a:avLst/>
          </a:prstGeom>
          <a:noFill/>
          <a:ln/>
        </p:spPr>
        <p:txBody>
          <a:bodyPr wrap="square" lIns="0" tIns="0" rIns="0" bIns="0" rtlCol="0" anchor="t"/>
          <a:lstStyle/>
          <a:p>
            <a:pPr algn="l" indent="0" marL="0">
              <a:buNone/>
            </a:pPr>
            <a:r>
              <a:rPr lang="en-US" sz="4200" b="1" spc="-50" kern="0" dirty="0">
                <a:solidFill>
                  <a:srgbClr val="0F1733"/>
                </a:solidFill>
                <a:latin typeface="Calibri" pitchFamily="34" charset="0"/>
                <a:ea typeface="Calibri" pitchFamily="34" charset="-122"/>
                <a:cs typeface="Calibri" pitchFamily="34" charset="-120"/>
              </a:rPr>
              <a:t>The metrics nobody else builds — because nobody else owns the whole workflow.</a:t>
            </a:r>
            <a:endParaRPr lang="en-US" sz="4200" dirty="0"/>
          </a:p>
        </p:txBody>
      </p:sp>
      <p:sp>
        <p:nvSpPr>
          <p:cNvPr id="68" name="Text 66"/>
          <p:cNvSpPr/>
          <p:nvPr/>
        </p:nvSpPr>
        <p:spPr>
          <a:xfrm>
            <a:off x="548640" y="3657600"/>
            <a:ext cx="6156783" cy="2377440"/>
          </a:xfrm>
          <a:prstGeom prst="rect">
            <a:avLst/>
          </a:prstGeom>
          <a:noFill/>
          <a:ln/>
        </p:spPr>
        <p:txBody>
          <a:bodyPr wrap="square" lIns="0" tIns="0" rIns="0" bIns="0" rtlCol="0" anchor="t"/>
          <a:lstStyle/>
          <a:p>
            <a:pPr algn="l" indent="0" marL="0">
              <a:spcAft>
                <a:spcPts val="800"/>
              </a:spcAft>
              <a:buNone/>
            </a:pPr>
            <a:r>
              <a:rPr lang="en-US" sz="1500" dirty="0">
                <a:solidFill>
                  <a:srgbClr val="2A3358"/>
                </a:solidFill>
                <a:latin typeface="Calibri" pitchFamily="34" charset="0"/>
                <a:ea typeface="Calibri" pitchFamily="34" charset="-122"/>
                <a:cs typeface="Calibri" pitchFamily="34" charset="-120"/>
              </a:rPr>
              <a:t>Because Creator Outreach captures discovery, scoring, send, and reply in one tool, we can measure things no other system can: reply rate by AI score band, time-to-reply by platform, cost-per-qualified-creator by campaign. Closed-loop analytics, finally.</a:t>
            </a:r>
            <a:endParaRPr lang="en-US" sz="1500" dirty="0"/>
          </a:p>
        </p:txBody>
      </p:sp>
      <p:sp>
        <p:nvSpPr>
          <p:cNvPr id="69" name="Text 67"/>
          <p:cNvSpPr/>
          <p:nvPr/>
        </p:nvSpPr>
        <p:spPr>
          <a:xfrm>
            <a:off x="7436943" y="1371600"/>
            <a:ext cx="4388992" cy="4114800"/>
          </a:xfrm>
          <a:prstGeom prst="rect">
            <a:avLst/>
          </a:prstGeom>
          <a:noFill/>
          <a:ln/>
        </p:spPr>
        <p:txBody>
          <a:bodyPr wrap="square" lIns="0" tIns="0" rIns="0" bIns="0" rtlCol="0" anchor="t"/>
          <a:lstStyle/>
          <a:p>
            <a:pPr algn="l" indent="0" marL="0">
              <a:buNone/>
            </a:pPr>
            <a:r>
              <a:rPr lang="en-US" sz="2800" i="1" dirty="0">
                <a:solidFill>
                  <a:srgbClr val="FFFFFF"/>
                </a:solidFill>
                <a:latin typeface="Calibri" pitchFamily="34" charset="0"/>
                <a:ea typeface="Calibri" pitchFamily="34" charset="-122"/>
                <a:cs typeface="Calibri" pitchFamily="34" charset="-120"/>
              </a:rPr>
              <a:t>"Reply rate</a:t>
            </a:r>
            <a:endParaRPr lang="en-US" sz="2800" dirty="0"/>
          </a:p>
          <a:p>
            <a:pPr algn="l" indent="0" marL="0">
              <a:buNone/>
            </a:pPr>
            <a:r>
              <a:rPr lang="en-US" sz="2800" i="1" dirty="0">
                <a:solidFill>
                  <a:srgbClr val="FFFFFF"/>
                </a:solidFill>
                <a:latin typeface="Calibri" pitchFamily="34" charset="0"/>
                <a:ea typeface="Calibri" pitchFamily="34" charset="-122"/>
                <a:cs typeface="Calibri" pitchFamily="34" charset="-120"/>
              </a:rPr>
              <a:t>by fit-score</a:t>
            </a:r>
            <a:endParaRPr lang="en-US" sz="2800" dirty="0"/>
          </a:p>
          <a:p>
            <a:pPr algn="l" indent="0" marL="0">
              <a:buNone/>
            </a:pPr>
            <a:r>
              <a:rPr lang="en-US" sz="2800" i="1" dirty="0">
                <a:solidFill>
                  <a:srgbClr val="FFFFFF"/>
                </a:solidFill>
                <a:latin typeface="Calibri" pitchFamily="34" charset="0"/>
                <a:ea typeface="Calibri" pitchFamily="34" charset="-122"/>
                <a:cs typeface="Calibri" pitchFamily="34" charset="-120"/>
              </a:rPr>
              <a:t>band."</a:t>
            </a:r>
            <a:endParaRPr lang="en-US" sz="2800" dirty="0"/>
          </a:p>
          <a:p>
            <a:pPr algn="l" indent="0" marL="0">
              <a:buNone/>
            </a:pPr>
            <a:endParaRPr lang="en-US" sz="2800" dirty="0"/>
          </a:p>
          <a:p>
            <a:pPr algn="l" indent="0" marL="0">
              <a:buNone/>
            </a:pPr>
            <a:r>
              <a:rPr lang="en-US" sz="2800" i="1" dirty="0">
                <a:solidFill>
                  <a:srgbClr val="FFFFFF"/>
                </a:solidFill>
                <a:latin typeface="Calibri" pitchFamily="34" charset="0"/>
                <a:ea typeface="Calibri" pitchFamily="34" charset="-122"/>
                <a:cs typeface="Calibri" pitchFamily="34" charset="-120"/>
              </a:rPr>
              <a:t>The metric</a:t>
            </a:r>
            <a:endParaRPr lang="en-US" sz="2800" dirty="0"/>
          </a:p>
          <a:p>
            <a:pPr algn="l" indent="0" marL="0">
              <a:buNone/>
            </a:pPr>
            <a:r>
              <a:rPr lang="en-US" sz="2800" i="1" dirty="0">
                <a:solidFill>
                  <a:srgbClr val="FFFFFF"/>
                </a:solidFill>
                <a:latin typeface="Calibri" pitchFamily="34" charset="0"/>
                <a:ea typeface="Calibri" pitchFamily="34" charset="-122"/>
                <a:cs typeface="Calibri" pitchFamily="34" charset="-120"/>
              </a:rPr>
              <a:t>no one</a:t>
            </a:r>
            <a:endParaRPr lang="en-US" sz="2800" dirty="0"/>
          </a:p>
          <a:p>
            <a:pPr algn="l" indent="0" marL="0">
              <a:buNone/>
            </a:pPr>
            <a:r>
              <a:rPr lang="en-US" sz="2800" i="1" dirty="0">
                <a:solidFill>
                  <a:srgbClr val="FFFFFF"/>
                </a:solidFill>
                <a:latin typeface="Calibri" pitchFamily="34" charset="0"/>
                <a:ea typeface="Calibri" pitchFamily="34" charset="-122"/>
                <a:cs typeface="Calibri" pitchFamily="34" charset="-120"/>
              </a:rPr>
              <a:t>else owns.</a:t>
            </a:r>
            <a:endParaRPr lang="en-US" sz="28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10 · Custom analytics  ·  vB</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065 / 126</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THREE CORE METRICS</a:t>
            </a:r>
            <a:endParaRPr lang="en-US" sz="1100" dirty="0"/>
          </a:p>
        </p:txBody>
      </p:sp>
      <p:sp>
        <p:nvSpPr>
          <p:cNvPr id="3" name="Text 1"/>
          <p:cNvSpPr/>
          <p:nvPr/>
        </p:nvSpPr>
        <p:spPr>
          <a:xfrm>
            <a:off x="548640" y="1417320"/>
            <a:ext cx="11094415" cy="1188720"/>
          </a:xfrm>
          <a:prstGeom prst="rect">
            <a:avLst/>
          </a:prstGeom>
          <a:noFill/>
          <a:ln/>
        </p:spPr>
        <p:txBody>
          <a:bodyPr wrap="square" lIns="0" tIns="0" rIns="0" bIns="0" rtlCol="0" anchor="t"/>
          <a:lstStyle/>
          <a:p>
            <a:pPr algn="l" indent="0" marL="0">
              <a:buNone/>
            </a:pPr>
            <a:r>
              <a:rPr lang="en-US" sz="3800" b="1" spc="-50" kern="0" dirty="0">
                <a:solidFill>
                  <a:srgbClr val="0F1733"/>
                </a:solidFill>
                <a:latin typeface="Calibri" pitchFamily="34" charset="0"/>
                <a:ea typeface="Calibri" pitchFamily="34" charset="-122"/>
                <a:cs typeface="Calibri" pitchFamily="34" charset="-120"/>
              </a:rPr>
              <a:t>Three numbers that change how you run campaigns.</a:t>
            </a:r>
            <a:endParaRPr lang="en-US" sz="3800" dirty="0"/>
          </a:p>
        </p:txBody>
      </p:sp>
      <p:sp>
        <p:nvSpPr>
          <p:cNvPr id="4" name="Text 2"/>
          <p:cNvSpPr/>
          <p:nvPr/>
        </p:nvSpPr>
        <p:spPr>
          <a:xfrm>
            <a:off x="548640" y="2606040"/>
            <a:ext cx="8534187" cy="457200"/>
          </a:xfrm>
          <a:prstGeom prst="rect">
            <a:avLst/>
          </a:prstGeom>
          <a:noFill/>
          <a:ln/>
        </p:spPr>
        <p:txBody>
          <a:bodyPr wrap="square" lIns="0" tIns="0" rIns="0" bIns="0" rtlCol="0" anchor="t"/>
          <a:lstStyle/>
          <a:p>
            <a:pPr algn="l" indent="0" marL="0">
              <a:buNone/>
            </a:pPr>
            <a:r>
              <a:rPr lang="en-US" sz="1600" dirty="0">
                <a:solidFill>
                  <a:srgbClr val="2A3358"/>
                </a:solidFill>
                <a:latin typeface="Calibri" pitchFamily="34" charset="0"/>
                <a:ea typeface="Calibri" pitchFamily="34" charset="-122"/>
                <a:cs typeface="Calibri" pitchFamily="34" charset="-120"/>
              </a:rPr>
              <a:t>Each captured automatically. Each previously impossible to measure.</a:t>
            </a:r>
            <a:endParaRPr lang="en-US" sz="1600" dirty="0"/>
          </a:p>
        </p:txBody>
      </p:sp>
      <p:sp>
        <p:nvSpPr>
          <p:cNvPr id="5" name="Shape 3"/>
          <p:cNvSpPr/>
          <p:nvPr/>
        </p:nvSpPr>
        <p:spPr>
          <a:xfrm>
            <a:off x="548640" y="3108960"/>
            <a:ext cx="3545738" cy="3017520"/>
          </a:xfrm>
          <a:prstGeom prst="roundRect">
            <a:avLst>
              <a:gd name="adj" fmla="val 3636"/>
            </a:avLst>
          </a:prstGeom>
          <a:solidFill>
            <a:srgbClr val="FFFFFF"/>
          </a:solidFill>
          <a:ln w="9525">
            <a:solidFill>
              <a:srgbClr val="E5E7F0"/>
            </a:solidFill>
            <a:prstDash val="solid"/>
          </a:ln>
        </p:spPr>
      </p:sp>
      <p:sp>
        <p:nvSpPr>
          <p:cNvPr id="6" name="Shape 4"/>
          <p:cNvSpPr/>
          <p:nvPr/>
        </p:nvSpPr>
        <p:spPr>
          <a:xfrm>
            <a:off x="548640" y="3108960"/>
            <a:ext cx="3545738" cy="73152"/>
          </a:xfrm>
          <a:prstGeom prst="rect">
            <a:avLst/>
          </a:prstGeom>
          <a:solidFill>
            <a:srgbClr val="5028C2"/>
          </a:solidFill>
          <a:ln/>
        </p:spPr>
      </p:sp>
      <p:sp>
        <p:nvSpPr>
          <p:cNvPr id="7" name="Shape 5"/>
          <p:cNvSpPr/>
          <p:nvPr/>
        </p:nvSpPr>
        <p:spPr>
          <a:xfrm>
            <a:off x="868680" y="3474720"/>
            <a:ext cx="457200" cy="457200"/>
          </a:xfrm>
          <a:prstGeom prst="ellipse">
            <a:avLst/>
          </a:prstGeom>
          <a:solidFill>
            <a:srgbClr val="5028C2"/>
          </a:solidFill>
          <a:ln/>
        </p:spPr>
      </p:sp>
      <p:sp>
        <p:nvSpPr>
          <p:cNvPr id="8" name="Text 6"/>
          <p:cNvSpPr/>
          <p:nvPr/>
        </p:nvSpPr>
        <p:spPr>
          <a:xfrm>
            <a:off x="868680"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9" name="Text 7"/>
          <p:cNvSpPr/>
          <p:nvPr/>
        </p:nvSpPr>
        <p:spPr>
          <a:xfrm>
            <a:off x="868680"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Reply rate by score</a:t>
            </a:r>
            <a:endParaRPr lang="en-US" sz="1800" dirty="0"/>
          </a:p>
        </p:txBody>
      </p:sp>
      <p:sp>
        <p:nvSpPr>
          <p:cNvPr id="10" name="Text 8"/>
          <p:cNvSpPr/>
          <p:nvPr/>
        </p:nvSpPr>
        <p:spPr>
          <a:xfrm>
            <a:off x="868680"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Are your high-scored creators actually replying more? If not, your ICP needs tuning. We surface this every week.</a:t>
            </a:r>
            <a:endParaRPr lang="en-US" sz="1300" dirty="0"/>
          </a:p>
        </p:txBody>
      </p:sp>
      <p:sp>
        <p:nvSpPr>
          <p:cNvPr id="11" name="Shape 9"/>
          <p:cNvSpPr/>
          <p:nvPr/>
        </p:nvSpPr>
        <p:spPr>
          <a:xfrm>
            <a:off x="4322978" y="3108960"/>
            <a:ext cx="3545738" cy="3017520"/>
          </a:xfrm>
          <a:prstGeom prst="roundRect">
            <a:avLst>
              <a:gd name="adj" fmla="val 3636"/>
            </a:avLst>
          </a:prstGeom>
          <a:solidFill>
            <a:srgbClr val="FFFFFF"/>
          </a:solidFill>
          <a:ln w="9525">
            <a:solidFill>
              <a:srgbClr val="E5E7F0"/>
            </a:solidFill>
            <a:prstDash val="solid"/>
          </a:ln>
        </p:spPr>
      </p:sp>
      <p:sp>
        <p:nvSpPr>
          <p:cNvPr id="12" name="Shape 10"/>
          <p:cNvSpPr/>
          <p:nvPr/>
        </p:nvSpPr>
        <p:spPr>
          <a:xfrm>
            <a:off x="4322978" y="3108960"/>
            <a:ext cx="3545738" cy="73152"/>
          </a:xfrm>
          <a:prstGeom prst="rect">
            <a:avLst/>
          </a:prstGeom>
          <a:solidFill>
            <a:srgbClr val="3548D0"/>
          </a:solidFill>
          <a:ln/>
        </p:spPr>
      </p:sp>
      <p:sp>
        <p:nvSpPr>
          <p:cNvPr id="13" name="Shape 11"/>
          <p:cNvSpPr/>
          <p:nvPr/>
        </p:nvSpPr>
        <p:spPr>
          <a:xfrm>
            <a:off x="4643018" y="3474720"/>
            <a:ext cx="457200" cy="457200"/>
          </a:xfrm>
          <a:prstGeom prst="ellipse">
            <a:avLst/>
          </a:prstGeom>
          <a:solidFill>
            <a:srgbClr val="3548D0"/>
          </a:solidFill>
          <a:ln/>
        </p:spPr>
      </p:sp>
      <p:sp>
        <p:nvSpPr>
          <p:cNvPr id="14" name="Text 12"/>
          <p:cNvSpPr/>
          <p:nvPr/>
        </p:nvSpPr>
        <p:spPr>
          <a:xfrm>
            <a:off x="4643018"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5" name="Text 13"/>
          <p:cNvSpPr/>
          <p:nvPr/>
        </p:nvSpPr>
        <p:spPr>
          <a:xfrm>
            <a:off x="4643018"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Time-to-first-reply</a:t>
            </a:r>
            <a:endParaRPr lang="en-US" sz="1800" dirty="0"/>
          </a:p>
        </p:txBody>
      </p:sp>
      <p:sp>
        <p:nvSpPr>
          <p:cNvPr id="16" name="Text 14"/>
          <p:cNvSpPr/>
          <p:nvPr/>
        </p:nvSpPr>
        <p:spPr>
          <a:xfrm>
            <a:off x="4643018"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Median hours from send to first reply, by platform. Tells you which platforms are alive and which are dead air.</a:t>
            </a:r>
            <a:endParaRPr lang="en-US" sz="1300" dirty="0"/>
          </a:p>
        </p:txBody>
      </p:sp>
      <p:sp>
        <p:nvSpPr>
          <p:cNvPr id="17" name="Shape 15"/>
          <p:cNvSpPr/>
          <p:nvPr/>
        </p:nvSpPr>
        <p:spPr>
          <a:xfrm>
            <a:off x="8097317" y="3108960"/>
            <a:ext cx="3545738" cy="3017520"/>
          </a:xfrm>
          <a:prstGeom prst="roundRect">
            <a:avLst>
              <a:gd name="adj" fmla="val 3636"/>
            </a:avLst>
          </a:prstGeom>
          <a:solidFill>
            <a:srgbClr val="FFFFFF"/>
          </a:solidFill>
          <a:ln w="9525">
            <a:solidFill>
              <a:srgbClr val="E5E7F0"/>
            </a:solidFill>
            <a:prstDash val="solid"/>
          </a:ln>
        </p:spPr>
      </p:sp>
      <p:sp>
        <p:nvSpPr>
          <p:cNvPr id="18" name="Shape 16"/>
          <p:cNvSpPr/>
          <p:nvPr/>
        </p:nvSpPr>
        <p:spPr>
          <a:xfrm>
            <a:off x="8097317" y="3108960"/>
            <a:ext cx="3545738" cy="73152"/>
          </a:xfrm>
          <a:prstGeom prst="rect">
            <a:avLst/>
          </a:prstGeom>
          <a:solidFill>
            <a:srgbClr val="1A6FBE"/>
          </a:solidFill>
          <a:ln/>
        </p:spPr>
      </p:sp>
      <p:sp>
        <p:nvSpPr>
          <p:cNvPr id="19" name="Shape 17"/>
          <p:cNvSpPr/>
          <p:nvPr/>
        </p:nvSpPr>
        <p:spPr>
          <a:xfrm>
            <a:off x="8417357" y="3474720"/>
            <a:ext cx="457200" cy="457200"/>
          </a:xfrm>
          <a:prstGeom prst="ellipse">
            <a:avLst/>
          </a:prstGeom>
          <a:solidFill>
            <a:srgbClr val="1A6FBE"/>
          </a:solidFill>
          <a:ln/>
        </p:spPr>
      </p:sp>
      <p:sp>
        <p:nvSpPr>
          <p:cNvPr id="20" name="Text 18"/>
          <p:cNvSpPr/>
          <p:nvPr/>
        </p:nvSpPr>
        <p:spPr>
          <a:xfrm>
            <a:off x="8417357"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9"/>
          <p:cNvSpPr/>
          <p:nvPr/>
        </p:nvSpPr>
        <p:spPr>
          <a:xfrm>
            <a:off x="8417357"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Cost per qualified creator</a:t>
            </a:r>
            <a:endParaRPr lang="en-US" sz="1800" dirty="0"/>
          </a:p>
        </p:txBody>
      </p:sp>
      <p:sp>
        <p:nvSpPr>
          <p:cNvPr id="22" name="Text 20"/>
          <p:cNvSpPr/>
          <p:nvPr/>
        </p:nvSpPr>
        <p:spPr>
          <a:xfrm>
            <a:off x="8417357"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Total operator hours ÷ creators who replied with intent. The metric you couldn't measure before, suddenly trivial to track.</a:t>
            </a:r>
            <a:endParaRPr lang="en-US" sz="1300" dirty="0"/>
          </a:p>
        </p:txBody>
      </p:sp>
      <p:sp>
        <p:nvSpPr>
          <p:cNvPr id="23" name="Shape 21"/>
          <p:cNvSpPr/>
          <p:nvPr/>
        </p:nvSpPr>
        <p:spPr>
          <a:xfrm>
            <a:off x="548640" y="502920"/>
            <a:ext cx="292608" cy="292608"/>
          </a:xfrm>
          <a:prstGeom prst="roundRect">
            <a:avLst>
              <a:gd name="adj" fmla="val 25000"/>
            </a:avLst>
          </a:prstGeom>
          <a:solidFill>
            <a:srgbClr val="5028C2"/>
          </a:solidFill>
          <a:ln/>
        </p:spPr>
      </p:sp>
      <p:sp>
        <p:nvSpPr>
          <p:cNvPr id="24" name="Shape 22"/>
          <p:cNvSpPr/>
          <p:nvPr/>
        </p:nvSpPr>
        <p:spPr>
          <a:xfrm>
            <a:off x="548640" y="502920"/>
            <a:ext cx="292608" cy="292608"/>
          </a:xfrm>
          <a:prstGeom prst="roundRect">
            <a:avLst>
              <a:gd name="adj" fmla="val 25000"/>
            </a:avLst>
          </a:prstGeom>
          <a:solidFill>
            <a:srgbClr val="1A6FBE">
              <a:alpha val="50000"/>
            </a:srgbClr>
          </a:solidFill>
          <a:ln/>
        </p:spPr>
      </p:sp>
      <p:sp>
        <p:nvSpPr>
          <p:cNvPr id="25" name="Text 23"/>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6" name="Text 24"/>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7" name="Text 25"/>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10 · Custom analytics  ·  vC</a:t>
            </a:r>
            <a:endParaRPr lang="en-US" sz="900" dirty="0"/>
          </a:p>
        </p:txBody>
      </p:sp>
      <p:sp>
        <p:nvSpPr>
          <p:cNvPr id="28" name="Text 26"/>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29" name="Text 27"/>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066 / 126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320040" cy="116300"/>
          </a:xfrm>
          <a:prstGeom prst="rect">
            <a:avLst/>
          </a:prstGeom>
          <a:solidFill>
            <a:srgbClr val="5028C2"/>
          </a:solidFill>
          <a:ln/>
        </p:spPr>
      </p:sp>
      <p:sp>
        <p:nvSpPr>
          <p:cNvPr id="3" name="Shape 1"/>
          <p:cNvSpPr/>
          <p:nvPr/>
        </p:nvSpPr>
        <p:spPr>
          <a:xfrm>
            <a:off x="0" y="107156"/>
            <a:ext cx="320040" cy="116300"/>
          </a:xfrm>
          <a:prstGeom prst="rect">
            <a:avLst/>
          </a:prstGeom>
          <a:solidFill>
            <a:srgbClr val="4F29C2"/>
          </a:solidFill>
          <a:ln/>
        </p:spPr>
      </p:sp>
      <p:sp>
        <p:nvSpPr>
          <p:cNvPr id="4" name="Shape 2"/>
          <p:cNvSpPr/>
          <p:nvPr/>
        </p:nvSpPr>
        <p:spPr>
          <a:xfrm>
            <a:off x="0" y="214313"/>
            <a:ext cx="320040" cy="116300"/>
          </a:xfrm>
          <a:prstGeom prst="rect">
            <a:avLst/>
          </a:prstGeom>
          <a:solidFill>
            <a:srgbClr val="4E2AC3"/>
          </a:solidFill>
          <a:ln/>
        </p:spPr>
      </p:sp>
      <p:sp>
        <p:nvSpPr>
          <p:cNvPr id="5" name="Shape 3"/>
          <p:cNvSpPr/>
          <p:nvPr/>
        </p:nvSpPr>
        <p:spPr>
          <a:xfrm>
            <a:off x="0" y="321469"/>
            <a:ext cx="320040" cy="116300"/>
          </a:xfrm>
          <a:prstGeom prst="rect">
            <a:avLst/>
          </a:prstGeom>
          <a:solidFill>
            <a:srgbClr val="4D2BC3"/>
          </a:solidFill>
          <a:ln/>
        </p:spPr>
      </p:sp>
      <p:sp>
        <p:nvSpPr>
          <p:cNvPr id="6" name="Shape 4"/>
          <p:cNvSpPr/>
          <p:nvPr/>
        </p:nvSpPr>
        <p:spPr>
          <a:xfrm>
            <a:off x="0" y="428625"/>
            <a:ext cx="320040" cy="116300"/>
          </a:xfrm>
          <a:prstGeom prst="rect">
            <a:avLst/>
          </a:prstGeom>
          <a:solidFill>
            <a:srgbClr val="4D2CC4"/>
          </a:solidFill>
          <a:ln/>
        </p:spPr>
      </p:sp>
      <p:sp>
        <p:nvSpPr>
          <p:cNvPr id="7" name="Shape 5"/>
          <p:cNvSpPr/>
          <p:nvPr/>
        </p:nvSpPr>
        <p:spPr>
          <a:xfrm>
            <a:off x="0" y="535781"/>
            <a:ext cx="320040" cy="116300"/>
          </a:xfrm>
          <a:prstGeom prst="rect">
            <a:avLst/>
          </a:prstGeom>
          <a:solidFill>
            <a:srgbClr val="4C2DC4"/>
          </a:solidFill>
          <a:ln/>
        </p:spPr>
      </p:sp>
      <p:sp>
        <p:nvSpPr>
          <p:cNvPr id="8" name="Shape 6"/>
          <p:cNvSpPr/>
          <p:nvPr/>
        </p:nvSpPr>
        <p:spPr>
          <a:xfrm>
            <a:off x="0" y="642938"/>
            <a:ext cx="320040" cy="116300"/>
          </a:xfrm>
          <a:prstGeom prst="rect">
            <a:avLst/>
          </a:prstGeom>
          <a:solidFill>
            <a:srgbClr val="4B2EC5"/>
          </a:solidFill>
          <a:ln/>
        </p:spPr>
      </p:sp>
      <p:sp>
        <p:nvSpPr>
          <p:cNvPr id="9" name="Shape 7"/>
          <p:cNvSpPr/>
          <p:nvPr/>
        </p:nvSpPr>
        <p:spPr>
          <a:xfrm>
            <a:off x="0" y="750094"/>
            <a:ext cx="320040" cy="116300"/>
          </a:xfrm>
          <a:prstGeom prst="rect">
            <a:avLst/>
          </a:prstGeom>
          <a:solidFill>
            <a:srgbClr val="4A2FC5"/>
          </a:solidFill>
          <a:ln/>
        </p:spPr>
      </p:sp>
      <p:sp>
        <p:nvSpPr>
          <p:cNvPr id="10" name="Shape 8"/>
          <p:cNvSpPr/>
          <p:nvPr/>
        </p:nvSpPr>
        <p:spPr>
          <a:xfrm>
            <a:off x="0" y="857250"/>
            <a:ext cx="320040" cy="116300"/>
          </a:xfrm>
          <a:prstGeom prst="rect">
            <a:avLst/>
          </a:prstGeom>
          <a:solidFill>
            <a:srgbClr val="4930C6"/>
          </a:solidFill>
          <a:ln/>
        </p:spPr>
      </p:sp>
      <p:sp>
        <p:nvSpPr>
          <p:cNvPr id="11" name="Shape 9"/>
          <p:cNvSpPr/>
          <p:nvPr/>
        </p:nvSpPr>
        <p:spPr>
          <a:xfrm>
            <a:off x="0" y="964406"/>
            <a:ext cx="320040" cy="116300"/>
          </a:xfrm>
          <a:prstGeom prst="rect">
            <a:avLst/>
          </a:prstGeom>
          <a:solidFill>
            <a:srgbClr val="4831C6"/>
          </a:solidFill>
          <a:ln/>
        </p:spPr>
      </p:sp>
      <p:sp>
        <p:nvSpPr>
          <p:cNvPr id="12" name="Shape 10"/>
          <p:cNvSpPr/>
          <p:nvPr/>
        </p:nvSpPr>
        <p:spPr>
          <a:xfrm>
            <a:off x="0" y="1071563"/>
            <a:ext cx="320040" cy="116300"/>
          </a:xfrm>
          <a:prstGeom prst="rect">
            <a:avLst/>
          </a:prstGeom>
          <a:solidFill>
            <a:srgbClr val="4732C6"/>
          </a:solidFill>
          <a:ln/>
        </p:spPr>
      </p:sp>
      <p:sp>
        <p:nvSpPr>
          <p:cNvPr id="13" name="Shape 11"/>
          <p:cNvSpPr/>
          <p:nvPr/>
        </p:nvSpPr>
        <p:spPr>
          <a:xfrm>
            <a:off x="0" y="1178719"/>
            <a:ext cx="320040" cy="116300"/>
          </a:xfrm>
          <a:prstGeom prst="rect">
            <a:avLst/>
          </a:prstGeom>
          <a:solidFill>
            <a:srgbClr val="4733C7"/>
          </a:solidFill>
          <a:ln/>
        </p:spPr>
      </p:sp>
      <p:sp>
        <p:nvSpPr>
          <p:cNvPr id="14" name="Shape 12"/>
          <p:cNvSpPr/>
          <p:nvPr/>
        </p:nvSpPr>
        <p:spPr>
          <a:xfrm>
            <a:off x="0" y="1285875"/>
            <a:ext cx="320040" cy="116300"/>
          </a:xfrm>
          <a:prstGeom prst="rect">
            <a:avLst/>
          </a:prstGeom>
          <a:solidFill>
            <a:srgbClr val="4634C7"/>
          </a:solidFill>
          <a:ln/>
        </p:spPr>
      </p:sp>
      <p:sp>
        <p:nvSpPr>
          <p:cNvPr id="15" name="Shape 13"/>
          <p:cNvSpPr/>
          <p:nvPr/>
        </p:nvSpPr>
        <p:spPr>
          <a:xfrm>
            <a:off x="0" y="1393031"/>
            <a:ext cx="320040" cy="116300"/>
          </a:xfrm>
          <a:prstGeom prst="rect">
            <a:avLst/>
          </a:prstGeom>
          <a:solidFill>
            <a:srgbClr val="4535C8"/>
          </a:solidFill>
          <a:ln/>
        </p:spPr>
      </p:sp>
      <p:sp>
        <p:nvSpPr>
          <p:cNvPr id="16" name="Shape 14"/>
          <p:cNvSpPr/>
          <p:nvPr/>
        </p:nvSpPr>
        <p:spPr>
          <a:xfrm>
            <a:off x="0" y="1500188"/>
            <a:ext cx="320040" cy="116300"/>
          </a:xfrm>
          <a:prstGeom prst="rect">
            <a:avLst/>
          </a:prstGeom>
          <a:solidFill>
            <a:srgbClr val="4436C8"/>
          </a:solidFill>
          <a:ln/>
        </p:spPr>
      </p:sp>
      <p:sp>
        <p:nvSpPr>
          <p:cNvPr id="17" name="Shape 15"/>
          <p:cNvSpPr/>
          <p:nvPr/>
        </p:nvSpPr>
        <p:spPr>
          <a:xfrm>
            <a:off x="0" y="1607344"/>
            <a:ext cx="320040" cy="116300"/>
          </a:xfrm>
          <a:prstGeom prst="rect">
            <a:avLst/>
          </a:prstGeom>
          <a:solidFill>
            <a:srgbClr val="4337C9"/>
          </a:solidFill>
          <a:ln/>
        </p:spPr>
      </p:sp>
      <p:sp>
        <p:nvSpPr>
          <p:cNvPr id="18" name="Shape 16"/>
          <p:cNvSpPr/>
          <p:nvPr/>
        </p:nvSpPr>
        <p:spPr>
          <a:xfrm>
            <a:off x="0" y="1714500"/>
            <a:ext cx="320040" cy="116300"/>
          </a:xfrm>
          <a:prstGeom prst="rect">
            <a:avLst/>
          </a:prstGeom>
          <a:solidFill>
            <a:srgbClr val="4238C9"/>
          </a:solidFill>
          <a:ln/>
        </p:spPr>
      </p:sp>
      <p:sp>
        <p:nvSpPr>
          <p:cNvPr id="19" name="Shape 17"/>
          <p:cNvSpPr/>
          <p:nvPr/>
        </p:nvSpPr>
        <p:spPr>
          <a:xfrm>
            <a:off x="0" y="1821656"/>
            <a:ext cx="320040" cy="116300"/>
          </a:xfrm>
          <a:prstGeom prst="rect">
            <a:avLst/>
          </a:prstGeom>
          <a:solidFill>
            <a:srgbClr val="4139CA"/>
          </a:solidFill>
          <a:ln/>
        </p:spPr>
      </p:sp>
      <p:sp>
        <p:nvSpPr>
          <p:cNvPr id="20" name="Shape 18"/>
          <p:cNvSpPr/>
          <p:nvPr/>
        </p:nvSpPr>
        <p:spPr>
          <a:xfrm>
            <a:off x="0" y="1928813"/>
            <a:ext cx="320040" cy="116300"/>
          </a:xfrm>
          <a:prstGeom prst="rect">
            <a:avLst/>
          </a:prstGeom>
          <a:solidFill>
            <a:srgbClr val="413ACA"/>
          </a:solidFill>
          <a:ln/>
        </p:spPr>
      </p:sp>
      <p:sp>
        <p:nvSpPr>
          <p:cNvPr id="21" name="Shape 19"/>
          <p:cNvSpPr/>
          <p:nvPr/>
        </p:nvSpPr>
        <p:spPr>
          <a:xfrm>
            <a:off x="0" y="2035969"/>
            <a:ext cx="320040" cy="116300"/>
          </a:xfrm>
          <a:prstGeom prst="rect">
            <a:avLst/>
          </a:prstGeom>
          <a:solidFill>
            <a:srgbClr val="403BCA"/>
          </a:solidFill>
          <a:ln/>
        </p:spPr>
      </p:sp>
      <p:sp>
        <p:nvSpPr>
          <p:cNvPr id="22" name="Shape 20"/>
          <p:cNvSpPr/>
          <p:nvPr/>
        </p:nvSpPr>
        <p:spPr>
          <a:xfrm>
            <a:off x="0" y="2143125"/>
            <a:ext cx="320040" cy="116300"/>
          </a:xfrm>
          <a:prstGeom prst="rect">
            <a:avLst/>
          </a:prstGeom>
          <a:solidFill>
            <a:srgbClr val="3F3CCB"/>
          </a:solidFill>
          <a:ln/>
        </p:spPr>
      </p:sp>
      <p:sp>
        <p:nvSpPr>
          <p:cNvPr id="23" name="Shape 21"/>
          <p:cNvSpPr/>
          <p:nvPr/>
        </p:nvSpPr>
        <p:spPr>
          <a:xfrm>
            <a:off x="0" y="2250281"/>
            <a:ext cx="320040" cy="116300"/>
          </a:xfrm>
          <a:prstGeom prst="rect">
            <a:avLst/>
          </a:prstGeom>
          <a:solidFill>
            <a:srgbClr val="3E3DCB"/>
          </a:solidFill>
          <a:ln/>
        </p:spPr>
      </p:sp>
      <p:sp>
        <p:nvSpPr>
          <p:cNvPr id="24" name="Shape 22"/>
          <p:cNvSpPr/>
          <p:nvPr/>
        </p:nvSpPr>
        <p:spPr>
          <a:xfrm>
            <a:off x="0" y="2357438"/>
            <a:ext cx="320040" cy="116300"/>
          </a:xfrm>
          <a:prstGeom prst="rect">
            <a:avLst/>
          </a:prstGeom>
          <a:solidFill>
            <a:srgbClr val="3D3ECC"/>
          </a:solidFill>
          <a:ln/>
        </p:spPr>
      </p:sp>
      <p:sp>
        <p:nvSpPr>
          <p:cNvPr id="25" name="Shape 23"/>
          <p:cNvSpPr/>
          <p:nvPr/>
        </p:nvSpPr>
        <p:spPr>
          <a:xfrm>
            <a:off x="0" y="2464594"/>
            <a:ext cx="320040" cy="116300"/>
          </a:xfrm>
          <a:prstGeom prst="rect">
            <a:avLst/>
          </a:prstGeom>
          <a:solidFill>
            <a:srgbClr val="3C3FCC"/>
          </a:solidFill>
          <a:ln/>
        </p:spPr>
      </p:sp>
      <p:sp>
        <p:nvSpPr>
          <p:cNvPr id="26" name="Shape 24"/>
          <p:cNvSpPr/>
          <p:nvPr/>
        </p:nvSpPr>
        <p:spPr>
          <a:xfrm>
            <a:off x="0" y="2571750"/>
            <a:ext cx="320040" cy="116300"/>
          </a:xfrm>
          <a:prstGeom prst="rect">
            <a:avLst/>
          </a:prstGeom>
          <a:solidFill>
            <a:srgbClr val="3B40CD"/>
          </a:solidFill>
          <a:ln/>
        </p:spPr>
      </p:sp>
      <p:sp>
        <p:nvSpPr>
          <p:cNvPr id="27" name="Shape 25"/>
          <p:cNvSpPr/>
          <p:nvPr/>
        </p:nvSpPr>
        <p:spPr>
          <a:xfrm>
            <a:off x="0" y="2678906"/>
            <a:ext cx="320040" cy="116300"/>
          </a:xfrm>
          <a:prstGeom prst="rect">
            <a:avLst/>
          </a:prstGeom>
          <a:solidFill>
            <a:srgbClr val="3B41CD"/>
          </a:solidFill>
          <a:ln/>
        </p:spPr>
      </p:sp>
      <p:sp>
        <p:nvSpPr>
          <p:cNvPr id="28" name="Shape 26"/>
          <p:cNvSpPr/>
          <p:nvPr/>
        </p:nvSpPr>
        <p:spPr>
          <a:xfrm>
            <a:off x="0" y="2786063"/>
            <a:ext cx="320040" cy="116300"/>
          </a:xfrm>
          <a:prstGeom prst="rect">
            <a:avLst/>
          </a:prstGeom>
          <a:solidFill>
            <a:srgbClr val="3A42CE"/>
          </a:solidFill>
          <a:ln/>
        </p:spPr>
      </p:sp>
      <p:sp>
        <p:nvSpPr>
          <p:cNvPr id="29" name="Shape 27"/>
          <p:cNvSpPr/>
          <p:nvPr/>
        </p:nvSpPr>
        <p:spPr>
          <a:xfrm>
            <a:off x="0" y="2893219"/>
            <a:ext cx="320040" cy="116300"/>
          </a:xfrm>
          <a:prstGeom prst="rect">
            <a:avLst/>
          </a:prstGeom>
          <a:solidFill>
            <a:srgbClr val="3943CE"/>
          </a:solidFill>
          <a:ln/>
        </p:spPr>
      </p:sp>
      <p:sp>
        <p:nvSpPr>
          <p:cNvPr id="30" name="Shape 28"/>
          <p:cNvSpPr/>
          <p:nvPr/>
        </p:nvSpPr>
        <p:spPr>
          <a:xfrm>
            <a:off x="0" y="3000375"/>
            <a:ext cx="320040" cy="116300"/>
          </a:xfrm>
          <a:prstGeom prst="rect">
            <a:avLst/>
          </a:prstGeom>
          <a:solidFill>
            <a:srgbClr val="3844CE"/>
          </a:solidFill>
          <a:ln/>
        </p:spPr>
      </p:sp>
      <p:sp>
        <p:nvSpPr>
          <p:cNvPr id="31" name="Shape 29"/>
          <p:cNvSpPr/>
          <p:nvPr/>
        </p:nvSpPr>
        <p:spPr>
          <a:xfrm>
            <a:off x="0" y="3107531"/>
            <a:ext cx="320040" cy="116300"/>
          </a:xfrm>
          <a:prstGeom prst="rect">
            <a:avLst/>
          </a:prstGeom>
          <a:solidFill>
            <a:srgbClr val="3745CF"/>
          </a:solidFill>
          <a:ln/>
        </p:spPr>
      </p:sp>
      <p:sp>
        <p:nvSpPr>
          <p:cNvPr id="32" name="Shape 30"/>
          <p:cNvSpPr/>
          <p:nvPr/>
        </p:nvSpPr>
        <p:spPr>
          <a:xfrm>
            <a:off x="0" y="3214688"/>
            <a:ext cx="320040" cy="116300"/>
          </a:xfrm>
          <a:prstGeom prst="rect">
            <a:avLst/>
          </a:prstGeom>
          <a:solidFill>
            <a:srgbClr val="3646CF"/>
          </a:solidFill>
          <a:ln/>
        </p:spPr>
      </p:sp>
      <p:sp>
        <p:nvSpPr>
          <p:cNvPr id="33" name="Shape 31"/>
          <p:cNvSpPr/>
          <p:nvPr/>
        </p:nvSpPr>
        <p:spPr>
          <a:xfrm>
            <a:off x="0" y="3321844"/>
            <a:ext cx="320040" cy="116300"/>
          </a:xfrm>
          <a:prstGeom prst="rect">
            <a:avLst/>
          </a:prstGeom>
          <a:solidFill>
            <a:srgbClr val="3547D0"/>
          </a:solidFill>
          <a:ln/>
        </p:spPr>
      </p:sp>
      <p:sp>
        <p:nvSpPr>
          <p:cNvPr id="34" name="Shape 32"/>
          <p:cNvSpPr/>
          <p:nvPr/>
        </p:nvSpPr>
        <p:spPr>
          <a:xfrm>
            <a:off x="0" y="3429000"/>
            <a:ext cx="320040" cy="116300"/>
          </a:xfrm>
          <a:prstGeom prst="rect">
            <a:avLst/>
          </a:prstGeom>
          <a:solidFill>
            <a:srgbClr val="3549D0"/>
          </a:solidFill>
          <a:ln/>
        </p:spPr>
      </p:sp>
      <p:sp>
        <p:nvSpPr>
          <p:cNvPr id="35" name="Shape 33"/>
          <p:cNvSpPr/>
          <p:nvPr/>
        </p:nvSpPr>
        <p:spPr>
          <a:xfrm>
            <a:off x="0" y="3536156"/>
            <a:ext cx="320040" cy="116300"/>
          </a:xfrm>
          <a:prstGeom prst="rect">
            <a:avLst/>
          </a:prstGeom>
          <a:solidFill>
            <a:srgbClr val="344ACF"/>
          </a:solidFill>
          <a:ln/>
        </p:spPr>
      </p:sp>
      <p:sp>
        <p:nvSpPr>
          <p:cNvPr id="36" name="Shape 34"/>
          <p:cNvSpPr/>
          <p:nvPr/>
        </p:nvSpPr>
        <p:spPr>
          <a:xfrm>
            <a:off x="0" y="3643313"/>
            <a:ext cx="320040" cy="116300"/>
          </a:xfrm>
          <a:prstGeom prst="rect">
            <a:avLst/>
          </a:prstGeom>
          <a:solidFill>
            <a:srgbClr val="334BCF"/>
          </a:solidFill>
          <a:ln/>
        </p:spPr>
      </p:sp>
      <p:sp>
        <p:nvSpPr>
          <p:cNvPr id="37" name="Shape 35"/>
          <p:cNvSpPr/>
          <p:nvPr/>
        </p:nvSpPr>
        <p:spPr>
          <a:xfrm>
            <a:off x="0" y="3750469"/>
            <a:ext cx="320040" cy="116300"/>
          </a:xfrm>
          <a:prstGeom prst="rect">
            <a:avLst/>
          </a:prstGeom>
          <a:solidFill>
            <a:srgbClr val="324CCE"/>
          </a:solidFill>
          <a:ln/>
        </p:spPr>
      </p:sp>
      <p:sp>
        <p:nvSpPr>
          <p:cNvPr id="38" name="Shape 36"/>
          <p:cNvSpPr/>
          <p:nvPr/>
        </p:nvSpPr>
        <p:spPr>
          <a:xfrm>
            <a:off x="0" y="3857625"/>
            <a:ext cx="320040" cy="116300"/>
          </a:xfrm>
          <a:prstGeom prst="rect">
            <a:avLst/>
          </a:prstGeom>
          <a:solidFill>
            <a:srgbClr val="314ECD"/>
          </a:solidFill>
          <a:ln/>
        </p:spPr>
      </p:sp>
      <p:sp>
        <p:nvSpPr>
          <p:cNvPr id="39" name="Shape 37"/>
          <p:cNvSpPr/>
          <p:nvPr/>
        </p:nvSpPr>
        <p:spPr>
          <a:xfrm>
            <a:off x="0" y="3964781"/>
            <a:ext cx="320040" cy="116300"/>
          </a:xfrm>
          <a:prstGeom prst="rect">
            <a:avLst/>
          </a:prstGeom>
          <a:solidFill>
            <a:srgbClr val="304FCD"/>
          </a:solidFill>
          <a:ln/>
        </p:spPr>
      </p:sp>
      <p:sp>
        <p:nvSpPr>
          <p:cNvPr id="40" name="Shape 38"/>
          <p:cNvSpPr/>
          <p:nvPr/>
        </p:nvSpPr>
        <p:spPr>
          <a:xfrm>
            <a:off x="0" y="4071938"/>
            <a:ext cx="320040" cy="116300"/>
          </a:xfrm>
          <a:prstGeom prst="rect">
            <a:avLst/>
          </a:prstGeom>
          <a:solidFill>
            <a:srgbClr val="2F50CC"/>
          </a:solidFill>
          <a:ln/>
        </p:spPr>
      </p:sp>
      <p:sp>
        <p:nvSpPr>
          <p:cNvPr id="41" name="Shape 39"/>
          <p:cNvSpPr/>
          <p:nvPr/>
        </p:nvSpPr>
        <p:spPr>
          <a:xfrm>
            <a:off x="0" y="4179094"/>
            <a:ext cx="320040" cy="116300"/>
          </a:xfrm>
          <a:prstGeom prst="rect">
            <a:avLst/>
          </a:prstGeom>
          <a:solidFill>
            <a:srgbClr val="2F51CC"/>
          </a:solidFill>
          <a:ln/>
        </p:spPr>
      </p:sp>
      <p:sp>
        <p:nvSpPr>
          <p:cNvPr id="42" name="Shape 40"/>
          <p:cNvSpPr/>
          <p:nvPr/>
        </p:nvSpPr>
        <p:spPr>
          <a:xfrm>
            <a:off x="0" y="4286250"/>
            <a:ext cx="320040" cy="116300"/>
          </a:xfrm>
          <a:prstGeom prst="rect">
            <a:avLst/>
          </a:prstGeom>
          <a:solidFill>
            <a:srgbClr val="2E53CB"/>
          </a:solidFill>
          <a:ln/>
        </p:spPr>
      </p:sp>
      <p:sp>
        <p:nvSpPr>
          <p:cNvPr id="43" name="Shape 41"/>
          <p:cNvSpPr/>
          <p:nvPr/>
        </p:nvSpPr>
        <p:spPr>
          <a:xfrm>
            <a:off x="0" y="4393406"/>
            <a:ext cx="320040" cy="116300"/>
          </a:xfrm>
          <a:prstGeom prst="rect">
            <a:avLst/>
          </a:prstGeom>
          <a:solidFill>
            <a:srgbClr val="2D54CB"/>
          </a:solidFill>
          <a:ln/>
        </p:spPr>
      </p:sp>
      <p:sp>
        <p:nvSpPr>
          <p:cNvPr id="44" name="Shape 42"/>
          <p:cNvSpPr/>
          <p:nvPr/>
        </p:nvSpPr>
        <p:spPr>
          <a:xfrm>
            <a:off x="0" y="4500563"/>
            <a:ext cx="320040" cy="116300"/>
          </a:xfrm>
          <a:prstGeom prst="rect">
            <a:avLst/>
          </a:prstGeom>
          <a:solidFill>
            <a:srgbClr val="2C55CA"/>
          </a:solidFill>
          <a:ln/>
        </p:spPr>
      </p:sp>
      <p:sp>
        <p:nvSpPr>
          <p:cNvPr id="45" name="Shape 43"/>
          <p:cNvSpPr/>
          <p:nvPr/>
        </p:nvSpPr>
        <p:spPr>
          <a:xfrm>
            <a:off x="0" y="4607719"/>
            <a:ext cx="320040" cy="116300"/>
          </a:xfrm>
          <a:prstGeom prst="rect">
            <a:avLst/>
          </a:prstGeom>
          <a:solidFill>
            <a:srgbClr val="2B56C9"/>
          </a:solidFill>
          <a:ln/>
        </p:spPr>
      </p:sp>
      <p:sp>
        <p:nvSpPr>
          <p:cNvPr id="46" name="Shape 44"/>
          <p:cNvSpPr/>
          <p:nvPr/>
        </p:nvSpPr>
        <p:spPr>
          <a:xfrm>
            <a:off x="0" y="4714875"/>
            <a:ext cx="320040" cy="116300"/>
          </a:xfrm>
          <a:prstGeom prst="rect">
            <a:avLst/>
          </a:prstGeom>
          <a:solidFill>
            <a:srgbClr val="2A57C9"/>
          </a:solidFill>
          <a:ln/>
        </p:spPr>
      </p:sp>
      <p:sp>
        <p:nvSpPr>
          <p:cNvPr id="47" name="Shape 45"/>
          <p:cNvSpPr/>
          <p:nvPr/>
        </p:nvSpPr>
        <p:spPr>
          <a:xfrm>
            <a:off x="0" y="4822031"/>
            <a:ext cx="320040" cy="116300"/>
          </a:xfrm>
          <a:prstGeom prst="rect">
            <a:avLst/>
          </a:prstGeom>
          <a:solidFill>
            <a:srgbClr val="2959C8"/>
          </a:solidFill>
          <a:ln/>
        </p:spPr>
      </p:sp>
      <p:sp>
        <p:nvSpPr>
          <p:cNvPr id="48" name="Shape 46"/>
          <p:cNvSpPr/>
          <p:nvPr/>
        </p:nvSpPr>
        <p:spPr>
          <a:xfrm>
            <a:off x="0" y="4929188"/>
            <a:ext cx="320040" cy="116300"/>
          </a:xfrm>
          <a:prstGeom prst="rect">
            <a:avLst/>
          </a:prstGeom>
          <a:solidFill>
            <a:srgbClr val="295AC8"/>
          </a:solidFill>
          <a:ln/>
        </p:spPr>
      </p:sp>
      <p:sp>
        <p:nvSpPr>
          <p:cNvPr id="49" name="Shape 47"/>
          <p:cNvSpPr/>
          <p:nvPr/>
        </p:nvSpPr>
        <p:spPr>
          <a:xfrm>
            <a:off x="0" y="5036344"/>
            <a:ext cx="320040" cy="116300"/>
          </a:xfrm>
          <a:prstGeom prst="rect">
            <a:avLst/>
          </a:prstGeom>
          <a:solidFill>
            <a:srgbClr val="285BC7"/>
          </a:solidFill>
          <a:ln/>
        </p:spPr>
      </p:sp>
      <p:sp>
        <p:nvSpPr>
          <p:cNvPr id="50" name="Shape 48"/>
          <p:cNvSpPr/>
          <p:nvPr/>
        </p:nvSpPr>
        <p:spPr>
          <a:xfrm>
            <a:off x="0" y="5143500"/>
            <a:ext cx="320040" cy="116300"/>
          </a:xfrm>
          <a:prstGeom prst="rect">
            <a:avLst/>
          </a:prstGeom>
          <a:solidFill>
            <a:srgbClr val="275CC7"/>
          </a:solidFill>
          <a:ln/>
        </p:spPr>
      </p:sp>
      <p:sp>
        <p:nvSpPr>
          <p:cNvPr id="51" name="Shape 49"/>
          <p:cNvSpPr/>
          <p:nvPr/>
        </p:nvSpPr>
        <p:spPr>
          <a:xfrm>
            <a:off x="0" y="5250656"/>
            <a:ext cx="320040" cy="116300"/>
          </a:xfrm>
          <a:prstGeom prst="rect">
            <a:avLst/>
          </a:prstGeom>
          <a:solidFill>
            <a:srgbClr val="265EC6"/>
          </a:solidFill>
          <a:ln/>
        </p:spPr>
      </p:sp>
      <p:sp>
        <p:nvSpPr>
          <p:cNvPr id="52" name="Shape 50"/>
          <p:cNvSpPr/>
          <p:nvPr/>
        </p:nvSpPr>
        <p:spPr>
          <a:xfrm>
            <a:off x="0" y="5357813"/>
            <a:ext cx="320040" cy="116300"/>
          </a:xfrm>
          <a:prstGeom prst="rect">
            <a:avLst/>
          </a:prstGeom>
          <a:solidFill>
            <a:srgbClr val="255FC5"/>
          </a:solidFill>
          <a:ln/>
        </p:spPr>
      </p:sp>
      <p:sp>
        <p:nvSpPr>
          <p:cNvPr id="53" name="Shape 51"/>
          <p:cNvSpPr/>
          <p:nvPr/>
        </p:nvSpPr>
        <p:spPr>
          <a:xfrm>
            <a:off x="0" y="5464969"/>
            <a:ext cx="320040" cy="116300"/>
          </a:xfrm>
          <a:prstGeom prst="rect">
            <a:avLst/>
          </a:prstGeom>
          <a:solidFill>
            <a:srgbClr val="2460C5"/>
          </a:solidFill>
          <a:ln/>
        </p:spPr>
      </p:sp>
      <p:sp>
        <p:nvSpPr>
          <p:cNvPr id="54" name="Shape 52"/>
          <p:cNvSpPr/>
          <p:nvPr/>
        </p:nvSpPr>
        <p:spPr>
          <a:xfrm>
            <a:off x="0" y="5572125"/>
            <a:ext cx="320040" cy="116300"/>
          </a:xfrm>
          <a:prstGeom prst="rect">
            <a:avLst/>
          </a:prstGeom>
          <a:solidFill>
            <a:srgbClr val="2361C4"/>
          </a:solidFill>
          <a:ln/>
        </p:spPr>
      </p:sp>
      <p:sp>
        <p:nvSpPr>
          <p:cNvPr id="55" name="Shape 53"/>
          <p:cNvSpPr/>
          <p:nvPr/>
        </p:nvSpPr>
        <p:spPr>
          <a:xfrm>
            <a:off x="0" y="5679281"/>
            <a:ext cx="320040" cy="116300"/>
          </a:xfrm>
          <a:prstGeom prst="rect">
            <a:avLst/>
          </a:prstGeom>
          <a:solidFill>
            <a:srgbClr val="2363C4"/>
          </a:solidFill>
          <a:ln/>
        </p:spPr>
      </p:sp>
      <p:sp>
        <p:nvSpPr>
          <p:cNvPr id="56" name="Shape 54"/>
          <p:cNvSpPr/>
          <p:nvPr/>
        </p:nvSpPr>
        <p:spPr>
          <a:xfrm>
            <a:off x="0" y="5786438"/>
            <a:ext cx="320040" cy="116300"/>
          </a:xfrm>
          <a:prstGeom prst="rect">
            <a:avLst/>
          </a:prstGeom>
          <a:solidFill>
            <a:srgbClr val="2264C3"/>
          </a:solidFill>
          <a:ln/>
        </p:spPr>
      </p:sp>
      <p:sp>
        <p:nvSpPr>
          <p:cNvPr id="57" name="Shape 55"/>
          <p:cNvSpPr/>
          <p:nvPr/>
        </p:nvSpPr>
        <p:spPr>
          <a:xfrm>
            <a:off x="0" y="5893594"/>
            <a:ext cx="320040" cy="116300"/>
          </a:xfrm>
          <a:prstGeom prst="rect">
            <a:avLst/>
          </a:prstGeom>
          <a:solidFill>
            <a:srgbClr val="2165C3"/>
          </a:solidFill>
          <a:ln/>
        </p:spPr>
      </p:sp>
      <p:sp>
        <p:nvSpPr>
          <p:cNvPr id="58" name="Shape 56"/>
          <p:cNvSpPr/>
          <p:nvPr/>
        </p:nvSpPr>
        <p:spPr>
          <a:xfrm>
            <a:off x="0" y="6000750"/>
            <a:ext cx="320040" cy="116300"/>
          </a:xfrm>
          <a:prstGeom prst="rect">
            <a:avLst/>
          </a:prstGeom>
          <a:solidFill>
            <a:srgbClr val="2066C2"/>
          </a:solidFill>
          <a:ln/>
        </p:spPr>
      </p:sp>
      <p:sp>
        <p:nvSpPr>
          <p:cNvPr id="59" name="Shape 57"/>
          <p:cNvSpPr/>
          <p:nvPr/>
        </p:nvSpPr>
        <p:spPr>
          <a:xfrm>
            <a:off x="0" y="6107906"/>
            <a:ext cx="320040" cy="116300"/>
          </a:xfrm>
          <a:prstGeom prst="rect">
            <a:avLst/>
          </a:prstGeom>
          <a:solidFill>
            <a:srgbClr val="1F68C1"/>
          </a:solidFill>
          <a:ln/>
        </p:spPr>
      </p:sp>
      <p:sp>
        <p:nvSpPr>
          <p:cNvPr id="60" name="Shape 58"/>
          <p:cNvSpPr/>
          <p:nvPr/>
        </p:nvSpPr>
        <p:spPr>
          <a:xfrm>
            <a:off x="0" y="6215063"/>
            <a:ext cx="320040" cy="116300"/>
          </a:xfrm>
          <a:prstGeom prst="rect">
            <a:avLst/>
          </a:prstGeom>
          <a:solidFill>
            <a:srgbClr val="1E69C1"/>
          </a:solidFill>
          <a:ln/>
        </p:spPr>
      </p:sp>
      <p:sp>
        <p:nvSpPr>
          <p:cNvPr id="61" name="Shape 59"/>
          <p:cNvSpPr/>
          <p:nvPr/>
        </p:nvSpPr>
        <p:spPr>
          <a:xfrm>
            <a:off x="0" y="6322219"/>
            <a:ext cx="320040" cy="116300"/>
          </a:xfrm>
          <a:prstGeom prst="rect">
            <a:avLst/>
          </a:prstGeom>
          <a:solidFill>
            <a:srgbClr val="1D6AC0"/>
          </a:solidFill>
          <a:ln/>
        </p:spPr>
      </p:sp>
      <p:sp>
        <p:nvSpPr>
          <p:cNvPr id="62" name="Shape 60"/>
          <p:cNvSpPr/>
          <p:nvPr/>
        </p:nvSpPr>
        <p:spPr>
          <a:xfrm>
            <a:off x="0" y="6429375"/>
            <a:ext cx="320040" cy="116300"/>
          </a:xfrm>
          <a:prstGeom prst="rect">
            <a:avLst/>
          </a:prstGeom>
          <a:solidFill>
            <a:srgbClr val="1D6BC0"/>
          </a:solidFill>
          <a:ln/>
        </p:spPr>
      </p:sp>
      <p:sp>
        <p:nvSpPr>
          <p:cNvPr id="63" name="Shape 61"/>
          <p:cNvSpPr/>
          <p:nvPr/>
        </p:nvSpPr>
        <p:spPr>
          <a:xfrm>
            <a:off x="0" y="6536531"/>
            <a:ext cx="320040" cy="116300"/>
          </a:xfrm>
          <a:prstGeom prst="rect">
            <a:avLst/>
          </a:prstGeom>
          <a:solidFill>
            <a:srgbClr val="1C6DBF"/>
          </a:solidFill>
          <a:ln/>
        </p:spPr>
      </p:sp>
      <p:sp>
        <p:nvSpPr>
          <p:cNvPr id="64" name="Shape 62"/>
          <p:cNvSpPr/>
          <p:nvPr/>
        </p:nvSpPr>
        <p:spPr>
          <a:xfrm>
            <a:off x="0" y="6643688"/>
            <a:ext cx="320040" cy="116300"/>
          </a:xfrm>
          <a:prstGeom prst="rect">
            <a:avLst/>
          </a:prstGeom>
          <a:solidFill>
            <a:srgbClr val="1B6EBF"/>
          </a:solidFill>
          <a:ln/>
        </p:spPr>
      </p:sp>
      <p:sp>
        <p:nvSpPr>
          <p:cNvPr id="65" name="Shape 63"/>
          <p:cNvSpPr/>
          <p:nvPr/>
        </p:nvSpPr>
        <p:spPr>
          <a:xfrm>
            <a:off x="0" y="6750844"/>
            <a:ext cx="320040" cy="116300"/>
          </a:xfrm>
          <a:prstGeom prst="rect">
            <a:avLst/>
          </a:prstGeom>
          <a:solidFill>
            <a:srgbClr val="1A6FBE"/>
          </a:solidFill>
          <a:ln/>
        </p:spPr>
      </p:sp>
      <p:sp>
        <p:nvSpPr>
          <p:cNvPr id="66" name="Text 64"/>
          <p:cNvSpPr/>
          <p:nvPr/>
        </p:nvSpPr>
        <p:spPr>
          <a:xfrm>
            <a:off x="73152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CLOSED-LOOP</a:t>
            </a:r>
            <a:endParaRPr lang="en-US" sz="1100" dirty="0"/>
          </a:p>
        </p:txBody>
      </p:sp>
      <p:sp>
        <p:nvSpPr>
          <p:cNvPr id="67" name="Text 65"/>
          <p:cNvSpPr/>
          <p:nvPr/>
        </p:nvSpPr>
        <p:spPr>
          <a:xfrm>
            <a:off x="548640" y="1554480"/>
            <a:ext cx="11094415" cy="3200400"/>
          </a:xfrm>
          <a:prstGeom prst="rect">
            <a:avLst/>
          </a:prstGeom>
          <a:noFill/>
          <a:ln/>
        </p:spPr>
        <p:txBody>
          <a:bodyPr wrap="square" lIns="0" tIns="0" rIns="0" bIns="0" rtlCol="0" anchor="ctr"/>
          <a:lstStyle/>
          <a:p>
            <a:pPr algn="l" indent="0" marL="0">
              <a:buNone/>
            </a:pPr>
            <a:r>
              <a:rPr lang="en-US" sz="22000" b="1" spc="-600" kern="0" dirty="0">
                <a:solidFill>
                  <a:srgbClr val="5028C2"/>
                </a:solidFill>
                <a:latin typeface="Calibri" pitchFamily="34" charset="0"/>
                <a:ea typeface="Calibri" pitchFamily="34" charset="-122"/>
                <a:cs typeface="Calibri" pitchFamily="34" charset="-120"/>
              </a:rPr>
              <a:t>14</a:t>
            </a:r>
            <a:endParaRPr lang="en-US" sz="22000" dirty="0"/>
          </a:p>
        </p:txBody>
      </p:sp>
      <p:sp>
        <p:nvSpPr>
          <p:cNvPr id="68" name="Text 66"/>
          <p:cNvSpPr/>
          <p:nvPr/>
        </p:nvSpPr>
        <p:spPr>
          <a:xfrm>
            <a:off x="548640" y="4983480"/>
            <a:ext cx="11094415" cy="457200"/>
          </a:xfrm>
          <a:prstGeom prst="rect">
            <a:avLst/>
          </a:prstGeom>
          <a:noFill/>
          <a:ln/>
        </p:spPr>
        <p:txBody>
          <a:bodyPr wrap="square" lIns="0" tIns="0" rIns="0" bIns="0" rtlCol="0" anchor="t"/>
          <a:lstStyle/>
          <a:p>
            <a:pPr algn="l" indent="0" marL="0">
              <a:buNone/>
            </a:pPr>
            <a:r>
              <a:rPr lang="en-US" sz="2200" b="1" dirty="0">
                <a:solidFill>
                  <a:srgbClr val="0F1733"/>
                </a:solidFill>
                <a:latin typeface="Calibri" pitchFamily="34" charset="0"/>
                <a:ea typeface="Calibri" pitchFamily="34" charset="-122"/>
                <a:cs typeface="Calibri" pitchFamily="34" charset="-120"/>
              </a:rPr>
              <a:t>Distinct metrics tracked automatically across every campaign.</a:t>
            </a:r>
            <a:endParaRPr lang="en-US" sz="2200" dirty="0"/>
          </a:p>
        </p:txBody>
      </p:sp>
      <p:sp>
        <p:nvSpPr>
          <p:cNvPr id="69" name="Text 67"/>
          <p:cNvSpPr/>
          <p:nvPr/>
        </p:nvSpPr>
        <p:spPr>
          <a:xfrm>
            <a:off x="548640" y="5486400"/>
            <a:ext cx="10637215" cy="640080"/>
          </a:xfrm>
          <a:prstGeom prst="rect">
            <a:avLst/>
          </a:prstGeom>
          <a:noFill/>
          <a:ln/>
        </p:spPr>
        <p:txBody>
          <a:bodyPr wrap="square" lIns="0" tIns="0" rIns="0" bIns="0" rtlCol="0" anchor="t"/>
          <a:lstStyle/>
          <a:p>
            <a:pPr algn="l" indent="0" marL="0">
              <a:buNone/>
            </a:pPr>
            <a:r>
              <a:rPr lang="en-US" sz="1300" dirty="0">
                <a:solidFill>
                  <a:srgbClr val="2A3358"/>
                </a:solidFill>
                <a:latin typeface="Calibri" pitchFamily="34" charset="0"/>
                <a:ea typeface="Calibri" pitchFamily="34" charset="-122"/>
                <a:cs typeface="Calibri" pitchFamily="34" charset="-120"/>
              </a:rPr>
              <a:t>Per-platform reply rates, per-template engagement, score-band conversion, follow-up timing impact, and more — all captured passively because the entire workflow lives in one tool. No dashboard configuration. No spreadsheet exports.</a:t>
            </a:r>
            <a:endParaRPr lang="en-US" sz="13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10 · Custom analytics  ·  vD</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067 / 126</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1ECFF"/>
        </a:solidFill>
      </p:bgPr>
    </p:bg>
    <p:spTree>
      <p:nvGrpSpPr>
        <p:cNvPr id="1" name=""/>
        <p:cNvGrpSpPr/>
        <p:nvPr/>
      </p:nvGrpSpPr>
      <p:grpSpPr>
        <a:xfrm>
          <a:off x="0" y="0"/>
          <a:ext cx="0" cy="0"/>
          <a:chOff x="0" y="0"/>
          <a:chExt cx="0" cy="0"/>
        </a:xfrm>
      </p:grpSpPr>
      <p:sp>
        <p:nvSpPr>
          <p:cNvPr id="2" name="Text 0"/>
          <p:cNvSpPr/>
          <p:nvPr/>
        </p:nvSpPr>
        <p:spPr>
          <a:xfrm>
            <a:off x="457200" y="365760"/>
            <a:ext cx="2286000" cy="2286000"/>
          </a:xfrm>
          <a:prstGeom prst="rect">
            <a:avLst/>
          </a:prstGeom>
          <a:noFill/>
          <a:ln/>
        </p:spPr>
        <p:txBody>
          <a:bodyPr wrap="square" lIns="0" tIns="0" rIns="0" bIns="0" rtlCol="0" anchor="t"/>
          <a:lstStyle/>
          <a:p>
            <a:pPr algn="l" indent="0" marL="0">
              <a:buNone/>
            </a:pPr>
            <a:r>
              <a:rPr lang="en-US" sz="24000" b="1" dirty="0">
                <a:solidFill>
                  <a:srgbClr val="5028C2"/>
                </a:solidFill>
                <a:latin typeface="Georgia" pitchFamily="34" charset="0"/>
                <a:ea typeface="Georgia" pitchFamily="34" charset="-122"/>
                <a:cs typeface="Georgia" pitchFamily="34" charset="-120"/>
              </a:rPr>
              <a:t>"</a:t>
            </a:r>
            <a:endParaRPr lang="en-US" sz="24000" dirty="0"/>
          </a:p>
        </p:txBody>
      </p:sp>
      <p:sp>
        <p:nvSpPr>
          <p:cNvPr id="3" name="Text 1"/>
          <p:cNvSpPr/>
          <p:nvPr/>
        </p:nvSpPr>
        <p:spPr>
          <a:xfrm>
            <a:off x="1920240" y="1737360"/>
            <a:ext cx="9722815" cy="3108960"/>
          </a:xfrm>
          <a:prstGeom prst="rect">
            <a:avLst/>
          </a:prstGeom>
          <a:noFill/>
          <a:ln/>
        </p:spPr>
        <p:txBody>
          <a:bodyPr wrap="square" lIns="0" tIns="0" rIns="0" bIns="0" rtlCol="0" anchor="t"/>
          <a:lstStyle/>
          <a:p>
            <a:pPr algn="l" indent="0" marL="0">
              <a:buNone/>
            </a:pPr>
            <a:r>
              <a:rPr lang="en-US" sz="3000" i="1" dirty="0">
                <a:solidFill>
                  <a:srgbClr val="0F1733"/>
                </a:solidFill>
                <a:latin typeface="Georgia" pitchFamily="34" charset="0"/>
                <a:ea typeface="Georgia" pitchFamily="34" charset="-122"/>
                <a:cs typeface="Georgia" pitchFamily="34" charset="-120"/>
              </a:rPr>
              <a:t>I finally know that LinkedIn replies 3x faster than Instagram for my ICP. Two months of pattern-matching done in one chart.</a:t>
            </a:r>
            <a:endParaRPr lang="en-US" sz="3000" dirty="0"/>
          </a:p>
        </p:txBody>
      </p:sp>
      <p:sp>
        <p:nvSpPr>
          <p:cNvPr id="4" name="Shape 2"/>
          <p:cNvSpPr/>
          <p:nvPr/>
        </p:nvSpPr>
        <p:spPr>
          <a:xfrm>
            <a:off x="1920240" y="5120640"/>
            <a:ext cx="640080" cy="0"/>
          </a:xfrm>
          <a:prstGeom prst="line">
            <a:avLst/>
          </a:prstGeom>
          <a:noFill/>
          <a:ln w="25400">
            <a:solidFill>
              <a:srgbClr val="5028C2"/>
            </a:solidFill>
            <a:prstDash val="solid"/>
          </a:ln>
        </p:spPr>
      </p:sp>
      <p:sp>
        <p:nvSpPr>
          <p:cNvPr id="5" name="Text 3"/>
          <p:cNvSpPr/>
          <p:nvPr/>
        </p:nvSpPr>
        <p:spPr>
          <a:xfrm>
            <a:off x="1920240" y="5212080"/>
            <a:ext cx="9722815" cy="457200"/>
          </a:xfrm>
          <a:prstGeom prst="rect">
            <a:avLst/>
          </a:prstGeom>
          <a:noFill/>
          <a:ln/>
        </p:spPr>
        <p:txBody>
          <a:bodyPr wrap="square" lIns="0" tIns="0" rIns="0" bIns="0" rtlCol="0" anchor="t"/>
          <a:lstStyle/>
          <a:p>
            <a:pPr algn="l" indent="0" marL="0">
              <a:buNone/>
            </a:pPr>
            <a:r>
              <a:rPr lang="en-US" sz="1400" b="1" spc="100" kern="0" dirty="0">
                <a:solidFill>
                  <a:srgbClr val="3D1E96"/>
                </a:solidFill>
                <a:latin typeface="Calibri" pitchFamily="34" charset="0"/>
                <a:ea typeface="Calibri" pitchFamily="34" charset="-122"/>
                <a:cs typeface="Calibri" pitchFamily="34" charset="-120"/>
              </a:rPr>
              <a:t>Beta user</a:t>
            </a:r>
            <a:endParaRPr lang="en-US" sz="1400" dirty="0"/>
          </a:p>
        </p:txBody>
      </p:sp>
      <p:sp>
        <p:nvSpPr>
          <p:cNvPr id="6" name="Text 4"/>
          <p:cNvSpPr/>
          <p:nvPr/>
        </p:nvSpPr>
        <p:spPr>
          <a:xfrm>
            <a:off x="1920240" y="5532120"/>
            <a:ext cx="9722815" cy="365760"/>
          </a:xfrm>
          <a:prstGeom prst="rect">
            <a:avLst/>
          </a:prstGeom>
          <a:noFill/>
          <a:ln/>
        </p:spPr>
        <p:txBody>
          <a:bodyPr wrap="square" lIns="0" tIns="0" rIns="0" bIns="0" rtlCol="0" anchor="t"/>
          <a:lstStyle/>
          <a:p>
            <a:pPr algn="l" indent="0" marL="0">
              <a:buNone/>
            </a:pPr>
            <a:r>
              <a:rPr lang="en-US" sz="1200" dirty="0">
                <a:solidFill>
                  <a:srgbClr val="6B7493"/>
                </a:solidFill>
                <a:latin typeface="Calibri" pitchFamily="34" charset="0"/>
                <a:ea typeface="Calibri" pitchFamily="34" charset="-122"/>
                <a:cs typeface="Calibri" pitchFamily="34" charset="-120"/>
              </a:rPr>
              <a:t>On closed-loop analytics</a:t>
            </a:r>
            <a:endParaRPr lang="en-US" sz="1200" dirty="0"/>
          </a:p>
        </p:txBody>
      </p:sp>
      <p:sp>
        <p:nvSpPr>
          <p:cNvPr id="7" name="Shape 5"/>
          <p:cNvSpPr/>
          <p:nvPr/>
        </p:nvSpPr>
        <p:spPr>
          <a:xfrm>
            <a:off x="548640" y="502920"/>
            <a:ext cx="292608" cy="292608"/>
          </a:xfrm>
          <a:prstGeom prst="roundRect">
            <a:avLst>
              <a:gd name="adj" fmla="val 25000"/>
            </a:avLst>
          </a:prstGeom>
          <a:solidFill>
            <a:srgbClr val="5028C2"/>
          </a:solidFill>
          <a:ln/>
        </p:spPr>
      </p:sp>
      <p:sp>
        <p:nvSpPr>
          <p:cNvPr id="8" name="Shape 6"/>
          <p:cNvSpPr/>
          <p:nvPr/>
        </p:nvSpPr>
        <p:spPr>
          <a:xfrm>
            <a:off x="548640" y="502920"/>
            <a:ext cx="292608" cy="292608"/>
          </a:xfrm>
          <a:prstGeom prst="roundRect">
            <a:avLst>
              <a:gd name="adj" fmla="val 25000"/>
            </a:avLst>
          </a:prstGeom>
          <a:solidFill>
            <a:srgbClr val="1A6FBE">
              <a:alpha val="50000"/>
            </a:srgbClr>
          </a:solidFill>
          <a:ln/>
        </p:spPr>
      </p:sp>
      <p:sp>
        <p:nvSpPr>
          <p:cNvPr id="9" name="Text 7"/>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0" name="Text 8"/>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1" name="Text 9"/>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10 · Custom analytics  ·  vE</a:t>
            </a:r>
            <a:endParaRPr lang="en-US" sz="900" dirty="0"/>
          </a:p>
        </p:txBody>
      </p:sp>
      <p:sp>
        <p:nvSpPr>
          <p:cNvPr id="12" name="Text 10"/>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3" name="Text 11"/>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068 / 126</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a:off x="3047924" y="0"/>
            <a:ext cx="9143771" cy="6858000"/>
          </a:xfrm>
          <a:prstGeom prst="rtTriangle">
            <a:avLst/>
          </a:prstGeom>
          <a:solidFill>
            <a:srgbClr val="5028C2"/>
          </a:solidFill>
          <a:ln/>
        </p:spPr>
      </p:sp>
      <p:sp>
        <p:nvSpPr>
          <p:cNvPr id="3" name="Shape 1"/>
          <p:cNvSpPr/>
          <p:nvPr/>
        </p:nvSpPr>
        <p:spPr>
          <a:xfrm flipH="1">
            <a:off x="4876678" y="1028700"/>
            <a:ext cx="7924602" cy="6515100"/>
          </a:xfrm>
          <a:prstGeom prst="rtTriangle">
            <a:avLst/>
          </a:prstGeom>
          <a:solidFill>
            <a:srgbClr val="1A6FBE">
              <a:alpha val="75000"/>
            </a:srgbClr>
          </a:solidFill>
          <a:ln/>
        </p:spPr>
      </p:sp>
      <p:sp>
        <p:nvSpPr>
          <p:cNvPr id="4" name="Text 2"/>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CUSTOM ANALYTICS</a:t>
            </a:r>
            <a:endParaRPr lang="en-US" sz="1100" dirty="0"/>
          </a:p>
        </p:txBody>
      </p:sp>
      <p:sp>
        <p:nvSpPr>
          <p:cNvPr id="5" name="Text 3"/>
          <p:cNvSpPr/>
          <p:nvPr/>
        </p:nvSpPr>
        <p:spPr>
          <a:xfrm>
            <a:off x="548640" y="1417320"/>
            <a:ext cx="6095848" cy="2286000"/>
          </a:xfrm>
          <a:prstGeom prst="rect">
            <a:avLst/>
          </a:prstGeom>
          <a:noFill/>
          <a:ln/>
        </p:spPr>
        <p:txBody>
          <a:bodyPr wrap="square" lIns="0" tIns="0" rIns="0" bIns="0" rtlCol="0" anchor="t"/>
          <a:lstStyle/>
          <a:p>
            <a:pPr algn="l" indent="0" marL="0">
              <a:buNone/>
            </a:pPr>
            <a:r>
              <a:rPr lang="en-US" sz="4000" b="1" spc="-50" kern="0" dirty="0">
                <a:solidFill>
                  <a:srgbClr val="0F1733"/>
                </a:solidFill>
                <a:latin typeface="Calibri" pitchFamily="34" charset="0"/>
                <a:ea typeface="Calibri" pitchFamily="34" charset="-122"/>
                <a:cs typeface="Calibri" pitchFamily="34" charset="-120"/>
              </a:rPr>
              <a:t>Built around how creator outreach actually compounds.</a:t>
            </a:r>
            <a:endParaRPr lang="en-US" sz="4000" dirty="0"/>
          </a:p>
        </p:txBody>
      </p:sp>
      <p:sp>
        <p:nvSpPr>
          <p:cNvPr id="6" name="Text 4"/>
          <p:cNvSpPr/>
          <p:nvPr/>
        </p:nvSpPr>
        <p:spPr>
          <a:xfrm>
            <a:off x="548640" y="3840480"/>
            <a:ext cx="5821528" cy="2103120"/>
          </a:xfrm>
          <a:prstGeom prst="rect">
            <a:avLst/>
          </a:prstGeom>
          <a:noFill/>
          <a:ln/>
        </p:spPr>
        <p:txBody>
          <a:bodyPr wrap="square" lIns="0" tIns="0" rIns="0" bIns="0" rtlCol="0" anchor="t"/>
          <a:lstStyle/>
          <a:p>
            <a:pPr algn="l" indent="0" marL="0">
              <a:spcAft>
                <a:spcPts val="600"/>
              </a:spcAft>
              <a:buNone/>
            </a:pPr>
            <a:r>
              <a:rPr lang="en-US" sz="1400" dirty="0">
                <a:solidFill>
                  <a:srgbClr val="2A3358"/>
                </a:solidFill>
                <a:latin typeface="Calibri" pitchFamily="34" charset="0"/>
                <a:ea typeface="Calibri" pitchFamily="34" charset="-122"/>
                <a:cs typeface="Calibri" pitchFamily="34" charset="-120"/>
              </a:rPr>
              <a:t>The point isn't pretty charts. The point is that every campaign teaches the next campaign — and that compounding only happens if the data structure is right from day one. We designed for the metrics first, then built the surfaces around them.</a:t>
            </a:r>
            <a:endParaRPr lang="en-US" sz="1400" dirty="0"/>
          </a:p>
        </p:txBody>
      </p:sp>
      <p:sp>
        <p:nvSpPr>
          <p:cNvPr id="7" name="Text 5"/>
          <p:cNvSpPr/>
          <p:nvPr/>
        </p:nvSpPr>
        <p:spPr>
          <a:xfrm>
            <a:off x="6705432" y="2926080"/>
            <a:ext cx="4876678" cy="3291840"/>
          </a:xfrm>
          <a:prstGeom prst="rect">
            <a:avLst/>
          </a:prstGeom>
          <a:noFill/>
          <a:ln/>
        </p:spPr>
        <p:txBody>
          <a:bodyPr wrap="square" lIns="0" tIns="0" rIns="0" bIns="0" rtlCol="0" anchor="ctr"/>
          <a:lstStyle/>
          <a:p>
            <a:pPr algn="r" indent="0" marL="0">
              <a:buNone/>
            </a:pPr>
            <a:r>
              <a:rPr lang="en-US" sz="3200" b="1" spc="-50" kern="0" dirty="0">
                <a:solidFill>
                  <a:srgbClr val="FFFFFF"/>
                </a:solidFill>
                <a:latin typeface="Calibri" pitchFamily="34" charset="0"/>
                <a:ea typeface="Calibri" pitchFamily="34" charset="-122"/>
                <a:cs typeface="Calibri" pitchFamily="34" charset="-120"/>
              </a:rPr>
              <a:t>Data</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compounds.</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Decks</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don't.</a:t>
            </a:r>
            <a:endParaRPr lang="en-US" sz="3200" dirty="0"/>
          </a:p>
        </p:txBody>
      </p:sp>
      <p:sp>
        <p:nvSpPr>
          <p:cNvPr id="8" name="Shape 6"/>
          <p:cNvSpPr/>
          <p:nvPr/>
        </p:nvSpPr>
        <p:spPr>
          <a:xfrm>
            <a:off x="548640" y="502920"/>
            <a:ext cx="292608" cy="292608"/>
          </a:xfrm>
          <a:prstGeom prst="roundRect">
            <a:avLst>
              <a:gd name="adj" fmla="val 25000"/>
            </a:avLst>
          </a:prstGeom>
          <a:solidFill>
            <a:srgbClr val="5028C2"/>
          </a:solidFill>
          <a:ln/>
        </p:spPr>
      </p:sp>
      <p:sp>
        <p:nvSpPr>
          <p:cNvPr id="9" name="Shape 7"/>
          <p:cNvSpPr/>
          <p:nvPr/>
        </p:nvSpPr>
        <p:spPr>
          <a:xfrm>
            <a:off x="548640" y="502920"/>
            <a:ext cx="292608" cy="292608"/>
          </a:xfrm>
          <a:prstGeom prst="roundRect">
            <a:avLst>
              <a:gd name="adj" fmla="val 25000"/>
            </a:avLst>
          </a:prstGeom>
          <a:solidFill>
            <a:srgbClr val="1A6FBE">
              <a:alpha val="50000"/>
            </a:srgbClr>
          </a:solidFill>
          <a:ln/>
        </p:spPr>
      </p:sp>
      <p:sp>
        <p:nvSpPr>
          <p:cNvPr id="10" name="Text 8"/>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1" name="Text 9"/>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2" name="Text 10"/>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10 · Custom analytics  ·  vF</a:t>
            </a:r>
            <a:endParaRPr lang="en-US" sz="900" dirty="0"/>
          </a:p>
        </p:txBody>
      </p:sp>
      <p:sp>
        <p:nvSpPr>
          <p:cNvPr id="13" name="Text 11"/>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4" name="Text 12"/>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069 / 126</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CFAF6"/>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ANALYTICS</a:t>
            </a:r>
            <a:endParaRPr lang="en-US" sz="1100" dirty="0"/>
          </a:p>
        </p:txBody>
      </p:sp>
      <p:sp>
        <p:nvSpPr>
          <p:cNvPr id="3" name="Text 1"/>
          <p:cNvSpPr/>
          <p:nvPr/>
        </p:nvSpPr>
        <p:spPr>
          <a:xfrm>
            <a:off x="548640" y="1417320"/>
            <a:ext cx="11094415" cy="914400"/>
          </a:xfrm>
          <a:prstGeom prst="rect">
            <a:avLst/>
          </a:prstGeom>
          <a:noFill/>
          <a:ln/>
        </p:spPr>
        <p:txBody>
          <a:bodyPr wrap="square" lIns="0" tIns="0" rIns="0" bIns="0" rtlCol="0" anchor="t"/>
          <a:lstStyle/>
          <a:p>
            <a:pPr algn="l" indent="0" marL="0">
              <a:buNone/>
            </a:pPr>
            <a:r>
              <a:rPr lang="en-US" sz="3400" b="1" spc="-50" kern="0" dirty="0">
                <a:solidFill>
                  <a:srgbClr val="0F1733"/>
                </a:solidFill>
                <a:latin typeface="Calibri" pitchFamily="34" charset="0"/>
                <a:ea typeface="Calibri" pitchFamily="34" charset="-122"/>
                <a:cs typeface="Calibri" pitchFamily="34" charset="-120"/>
              </a:rPr>
              <a:t>The metrics other tools can't measure — because they don't own the workflow.</a:t>
            </a:r>
            <a:endParaRPr lang="en-US" sz="3400" dirty="0"/>
          </a:p>
        </p:txBody>
      </p:sp>
      <p:sp>
        <p:nvSpPr>
          <p:cNvPr id="4" name="Shape 2"/>
          <p:cNvSpPr/>
          <p:nvPr/>
        </p:nvSpPr>
        <p:spPr>
          <a:xfrm>
            <a:off x="548640" y="2514600"/>
            <a:ext cx="5464912" cy="67008"/>
          </a:xfrm>
          <a:prstGeom prst="rect">
            <a:avLst/>
          </a:prstGeom>
          <a:solidFill>
            <a:srgbClr val="5028C2"/>
          </a:solidFill>
          <a:ln/>
        </p:spPr>
      </p:sp>
      <p:sp>
        <p:nvSpPr>
          <p:cNvPr id="5" name="Shape 3"/>
          <p:cNvSpPr/>
          <p:nvPr/>
        </p:nvSpPr>
        <p:spPr>
          <a:xfrm>
            <a:off x="548640" y="2572464"/>
            <a:ext cx="5464912" cy="67008"/>
          </a:xfrm>
          <a:prstGeom prst="rect">
            <a:avLst/>
          </a:prstGeom>
          <a:solidFill>
            <a:srgbClr val="4F29C2"/>
          </a:solidFill>
          <a:ln/>
        </p:spPr>
      </p:sp>
      <p:sp>
        <p:nvSpPr>
          <p:cNvPr id="6" name="Shape 4"/>
          <p:cNvSpPr/>
          <p:nvPr/>
        </p:nvSpPr>
        <p:spPr>
          <a:xfrm>
            <a:off x="548640" y="2630329"/>
            <a:ext cx="5464912" cy="67008"/>
          </a:xfrm>
          <a:prstGeom prst="rect">
            <a:avLst/>
          </a:prstGeom>
          <a:solidFill>
            <a:srgbClr val="4E2AC3"/>
          </a:solidFill>
          <a:ln/>
        </p:spPr>
      </p:sp>
      <p:sp>
        <p:nvSpPr>
          <p:cNvPr id="7" name="Shape 5"/>
          <p:cNvSpPr/>
          <p:nvPr/>
        </p:nvSpPr>
        <p:spPr>
          <a:xfrm>
            <a:off x="548640" y="2688193"/>
            <a:ext cx="5464912" cy="67008"/>
          </a:xfrm>
          <a:prstGeom prst="rect">
            <a:avLst/>
          </a:prstGeom>
          <a:solidFill>
            <a:srgbClr val="4D2BC3"/>
          </a:solidFill>
          <a:ln/>
        </p:spPr>
      </p:sp>
      <p:sp>
        <p:nvSpPr>
          <p:cNvPr id="8" name="Shape 6"/>
          <p:cNvSpPr/>
          <p:nvPr/>
        </p:nvSpPr>
        <p:spPr>
          <a:xfrm>
            <a:off x="548640" y="2746058"/>
            <a:ext cx="5464912" cy="67008"/>
          </a:xfrm>
          <a:prstGeom prst="rect">
            <a:avLst/>
          </a:prstGeom>
          <a:solidFill>
            <a:srgbClr val="4D2CC4"/>
          </a:solidFill>
          <a:ln/>
        </p:spPr>
      </p:sp>
      <p:sp>
        <p:nvSpPr>
          <p:cNvPr id="9" name="Shape 7"/>
          <p:cNvSpPr/>
          <p:nvPr/>
        </p:nvSpPr>
        <p:spPr>
          <a:xfrm>
            <a:off x="548640" y="2803922"/>
            <a:ext cx="5464912" cy="67008"/>
          </a:xfrm>
          <a:prstGeom prst="rect">
            <a:avLst/>
          </a:prstGeom>
          <a:solidFill>
            <a:srgbClr val="4C2DC4"/>
          </a:solidFill>
          <a:ln/>
        </p:spPr>
      </p:sp>
      <p:sp>
        <p:nvSpPr>
          <p:cNvPr id="10" name="Shape 8"/>
          <p:cNvSpPr/>
          <p:nvPr/>
        </p:nvSpPr>
        <p:spPr>
          <a:xfrm>
            <a:off x="548640" y="2861786"/>
            <a:ext cx="5464912" cy="67008"/>
          </a:xfrm>
          <a:prstGeom prst="rect">
            <a:avLst/>
          </a:prstGeom>
          <a:solidFill>
            <a:srgbClr val="4B2EC5"/>
          </a:solidFill>
          <a:ln/>
        </p:spPr>
      </p:sp>
      <p:sp>
        <p:nvSpPr>
          <p:cNvPr id="11" name="Shape 9"/>
          <p:cNvSpPr/>
          <p:nvPr/>
        </p:nvSpPr>
        <p:spPr>
          <a:xfrm>
            <a:off x="548640" y="2919651"/>
            <a:ext cx="5464912" cy="67008"/>
          </a:xfrm>
          <a:prstGeom prst="rect">
            <a:avLst/>
          </a:prstGeom>
          <a:solidFill>
            <a:srgbClr val="4A2FC5"/>
          </a:solidFill>
          <a:ln/>
        </p:spPr>
      </p:sp>
      <p:sp>
        <p:nvSpPr>
          <p:cNvPr id="12" name="Shape 10"/>
          <p:cNvSpPr/>
          <p:nvPr/>
        </p:nvSpPr>
        <p:spPr>
          <a:xfrm>
            <a:off x="548640" y="2977515"/>
            <a:ext cx="5464912" cy="67008"/>
          </a:xfrm>
          <a:prstGeom prst="rect">
            <a:avLst/>
          </a:prstGeom>
          <a:solidFill>
            <a:srgbClr val="4930C6"/>
          </a:solidFill>
          <a:ln/>
        </p:spPr>
      </p:sp>
      <p:sp>
        <p:nvSpPr>
          <p:cNvPr id="13" name="Shape 11"/>
          <p:cNvSpPr/>
          <p:nvPr/>
        </p:nvSpPr>
        <p:spPr>
          <a:xfrm>
            <a:off x="548640" y="3035379"/>
            <a:ext cx="5464912" cy="67008"/>
          </a:xfrm>
          <a:prstGeom prst="rect">
            <a:avLst/>
          </a:prstGeom>
          <a:solidFill>
            <a:srgbClr val="4831C6"/>
          </a:solidFill>
          <a:ln/>
        </p:spPr>
      </p:sp>
      <p:sp>
        <p:nvSpPr>
          <p:cNvPr id="14" name="Shape 12"/>
          <p:cNvSpPr/>
          <p:nvPr/>
        </p:nvSpPr>
        <p:spPr>
          <a:xfrm>
            <a:off x="548640" y="3093244"/>
            <a:ext cx="5464912" cy="67008"/>
          </a:xfrm>
          <a:prstGeom prst="rect">
            <a:avLst/>
          </a:prstGeom>
          <a:solidFill>
            <a:srgbClr val="4732C6"/>
          </a:solidFill>
          <a:ln/>
        </p:spPr>
      </p:sp>
      <p:sp>
        <p:nvSpPr>
          <p:cNvPr id="15" name="Shape 13"/>
          <p:cNvSpPr/>
          <p:nvPr/>
        </p:nvSpPr>
        <p:spPr>
          <a:xfrm>
            <a:off x="548640" y="3151108"/>
            <a:ext cx="5464912" cy="67008"/>
          </a:xfrm>
          <a:prstGeom prst="rect">
            <a:avLst/>
          </a:prstGeom>
          <a:solidFill>
            <a:srgbClr val="4733C7"/>
          </a:solidFill>
          <a:ln/>
        </p:spPr>
      </p:sp>
      <p:sp>
        <p:nvSpPr>
          <p:cNvPr id="16" name="Shape 14"/>
          <p:cNvSpPr/>
          <p:nvPr/>
        </p:nvSpPr>
        <p:spPr>
          <a:xfrm>
            <a:off x="548640" y="3208973"/>
            <a:ext cx="5464912" cy="67008"/>
          </a:xfrm>
          <a:prstGeom prst="rect">
            <a:avLst/>
          </a:prstGeom>
          <a:solidFill>
            <a:srgbClr val="4634C7"/>
          </a:solidFill>
          <a:ln/>
        </p:spPr>
      </p:sp>
      <p:sp>
        <p:nvSpPr>
          <p:cNvPr id="17" name="Shape 15"/>
          <p:cNvSpPr/>
          <p:nvPr/>
        </p:nvSpPr>
        <p:spPr>
          <a:xfrm>
            <a:off x="548640" y="3266837"/>
            <a:ext cx="5464912" cy="67008"/>
          </a:xfrm>
          <a:prstGeom prst="rect">
            <a:avLst/>
          </a:prstGeom>
          <a:solidFill>
            <a:srgbClr val="4535C8"/>
          </a:solidFill>
          <a:ln/>
        </p:spPr>
      </p:sp>
      <p:sp>
        <p:nvSpPr>
          <p:cNvPr id="18" name="Shape 16"/>
          <p:cNvSpPr/>
          <p:nvPr/>
        </p:nvSpPr>
        <p:spPr>
          <a:xfrm>
            <a:off x="548640" y="3324701"/>
            <a:ext cx="5464912" cy="67008"/>
          </a:xfrm>
          <a:prstGeom prst="rect">
            <a:avLst/>
          </a:prstGeom>
          <a:solidFill>
            <a:srgbClr val="4436C8"/>
          </a:solidFill>
          <a:ln/>
        </p:spPr>
      </p:sp>
      <p:sp>
        <p:nvSpPr>
          <p:cNvPr id="19" name="Shape 17"/>
          <p:cNvSpPr/>
          <p:nvPr/>
        </p:nvSpPr>
        <p:spPr>
          <a:xfrm>
            <a:off x="548640" y="3382566"/>
            <a:ext cx="5464912" cy="67008"/>
          </a:xfrm>
          <a:prstGeom prst="rect">
            <a:avLst/>
          </a:prstGeom>
          <a:solidFill>
            <a:srgbClr val="4337C9"/>
          </a:solidFill>
          <a:ln/>
        </p:spPr>
      </p:sp>
      <p:sp>
        <p:nvSpPr>
          <p:cNvPr id="20" name="Shape 18"/>
          <p:cNvSpPr/>
          <p:nvPr/>
        </p:nvSpPr>
        <p:spPr>
          <a:xfrm>
            <a:off x="548640" y="3440430"/>
            <a:ext cx="5464912" cy="67008"/>
          </a:xfrm>
          <a:prstGeom prst="rect">
            <a:avLst/>
          </a:prstGeom>
          <a:solidFill>
            <a:srgbClr val="4238C9"/>
          </a:solidFill>
          <a:ln/>
        </p:spPr>
      </p:sp>
      <p:sp>
        <p:nvSpPr>
          <p:cNvPr id="21" name="Shape 19"/>
          <p:cNvSpPr/>
          <p:nvPr/>
        </p:nvSpPr>
        <p:spPr>
          <a:xfrm>
            <a:off x="548640" y="3498294"/>
            <a:ext cx="5464912" cy="67008"/>
          </a:xfrm>
          <a:prstGeom prst="rect">
            <a:avLst/>
          </a:prstGeom>
          <a:solidFill>
            <a:srgbClr val="4139CA"/>
          </a:solidFill>
          <a:ln/>
        </p:spPr>
      </p:sp>
      <p:sp>
        <p:nvSpPr>
          <p:cNvPr id="22" name="Shape 20"/>
          <p:cNvSpPr/>
          <p:nvPr/>
        </p:nvSpPr>
        <p:spPr>
          <a:xfrm>
            <a:off x="548640" y="3556159"/>
            <a:ext cx="5464912" cy="67008"/>
          </a:xfrm>
          <a:prstGeom prst="rect">
            <a:avLst/>
          </a:prstGeom>
          <a:solidFill>
            <a:srgbClr val="413ACA"/>
          </a:solidFill>
          <a:ln/>
        </p:spPr>
      </p:sp>
      <p:sp>
        <p:nvSpPr>
          <p:cNvPr id="23" name="Shape 21"/>
          <p:cNvSpPr/>
          <p:nvPr/>
        </p:nvSpPr>
        <p:spPr>
          <a:xfrm>
            <a:off x="548640" y="3614023"/>
            <a:ext cx="5464912" cy="67008"/>
          </a:xfrm>
          <a:prstGeom prst="rect">
            <a:avLst/>
          </a:prstGeom>
          <a:solidFill>
            <a:srgbClr val="403BCA"/>
          </a:solidFill>
          <a:ln/>
        </p:spPr>
      </p:sp>
      <p:sp>
        <p:nvSpPr>
          <p:cNvPr id="24" name="Shape 22"/>
          <p:cNvSpPr/>
          <p:nvPr/>
        </p:nvSpPr>
        <p:spPr>
          <a:xfrm>
            <a:off x="548640" y="3671888"/>
            <a:ext cx="5464912" cy="67008"/>
          </a:xfrm>
          <a:prstGeom prst="rect">
            <a:avLst/>
          </a:prstGeom>
          <a:solidFill>
            <a:srgbClr val="3F3CCB"/>
          </a:solidFill>
          <a:ln/>
        </p:spPr>
      </p:sp>
      <p:sp>
        <p:nvSpPr>
          <p:cNvPr id="25" name="Shape 23"/>
          <p:cNvSpPr/>
          <p:nvPr/>
        </p:nvSpPr>
        <p:spPr>
          <a:xfrm>
            <a:off x="548640" y="3729752"/>
            <a:ext cx="5464912" cy="67008"/>
          </a:xfrm>
          <a:prstGeom prst="rect">
            <a:avLst/>
          </a:prstGeom>
          <a:solidFill>
            <a:srgbClr val="3E3DCB"/>
          </a:solidFill>
          <a:ln/>
        </p:spPr>
      </p:sp>
      <p:sp>
        <p:nvSpPr>
          <p:cNvPr id="26" name="Shape 24"/>
          <p:cNvSpPr/>
          <p:nvPr/>
        </p:nvSpPr>
        <p:spPr>
          <a:xfrm>
            <a:off x="548640" y="3787616"/>
            <a:ext cx="5464912" cy="67008"/>
          </a:xfrm>
          <a:prstGeom prst="rect">
            <a:avLst/>
          </a:prstGeom>
          <a:solidFill>
            <a:srgbClr val="3D3ECC"/>
          </a:solidFill>
          <a:ln/>
        </p:spPr>
      </p:sp>
      <p:sp>
        <p:nvSpPr>
          <p:cNvPr id="27" name="Shape 25"/>
          <p:cNvSpPr/>
          <p:nvPr/>
        </p:nvSpPr>
        <p:spPr>
          <a:xfrm>
            <a:off x="548640" y="3845481"/>
            <a:ext cx="5464912" cy="67008"/>
          </a:xfrm>
          <a:prstGeom prst="rect">
            <a:avLst/>
          </a:prstGeom>
          <a:solidFill>
            <a:srgbClr val="3C3FCC"/>
          </a:solidFill>
          <a:ln/>
        </p:spPr>
      </p:sp>
      <p:sp>
        <p:nvSpPr>
          <p:cNvPr id="28" name="Shape 26"/>
          <p:cNvSpPr/>
          <p:nvPr/>
        </p:nvSpPr>
        <p:spPr>
          <a:xfrm>
            <a:off x="548640" y="3903345"/>
            <a:ext cx="5464912" cy="67008"/>
          </a:xfrm>
          <a:prstGeom prst="rect">
            <a:avLst/>
          </a:prstGeom>
          <a:solidFill>
            <a:srgbClr val="3B40CD"/>
          </a:solidFill>
          <a:ln/>
        </p:spPr>
      </p:sp>
      <p:sp>
        <p:nvSpPr>
          <p:cNvPr id="29" name="Shape 27"/>
          <p:cNvSpPr/>
          <p:nvPr/>
        </p:nvSpPr>
        <p:spPr>
          <a:xfrm>
            <a:off x="548640" y="3961209"/>
            <a:ext cx="5464912" cy="67008"/>
          </a:xfrm>
          <a:prstGeom prst="rect">
            <a:avLst/>
          </a:prstGeom>
          <a:solidFill>
            <a:srgbClr val="3B41CD"/>
          </a:solidFill>
          <a:ln/>
        </p:spPr>
      </p:sp>
      <p:sp>
        <p:nvSpPr>
          <p:cNvPr id="30" name="Shape 28"/>
          <p:cNvSpPr/>
          <p:nvPr/>
        </p:nvSpPr>
        <p:spPr>
          <a:xfrm>
            <a:off x="548640" y="4019074"/>
            <a:ext cx="5464912" cy="67008"/>
          </a:xfrm>
          <a:prstGeom prst="rect">
            <a:avLst/>
          </a:prstGeom>
          <a:solidFill>
            <a:srgbClr val="3A42CE"/>
          </a:solidFill>
          <a:ln/>
        </p:spPr>
      </p:sp>
      <p:sp>
        <p:nvSpPr>
          <p:cNvPr id="31" name="Shape 29"/>
          <p:cNvSpPr/>
          <p:nvPr/>
        </p:nvSpPr>
        <p:spPr>
          <a:xfrm>
            <a:off x="548640" y="4076938"/>
            <a:ext cx="5464912" cy="67008"/>
          </a:xfrm>
          <a:prstGeom prst="rect">
            <a:avLst/>
          </a:prstGeom>
          <a:solidFill>
            <a:srgbClr val="3943CE"/>
          </a:solidFill>
          <a:ln/>
        </p:spPr>
      </p:sp>
      <p:sp>
        <p:nvSpPr>
          <p:cNvPr id="32" name="Shape 30"/>
          <p:cNvSpPr/>
          <p:nvPr/>
        </p:nvSpPr>
        <p:spPr>
          <a:xfrm>
            <a:off x="548640" y="4134802"/>
            <a:ext cx="5464912" cy="67008"/>
          </a:xfrm>
          <a:prstGeom prst="rect">
            <a:avLst/>
          </a:prstGeom>
          <a:solidFill>
            <a:srgbClr val="3844CE"/>
          </a:solidFill>
          <a:ln/>
        </p:spPr>
      </p:sp>
      <p:sp>
        <p:nvSpPr>
          <p:cNvPr id="33" name="Shape 31"/>
          <p:cNvSpPr/>
          <p:nvPr/>
        </p:nvSpPr>
        <p:spPr>
          <a:xfrm>
            <a:off x="548640" y="4192667"/>
            <a:ext cx="5464912" cy="67008"/>
          </a:xfrm>
          <a:prstGeom prst="rect">
            <a:avLst/>
          </a:prstGeom>
          <a:solidFill>
            <a:srgbClr val="3745CF"/>
          </a:solidFill>
          <a:ln/>
        </p:spPr>
      </p:sp>
      <p:sp>
        <p:nvSpPr>
          <p:cNvPr id="34" name="Shape 32"/>
          <p:cNvSpPr/>
          <p:nvPr/>
        </p:nvSpPr>
        <p:spPr>
          <a:xfrm>
            <a:off x="548640" y="4250531"/>
            <a:ext cx="5464912" cy="67008"/>
          </a:xfrm>
          <a:prstGeom prst="rect">
            <a:avLst/>
          </a:prstGeom>
          <a:solidFill>
            <a:srgbClr val="3646CF"/>
          </a:solidFill>
          <a:ln/>
        </p:spPr>
      </p:sp>
      <p:sp>
        <p:nvSpPr>
          <p:cNvPr id="35" name="Shape 33"/>
          <p:cNvSpPr/>
          <p:nvPr/>
        </p:nvSpPr>
        <p:spPr>
          <a:xfrm>
            <a:off x="548640" y="4308396"/>
            <a:ext cx="5464912" cy="67008"/>
          </a:xfrm>
          <a:prstGeom prst="rect">
            <a:avLst/>
          </a:prstGeom>
          <a:solidFill>
            <a:srgbClr val="3547D0"/>
          </a:solidFill>
          <a:ln/>
        </p:spPr>
      </p:sp>
      <p:sp>
        <p:nvSpPr>
          <p:cNvPr id="36" name="Shape 34"/>
          <p:cNvSpPr/>
          <p:nvPr/>
        </p:nvSpPr>
        <p:spPr>
          <a:xfrm>
            <a:off x="548640" y="4366260"/>
            <a:ext cx="5464912" cy="67008"/>
          </a:xfrm>
          <a:prstGeom prst="rect">
            <a:avLst/>
          </a:prstGeom>
          <a:solidFill>
            <a:srgbClr val="3549D0"/>
          </a:solidFill>
          <a:ln/>
        </p:spPr>
      </p:sp>
      <p:sp>
        <p:nvSpPr>
          <p:cNvPr id="37" name="Shape 35"/>
          <p:cNvSpPr/>
          <p:nvPr/>
        </p:nvSpPr>
        <p:spPr>
          <a:xfrm>
            <a:off x="548640" y="4424124"/>
            <a:ext cx="5464912" cy="67008"/>
          </a:xfrm>
          <a:prstGeom prst="rect">
            <a:avLst/>
          </a:prstGeom>
          <a:solidFill>
            <a:srgbClr val="344ACF"/>
          </a:solidFill>
          <a:ln/>
        </p:spPr>
      </p:sp>
      <p:sp>
        <p:nvSpPr>
          <p:cNvPr id="38" name="Shape 36"/>
          <p:cNvSpPr/>
          <p:nvPr/>
        </p:nvSpPr>
        <p:spPr>
          <a:xfrm>
            <a:off x="548640" y="4481989"/>
            <a:ext cx="5464912" cy="67008"/>
          </a:xfrm>
          <a:prstGeom prst="rect">
            <a:avLst/>
          </a:prstGeom>
          <a:solidFill>
            <a:srgbClr val="334BCF"/>
          </a:solidFill>
          <a:ln/>
        </p:spPr>
      </p:sp>
      <p:sp>
        <p:nvSpPr>
          <p:cNvPr id="39" name="Shape 37"/>
          <p:cNvSpPr/>
          <p:nvPr/>
        </p:nvSpPr>
        <p:spPr>
          <a:xfrm>
            <a:off x="548640" y="4539853"/>
            <a:ext cx="5464912" cy="67008"/>
          </a:xfrm>
          <a:prstGeom prst="rect">
            <a:avLst/>
          </a:prstGeom>
          <a:solidFill>
            <a:srgbClr val="324CCE"/>
          </a:solidFill>
          <a:ln/>
        </p:spPr>
      </p:sp>
      <p:sp>
        <p:nvSpPr>
          <p:cNvPr id="40" name="Shape 38"/>
          <p:cNvSpPr/>
          <p:nvPr/>
        </p:nvSpPr>
        <p:spPr>
          <a:xfrm>
            <a:off x="548640" y="4597717"/>
            <a:ext cx="5464912" cy="67008"/>
          </a:xfrm>
          <a:prstGeom prst="rect">
            <a:avLst/>
          </a:prstGeom>
          <a:solidFill>
            <a:srgbClr val="314ECD"/>
          </a:solidFill>
          <a:ln/>
        </p:spPr>
      </p:sp>
      <p:sp>
        <p:nvSpPr>
          <p:cNvPr id="41" name="Shape 39"/>
          <p:cNvSpPr/>
          <p:nvPr/>
        </p:nvSpPr>
        <p:spPr>
          <a:xfrm>
            <a:off x="548640" y="4655582"/>
            <a:ext cx="5464912" cy="67008"/>
          </a:xfrm>
          <a:prstGeom prst="rect">
            <a:avLst/>
          </a:prstGeom>
          <a:solidFill>
            <a:srgbClr val="304FCD"/>
          </a:solidFill>
          <a:ln/>
        </p:spPr>
      </p:sp>
      <p:sp>
        <p:nvSpPr>
          <p:cNvPr id="42" name="Shape 40"/>
          <p:cNvSpPr/>
          <p:nvPr/>
        </p:nvSpPr>
        <p:spPr>
          <a:xfrm>
            <a:off x="548640" y="4713446"/>
            <a:ext cx="5464912" cy="67008"/>
          </a:xfrm>
          <a:prstGeom prst="rect">
            <a:avLst/>
          </a:prstGeom>
          <a:solidFill>
            <a:srgbClr val="2F50CC"/>
          </a:solidFill>
          <a:ln/>
        </p:spPr>
      </p:sp>
      <p:sp>
        <p:nvSpPr>
          <p:cNvPr id="43" name="Shape 41"/>
          <p:cNvSpPr/>
          <p:nvPr/>
        </p:nvSpPr>
        <p:spPr>
          <a:xfrm>
            <a:off x="548640" y="4771311"/>
            <a:ext cx="5464912" cy="67008"/>
          </a:xfrm>
          <a:prstGeom prst="rect">
            <a:avLst/>
          </a:prstGeom>
          <a:solidFill>
            <a:srgbClr val="2F51CC"/>
          </a:solidFill>
          <a:ln/>
        </p:spPr>
      </p:sp>
      <p:sp>
        <p:nvSpPr>
          <p:cNvPr id="44" name="Shape 42"/>
          <p:cNvSpPr/>
          <p:nvPr/>
        </p:nvSpPr>
        <p:spPr>
          <a:xfrm>
            <a:off x="548640" y="4829175"/>
            <a:ext cx="5464912" cy="67008"/>
          </a:xfrm>
          <a:prstGeom prst="rect">
            <a:avLst/>
          </a:prstGeom>
          <a:solidFill>
            <a:srgbClr val="2E53CB"/>
          </a:solidFill>
          <a:ln/>
        </p:spPr>
      </p:sp>
      <p:sp>
        <p:nvSpPr>
          <p:cNvPr id="45" name="Shape 43"/>
          <p:cNvSpPr/>
          <p:nvPr/>
        </p:nvSpPr>
        <p:spPr>
          <a:xfrm>
            <a:off x="548640" y="4887039"/>
            <a:ext cx="5464912" cy="67008"/>
          </a:xfrm>
          <a:prstGeom prst="rect">
            <a:avLst/>
          </a:prstGeom>
          <a:solidFill>
            <a:srgbClr val="2D54CB"/>
          </a:solidFill>
          <a:ln/>
        </p:spPr>
      </p:sp>
      <p:sp>
        <p:nvSpPr>
          <p:cNvPr id="46" name="Shape 44"/>
          <p:cNvSpPr/>
          <p:nvPr/>
        </p:nvSpPr>
        <p:spPr>
          <a:xfrm>
            <a:off x="548640" y="4944904"/>
            <a:ext cx="5464912" cy="67008"/>
          </a:xfrm>
          <a:prstGeom prst="rect">
            <a:avLst/>
          </a:prstGeom>
          <a:solidFill>
            <a:srgbClr val="2C55CA"/>
          </a:solidFill>
          <a:ln/>
        </p:spPr>
      </p:sp>
      <p:sp>
        <p:nvSpPr>
          <p:cNvPr id="47" name="Shape 45"/>
          <p:cNvSpPr/>
          <p:nvPr/>
        </p:nvSpPr>
        <p:spPr>
          <a:xfrm>
            <a:off x="548640" y="5002768"/>
            <a:ext cx="5464912" cy="67008"/>
          </a:xfrm>
          <a:prstGeom prst="rect">
            <a:avLst/>
          </a:prstGeom>
          <a:solidFill>
            <a:srgbClr val="2B56C9"/>
          </a:solidFill>
          <a:ln/>
        </p:spPr>
      </p:sp>
      <p:sp>
        <p:nvSpPr>
          <p:cNvPr id="48" name="Shape 46"/>
          <p:cNvSpPr/>
          <p:nvPr/>
        </p:nvSpPr>
        <p:spPr>
          <a:xfrm>
            <a:off x="548640" y="5060633"/>
            <a:ext cx="5464912" cy="67008"/>
          </a:xfrm>
          <a:prstGeom prst="rect">
            <a:avLst/>
          </a:prstGeom>
          <a:solidFill>
            <a:srgbClr val="2A57C9"/>
          </a:solidFill>
          <a:ln/>
        </p:spPr>
      </p:sp>
      <p:sp>
        <p:nvSpPr>
          <p:cNvPr id="49" name="Shape 47"/>
          <p:cNvSpPr/>
          <p:nvPr/>
        </p:nvSpPr>
        <p:spPr>
          <a:xfrm>
            <a:off x="548640" y="5118497"/>
            <a:ext cx="5464912" cy="67008"/>
          </a:xfrm>
          <a:prstGeom prst="rect">
            <a:avLst/>
          </a:prstGeom>
          <a:solidFill>
            <a:srgbClr val="2959C8"/>
          </a:solidFill>
          <a:ln/>
        </p:spPr>
      </p:sp>
      <p:sp>
        <p:nvSpPr>
          <p:cNvPr id="50" name="Shape 48"/>
          <p:cNvSpPr/>
          <p:nvPr/>
        </p:nvSpPr>
        <p:spPr>
          <a:xfrm>
            <a:off x="548640" y="5176361"/>
            <a:ext cx="5464912" cy="67008"/>
          </a:xfrm>
          <a:prstGeom prst="rect">
            <a:avLst/>
          </a:prstGeom>
          <a:solidFill>
            <a:srgbClr val="295AC8"/>
          </a:solidFill>
          <a:ln/>
        </p:spPr>
      </p:sp>
      <p:sp>
        <p:nvSpPr>
          <p:cNvPr id="51" name="Shape 49"/>
          <p:cNvSpPr/>
          <p:nvPr/>
        </p:nvSpPr>
        <p:spPr>
          <a:xfrm>
            <a:off x="548640" y="5234226"/>
            <a:ext cx="5464912" cy="67008"/>
          </a:xfrm>
          <a:prstGeom prst="rect">
            <a:avLst/>
          </a:prstGeom>
          <a:solidFill>
            <a:srgbClr val="285BC7"/>
          </a:solidFill>
          <a:ln/>
        </p:spPr>
      </p:sp>
      <p:sp>
        <p:nvSpPr>
          <p:cNvPr id="52" name="Shape 50"/>
          <p:cNvSpPr/>
          <p:nvPr/>
        </p:nvSpPr>
        <p:spPr>
          <a:xfrm>
            <a:off x="548640" y="5292090"/>
            <a:ext cx="5464912" cy="67008"/>
          </a:xfrm>
          <a:prstGeom prst="rect">
            <a:avLst/>
          </a:prstGeom>
          <a:solidFill>
            <a:srgbClr val="275CC7"/>
          </a:solidFill>
          <a:ln/>
        </p:spPr>
      </p:sp>
      <p:sp>
        <p:nvSpPr>
          <p:cNvPr id="53" name="Shape 51"/>
          <p:cNvSpPr/>
          <p:nvPr/>
        </p:nvSpPr>
        <p:spPr>
          <a:xfrm>
            <a:off x="548640" y="5349954"/>
            <a:ext cx="5464912" cy="67008"/>
          </a:xfrm>
          <a:prstGeom prst="rect">
            <a:avLst/>
          </a:prstGeom>
          <a:solidFill>
            <a:srgbClr val="265EC6"/>
          </a:solidFill>
          <a:ln/>
        </p:spPr>
      </p:sp>
      <p:sp>
        <p:nvSpPr>
          <p:cNvPr id="54" name="Shape 52"/>
          <p:cNvSpPr/>
          <p:nvPr/>
        </p:nvSpPr>
        <p:spPr>
          <a:xfrm>
            <a:off x="548640" y="5407819"/>
            <a:ext cx="5464912" cy="67008"/>
          </a:xfrm>
          <a:prstGeom prst="rect">
            <a:avLst/>
          </a:prstGeom>
          <a:solidFill>
            <a:srgbClr val="255FC5"/>
          </a:solidFill>
          <a:ln/>
        </p:spPr>
      </p:sp>
      <p:sp>
        <p:nvSpPr>
          <p:cNvPr id="55" name="Shape 53"/>
          <p:cNvSpPr/>
          <p:nvPr/>
        </p:nvSpPr>
        <p:spPr>
          <a:xfrm>
            <a:off x="548640" y="5465683"/>
            <a:ext cx="5464912" cy="67008"/>
          </a:xfrm>
          <a:prstGeom prst="rect">
            <a:avLst/>
          </a:prstGeom>
          <a:solidFill>
            <a:srgbClr val="2460C5"/>
          </a:solidFill>
          <a:ln/>
        </p:spPr>
      </p:sp>
      <p:sp>
        <p:nvSpPr>
          <p:cNvPr id="56" name="Shape 54"/>
          <p:cNvSpPr/>
          <p:nvPr/>
        </p:nvSpPr>
        <p:spPr>
          <a:xfrm>
            <a:off x="548640" y="5523548"/>
            <a:ext cx="5464912" cy="67008"/>
          </a:xfrm>
          <a:prstGeom prst="rect">
            <a:avLst/>
          </a:prstGeom>
          <a:solidFill>
            <a:srgbClr val="2361C4"/>
          </a:solidFill>
          <a:ln/>
        </p:spPr>
      </p:sp>
      <p:sp>
        <p:nvSpPr>
          <p:cNvPr id="57" name="Shape 55"/>
          <p:cNvSpPr/>
          <p:nvPr/>
        </p:nvSpPr>
        <p:spPr>
          <a:xfrm>
            <a:off x="548640" y="5581412"/>
            <a:ext cx="5464912" cy="67008"/>
          </a:xfrm>
          <a:prstGeom prst="rect">
            <a:avLst/>
          </a:prstGeom>
          <a:solidFill>
            <a:srgbClr val="2363C4"/>
          </a:solidFill>
          <a:ln/>
        </p:spPr>
      </p:sp>
      <p:sp>
        <p:nvSpPr>
          <p:cNvPr id="58" name="Shape 56"/>
          <p:cNvSpPr/>
          <p:nvPr/>
        </p:nvSpPr>
        <p:spPr>
          <a:xfrm>
            <a:off x="548640" y="5639276"/>
            <a:ext cx="5464912" cy="67008"/>
          </a:xfrm>
          <a:prstGeom prst="rect">
            <a:avLst/>
          </a:prstGeom>
          <a:solidFill>
            <a:srgbClr val="2264C3"/>
          </a:solidFill>
          <a:ln/>
        </p:spPr>
      </p:sp>
      <p:sp>
        <p:nvSpPr>
          <p:cNvPr id="59" name="Shape 57"/>
          <p:cNvSpPr/>
          <p:nvPr/>
        </p:nvSpPr>
        <p:spPr>
          <a:xfrm>
            <a:off x="548640" y="5697141"/>
            <a:ext cx="5464912" cy="67008"/>
          </a:xfrm>
          <a:prstGeom prst="rect">
            <a:avLst/>
          </a:prstGeom>
          <a:solidFill>
            <a:srgbClr val="2165C3"/>
          </a:solidFill>
          <a:ln/>
        </p:spPr>
      </p:sp>
      <p:sp>
        <p:nvSpPr>
          <p:cNvPr id="60" name="Shape 58"/>
          <p:cNvSpPr/>
          <p:nvPr/>
        </p:nvSpPr>
        <p:spPr>
          <a:xfrm>
            <a:off x="548640" y="5755005"/>
            <a:ext cx="5464912" cy="67008"/>
          </a:xfrm>
          <a:prstGeom prst="rect">
            <a:avLst/>
          </a:prstGeom>
          <a:solidFill>
            <a:srgbClr val="2066C2"/>
          </a:solidFill>
          <a:ln/>
        </p:spPr>
      </p:sp>
      <p:sp>
        <p:nvSpPr>
          <p:cNvPr id="61" name="Shape 59"/>
          <p:cNvSpPr/>
          <p:nvPr/>
        </p:nvSpPr>
        <p:spPr>
          <a:xfrm>
            <a:off x="548640" y="5812869"/>
            <a:ext cx="5464912" cy="67008"/>
          </a:xfrm>
          <a:prstGeom prst="rect">
            <a:avLst/>
          </a:prstGeom>
          <a:solidFill>
            <a:srgbClr val="1F68C1"/>
          </a:solidFill>
          <a:ln/>
        </p:spPr>
      </p:sp>
      <p:sp>
        <p:nvSpPr>
          <p:cNvPr id="62" name="Shape 60"/>
          <p:cNvSpPr/>
          <p:nvPr/>
        </p:nvSpPr>
        <p:spPr>
          <a:xfrm>
            <a:off x="548640" y="5870734"/>
            <a:ext cx="5464912" cy="67008"/>
          </a:xfrm>
          <a:prstGeom prst="rect">
            <a:avLst/>
          </a:prstGeom>
          <a:solidFill>
            <a:srgbClr val="1E69C1"/>
          </a:solidFill>
          <a:ln/>
        </p:spPr>
      </p:sp>
      <p:sp>
        <p:nvSpPr>
          <p:cNvPr id="63" name="Shape 61"/>
          <p:cNvSpPr/>
          <p:nvPr/>
        </p:nvSpPr>
        <p:spPr>
          <a:xfrm>
            <a:off x="548640" y="5928598"/>
            <a:ext cx="5464912" cy="67008"/>
          </a:xfrm>
          <a:prstGeom prst="rect">
            <a:avLst/>
          </a:prstGeom>
          <a:solidFill>
            <a:srgbClr val="1D6AC0"/>
          </a:solidFill>
          <a:ln/>
        </p:spPr>
      </p:sp>
      <p:sp>
        <p:nvSpPr>
          <p:cNvPr id="64" name="Shape 62"/>
          <p:cNvSpPr/>
          <p:nvPr/>
        </p:nvSpPr>
        <p:spPr>
          <a:xfrm>
            <a:off x="548640" y="5986463"/>
            <a:ext cx="5464912" cy="67008"/>
          </a:xfrm>
          <a:prstGeom prst="rect">
            <a:avLst/>
          </a:prstGeom>
          <a:solidFill>
            <a:srgbClr val="1D6BC0"/>
          </a:solidFill>
          <a:ln/>
        </p:spPr>
      </p:sp>
      <p:sp>
        <p:nvSpPr>
          <p:cNvPr id="65" name="Shape 63"/>
          <p:cNvSpPr/>
          <p:nvPr/>
        </p:nvSpPr>
        <p:spPr>
          <a:xfrm>
            <a:off x="548640" y="6044327"/>
            <a:ext cx="5464912" cy="67008"/>
          </a:xfrm>
          <a:prstGeom prst="rect">
            <a:avLst/>
          </a:prstGeom>
          <a:solidFill>
            <a:srgbClr val="1C6DBF"/>
          </a:solidFill>
          <a:ln/>
        </p:spPr>
      </p:sp>
      <p:sp>
        <p:nvSpPr>
          <p:cNvPr id="66" name="Shape 64"/>
          <p:cNvSpPr/>
          <p:nvPr/>
        </p:nvSpPr>
        <p:spPr>
          <a:xfrm>
            <a:off x="548640" y="6102191"/>
            <a:ext cx="5464912" cy="67008"/>
          </a:xfrm>
          <a:prstGeom prst="rect">
            <a:avLst/>
          </a:prstGeom>
          <a:solidFill>
            <a:srgbClr val="1B6EBF"/>
          </a:solidFill>
          <a:ln/>
        </p:spPr>
      </p:sp>
      <p:sp>
        <p:nvSpPr>
          <p:cNvPr id="67" name="Shape 65"/>
          <p:cNvSpPr/>
          <p:nvPr/>
        </p:nvSpPr>
        <p:spPr>
          <a:xfrm>
            <a:off x="548640" y="6160056"/>
            <a:ext cx="5464912" cy="67008"/>
          </a:xfrm>
          <a:prstGeom prst="rect">
            <a:avLst/>
          </a:prstGeom>
          <a:solidFill>
            <a:srgbClr val="1A6FBE"/>
          </a:solidFill>
          <a:ln/>
        </p:spPr>
      </p:sp>
      <p:sp>
        <p:nvSpPr>
          <p:cNvPr id="68" name="Text 66"/>
          <p:cNvSpPr/>
          <p:nvPr/>
        </p:nvSpPr>
        <p:spPr>
          <a:xfrm>
            <a:off x="914400" y="2880360"/>
            <a:ext cx="4733392" cy="914400"/>
          </a:xfrm>
          <a:prstGeom prst="rect">
            <a:avLst/>
          </a:prstGeom>
          <a:noFill/>
          <a:ln/>
        </p:spPr>
        <p:txBody>
          <a:bodyPr wrap="square" lIns="0" tIns="0" rIns="0" bIns="0" rtlCol="0" anchor="t"/>
          <a:lstStyle/>
          <a:p>
            <a:pPr algn="l" indent="0" marL="0">
              <a:buNone/>
            </a:pPr>
            <a:r>
              <a:rPr lang="en-US" sz="1100" b="1" spc="300" kern="0" dirty="0">
                <a:solidFill>
                  <a:srgbClr val="FFFFFF"/>
                </a:solidFill>
                <a:latin typeface="Calibri" pitchFamily="34" charset="0"/>
                <a:ea typeface="Calibri" pitchFamily="34" charset="-122"/>
                <a:cs typeface="Calibri" pitchFamily="34" charset="-120"/>
              </a:rPr>
              <a:t>CUSTOM ANALYTICS</a:t>
            </a:r>
            <a:endParaRPr lang="en-US" sz="1100" dirty="0"/>
          </a:p>
        </p:txBody>
      </p:sp>
      <p:sp>
        <p:nvSpPr>
          <p:cNvPr id="69" name="Text 67"/>
          <p:cNvSpPr/>
          <p:nvPr/>
        </p:nvSpPr>
        <p:spPr>
          <a:xfrm>
            <a:off x="914400" y="3383280"/>
            <a:ext cx="4733392" cy="2011680"/>
          </a:xfrm>
          <a:prstGeom prst="rect">
            <a:avLst/>
          </a:prstGeom>
          <a:noFill/>
          <a:ln/>
        </p:spPr>
        <p:txBody>
          <a:bodyPr wrap="square" lIns="0" tIns="0" rIns="0" bIns="0" rtlCol="0" anchor="t"/>
          <a:lstStyle/>
          <a:p>
            <a:pPr algn="l" indent="0" marL="0">
              <a:buNone/>
            </a:pPr>
            <a:r>
              <a:rPr lang="en-US" sz="3200" b="1" spc="-50" kern="0" dirty="0">
                <a:solidFill>
                  <a:srgbClr val="FFFFFF"/>
                </a:solidFill>
                <a:latin typeface="Calibri" pitchFamily="34" charset="0"/>
                <a:ea typeface="Calibri" pitchFamily="34" charset="-122"/>
                <a:cs typeface="Calibri" pitchFamily="34" charset="-120"/>
              </a:rPr>
              <a:t>Closed-loop, automatic, opinionated.</a:t>
            </a:r>
            <a:endParaRPr lang="en-US" sz="3200" dirty="0"/>
          </a:p>
        </p:txBody>
      </p:sp>
      <p:sp>
        <p:nvSpPr>
          <p:cNvPr id="70" name="Text 68"/>
          <p:cNvSpPr/>
          <p:nvPr/>
        </p:nvSpPr>
        <p:spPr>
          <a:xfrm>
            <a:off x="914400" y="5166360"/>
            <a:ext cx="4733392" cy="10972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Reply rate by fit-score band. Time-to-first-reply by platform. Cost per qualified creator. Metrics impossible without owning discovery, send, and reply in one tool.</a:t>
            </a:r>
            <a:endParaRPr lang="en-US" sz="1300" dirty="0"/>
          </a:p>
        </p:txBody>
      </p:sp>
      <p:sp>
        <p:nvSpPr>
          <p:cNvPr id="71" name="Shape 69"/>
          <p:cNvSpPr/>
          <p:nvPr/>
        </p:nvSpPr>
        <p:spPr>
          <a:xfrm>
            <a:off x="6178144" y="2514600"/>
            <a:ext cx="5464912" cy="1124712"/>
          </a:xfrm>
          <a:prstGeom prst="roundRect">
            <a:avLst>
              <a:gd name="adj" fmla="val 9756"/>
            </a:avLst>
          </a:prstGeom>
          <a:solidFill>
            <a:srgbClr val="FFFFFF"/>
          </a:solidFill>
          <a:ln w="9525">
            <a:solidFill>
              <a:srgbClr val="E5E7F0"/>
            </a:solidFill>
            <a:prstDash val="solid"/>
          </a:ln>
        </p:spPr>
      </p:sp>
      <p:sp>
        <p:nvSpPr>
          <p:cNvPr id="72" name="Shape 70"/>
          <p:cNvSpPr/>
          <p:nvPr/>
        </p:nvSpPr>
        <p:spPr>
          <a:xfrm>
            <a:off x="6178144" y="2514600"/>
            <a:ext cx="73152" cy="1124712"/>
          </a:xfrm>
          <a:prstGeom prst="rect">
            <a:avLst/>
          </a:prstGeom>
          <a:solidFill>
            <a:srgbClr val="5028C2"/>
          </a:solidFill>
          <a:ln/>
        </p:spPr>
      </p:sp>
      <p:sp>
        <p:nvSpPr>
          <p:cNvPr id="73" name="Text 71"/>
          <p:cNvSpPr/>
          <p:nvPr/>
        </p:nvSpPr>
        <p:spPr>
          <a:xfrm>
            <a:off x="6434176" y="2697480"/>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By score</a:t>
            </a:r>
            <a:endParaRPr lang="en-US" sz="1600" dirty="0"/>
          </a:p>
        </p:txBody>
      </p:sp>
      <p:sp>
        <p:nvSpPr>
          <p:cNvPr id="74" name="Text 72"/>
          <p:cNvSpPr/>
          <p:nvPr/>
        </p:nvSpPr>
        <p:spPr>
          <a:xfrm>
            <a:off x="6434176" y="3081528"/>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Which fit-score bands actually convert?</a:t>
            </a:r>
            <a:endParaRPr lang="en-US" sz="1200" dirty="0"/>
          </a:p>
        </p:txBody>
      </p:sp>
      <p:sp>
        <p:nvSpPr>
          <p:cNvPr id="75" name="Shape 73"/>
          <p:cNvSpPr/>
          <p:nvPr/>
        </p:nvSpPr>
        <p:spPr>
          <a:xfrm>
            <a:off x="6178144" y="3803904"/>
            <a:ext cx="5464912" cy="1124712"/>
          </a:xfrm>
          <a:prstGeom prst="roundRect">
            <a:avLst>
              <a:gd name="adj" fmla="val 9756"/>
            </a:avLst>
          </a:prstGeom>
          <a:solidFill>
            <a:srgbClr val="FFFFFF"/>
          </a:solidFill>
          <a:ln w="9525">
            <a:solidFill>
              <a:srgbClr val="E5E7F0"/>
            </a:solidFill>
            <a:prstDash val="solid"/>
          </a:ln>
        </p:spPr>
      </p:sp>
      <p:sp>
        <p:nvSpPr>
          <p:cNvPr id="76" name="Shape 74"/>
          <p:cNvSpPr/>
          <p:nvPr/>
        </p:nvSpPr>
        <p:spPr>
          <a:xfrm>
            <a:off x="6178144" y="3803904"/>
            <a:ext cx="73152" cy="1124712"/>
          </a:xfrm>
          <a:prstGeom prst="rect">
            <a:avLst/>
          </a:prstGeom>
          <a:solidFill>
            <a:srgbClr val="3548D0"/>
          </a:solidFill>
          <a:ln/>
        </p:spPr>
      </p:sp>
      <p:sp>
        <p:nvSpPr>
          <p:cNvPr id="77" name="Text 75"/>
          <p:cNvSpPr/>
          <p:nvPr/>
        </p:nvSpPr>
        <p:spPr>
          <a:xfrm>
            <a:off x="6434176" y="3986784"/>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By platform</a:t>
            </a:r>
            <a:endParaRPr lang="en-US" sz="1600" dirty="0"/>
          </a:p>
        </p:txBody>
      </p:sp>
      <p:sp>
        <p:nvSpPr>
          <p:cNvPr id="78" name="Text 76"/>
          <p:cNvSpPr/>
          <p:nvPr/>
        </p:nvSpPr>
        <p:spPr>
          <a:xfrm>
            <a:off x="6434176" y="4370832"/>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Which platforms reply fastest for your ICP?</a:t>
            </a:r>
            <a:endParaRPr lang="en-US" sz="1200" dirty="0"/>
          </a:p>
        </p:txBody>
      </p:sp>
      <p:sp>
        <p:nvSpPr>
          <p:cNvPr id="79" name="Shape 77"/>
          <p:cNvSpPr/>
          <p:nvPr/>
        </p:nvSpPr>
        <p:spPr>
          <a:xfrm>
            <a:off x="6178144" y="5093208"/>
            <a:ext cx="5464912" cy="1124712"/>
          </a:xfrm>
          <a:prstGeom prst="roundRect">
            <a:avLst>
              <a:gd name="adj" fmla="val 9756"/>
            </a:avLst>
          </a:prstGeom>
          <a:solidFill>
            <a:srgbClr val="FFFFFF"/>
          </a:solidFill>
          <a:ln w="9525">
            <a:solidFill>
              <a:srgbClr val="E5E7F0"/>
            </a:solidFill>
            <a:prstDash val="solid"/>
          </a:ln>
        </p:spPr>
      </p:sp>
      <p:sp>
        <p:nvSpPr>
          <p:cNvPr id="80" name="Shape 78"/>
          <p:cNvSpPr/>
          <p:nvPr/>
        </p:nvSpPr>
        <p:spPr>
          <a:xfrm>
            <a:off x="6178144" y="5093208"/>
            <a:ext cx="73152" cy="1124712"/>
          </a:xfrm>
          <a:prstGeom prst="rect">
            <a:avLst/>
          </a:prstGeom>
          <a:solidFill>
            <a:srgbClr val="1A6FBE"/>
          </a:solidFill>
          <a:ln/>
        </p:spPr>
      </p:sp>
      <p:sp>
        <p:nvSpPr>
          <p:cNvPr id="81" name="Text 79"/>
          <p:cNvSpPr/>
          <p:nvPr/>
        </p:nvSpPr>
        <p:spPr>
          <a:xfrm>
            <a:off x="6434176" y="5276088"/>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By template</a:t>
            </a:r>
            <a:endParaRPr lang="en-US" sz="1600" dirty="0"/>
          </a:p>
        </p:txBody>
      </p:sp>
      <p:sp>
        <p:nvSpPr>
          <p:cNvPr id="82" name="Text 80"/>
          <p:cNvSpPr/>
          <p:nvPr/>
        </p:nvSpPr>
        <p:spPr>
          <a:xfrm>
            <a:off x="6434176" y="5660136"/>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Which messages earn replies, which earn silence?</a:t>
            </a:r>
            <a:endParaRPr lang="en-US" sz="1200" dirty="0"/>
          </a:p>
        </p:txBody>
      </p:sp>
      <p:sp>
        <p:nvSpPr>
          <p:cNvPr id="83" name="Shape 81"/>
          <p:cNvSpPr/>
          <p:nvPr/>
        </p:nvSpPr>
        <p:spPr>
          <a:xfrm>
            <a:off x="548640" y="502920"/>
            <a:ext cx="292608" cy="292608"/>
          </a:xfrm>
          <a:prstGeom prst="roundRect">
            <a:avLst>
              <a:gd name="adj" fmla="val 25000"/>
            </a:avLst>
          </a:prstGeom>
          <a:solidFill>
            <a:srgbClr val="5028C2"/>
          </a:solidFill>
          <a:ln/>
        </p:spPr>
      </p:sp>
      <p:sp>
        <p:nvSpPr>
          <p:cNvPr id="84" name="Shape 82"/>
          <p:cNvSpPr/>
          <p:nvPr/>
        </p:nvSpPr>
        <p:spPr>
          <a:xfrm>
            <a:off x="548640" y="502920"/>
            <a:ext cx="292608" cy="292608"/>
          </a:xfrm>
          <a:prstGeom prst="roundRect">
            <a:avLst>
              <a:gd name="adj" fmla="val 25000"/>
            </a:avLst>
          </a:prstGeom>
          <a:solidFill>
            <a:srgbClr val="1A6FBE">
              <a:alpha val="50000"/>
            </a:srgbClr>
          </a:solidFill>
          <a:ln/>
        </p:spPr>
      </p:sp>
      <p:sp>
        <p:nvSpPr>
          <p:cNvPr id="85" name="Text 83"/>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86" name="Text 84"/>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87" name="Text 85"/>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10 · Custom analytics  ·  vG</a:t>
            </a:r>
            <a:endParaRPr lang="en-US" sz="900" dirty="0"/>
          </a:p>
        </p:txBody>
      </p:sp>
      <p:sp>
        <p:nvSpPr>
          <p:cNvPr id="88" name="Text 86"/>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89" name="Text 87"/>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070 / 126</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80015" y="-914400"/>
            <a:ext cx="3200400" cy="3200400"/>
          </a:xfrm>
          <a:prstGeom prst="ellipse">
            <a:avLst/>
          </a:prstGeom>
          <a:solidFill>
            <a:srgbClr val="F1ECFF"/>
          </a:solidFill>
          <a:ln/>
        </p:spPr>
      </p:sp>
      <p:sp>
        <p:nvSpPr>
          <p:cNvPr id="3" name="Shape 1"/>
          <p:cNvSpPr/>
          <p:nvPr/>
        </p:nvSpPr>
        <p:spPr>
          <a:xfrm>
            <a:off x="10820095" y="-548640"/>
            <a:ext cx="2194560" cy="2194560"/>
          </a:xfrm>
          <a:prstGeom prst="ellipse">
            <a:avLst/>
          </a:prstGeom>
          <a:solidFill>
            <a:srgbClr val="E8F1FB">
              <a:alpha val="60000"/>
            </a:srgbClr>
          </a:solidFill>
          <a:ln/>
        </p:spPr>
      </p:sp>
      <p:sp>
        <p:nvSpPr>
          <p:cNvPr id="4" name="Shape 2"/>
          <p:cNvSpPr/>
          <p:nvPr/>
        </p:nvSpPr>
        <p:spPr>
          <a:xfrm>
            <a:off x="548640" y="5486400"/>
            <a:ext cx="54864" cy="54864"/>
          </a:xfrm>
          <a:prstGeom prst="ellipse">
            <a:avLst/>
          </a:prstGeom>
          <a:solidFill>
            <a:srgbClr val="5028C2">
              <a:alpha val="30000"/>
            </a:srgbClr>
          </a:solidFill>
          <a:ln/>
        </p:spPr>
      </p:sp>
      <p:sp>
        <p:nvSpPr>
          <p:cNvPr id="5" name="Shape 3"/>
          <p:cNvSpPr/>
          <p:nvPr/>
        </p:nvSpPr>
        <p:spPr>
          <a:xfrm>
            <a:off x="548640" y="5650992"/>
            <a:ext cx="54864" cy="54864"/>
          </a:xfrm>
          <a:prstGeom prst="ellipse">
            <a:avLst/>
          </a:prstGeom>
          <a:solidFill>
            <a:srgbClr val="5028C2">
              <a:alpha val="30000"/>
            </a:srgbClr>
          </a:solidFill>
          <a:ln/>
        </p:spPr>
      </p:sp>
      <p:sp>
        <p:nvSpPr>
          <p:cNvPr id="6" name="Shape 4"/>
          <p:cNvSpPr/>
          <p:nvPr/>
        </p:nvSpPr>
        <p:spPr>
          <a:xfrm>
            <a:off x="548640" y="5815584"/>
            <a:ext cx="54864" cy="54864"/>
          </a:xfrm>
          <a:prstGeom prst="ellipse">
            <a:avLst/>
          </a:prstGeom>
          <a:solidFill>
            <a:srgbClr val="5028C2">
              <a:alpha val="30000"/>
            </a:srgbClr>
          </a:solidFill>
          <a:ln/>
        </p:spPr>
      </p:sp>
      <p:sp>
        <p:nvSpPr>
          <p:cNvPr id="7" name="Shape 5"/>
          <p:cNvSpPr/>
          <p:nvPr/>
        </p:nvSpPr>
        <p:spPr>
          <a:xfrm>
            <a:off x="713232" y="5486400"/>
            <a:ext cx="54864" cy="54864"/>
          </a:xfrm>
          <a:prstGeom prst="ellipse">
            <a:avLst/>
          </a:prstGeom>
          <a:solidFill>
            <a:srgbClr val="5028C2">
              <a:alpha val="30000"/>
            </a:srgbClr>
          </a:solidFill>
          <a:ln/>
        </p:spPr>
      </p:sp>
      <p:sp>
        <p:nvSpPr>
          <p:cNvPr id="8" name="Shape 6"/>
          <p:cNvSpPr/>
          <p:nvPr/>
        </p:nvSpPr>
        <p:spPr>
          <a:xfrm>
            <a:off x="713232" y="5650992"/>
            <a:ext cx="54864" cy="54864"/>
          </a:xfrm>
          <a:prstGeom prst="ellipse">
            <a:avLst/>
          </a:prstGeom>
          <a:solidFill>
            <a:srgbClr val="5028C2">
              <a:alpha val="30000"/>
            </a:srgbClr>
          </a:solidFill>
          <a:ln/>
        </p:spPr>
      </p:sp>
      <p:sp>
        <p:nvSpPr>
          <p:cNvPr id="9" name="Shape 7"/>
          <p:cNvSpPr/>
          <p:nvPr/>
        </p:nvSpPr>
        <p:spPr>
          <a:xfrm>
            <a:off x="713232" y="5815584"/>
            <a:ext cx="54864" cy="54864"/>
          </a:xfrm>
          <a:prstGeom prst="ellipse">
            <a:avLst/>
          </a:prstGeom>
          <a:solidFill>
            <a:srgbClr val="5028C2">
              <a:alpha val="30000"/>
            </a:srgbClr>
          </a:solidFill>
          <a:ln/>
        </p:spPr>
      </p:sp>
      <p:sp>
        <p:nvSpPr>
          <p:cNvPr id="10" name="Shape 8"/>
          <p:cNvSpPr/>
          <p:nvPr/>
        </p:nvSpPr>
        <p:spPr>
          <a:xfrm>
            <a:off x="877824" y="5486400"/>
            <a:ext cx="54864" cy="54864"/>
          </a:xfrm>
          <a:prstGeom prst="ellipse">
            <a:avLst/>
          </a:prstGeom>
          <a:solidFill>
            <a:srgbClr val="5028C2">
              <a:alpha val="30000"/>
            </a:srgbClr>
          </a:solidFill>
          <a:ln/>
        </p:spPr>
      </p:sp>
      <p:sp>
        <p:nvSpPr>
          <p:cNvPr id="11" name="Shape 9"/>
          <p:cNvSpPr/>
          <p:nvPr/>
        </p:nvSpPr>
        <p:spPr>
          <a:xfrm>
            <a:off x="877824" y="5650992"/>
            <a:ext cx="54864" cy="54864"/>
          </a:xfrm>
          <a:prstGeom prst="ellipse">
            <a:avLst/>
          </a:prstGeom>
          <a:solidFill>
            <a:srgbClr val="5028C2">
              <a:alpha val="30000"/>
            </a:srgbClr>
          </a:solidFill>
          <a:ln/>
        </p:spPr>
      </p:sp>
      <p:sp>
        <p:nvSpPr>
          <p:cNvPr id="12" name="Shape 10"/>
          <p:cNvSpPr/>
          <p:nvPr/>
        </p:nvSpPr>
        <p:spPr>
          <a:xfrm>
            <a:off x="877824" y="5815584"/>
            <a:ext cx="54864" cy="54864"/>
          </a:xfrm>
          <a:prstGeom prst="ellipse">
            <a:avLst/>
          </a:prstGeom>
          <a:solidFill>
            <a:srgbClr val="5028C2">
              <a:alpha val="30000"/>
            </a:srgbClr>
          </a:solidFill>
          <a:ln/>
        </p:spPr>
      </p:sp>
      <p:sp>
        <p:nvSpPr>
          <p:cNvPr id="13" name="Shape 11"/>
          <p:cNvSpPr/>
          <p:nvPr/>
        </p:nvSpPr>
        <p:spPr>
          <a:xfrm>
            <a:off x="1042416" y="5486400"/>
            <a:ext cx="54864" cy="54864"/>
          </a:xfrm>
          <a:prstGeom prst="ellipse">
            <a:avLst/>
          </a:prstGeom>
          <a:solidFill>
            <a:srgbClr val="5028C2">
              <a:alpha val="30000"/>
            </a:srgbClr>
          </a:solidFill>
          <a:ln/>
        </p:spPr>
      </p:sp>
      <p:sp>
        <p:nvSpPr>
          <p:cNvPr id="14" name="Shape 12"/>
          <p:cNvSpPr/>
          <p:nvPr/>
        </p:nvSpPr>
        <p:spPr>
          <a:xfrm>
            <a:off x="1042416" y="5650992"/>
            <a:ext cx="54864" cy="54864"/>
          </a:xfrm>
          <a:prstGeom prst="ellipse">
            <a:avLst/>
          </a:prstGeom>
          <a:solidFill>
            <a:srgbClr val="5028C2">
              <a:alpha val="30000"/>
            </a:srgbClr>
          </a:solidFill>
          <a:ln/>
        </p:spPr>
      </p:sp>
      <p:sp>
        <p:nvSpPr>
          <p:cNvPr id="15" name="Shape 13"/>
          <p:cNvSpPr/>
          <p:nvPr/>
        </p:nvSpPr>
        <p:spPr>
          <a:xfrm>
            <a:off x="1042416" y="5815584"/>
            <a:ext cx="54864" cy="54864"/>
          </a:xfrm>
          <a:prstGeom prst="ellipse">
            <a:avLst/>
          </a:prstGeom>
          <a:solidFill>
            <a:srgbClr val="5028C2">
              <a:alpha val="30000"/>
            </a:srgbClr>
          </a:solidFill>
          <a:ln/>
        </p:spPr>
      </p:sp>
      <p:sp>
        <p:nvSpPr>
          <p:cNvPr id="16" name="Shape 14"/>
          <p:cNvSpPr/>
          <p:nvPr/>
        </p:nvSpPr>
        <p:spPr>
          <a:xfrm>
            <a:off x="1207008" y="5486400"/>
            <a:ext cx="54864" cy="54864"/>
          </a:xfrm>
          <a:prstGeom prst="ellipse">
            <a:avLst/>
          </a:prstGeom>
          <a:solidFill>
            <a:srgbClr val="5028C2">
              <a:alpha val="30000"/>
            </a:srgbClr>
          </a:solidFill>
          <a:ln/>
        </p:spPr>
      </p:sp>
      <p:sp>
        <p:nvSpPr>
          <p:cNvPr id="17" name="Shape 15"/>
          <p:cNvSpPr/>
          <p:nvPr/>
        </p:nvSpPr>
        <p:spPr>
          <a:xfrm>
            <a:off x="1207008" y="5650992"/>
            <a:ext cx="54864" cy="54864"/>
          </a:xfrm>
          <a:prstGeom prst="ellipse">
            <a:avLst/>
          </a:prstGeom>
          <a:solidFill>
            <a:srgbClr val="5028C2">
              <a:alpha val="30000"/>
            </a:srgbClr>
          </a:solidFill>
          <a:ln/>
        </p:spPr>
      </p:sp>
      <p:sp>
        <p:nvSpPr>
          <p:cNvPr id="18" name="Shape 16"/>
          <p:cNvSpPr/>
          <p:nvPr/>
        </p:nvSpPr>
        <p:spPr>
          <a:xfrm>
            <a:off x="1207008" y="5815584"/>
            <a:ext cx="54864" cy="54864"/>
          </a:xfrm>
          <a:prstGeom prst="ellipse">
            <a:avLst/>
          </a:prstGeom>
          <a:solidFill>
            <a:srgbClr val="5028C2">
              <a:alpha val="30000"/>
            </a:srgbClr>
          </a:solidFill>
          <a:ln/>
        </p:spPr>
      </p:sp>
      <p:sp>
        <p:nvSpPr>
          <p:cNvPr id="19" name="Shape 17"/>
          <p:cNvSpPr/>
          <p:nvPr/>
        </p:nvSpPr>
        <p:spPr>
          <a:xfrm>
            <a:off x="1371600" y="5486400"/>
            <a:ext cx="54864" cy="54864"/>
          </a:xfrm>
          <a:prstGeom prst="ellipse">
            <a:avLst/>
          </a:prstGeom>
          <a:solidFill>
            <a:srgbClr val="5028C2">
              <a:alpha val="30000"/>
            </a:srgbClr>
          </a:solidFill>
          <a:ln/>
        </p:spPr>
      </p:sp>
      <p:sp>
        <p:nvSpPr>
          <p:cNvPr id="20" name="Shape 18"/>
          <p:cNvSpPr/>
          <p:nvPr/>
        </p:nvSpPr>
        <p:spPr>
          <a:xfrm>
            <a:off x="1371600" y="5650992"/>
            <a:ext cx="54864" cy="54864"/>
          </a:xfrm>
          <a:prstGeom prst="ellipse">
            <a:avLst/>
          </a:prstGeom>
          <a:solidFill>
            <a:srgbClr val="5028C2">
              <a:alpha val="30000"/>
            </a:srgbClr>
          </a:solidFill>
          <a:ln/>
        </p:spPr>
      </p:sp>
      <p:sp>
        <p:nvSpPr>
          <p:cNvPr id="21" name="Shape 19"/>
          <p:cNvSpPr/>
          <p:nvPr/>
        </p:nvSpPr>
        <p:spPr>
          <a:xfrm>
            <a:off x="1371600" y="5815584"/>
            <a:ext cx="54864" cy="54864"/>
          </a:xfrm>
          <a:prstGeom prst="ellipse">
            <a:avLst/>
          </a:prstGeom>
          <a:solidFill>
            <a:srgbClr val="5028C2">
              <a:alpha val="30000"/>
            </a:srgbClr>
          </a:solidFill>
          <a:ln/>
        </p:spPr>
      </p:sp>
      <p:sp>
        <p:nvSpPr>
          <p:cNvPr id="22" name="Text 20"/>
          <p:cNvSpPr/>
          <p:nvPr/>
        </p:nvSpPr>
        <p:spPr>
          <a:xfrm>
            <a:off x="548640" y="1097280"/>
            <a:ext cx="11094415"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COMPETITIVE LANDSCAPE</a:t>
            </a:r>
            <a:endParaRPr lang="en-US" sz="1100" dirty="0"/>
          </a:p>
        </p:txBody>
      </p:sp>
      <p:sp>
        <p:nvSpPr>
          <p:cNvPr id="23" name="Text 21"/>
          <p:cNvSpPr/>
          <p:nvPr/>
        </p:nvSpPr>
        <p:spPr>
          <a:xfrm>
            <a:off x="548640" y="1554480"/>
            <a:ext cx="11094415" cy="3108960"/>
          </a:xfrm>
          <a:prstGeom prst="rect">
            <a:avLst/>
          </a:prstGeom>
          <a:noFill/>
          <a:ln/>
        </p:spPr>
        <p:txBody>
          <a:bodyPr wrap="square" lIns="0" tIns="0" rIns="0" bIns="0" rtlCol="0" anchor="t"/>
          <a:lstStyle/>
          <a:p>
            <a:pPr algn="l" indent="0" marL="0">
              <a:buNone/>
            </a:pPr>
            <a:r>
              <a:rPr lang="en-US" sz="4600" b="1" spc="-100" kern="0" dirty="0">
                <a:solidFill>
                  <a:srgbClr val="0F1733"/>
                </a:solidFill>
                <a:latin typeface="Calibri" pitchFamily="34" charset="0"/>
                <a:ea typeface="Calibri" pitchFamily="34" charset="-122"/>
                <a:cs typeface="Calibri" pitchFamily="34" charset="-120"/>
              </a:rPr>
              <a:t>Two categories. Two ends of the market. One open middle.</a:t>
            </a:r>
            <a:endParaRPr lang="en-US" sz="4600" dirty="0"/>
          </a:p>
        </p:txBody>
      </p:sp>
      <p:sp>
        <p:nvSpPr>
          <p:cNvPr id="24" name="Text 22"/>
          <p:cNvSpPr/>
          <p:nvPr/>
        </p:nvSpPr>
        <p:spPr>
          <a:xfrm>
            <a:off x="548640" y="4754880"/>
            <a:ext cx="9265615" cy="1097280"/>
          </a:xfrm>
          <a:prstGeom prst="rect">
            <a:avLst/>
          </a:prstGeom>
          <a:noFill/>
          <a:ln/>
        </p:spPr>
        <p:txBody>
          <a:bodyPr wrap="square" lIns="0" tIns="0" rIns="0" bIns="0" rtlCol="0" anchor="t"/>
          <a:lstStyle/>
          <a:p>
            <a:pPr algn="l" indent="0" marL="0">
              <a:buNone/>
            </a:pPr>
            <a:r>
              <a:rPr lang="en-US" sz="1800" dirty="0">
                <a:solidFill>
                  <a:srgbClr val="2A3358"/>
                </a:solidFill>
                <a:latin typeface="Calibri" pitchFamily="34" charset="0"/>
                <a:ea typeface="Calibri" pitchFamily="34" charset="-122"/>
                <a:cs typeface="Calibri" pitchFamily="34" charset="-120"/>
              </a:rPr>
              <a:t>Influencer platforms serve enterprise brand teams. Generic CRMs serve B2B sales. The founder running B2B creator outreach lives between them — and that's our wedge.</a:t>
            </a:r>
            <a:endParaRPr lang="en-US" sz="1800" dirty="0"/>
          </a:p>
        </p:txBody>
      </p:sp>
      <p:sp>
        <p:nvSpPr>
          <p:cNvPr id="25" name="Shape 23"/>
          <p:cNvSpPr/>
          <p:nvPr/>
        </p:nvSpPr>
        <p:spPr>
          <a:xfrm>
            <a:off x="548640" y="502920"/>
            <a:ext cx="292608" cy="292608"/>
          </a:xfrm>
          <a:prstGeom prst="roundRect">
            <a:avLst>
              <a:gd name="adj" fmla="val 25000"/>
            </a:avLst>
          </a:prstGeom>
          <a:solidFill>
            <a:srgbClr val="5028C2"/>
          </a:solidFill>
          <a:ln/>
        </p:spPr>
      </p:sp>
      <p:sp>
        <p:nvSpPr>
          <p:cNvPr id="26" name="Shape 24"/>
          <p:cNvSpPr/>
          <p:nvPr/>
        </p:nvSpPr>
        <p:spPr>
          <a:xfrm>
            <a:off x="548640" y="502920"/>
            <a:ext cx="292608" cy="292608"/>
          </a:xfrm>
          <a:prstGeom prst="roundRect">
            <a:avLst>
              <a:gd name="adj" fmla="val 25000"/>
            </a:avLst>
          </a:prstGeom>
          <a:solidFill>
            <a:srgbClr val="1A6FBE">
              <a:alpha val="50000"/>
            </a:srgbClr>
          </a:solidFill>
          <a:ln/>
        </p:spPr>
      </p:sp>
      <p:sp>
        <p:nvSpPr>
          <p:cNvPr id="27" name="Text 25"/>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8" name="Text 26"/>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9" name="Text 27"/>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11 · Competitive landscape  ·  vA</a:t>
            </a:r>
            <a:endParaRPr lang="en-US" sz="900" dirty="0"/>
          </a:p>
        </p:txBody>
      </p:sp>
      <p:sp>
        <p:nvSpPr>
          <p:cNvPr id="30" name="Text 28"/>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31" name="Text 29"/>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071 / 126</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071183" y="0"/>
            <a:ext cx="5120512" cy="116300"/>
          </a:xfrm>
          <a:prstGeom prst="rect">
            <a:avLst/>
          </a:prstGeom>
          <a:solidFill>
            <a:srgbClr val="5028C2"/>
          </a:solidFill>
          <a:ln/>
        </p:spPr>
      </p:sp>
      <p:sp>
        <p:nvSpPr>
          <p:cNvPr id="3" name="Shape 1"/>
          <p:cNvSpPr/>
          <p:nvPr/>
        </p:nvSpPr>
        <p:spPr>
          <a:xfrm>
            <a:off x="7071183" y="107156"/>
            <a:ext cx="5120512" cy="116300"/>
          </a:xfrm>
          <a:prstGeom prst="rect">
            <a:avLst/>
          </a:prstGeom>
          <a:solidFill>
            <a:srgbClr val="4F29C2"/>
          </a:solidFill>
          <a:ln/>
        </p:spPr>
      </p:sp>
      <p:sp>
        <p:nvSpPr>
          <p:cNvPr id="4" name="Shape 2"/>
          <p:cNvSpPr/>
          <p:nvPr/>
        </p:nvSpPr>
        <p:spPr>
          <a:xfrm>
            <a:off x="7071183" y="214313"/>
            <a:ext cx="5120512" cy="116300"/>
          </a:xfrm>
          <a:prstGeom prst="rect">
            <a:avLst/>
          </a:prstGeom>
          <a:solidFill>
            <a:srgbClr val="4E2AC3"/>
          </a:solidFill>
          <a:ln/>
        </p:spPr>
      </p:sp>
      <p:sp>
        <p:nvSpPr>
          <p:cNvPr id="5" name="Shape 3"/>
          <p:cNvSpPr/>
          <p:nvPr/>
        </p:nvSpPr>
        <p:spPr>
          <a:xfrm>
            <a:off x="7071183" y="321469"/>
            <a:ext cx="5120512" cy="116300"/>
          </a:xfrm>
          <a:prstGeom prst="rect">
            <a:avLst/>
          </a:prstGeom>
          <a:solidFill>
            <a:srgbClr val="4D2BC3"/>
          </a:solidFill>
          <a:ln/>
        </p:spPr>
      </p:sp>
      <p:sp>
        <p:nvSpPr>
          <p:cNvPr id="6" name="Shape 4"/>
          <p:cNvSpPr/>
          <p:nvPr/>
        </p:nvSpPr>
        <p:spPr>
          <a:xfrm>
            <a:off x="7071183" y="428625"/>
            <a:ext cx="5120512" cy="116300"/>
          </a:xfrm>
          <a:prstGeom prst="rect">
            <a:avLst/>
          </a:prstGeom>
          <a:solidFill>
            <a:srgbClr val="4D2CC4"/>
          </a:solidFill>
          <a:ln/>
        </p:spPr>
      </p:sp>
      <p:sp>
        <p:nvSpPr>
          <p:cNvPr id="7" name="Shape 5"/>
          <p:cNvSpPr/>
          <p:nvPr/>
        </p:nvSpPr>
        <p:spPr>
          <a:xfrm>
            <a:off x="7071183" y="535781"/>
            <a:ext cx="5120512" cy="116300"/>
          </a:xfrm>
          <a:prstGeom prst="rect">
            <a:avLst/>
          </a:prstGeom>
          <a:solidFill>
            <a:srgbClr val="4C2DC4"/>
          </a:solidFill>
          <a:ln/>
        </p:spPr>
      </p:sp>
      <p:sp>
        <p:nvSpPr>
          <p:cNvPr id="8" name="Shape 6"/>
          <p:cNvSpPr/>
          <p:nvPr/>
        </p:nvSpPr>
        <p:spPr>
          <a:xfrm>
            <a:off x="7071183" y="642938"/>
            <a:ext cx="5120512" cy="116300"/>
          </a:xfrm>
          <a:prstGeom prst="rect">
            <a:avLst/>
          </a:prstGeom>
          <a:solidFill>
            <a:srgbClr val="4B2EC5"/>
          </a:solidFill>
          <a:ln/>
        </p:spPr>
      </p:sp>
      <p:sp>
        <p:nvSpPr>
          <p:cNvPr id="9" name="Shape 7"/>
          <p:cNvSpPr/>
          <p:nvPr/>
        </p:nvSpPr>
        <p:spPr>
          <a:xfrm>
            <a:off x="7071183" y="750094"/>
            <a:ext cx="5120512" cy="116300"/>
          </a:xfrm>
          <a:prstGeom prst="rect">
            <a:avLst/>
          </a:prstGeom>
          <a:solidFill>
            <a:srgbClr val="4A2FC5"/>
          </a:solidFill>
          <a:ln/>
        </p:spPr>
      </p:sp>
      <p:sp>
        <p:nvSpPr>
          <p:cNvPr id="10" name="Shape 8"/>
          <p:cNvSpPr/>
          <p:nvPr/>
        </p:nvSpPr>
        <p:spPr>
          <a:xfrm>
            <a:off x="7071183" y="857250"/>
            <a:ext cx="5120512" cy="116300"/>
          </a:xfrm>
          <a:prstGeom prst="rect">
            <a:avLst/>
          </a:prstGeom>
          <a:solidFill>
            <a:srgbClr val="4930C6"/>
          </a:solidFill>
          <a:ln/>
        </p:spPr>
      </p:sp>
      <p:sp>
        <p:nvSpPr>
          <p:cNvPr id="11" name="Shape 9"/>
          <p:cNvSpPr/>
          <p:nvPr/>
        </p:nvSpPr>
        <p:spPr>
          <a:xfrm>
            <a:off x="7071183" y="964406"/>
            <a:ext cx="5120512" cy="116300"/>
          </a:xfrm>
          <a:prstGeom prst="rect">
            <a:avLst/>
          </a:prstGeom>
          <a:solidFill>
            <a:srgbClr val="4831C6"/>
          </a:solidFill>
          <a:ln/>
        </p:spPr>
      </p:sp>
      <p:sp>
        <p:nvSpPr>
          <p:cNvPr id="12" name="Shape 10"/>
          <p:cNvSpPr/>
          <p:nvPr/>
        </p:nvSpPr>
        <p:spPr>
          <a:xfrm>
            <a:off x="7071183" y="1071563"/>
            <a:ext cx="5120512" cy="116300"/>
          </a:xfrm>
          <a:prstGeom prst="rect">
            <a:avLst/>
          </a:prstGeom>
          <a:solidFill>
            <a:srgbClr val="4732C6"/>
          </a:solidFill>
          <a:ln/>
        </p:spPr>
      </p:sp>
      <p:sp>
        <p:nvSpPr>
          <p:cNvPr id="13" name="Shape 11"/>
          <p:cNvSpPr/>
          <p:nvPr/>
        </p:nvSpPr>
        <p:spPr>
          <a:xfrm>
            <a:off x="7071183" y="1178719"/>
            <a:ext cx="5120512" cy="116300"/>
          </a:xfrm>
          <a:prstGeom prst="rect">
            <a:avLst/>
          </a:prstGeom>
          <a:solidFill>
            <a:srgbClr val="4733C7"/>
          </a:solidFill>
          <a:ln/>
        </p:spPr>
      </p:sp>
      <p:sp>
        <p:nvSpPr>
          <p:cNvPr id="14" name="Shape 12"/>
          <p:cNvSpPr/>
          <p:nvPr/>
        </p:nvSpPr>
        <p:spPr>
          <a:xfrm>
            <a:off x="7071183" y="1285875"/>
            <a:ext cx="5120512" cy="116300"/>
          </a:xfrm>
          <a:prstGeom prst="rect">
            <a:avLst/>
          </a:prstGeom>
          <a:solidFill>
            <a:srgbClr val="4634C7"/>
          </a:solidFill>
          <a:ln/>
        </p:spPr>
      </p:sp>
      <p:sp>
        <p:nvSpPr>
          <p:cNvPr id="15" name="Shape 13"/>
          <p:cNvSpPr/>
          <p:nvPr/>
        </p:nvSpPr>
        <p:spPr>
          <a:xfrm>
            <a:off x="7071183" y="1393031"/>
            <a:ext cx="5120512" cy="116300"/>
          </a:xfrm>
          <a:prstGeom prst="rect">
            <a:avLst/>
          </a:prstGeom>
          <a:solidFill>
            <a:srgbClr val="4535C8"/>
          </a:solidFill>
          <a:ln/>
        </p:spPr>
      </p:sp>
      <p:sp>
        <p:nvSpPr>
          <p:cNvPr id="16" name="Shape 14"/>
          <p:cNvSpPr/>
          <p:nvPr/>
        </p:nvSpPr>
        <p:spPr>
          <a:xfrm>
            <a:off x="7071183" y="1500188"/>
            <a:ext cx="5120512" cy="116300"/>
          </a:xfrm>
          <a:prstGeom prst="rect">
            <a:avLst/>
          </a:prstGeom>
          <a:solidFill>
            <a:srgbClr val="4436C8"/>
          </a:solidFill>
          <a:ln/>
        </p:spPr>
      </p:sp>
      <p:sp>
        <p:nvSpPr>
          <p:cNvPr id="17" name="Shape 15"/>
          <p:cNvSpPr/>
          <p:nvPr/>
        </p:nvSpPr>
        <p:spPr>
          <a:xfrm>
            <a:off x="7071183" y="1607344"/>
            <a:ext cx="5120512" cy="116300"/>
          </a:xfrm>
          <a:prstGeom prst="rect">
            <a:avLst/>
          </a:prstGeom>
          <a:solidFill>
            <a:srgbClr val="4337C9"/>
          </a:solidFill>
          <a:ln/>
        </p:spPr>
      </p:sp>
      <p:sp>
        <p:nvSpPr>
          <p:cNvPr id="18" name="Shape 16"/>
          <p:cNvSpPr/>
          <p:nvPr/>
        </p:nvSpPr>
        <p:spPr>
          <a:xfrm>
            <a:off x="7071183" y="1714500"/>
            <a:ext cx="5120512" cy="116300"/>
          </a:xfrm>
          <a:prstGeom prst="rect">
            <a:avLst/>
          </a:prstGeom>
          <a:solidFill>
            <a:srgbClr val="4238C9"/>
          </a:solidFill>
          <a:ln/>
        </p:spPr>
      </p:sp>
      <p:sp>
        <p:nvSpPr>
          <p:cNvPr id="19" name="Shape 17"/>
          <p:cNvSpPr/>
          <p:nvPr/>
        </p:nvSpPr>
        <p:spPr>
          <a:xfrm>
            <a:off x="7071183" y="1821656"/>
            <a:ext cx="5120512" cy="116300"/>
          </a:xfrm>
          <a:prstGeom prst="rect">
            <a:avLst/>
          </a:prstGeom>
          <a:solidFill>
            <a:srgbClr val="4139CA"/>
          </a:solidFill>
          <a:ln/>
        </p:spPr>
      </p:sp>
      <p:sp>
        <p:nvSpPr>
          <p:cNvPr id="20" name="Shape 18"/>
          <p:cNvSpPr/>
          <p:nvPr/>
        </p:nvSpPr>
        <p:spPr>
          <a:xfrm>
            <a:off x="7071183" y="1928813"/>
            <a:ext cx="5120512" cy="116300"/>
          </a:xfrm>
          <a:prstGeom prst="rect">
            <a:avLst/>
          </a:prstGeom>
          <a:solidFill>
            <a:srgbClr val="413ACA"/>
          </a:solidFill>
          <a:ln/>
        </p:spPr>
      </p:sp>
      <p:sp>
        <p:nvSpPr>
          <p:cNvPr id="21" name="Shape 19"/>
          <p:cNvSpPr/>
          <p:nvPr/>
        </p:nvSpPr>
        <p:spPr>
          <a:xfrm>
            <a:off x="7071183" y="2035969"/>
            <a:ext cx="5120512" cy="116300"/>
          </a:xfrm>
          <a:prstGeom prst="rect">
            <a:avLst/>
          </a:prstGeom>
          <a:solidFill>
            <a:srgbClr val="403BCA"/>
          </a:solidFill>
          <a:ln/>
        </p:spPr>
      </p:sp>
      <p:sp>
        <p:nvSpPr>
          <p:cNvPr id="22" name="Shape 20"/>
          <p:cNvSpPr/>
          <p:nvPr/>
        </p:nvSpPr>
        <p:spPr>
          <a:xfrm>
            <a:off x="7071183" y="2143125"/>
            <a:ext cx="5120512" cy="116300"/>
          </a:xfrm>
          <a:prstGeom prst="rect">
            <a:avLst/>
          </a:prstGeom>
          <a:solidFill>
            <a:srgbClr val="3F3CCB"/>
          </a:solidFill>
          <a:ln/>
        </p:spPr>
      </p:sp>
      <p:sp>
        <p:nvSpPr>
          <p:cNvPr id="23" name="Shape 21"/>
          <p:cNvSpPr/>
          <p:nvPr/>
        </p:nvSpPr>
        <p:spPr>
          <a:xfrm>
            <a:off x="7071183" y="2250281"/>
            <a:ext cx="5120512" cy="116300"/>
          </a:xfrm>
          <a:prstGeom prst="rect">
            <a:avLst/>
          </a:prstGeom>
          <a:solidFill>
            <a:srgbClr val="3E3DCB"/>
          </a:solidFill>
          <a:ln/>
        </p:spPr>
      </p:sp>
      <p:sp>
        <p:nvSpPr>
          <p:cNvPr id="24" name="Shape 22"/>
          <p:cNvSpPr/>
          <p:nvPr/>
        </p:nvSpPr>
        <p:spPr>
          <a:xfrm>
            <a:off x="7071183" y="2357438"/>
            <a:ext cx="5120512" cy="116300"/>
          </a:xfrm>
          <a:prstGeom prst="rect">
            <a:avLst/>
          </a:prstGeom>
          <a:solidFill>
            <a:srgbClr val="3D3ECC"/>
          </a:solidFill>
          <a:ln/>
        </p:spPr>
      </p:sp>
      <p:sp>
        <p:nvSpPr>
          <p:cNvPr id="25" name="Shape 23"/>
          <p:cNvSpPr/>
          <p:nvPr/>
        </p:nvSpPr>
        <p:spPr>
          <a:xfrm>
            <a:off x="7071183" y="2464594"/>
            <a:ext cx="5120512" cy="116300"/>
          </a:xfrm>
          <a:prstGeom prst="rect">
            <a:avLst/>
          </a:prstGeom>
          <a:solidFill>
            <a:srgbClr val="3C3FCC"/>
          </a:solidFill>
          <a:ln/>
        </p:spPr>
      </p:sp>
      <p:sp>
        <p:nvSpPr>
          <p:cNvPr id="26" name="Shape 24"/>
          <p:cNvSpPr/>
          <p:nvPr/>
        </p:nvSpPr>
        <p:spPr>
          <a:xfrm>
            <a:off x="7071183" y="2571750"/>
            <a:ext cx="5120512" cy="116300"/>
          </a:xfrm>
          <a:prstGeom prst="rect">
            <a:avLst/>
          </a:prstGeom>
          <a:solidFill>
            <a:srgbClr val="3B40CD"/>
          </a:solidFill>
          <a:ln/>
        </p:spPr>
      </p:sp>
      <p:sp>
        <p:nvSpPr>
          <p:cNvPr id="27" name="Shape 25"/>
          <p:cNvSpPr/>
          <p:nvPr/>
        </p:nvSpPr>
        <p:spPr>
          <a:xfrm>
            <a:off x="7071183" y="2678906"/>
            <a:ext cx="5120512" cy="116300"/>
          </a:xfrm>
          <a:prstGeom prst="rect">
            <a:avLst/>
          </a:prstGeom>
          <a:solidFill>
            <a:srgbClr val="3B41CD"/>
          </a:solidFill>
          <a:ln/>
        </p:spPr>
      </p:sp>
      <p:sp>
        <p:nvSpPr>
          <p:cNvPr id="28" name="Shape 26"/>
          <p:cNvSpPr/>
          <p:nvPr/>
        </p:nvSpPr>
        <p:spPr>
          <a:xfrm>
            <a:off x="7071183" y="2786063"/>
            <a:ext cx="5120512" cy="116300"/>
          </a:xfrm>
          <a:prstGeom prst="rect">
            <a:avLst/>
          </a:prstGeom>
          <a:solidFill>
            <a:srgbClr val="3A42CE"/>
          </a:solidFill>
          <a:ln/>
        </p:spPr>
      </p:sp>
      <p:sp>
        <p:nvSpPr>
          <p:cNvPr id="29" name="Shape 27"/>
          <p:cNvSpPr/>
          <p:nvPr/>
        </p:nvSpPr>
        <p:spPr>
          <a:xfrm>
            <a:off x="7071183" y="2893219"/>
            <a:ext cx="5120512" cy="116300"/>
          </a:xfrm>
          <a:prstGeom prst="rect">
            <a:avLst/>
          </a:prstGeom>
          <a:solidFill>
            <a:srgbClr val="3943CE"/>
          </a:solidFill>
          <a:ln/>
        </p:spPr>
      </p:sp>
      <p:sp>
        <p:nvSpPr>
          <p:cNvPr id="30" name="Shape 28"/>
          <p:cNvSpPr/>
          <p:nvPr/>
        </p:nvSpPr>
        <p:spPr>
          <a:xfrm>
            <a:off x="7071183" y="3000375"/>
            <a:ext cx="5120512" cy="116300"/>
          </a:xfrm>
          <a:prstGeom prst="rect">
            <a:avLst/>
          </a:prstGeom>
          <a:solidFill>
            <a:srgbClr val="3844CE"/>
          </a:solidFill>
          <a:ln/>
        </p:spPr>
      </p:sp>
      <p:sp>
        <p:nvSpPr>
          <p:cNvPr id="31" name="Shape 29"/>
          <p:cNvSpPr/>
          <p:nvPr/>
        </p:nvSpPr>
        <p:spPr>
          <a:xfrm>
            <a:off x="7071183" y="3107531"/>
            <a:ext cx="5120512" cy="116300"/>
          </a:xfrm>
          <a:prstGeom prst="rect">
            <a:avLst/>
          </a:prstGeom>
          <a:solidFill>
            <a:srgbClr val="3745CF"/>
          </a:solidFill>
          <a:ln/>
        </p:spPr>
      </p:sp>
      <p:sp>
        <p:nvSpPr>
          <p:cNvPr id="32" name="Shape 30"/>
          <p:cNvSpPr/>
          <p:nvPr/>
        </p:nvSpPr>
        <p:spPr>
          <a:xfrm>
            <a:off x="7071183" y="3214688"/>
            <a:ext cx="5120512" cy="116300"/>
          </a:xfrm>
          <a:prstGeom prst="rect">
            <a:avLst/>
          </a:prstGeom>
          <a:solidFill>
            <a:srgbClr val="3646CF"/>
          </a:solidFill>
          <a:ln/>
        </p:spPr>
      </p:sp>
      <p:sp>
        <p:nvSpPr>
          <p:cNvPr id="33" name="Shape 31"/>
          <p:cNvSpPr/>
          <p:nvPr/>
        </p:nvSpPr>
        <p:spPr>
          <a:xfrm>
            <a:off x="7071183" y="3321844"/>
            <a:ext cx="5120512" cy="116300"/>
          </a:xfrm>
          <a:prstGeom prst="rect">
            <a:avLst/>
          </a:prstGeom>
          <a:solidFill>
            <a:srgbClr val="3547D0"/>
          </a:solidFill>
          <a:ln/>
        </p:spPr>
      </p:sp>
      <p:sp>
        <p:nvSpPr>
          <p:cNvPr id="34" name="Shape 32"/>
          <p:cNvSpPr/>
          <p:nvPr/>
        </p:nvSpPr>
        <p:spPr>
          <a:xfrm>
            <a:off x="7071183" y="3429000"/>
            <a:ext cx="5120512" cy="116300"/>
          </a:xfrm>
          <a:prstGeom prst="rect">
            <a:avLst/>
          </a:prstGeom>
          <a:solidFill>
            <a:srgbClr val="3549D0"/>
          </a:solidFill>
          <a:ln/>
        </p:spPr>
      </p:sp>
      <p:sp>
        <p:nvSpPr>
          <p:cNvPr id="35" name="Shape 33"/>
          <p:cNvSpPr/>
          <p:nvPr/>
        </p:nvSpPr>
        <p:spPr>
          <a:xfrm>
            <a:off x="7071183" y="3536156"/>
            <a:ext cx="5120512" cy="116300"/>
          </a:xfrm>
          <a:prstGeom prst="rect">
            <a:avLst/>
          </a:prstGeom>
          <a:solidFill>
            <a:srgbClr val="344ACF"/>
          </a:solidFill>
          <a:ln/>
        </p:spPr>
      </p:sp>
      <p:sp>
        <p:nvSpPr>
          <p:cNvPr id="36" name="Shape 34"/>
          <p:cNvSpPr/>
          <p:nvPr/>
        </p:nvSpPr>
        <p:spPr>
          <a:xfrm>
            <a:off x="7071183" y="3643313"/>
            <a:ext cx="5120512" cy="116300"/>
          </a:xfrm>
          <a:prstGeom prst="rect">
            <a:avLst/>
          </a:prstGeom>
          <a:solidFill>
            <a:srgbClr val="334BCF"/>
          </a:solidFill>
          <a:ln/>
        </p:spPr>
      </p:sp>
      <p:sp>
        <p:nvSpPr>
          <p:cNvPr id="37" name="Shape 35"/>
          <p:cNvSpPr/>
          <p:nvPr/>
        </p:nvSpPr>
        <p:spPr>
          <a:xfrm>
            <a:off x="7071183" y="3750469"/>
            <a:ext cx="5120512" cy="116300"/>
          </a:xfrm>
          <a:prstGeom prst="rect">
            <a:avLst/>
          </a:prstGeom>
          <a:solidFill>
            <a:srgbClr val="324CCE"/>
          </a:solidFill>
          <a:ln/>
        </p:spPr>
      </p:sp>
      <p:sp>
        <p:nvSpPr>
          <p:cNvPr id="38" name="Shape 36"/>
          <p:cNvSpPr/>
          <p:nvPr/>
        </p:nvSpPr>
        <p:spPr>
          <a:xfrm>
            <a:off x="7071183" y="3857625"/>
            <a:ext cx="5120512" cy="116300"/>
          </a:xfrm>
          <a:prstGeom prst="rect">
            <a:avLst/>
          </a:prstGeom>
          <a:solidFill>
            <a:srgbClr val="314ECD"/>
          </a:solidFill>
          <a:ln/>
        </p:spPr>
      </p:sp>
      <p:sp>
        <p:nvSpPr>
          <p:cNvPr id="39" name="Shape 37"/>
          <p:cNvSpPr/>
          <p:nvPr/>
        </p:nvSpPr>
        <p:spPr>
          <a:xfrm>
            <a:off x="7071183" y="3964781"/>
            <a:ext cx="5120512" cy="116300"/>
          </a:xfrm>
          <a:prstGeom prst="rect">
            <a:avLst/>
          </a:prstGeom>
          <a:solidFill>
            <a:srgbClr val="304FCD"/>
          </a:solidFill>
          <a:ln/>
        </p:spPr>
      </p:sp>
      <p:sp>
        <p:nvSpPr>
          <p:cNvPr id="40" name="Shape 38"/>
          <p:cNvSpPr/>
          <p:nvPr/>
        </p:nvSpPr>
        <p:spPr>
          <a:xfrm>
            <a:off x="7071183" y="4071938"/>
            <a:ext cx="5120512" cy="116300"/>
          </a:xfrm>
          <a:prstGeom prst="rect">
            <a:avLst/>
          </a:prstGeom>
          <a:solidFill>
            <a:srgbClr val="2F50CC"/>
          </a:solidFill>
          <a:ln/>
        </p:spPr>
      </p:sp>
      <p:sp>
        <p:nvSpPr>
          <p:cNvPr id="41" name="Shape 39"/>
          <p:cNvSpPr/>
          <p:nvPr/>
        </p:nvSpPr>
        <p:spPr>
          <a:xfrm>
            <a:off x="7071183" y="4179094"/>
            <a:ext cx="5120512" cy="116300"/>
          </a:xfrm>
          <a:prstGeom prst="rect">
            <a:avLst/>
          </a:prstGeom>
          <a:solidFill>
            <a:srgbClr val="2F51CC"/>
          </a:solidFill>
          <a:ln/>
        </p:spPr>
      </p:sp>
      <p:sp>
        <p:nvSpPr>
          <p:cNvPr id="42" name="Shape 40"/>
          <p:cNvSpPr/>
          <p:nvPr/>
        </p:nvSpPr>
        <p:spPr>
          <a:xfrm>
            <a:off x="7071183" y="4286250"/>
            <a:ext cx="5120512" cy="116300"/>
          </a:xfrm>
          <a:prstGeom prst="rect">
            <a:avLst/>
          </a:prstGeom>
          <a:solidFill>
            <a:srgbClr val="2E53CB"/>
          </a:solidFill>
          <a:ln/>
        </p:spPr>
      </p:sp>
      <p:sp>
        <p:nvSpPr>
          <p:cNvPr id="43" name="Shape 41"/>
          <p:cNvSpPr/>
          <p:nvPr/>
        </p:nvSpPr>
        <p:spPr>
          <a:xfrm>
            <a:off x="7071183" y="4393406"/>
            <a:ext cx="5120512" cy="116300"/>
          </a:xfrm>
          <a:prstGeom prst="rect">
            <a:avLst/>
          </a:prstGeom>
          <a:solidFill>
            <a:srgbClr val="2D54CB"/>
          </a:solidFill>
          <a:ln/>
        </p:spPr>
      </p:sp>
      <p:sp>
        <p:nvSpPr>
          <p:cNvPr id="44" name="Shape 42"/>
          <p:cNvSpPr/>
          <p:nvPr/>
        </p:nvSpPr>
        <p:spPr>
          <a:xfrm>
            <a:off x="7071183" y="4500563"/>
            <a:ext cx="5120512" cy="116300"/>
          </a:xfrm>
          <a:prstGeom prst="rect">
            <a:avLst/>
          </a:prstGeom>
          <a:solidFill>
            <a:srgbClr val="2C55CA"/>
          </a:solidFill>
          <a:ln/>
        </p:spPr>
      </p:sp>
      <p:sp>
        <p:nvSpPr>
          <p:cNvPr id="45" name="Shape 43"/>
          <p:cNvSpPr/>
          <p:nvPr/>
        </p:nvSpPr>
        <p:spPr>
          <a:xfrm>
            <a:off x="7071183" y="4607719"/>
            <a:ext cx="5120512" cy="116300"/>
          </a:xfrm>
          <a:prstGeom prst="rect">
            <a:avLst/>
          </a:prstGeom>
          <a:solidFill>
            <a:srgbClr val="2B56C9"/>
          </a:solidFill>
          <a:ln/>
        </p:spPr>
      </p:sp>
      <p:sp>
        <p:nvSpPr>
          <p:cNvPr id="46" name="Shape 44"/>
          <p:cNvSpPr/>
          <p:nvPr/>
        </p:nvSpPr>
        <p:spPr>
          <a:xfrm>
            <a:off x="7071183" y="4714875"/>
            <a:ext cx="5120512" cy="116300"/>
          </a:xfrm>
          <a:prstGeom prst="rect">
            <a:avLst/>
          </a:prstGeom>
          <a:solidFill>
            <a:srgbClr val="2A57C9"/>
          </a:solidFill>
          <a:ln/>
        </p:spPr>
      </p:sp>
      <p:sp>
        <p:nvSpPr>
          <p:cNvPr id="47" name="Shape 45"/>
          <p:cNvSpPr/>
          <p:nvPr/>
        </p:nvSpPr>
        <p:spPr>
          <a:xfrm>
            <a:off x="7071183" y="4822031"/>
            <a:ext cx="5120512" cy="116300"/>
          </a:xfrm>
          <a:prstGeom prst="rect">
            <a:avLst/>
          </a:prstGeom>
          <a:solidFill>
            <a:srgbClr val="2959C8"/>
          </a:solidFill>
          <a:ln/>
        </p:spPr>
      </p:sp>
      <p:sp>
        <p:nvSpPr>
          <p:cNvPr id="48" name="Shape 46"/>
          <p:cNvSpPr/>
          <p:nvPr/>
        </p:nvSpPr>
        <p:spPr>
          <a:xfrm>
            <a:off x="7071183" y="4929188"/>
            <a:ext cx="5120512" cy="116300"/>
          </a:xfrm>
          <a:prstGeom prst="rect">
            <a:avLst/>
          </a:prstGeom>
          <a:solidFill>
            <a:srgbClr val="295AC8"/>
          </a:solidFill>
          <a:ln/>
        </p:spPr>
      </p:sp>
      <p:sp>
        <p:nvSpPr>
          <p:cNvPr id="49" name="Shape 47"/>
          <p:cNvSpPr/>
          <p:nvPr/>
        </p:nvSpPr>
        <p:spPr>
          <a:xfrm>
            <a:off x="7071183" y="5036344"/>
            <a:ext cx="5120512" cy="116300"/>
          </a:xfrm>
          <a:prstGeom prst="rect">
            <a:avLst/>
          </a:prstGeom>
          <a:solidFill>
            <a:srgbClr val="285BC7"/>
          </a:solidFill>
          <a:ln/>
        </p:spPr>
      </p:sp>
      <p:sp>
        <p:nvSpPr>
          <p:cNvPr id="50" name="Shape 48"/>
          <p:cNvSpPr/>
          <p:nvPr/>
        </p:nvSpPr>
        <p:spPr>
          <a:xfrm>
            <a:off x="7071183" y="5143500"/>
            <a:ext cx="5120512" cy="116300"/>
          </a:xfrm>
          <a:prstGeom prst="rect">
            <a:avLst/>
          </a:prstGeom>
          <a:solidFill>
            <a:srgbClr val="275CC7"/>
          </a:solidFill>
          <a:ln/>
        </p:spPr>
      </p:sp>
      <p:sp>
        <p:nvSpPr>
          <p:cNvPr id="51" name="Shape 49"/>
          <p:cNvSpPr/>
          <p:nvPr/>
        </p:nvSpPr>
        <p:spPr>
          <a:xfrm>
            <a:off x="7071183" y="5250656"/>
            <a:ext cx="5120512" cy="116300"/>
          </a:xfrm>
          <a:prstGeom prst="rect">
            <a:avLst/>
          </a:prstGeom>
          <a:solidFill>
            <a:srgbClr val="265EC6"/>
          </a:solidFill>
          <a:ln/>
        </p:spPr>
      </p:sp>
      <p:sp>
        <p:nvSpPr>
          <p:cNvPr id="52" name="Shape 50"/>
          <p:cNvSpPr/>
          <p:nvPr/>
        </p:nvSpPr>
        <p:spPr>
          <a:xfrm>
            <a:off x="7071183" y="5357813"/>
            <a:ext cx="5120512" cy="116300"/>
          </a:xfrm>
          <a:prstGeom prst="rect">
            <a:avLst/>
          </a:prstGeom>
          <a:solidFill>
            <a:srgbClr val="255FC5"/>
          </a:solidFill>
          <a:ln/>
        </p:spPr>
      </p:sp>
      <p:sp>
        <p:nvSpPr>
          <p:cNvPr id="53" name="Shape 51"/>
          <p:cNvSpPr/>
          <p:nvPr/>
        </p:nvSpPr>
        <p:spPr>
          <a:xfrm>
            <a:off x="7071183" y="5464969"/>
            <a:ext cx="5120512" cy="116300"/>
          </a:xfrm>
          <a:prstGeom prst="rect">
            <a:avLst/>
          </a:prstGeom>
          <a:solidFill>
            <a:srgbClr val="2460C5"/>
          </a:solidFill>
          <a:ln/>
        </p:spPr>
      </p:sp>
      <p:sp>
        <p:nvSpPr>
          <p:cNvPr id="54" name="Shape 52"/>
          <p:cNvSpPr/>
          <p:nvPr/>
        </p:nvSpPr>
        <p:spPr>
          <a:xfrm>
            <a:off x="7071183" y="5572125"/>
            <a:ext cx="5120512" cy="116300"/>
          </a:xfrm>
          <a:prstGeom prst="rect">
            <a:avLst/>
          </a:prstGeom>
          <a:solidFill>
            <a:srgbClr val="2361C4"/>
          </a:solidFill>
          <a:ln/>
        </p:spPr>
      </p:sp>
      <p:sp>
        <p:nvSpPr>
          <p:cNvPr id="55" name="Shape 53"/>
          <p:cNvSpPr/>
          <p:nvPr/>
        </p:nvSpPr>
        <p:spPr>
          <a:xfrm>
            <a:off x="7071183" y="5679281"/>
            <a:ext cx="5120512" cy="116300"/>
          </a:xfrm>
          <a:prstGeom prst="rect">
            <a:avLst/>
          </a:prstGeom>
          <a:solidFill>
            <a:srgbClr val="2363C4"/>
          </a:solidFill>
          <a:ln/>
        </p:spPr>
      </p:sp>
      <p:sp>
        <p:nvSpPr>
          <p:cNvPr id="56" name="Shape 54"/>
          <p:cNvSpPr/>
          <p:nvPr/>
        </p:nvSpPr>
        <p:spPr>
          <a:xfrm>
            <a:off x="7071183" y="5786438"/>
            <a:ext cx="5120512" cy="116300"/>
          </a:xfrm>
          <a:prstGeom prst="rect">
            <a:avLst/>
          </a:prstGeom>
          <a:solidFill>
            <a:srgbClr val="2264C3"/>
          </a:solidFill>
          <a:ln/>
        </p:spPr>
      </p:sp>
      <p:sp>
        <p:nvSpPr>
          <p:cNvPr id="57" name="Shape 55"/>
          <p:cNvSpPr/>
          <p:nvPr/>
        </p:nvSpPr>
        <p:spPr>
          <a:xfrm>
            <a:off x="7071183" y="5893594"/>
            <a:ext cx="5120512" cy="116300"/>
          </a:xfrm>
          <a:prstGeom prst="rect">
            <a:avLst/>
          </a:prstGeom>
          <a:solidFill>
            <a:srgbClr val="2165C3"/>
          </a:solidFill>
          <a:ln/>
        </p:spPr>
      </p:sp>
      <p:sp>
        <p:nvSpPr>
          <p:cNvPr id="58" name="Shape 56"/>
          <p:cNvSpPr/>
          <p:nvPr/>
        </p:nvSpPr>
        <p:spPr>
          <a:xfrm>
            <a:off x="7071183" y="6000750"/>
            <a:ext cx="5120512" cy="116300"/>
          </a:xfrm>
          <a:prstGeom prst="rect">
            <a:avLst/>
          </a:prstGeom>
          <a:solidFill>
            <a:srgbClr val="2066C2"/>
          </a:solidFill>
          <a:ln/>
        </p:spPr>
      </p:sp>
      <p:sp>
        <p:nvSpPr>
          <p:cNvPr id="59" name="Shape 57"/>
          <p:cNvSpPr/>
          <p:nvPr/>
        </p:nvSpPr>
        <p:spPr>
          <a:xfrm>
            <a:off x="7071183" y="6107906"/>
            <a:ext cx="5120512" cy="116300"/>
          </a:xfrm>
          <a:prstGeom prst="rect">
            <a:avLst/>
          </a:prstGeom>
          <a:solidFill>
            <a:srgbClr val="1F68C1"/>
          </a:solidFill>
          <a:ln/>
        </p:spPr>
      </p:sp>
      <p:sp>
        <p:nvSpPr>
          <p:cNvPr id="60" name="Shape 58"/>
          <p:cNvSpPr/>
          <p:nvPr/>
        </p:nvSpPr>
        <p:spPr>
          <a:xfrm>
            <a:off x="7071183" y="6215063"/>
            <a:ext cx="5120512" cy="116300"/>
          </a:xfrm>
          <a:prstGeom prst="rect">
            <a:avLst/>
          </a:prstGeom>
          <a:solidFill>
            <a:srgbClr val="1E69C1"/>
          </a:solidFill>
          <a:ln/>
        </p:spPr>
      </p:sp>
      <p:sp>
        <p:nvSpPr>
          <p:cNvPr id="61" name="Shape 59"/>
          <p:cNvSpPr/>
          <p:nvPr/>
        </p:nvSpPr>
        <p:spPr>
          <a:xfrm>
            <a:off x="7071183" y="6322219"/>
            <a:ext cx="5120512" cy="116300"/>
          </a:xfrm>
          <a:prstGeom prst="rect">
            <a:avLst/>
          </a:prstGeom>
          <a:solidFill>
            <a:srgbClr val="1D6AC0"/>
          </a:solidFill>
          <a:ln/>
        </p:spPr>
      </p:sp>
      <p:sp>
        <p:nvSpPr>
          <p:cNvPr id="62" name="Shape 60"/>
          <p:cNvSpPr/>
          <p:nvPr/>
        </p:nvSpPr>
        <p:spPr>
          <a:xfrm>
            <a:off x="7071183" y="6429375"/>
            <a:ext cx="5120512" cy="116300"/>
          </a:xfrm>
          <a:prstGeom prst="rect">
            <a:avLst/>
          </a:prstGeom>
          <a:solidFill>
            <a:srgbClr val="1D6BC0"/>
          </a:solidFill>
          <a:ln/>
        </p:spPr>
      </p:sp>
      <p:sp>
        <p:nvSpPr>
          <p:cNvPr id="63" name="Shape 61"/>
          <p:cNvSpPr/>
          <p:nvPr/>
        </p:nvSpPr>
        <p:spPr>
          <a:xfrm>
            <a:off x="7071183" y="6536531"/>
            <a:ext cx="5120512" cy="116300"/>
          </a:xfrm>
          <a:prstGeom prst="rect">
            <a:avLst/>
          </a:prstGeom>
          <a:solidFill>
            <a:srgbClr val="1C6DBF"/>
          </a:solidFill>
          <a:ln/>
        </p:spPr>
      </p:sp>
      <p:sp>
        <p:nvSpPr>
          <p:cNvPr id="64" name="Shape 62"/>
          <p:cNvSpPr/>
          <p:nvPr/>
        </p:nvSpPr>
        <p:spPr>
          <a:xfrm>
            <a:off x="7071183" y="6643688"/>
            <a:ext cx="5120512" cy="116300"/>
          </a:xfrm>
          <a:prstGeom prst="rect">
            <a:avLst/>
          </a:prstGeom>
          <a:solidFill>
            <a:srgbClr val="1B6EBF"/>
          </a:solidFill>
          <a:ln/>
        </p:spPr>
      </p:sp>
      <p:sp>
        <p:nvSpPr>
          <p:cNvPr id="65" name="Shape 63"/>
          <p:cNvSpPr/>
          <p:nvPr/>
        </p:nvSpPr>
        <p:spPr>
          <a:xfrm>
            <a:off x="7071183" y="6750844"/>
            <a:ext cx="5120512" cy="116300"/>
          </a:xfrm>
          <a:prstGeom prst="rect">
            <a:avLst/>
          </a:prstGeom>
          <a:solidFill>
            <a:srgbClr val="1A6FBE"/>
          </a:solidFill>
          <a:ln/>
        </p:spPr>
      </p:sp>
      <p:sp>
        <p:nvSpPr>
          <p:cNvPr id="66" name="Text 64"/>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THE MAP</a:t>
            </a:r>
            <a:endParaRPr lang="en-US" sz="1100" dirty="0"/>
          </a:p>
        </p:txBody>
      </p:sp>
      <p:sp>
        <p:nvSpPr>
          <p:cNvPr id="67" name="Text 65"/>
          <p:cNvSpPr/>
          <p:nvPr/>
        </p:nvSpPr>
        <p:spPr>
          <a:xfrm>
            <a:off x="548640" y="1417320"/>
            <a:ext cx="6156783" cy="2194560"/>
          </a:xfrm>
          <a:prstGeom prst="rect">
            <a:avLst/>
          </a:prstGeom>
          <a:noFill/>
          <a:ln/>
        </p:spPr>
        <p:txBody>
          <a:bodyPr wrap="square" lIns="0" tIns="0" rIns="0" bIns="0" rtlCol="0" anchor="t"/>
          <a:lstStyle/>
          <a:p>
            <a:pPr algn="l" indent="0" marL="0">
              <a:buNone/>
            </a:pPr>
            <a:r>
              <a:rPr lang="en-US" sz="4200" b="1" spc="-50" kern="0" dirty="0">
                <a:solidFill>
                  <a:srgbClr val="0F1733"/>
                </a:solidFill>
                <a:latin typeface="Calibri" pitchFamily="34" charset="0"/>
                <a:ea typeface="Calibri" pitchFamily="34" charset="-122"/>
                <a:cs typeface="Calibri" pitchFamily="34" charset="-120"/>
              </a:rPr>
              <a:t>Where we sit between two well-funded categories.</a:t>
            </a:r>
            <a:endParaRPr lang="en-US" sz="4200" dirty="0"/>
          </a:p>
        </p:txBody>
      </p:sp>
      <p:sp>
        <p:nvSpPr>
          <p:cNvPr id="68" name="Text 66"/>
          <p:cNvSpPr/>
          <p:nvPr/>
        </p:nvSpPr>
        <p:spPr>
          <a:xfrm>
            <a:off x="548640" y="3657600"/>
            <a:ext cx="6156783" cy="1097280"/>
          </a:xfrm>
          <a:prstGeom prst="rect">
            <a:avLst/>
          </a:prstGeom>
          <a:noFill/>
          <a:ln/>
        </p:spPr>
        <p:txBody>
          <a:bodyPr wrap="square" lIns="0" tIns="0" rIns="0" bIns="0" rtlCol="0" anchor="t"/>
          <a:lstStyle/>
          <a:p>
            <a:pPr algn="l" indent="0" marL="0">
              <a:spcAft>
                <a:spcPts val="600"/>
              </a:spcAft>
              <a:buNone/>
            </a:pPr>
            <a:r>
              <a:rPr lang="en-US" sz="1400" dirty="0">
                <a:solidFill>
                  <a:srgbClr val="2A3358"/>
                </a:solidFill>
                <a:latin typeface="Calibri" pitchFamily="34" charset="0"/>
                <a:ea typeface="Calibri" pitchFamily="34" charset="-122"/>
                <a:cs typeface="Calibri" pitchFamily="34" charset="-120"/>
              </a:rPr>
              <a:t>Heepsy, Modash, HypeAuditor, Influencity, and CreatorIQ optimize for enterprise brand campaigns with five- and six-figure annual budgets. HubSpot, Pipedrive, Attio, and Apollo optimize for B2B SDR pipelines with no creator context. We sit in the middle: B2B-relevant creators, founder-budget tooling, native cross-platform workflow.</a:t>
            </a:r>
            <a:endParaRPr lang="en-US" sz="1400" dirty="0"/>
          </a:p>
        </p:txBody>
      </p:sp>
      <p:sp>
        <p:nvSpPr>
          <p:cNvPr id="69" name="Text 67"/>
          <p:cNvSpPr/>
          <p:nvPr/>
        </p:nvSpPr>
        <p:spPr>
          <a:xfrm>
            <a:off x="548640" y="4846320"/>
            <a:ext cx="6156783" cy="1463040"/>
          </a:xfrm>
          <a:prstGeom prst="rect">
            <a:avLst/>
          </a:prstGeom>
          <a:noFill/>
          <a:ln/>
        </p:spPr>
        <p:txBody>
          <a:bodyPr wrap="square" lIns="0" tIns="0" rIns="0" bIns="0" rtlCol="0" anchor="t"/>
          <a:lstStyle/>
          <a:p>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Influencer platforms — wrong buyer, wrong platforms, wrong price</a:t>
            </a:r>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Generic CRMs — no creator data, no native send, no platform context</a:t>
            </a:r>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Sales engagement tools — built for SDRs, not founders</a:t>
            </a:r>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Creator Outreach — the middle, finally built</a:t>
            </a:r>
            <a:endParaRPr lang="en-US" sz="13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11 · Competitive landscape  ·  vB</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072 / 126</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THREE COMPETITIVE ZONES</a:t>
            </a:r>
            <a:endParaRPr lang="en-US" sz="1100" dirty="0"/>
          </a:p>
        </p:txBody>
      </p:sp>
      <p:sp>
        <p:nvSpPr>
          <p:cNvPr id="3" name="Text 1"/>
          <p:cNvSpPr/>
          <p:nvPr/>
        </p:nvSpPr>
        <p:spPr>
          <a:xfrm>
            <a:off x="548640" y="1417320"/>
            <a:ext cx="11094415" cy="1188720"/>
          </a:xfrm>
          <a:prstGeom prst="rect">
            <a:avLst/>
          </a:prstGeom>
          <a:noFill/>
          <a:ln/>
        </p:spPr>
        <p:txBody>
          <a:bodyPr wrap="square" lIns="0" tIns="0" rIns="0" bIns="0" rtlCol="0" anchor="t"/>
          <a:lstStyle/>
          <a:p>
            <a:pPr algn="l" indent="0" marL="0">
              <a:buNone/>
            </a:pPr>
            <a:r>
              <a:rPr lang="en-US" sz="3800" b="1" spc="-50" kern="0" dirty="0">
                <a:solidFill>
                  <a:srgbClr val="0F1733"/>
                </a:solidFill>
                <a:latin typeface="Calibri" pitchFamily="34" charset="0"/>
                <a:ea typeface="Calibri" pitchFamily="34" charset="-122"/>
                <a:cs typeface="Calibri" pitchFamily="34" charset="-120"/>
              </a:rPr>
              <a:t>Each zone misses the founder running B2B creator outreach.</a:t>
            </a:r>
            <a:endParaRPr lang="en-US" sz="3800" dirty="0"/>
          </a:p>
        </p:txBody>
      </p:sp>
      <p:sp>
        <p:nvSpPr>
          <p:cNvPr id="4" name="Shape 2"/>
          <p:cNvSpPr/>
          <p:nvPr/>
        </p:nvSpPr>
        <p:spPr>
          <a:xfrm>
            <a:off x="548640" y="3108960"/>
            <a:ext cx="3545738" cy="3017520"/>
          </a:xfrm>
          <a:prstGeom prst="roundRect">
            <a:avLst>
              <a:gd name="adj" fmla="val 3636"/>
            </a:avLst>
          </a:prstGeom>
          <a:solidFill>
            <a:srgbClr val="FFFFFF"/>
          </a:solidFill>
          <a:ln w="9525">
            <a:solidFill>
              <a:srgbClr val="E5E7F0"/>
            </a:solidFill>
            <a:prstDash val="solid"/>
          </a:ln>
        </p:spPr>
      </p:sp>
      <p:sp>
        <p:nvSpPr>
          <p:cNvPr id="5" name="Shape 3"/>
          <p:cNvSpPr/>
          <p:nvPr/>
        </p:nvSpPr>
        <p:spPr>
          <a:xfrm>
            <a:off x="548640" y="3108960"/>
            <a:ext cx="3545738" cy="73152"/>
          </a:xfrm>
          <a:prstGeom prst="rect">
            <a:avLst/>
          </a:prstGeom>
          <a:solidFill>
            <a:srgbClr val="5028C2"/>
          </a:solidFill>
          <a:ln/>
        </p:spPr>
      </p:sp>
      <p:sp>
        <p:nvSpPr>
          <p:cNvPr id="6" name="Shape 4"/>
          <p:cNvSpPr/>
          <p:nvPr/>
        </p:nvSpPr>
        <p:spPr>
          <a:xfrm>
            <a:off x="868680" y="3474720"/>
            <a:ext cx="457200" cy="457200"/>
          </a:xfrm>
          <a:prstGeom prst="ellipse">
            <a:avLst/>
          </a:prstGeom>
          <a:solidFill>
            <a:srgbClr val="5028C2"/>
          </a:solidFill>
          <a:ln/>
        </p:spPr>
      </p:sp>
      <p:sp>
        <p:nvSpPr>
          <p:cNvPr id="7" name="Text 5"/>
          <p:cNvSpPr/>
          <p:nvPr/>
        </p:nvSpPr>
        <p:spPr>
          <a:xfrm>
            <a:off x="868680"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8" name="Text 6"/>
          <p:cNvSpPr/>
          <p:nvPr/>
        </p:nvSpPr>
        <p:spPr>
          <a:xfrm>
            <a:off x="868680"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Influencer platforms</a:t>
            </a:r>
            <a:endParaRPr lang="en-US" sz="1800" dirty="0"/>
          </a:p>
        </p:txBody>
      </p:sp>
      <p:sp>
        <p:nvSpPr>
          <p:cNvPr id="9" name="Text 7"/>
          <p:cNvSpPr/>
          <p:nvPr/>
        </p:nvSpPr>
        <p:spPr>
          <a:xfrm>
            <a:off x="868680"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Heepsy, Modash, HypeAuditor. Built for brand marketers. Consumer-focused. $10K+ ACV. Wrong shape entirely.</a:t>
            </a:r>
            <a:endParaRPr lang="en-US" sz="1300" dirty="0"/>
          </a:p>
        </p:txBody>
      </p:sp>
      <p:sp>
        <p:nvSpPr>
          <p:cNvPr id="10" name="Shape 8"/>
          <p:cNvSpPr/>
          <p:nvPr/>
        </p:nvSpPr>
        <p:spPr>
          <a:xfrm>
            <a:off x="4322978" y="3108960"/>
            <a:ext cx="3545738" cy="3017520"/>
          </a:xfrm>
          <a:prstGeom prst="roundRect">
            <a:avLst>
              <a:gd name="adj" fmla="val 3636"/>
            </a:avLst>
          </a:prstGeom>
          <a:solidFill>
            <a:srgbClr val="FFFFFF"/>
          </a:solidFill>
          <a:ln w="9525">
            <a:solidFill>
              <a:srgbClr val="E5E7F0"/>
            </a:solidFill>
            <a:prstDash val="solid"/>
          </a:ln>
        </p:spPr>
      </p:sp>
      <p:sp>
        <p:nvSpPr>
          <p:cNvPr id="11" name="Shape 9"/>
          <p:cNvSpPr/>
          <p:nvPr/>
        </p:nvSpPr>
        <p:spPr>
          <a:xfrm>
            <a:off x="4322978" y="3108960"/>
            <a:ext cx="3545738" cy="73152"/>
          </a:xfrm>
          <a:prstGeom prst="rect">
            <a:avLst/>
          </a:prstGeom>
          <a:solidFill>
            <a:srgbClr val="3548D0"/>
          </a:solidFill>
          <a:ln/>
        </p:spPr>
      </p:sp>
      <p:sp>
        <p:nvSpPr>
          <p:cNvPr id="12" name="Shape 10"/>
          <p:cNvSpPr/>
          <p:nvPr/>
        </p:nvSpPr>
        <p:spPr>
          <a:xfrm>
            <a:off x="4643018" y="3474720"/>
            <a:ext cx="457200" cy="457200"/>
          </a:xfrm>
          <a:prstGeom prst="ellipse">
            <a:avLst/>
          </a:prstGeom>
          <a:solidFill>
            <a:srgbClr val="3548D0"/>
          </a:solidFill>
          <a:ln/>
        </p:spPr>
      </p:sp>
      <p:sp>
        <p:nvSpPr>
          <p:cNvPr id="13" name="Text 11"/>
          <p:cNvSpPr/>
          <p:nvPr/>
        </p:nvSpPr>
        <p:spPr>
          <a:xfrm>
            <a:off x="4643018"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4" name="Text 12"/>
          <p:cNvSpPr/>
          <p:nvPr/>
        </p:nvSpPr>
        <p:spPr>
          <a:xfrm>
            <a:off x="4643018"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Generic CRMs</a:t>
            </a:r>
            <a:endParaRPr lang="en-US" sz="1800" dirty="0"/>
          </a:p>
        </p:txBody>
      </p:sp>
      <p:sp>
        <p:nvSpPr>
          <p:cNvPr id="15" name="Text 13"/>
          <p:cNvSpPr/>
          <p:nvPr/>
        </p:nvSpPr>
        <p:spPr>
          <a:xfrm>
            <a:off x="4643018"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HubSpot, Pipedrive, Attio. Strong pipeline tools. No creator data, no native outreach, no platform intelligence.</a:t>
            </a:r>
            <a:endParaRPr lang="en-US" sz="1300" dirty="0"/>
          </a:p>
        </p:txBody>
      </p:sp>
      <p:sp>
        <p:nvSpPr>
          <p:cNvPr id="16" name="Shape 14"/>
          <p:cNvSpPr/>
          <p:nvPr/>
        </p:nvSpPr>
        <p:spPr>
          <a:xfrm>
            <a:off x="8097317" y="3108960"/>
            <a:ext cx="3545738" cy="3017520"/>
          </a:xfrm>
          <a:prstGeom prst="roundRect">
            <a:avLst>
              <a:gd name="adj" fmla="val 3636"/>
            </a:avLst>
          </a:prstGeom>
          <a:solidFill>
            <a:srgbClr val="FFFFFF"/>
          </a:solidFill>
          <a:ln w="9525">
            <a:solidFill>
              <a:srgbClr val="E5E7F0"/>
            </a:solidFill>
            <a:prstDash val="solid"/>
          </a:ln>
        </p:spPr>
      </p:sp>
      <p:sp>
        <p:nvSpPr>
          <p:cNvPr id="17" name="Shape 15"/>
          <p:cNvSpPr/>
          <p:nvPr/>
        </p:nvSpPr>
        <p:spPr>
          <a:xfrm>
            <a:off x="8097317" y="3108960"/>
            <a:ext cx="3545738" cy="73152"/>
          </a:xfrm>
          <a:prstGeom prst="rect">
            <a:avLst/>
          </a:prstGeom>
          <a:solidFill>
            <a:srgbClr val="1A6FBE"/>
          </a:solidFill>
          <a:ln/>
        </p:spPr>
      </p:sp>
      <p:sp>
        <p:nvSpPr>
          <p:cNvPr id="18" name="Shape 16"/>
          <p:cNvSpPr/>
          <p:nvPr/>
        </p:nvSpPr>
        <p:spPr>
          <a:xfrm>
            <a:off x="8417357" y="3474720"/>
            <a:ext cx="457200" cy="457200"/>
          </a:xfrm>
          <a:prstGeom prst="ellipse">
            <a:avLst/>
          </a:prstGeom>
          <a:solidFill>
            <a:srgbClr val="1A6FBE"/>
          </a:solidFill>
          <a:ln/>
        </p:spPr>
      </p:sp>
      <p:sp>
        <p:nvSpPr>
          <p:cNvPr id="19" name="Text 17"/>
          <p:cNvSpPr/>
          <p:nvPr/>
        </p:nvSpPr>
        <p:spPr>
          <a:xfrm>
            <a:off x="8417357"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0" name="Text 18"/>
          <p:cNvSpPr/>
          <p:nvPr/>
        </p:nvSpPr>
        <p:spPr>
          <a:xfrm>
            <a:off x="8417357"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Sales engagement</a:t>
            </a:r>
            <a:endParaRPr lang="en-US" sz="1800" dirty="0"/>
          </a:p>
        </p:txBody>
      </p:sp>
      <p:sp>
        <p:nvSpPr>
          <p:cNvPr id="21" name="Text 19"/>
          <p:cNvSpPr/>
          <p:nvPr/>
        </p:nvSpPr>
        <p:spPr>
          <a:xfrm>
            <a:off x="8417357"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Outreach, Apollo, Salesloft. Built for SDR teams sending 1,000 cold emails. Wrong workflow for creator partnerships.</a:t>
            </a:r>
            <a:endParaRPr lang="en-US" sz="1300" dirty="0"/>
          </a:p>
        </p:txBody>
      </p:sp>
      <p:sp>
        <p:nvSpPr>
          <p:cNvPr id="22" name="Shape 20"/>
          <p:cNvSpPr/>
          <p:nvPr/>
        </p:nvSpPr>
        <p:spPr>
          <a:xfrm>
            <a:off x="548640" y="502920"/>
            <a:ext cx="292608" cy="292608"/>
          </a:xfrm>
          <a:prstGeom prst="roundRect">
            <a:avLst>
              <a:gd name="adj" fmla="val 25000"/>
            </a:avLst>
          </a:prstGeom>
          <a:solidFill>
            <a:srgbClr val="5028C2"/>
          </a:solidFill>
          <a:ln/>
        </p:spPr>
      </p:sp>
      <p:sp>
        <p:nvSpPr>
          <p:cNvPr id="23" name="Shape 21"/>
          <p:cNvSpPr/>
          <p:nvPr/>
        </p:nvSpPr>
        <p:spPr>
          <a:xfrm>
            <a:off x="548640" y="502920"/>
            <a:ext cx="292608" cy="292608"/>
          </a:xfrm>
          <a:prstGeom prst="roundRect">
            <a:avLst>
              <a:gd name="adj" fmla="val 25000"/>
            </a:avLst>
          </a:prstGeom>
          <a:solidFill>
            <a:srgbClr val="1A6FBE">
              <a:alpha val="50000"/>
            </a:srgbClr>
          </a:solidFill>
          <a:ln/>
        </p:spPr>
      </p:sp>
      <p:sp>
        <p:nvSpPr>
          <p:cNvPr id="24" name="Text 22"/>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5" name="Text 23"/>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6" name="Text 24"/>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11 · Competitive landscape  ·  vC</a:t>
            </a:r>
            <a:endParaRPr lang="en-US" sz="900" dirty="0"/>
          </a:p>
        </p:txBody>
      </p:sp>
      <p:sp>
        <p:nvSpPr>
          <p:cNvPr id="27" name="Text 25"/>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28" name="Text 26"/>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073 / 126</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320040" cy="116300"/>
          </a:xfrm>
          <a:prstGeom prst="rect">
            <a:avLst/>
          </a:prstGeom>
          <a:solidFill>
            <a:srgbClr val="5028C2"/>
          </a:solidFill>
          <a:ln/>
        </p:spPr>
      </p:sp>
      <p:sp>
        <p:nvSpPr>
          <p:cNvPr id="3" name="Shape 1"/>
          <p:cNvSpPr/>
          <p:nvPr/>
        </p:nvSpPr>
        <p:spPr>
          <a:xfrm>
            <a:off x="0" y="107156"/>
            <a:ext cx="320040" cy="116300"/>
          </a:xfrm>
          <a:prstGeom prst="rect">
            <a:avLst/>
          </a:prstGeom>
          <a:solidFill>
            <a:srgbClr val="4F29C2"/>
          </a:solidFill>
          <a:ln/>
        </p:spPr>
      </p:sp>
      <p:sp>
        <p:nvSpPr>
          <p:cNvPr id="4" name="Shape 2"/>
          <p:cNvSpPr/>
          <p:nvPr/>
        </p:nvSpPr>
        <p:spPr>
          <a:xfrm>
            <a:off x="0" y="214313"/>
            <a:ext cx="320040" cy="116300"/>
          </a:xfrm>
          <a:prstGeom prst="rect">
            <a:avLst/>
          </a:prstGeom>
          <a:solidFill>
            <a:srgbClr val="4E2AC3"/>
          </a:solidFill>
          <a:ln/>
        </p:spPr>
      </p:sp>
      <p:sp>
        <p:nvSpPr>
          <p:cNvPr id="5" name="Shape 3"/>
          <p:cNvSpPr/>
          <p:nvPr/>
        </p:nvSpPr>
        <p:spPr>
          <a:xfrm>
            <a:off x="0" y="321469"/>
            <a:ext cx="320040" cy="116300"/>
          </a:xfrm>
          <a:prstGeom prst="rect">
            <a:avLst/>
          </a:prstGeom>
          <a:solidFill>
            <a:srgbClr val="4D2BC3"/>
          </a:solidFill>
          <a:ln/>
        </p:spPr>
      </p:sp>
      <p:sp>
        <p:nvSpPr>
          <p:cNvPr id="6" name="Shape 4"/>
          <p:cNvSpPr/>
          <p:nvPr/>
        </p:nvSpPr>
        <p:spPr>
          <a:xfrm>
            <a:off x="0" y="428625"/>
            <a:ext cx="320040" cy="116300"/>
          </a:xfrm>
          <a:prstGeom prst="rect">
            <a:avLst/>
          </a:prstGeom>
          <a:solidFill>
            <a:srgbClr val="4D2CC4"/>
          </a:solidFill>
          <a:ln/>
        </p:spPr>
      </p:sp>
      <p:sp>
        <p:nvSpPr>
          <p:cNvPr id="7" name="Shape 5"/>
          <p:cNvSpPr/>
          <p:nvPr/>
        </p:nvSpPr>
        <p:spPr>
          <a:xfrm>
            <a:off x="0" y="535781"/>
            <a:ext cx="320040" cy="116300"/>
          </a:xfrm>
          <a:prstGeom prst="rect">
            <a:avLst/>
          </a:prstGeom>
          <a:solidFill>
            <a:srgbClr val="4C2DC4"/>
          </a:solidFill>
          <a:ln/>
        </p:spPr>
      </p:sp>
      <p:sp>
        <p:nvSpPr>
          <p:cNvPr id="8" name="Shape 6"/>
          <p:cNvSpPr/>
          <p:nvPr/>
        </p:nvSpPr>
        <p:spPr>
          <a:xfrm>
            <a:off x="0" y="642938"/>
            <a:ext cx="320040" cy="116300"/>
          </a:xfrm>
          <a:prstGeom prst="rect">
            <a:avLst/>
          </a:prstGeom>
          <a:solidFill>
            <a:srgbClr val="4B2EC5"/>
          </a:solidFill>
          <a:ln/>
        </p:spPr>
      </p:sp>
      <p:sp>
        <p:nvSpPr>
          <p:cNvPr id="9" name="Shape 7"/>
          <p:cNvSpPr/>
          <p:nvPr/>
        </p:nvSpPr>
        <p:spPr>
          <a:xfrm>
            <a:off x="0" y="750094"/>
            <a:ext cx="320040" cy="116300"/>
          </a:xfrm>
          <a:prstGeom prst="rect">
            <a:avLst/>
          </a:prstGeom>
          <a:solidFill>
            <a:srgbClr val="4A2FC5"/>
          </a:solidFill>
          <a:ln/>
        </p:spPr>
      </p:sp>
      <p:sp>
        <p:nvSpPr>
          <p:cNvPr id="10" name="Shape 8"/>
          <p:cNvSpPr/>
          <p:nvPr/>
        </p:nvSpPr>
        <p:spPr>
          <a:xfrm>
            <a:off x="0" y="857250"/>
            <a:ext cx="320040" cy="116300"/>
          </a:xfrm>
          <a:prstGeom prst="rect">
            <a:avLst/>
          </a:prstGeom>
          <a:solidFill>
            <a:srgbClr val="4930C6"/>
          </a:solidFill>
          <a:ln/>
        </p:spPr>
      </p:sp>
      <p:sp>
        <p:nvSpPr>
          <p:cNvPr id="11" name="Shape 9"/>
          <p:cNvSpPr/>
          <p:nvPr/>
        </p:nvSpPr>
        <p:spPr>
          <a:xfrm>
            <a:off x="0" y="964406"/>
            <a:ext cx="320040" cy="116300"/>
          </a:xfrm>
          <a:prstGeom prst="rect">
            <a:avLst/>
          </a:prstGeom>
          <a:solidFill>
            <a:srgbClr val="4831C6"/>
          </a:solidFill>
          <a:ln/>
        </p:spPr>
      </p:sp>
      <p:sp>
        <p:nvSpPr>
          <p:cNvPr id="12" name="Shape 10"/>
          <p:cNvSpPr/>
          <p:nvPr/>
        </p:nvSpPr>
        <p:spPr>
          <a:xfrm>
            <a:off x="0" y="1071563"/>
            <a:ext cx="320040" cy="116300"/>
          </a:xfrm>
          <a:prstGeom prst="rect">
            <a:avLst/>
          </a:prstGeom>
          <a:solidFill>
            <a:srgbClr val="4732C6"/>
          </a:solidFill>
          <a:ln/>
        </p:spPr>
      </p:sp>
      <p:sp>
        <p:nvSpPr>
          <p:cNvPr id="13" name="Shape 11"/>
          <p:cNvSpPr/>
          <p:nvPr/>
        </p:nvSpPr>
        <p:spPr>
          <a:xfrm>
            <a:off x="0" y="1178719"/>
            <a:ext cx="320040" cy="116300"/>
          </a:xfrm>
          <a:prstGeom prst="rect">
            <a:avLst/>
          </a:prstGeom>
          <a:solidFill>
            <a:srgbClr val="4733C7"/>
          </a:solidFill>
          <a:ln/>
        </p:spPr>
      </p:sp>
      <p:sp>
        <p:nvSpPr>
          <p:cNvPr id="14" name="Shape 12"/>
          <p:cNvSpPr/>
          <p:nvPr/>
        </p:nvSpPr>
        <p:spPr>
          <a:xfrm>
            <a:off x="0" y="1285875"/>
            <a:ext cx="320040" cy="116300"/>
          </a:xfrm>
          <a:prstGeom prst="rect">
            <a:avLst/>
          </a:prstGeom>
          <a:solidFill>
            <a:srgbClr val="4634C7"/>
          </a:solidFill>
          <a:ln/>
        </p:spPr>
      </p:sp>
      <p:sp>
        <p:nvSpPr>
          <p:cNvPr id="15" name="Shape 13"/>
          <p:cNvSpPr/>
          <p:nvPr/>
        </p:nvSpPr>
        <p:spPr>
          <a:xfrm>
            <a:off x="0" y="1393031"/>
            <a:ext cx="320040" cy="116300"/>
          </a:xfrm>
          <a:prstGeom prst="rect">
            <a:avLst/>
          </a:prstGeom>
          <a:solidFill>
            <a:srgbClr val="4535C8"/>
          </a:solidFill>
          <a:ln/>
        </p:spPr>
      </p:sp>
      <p:sp>
        <p:nvSpPr>
          <p:cNvPr id="16" name="Shape 14"/>
          <p:cNvSpPr/>
          <p:nvPr/>
        </p:nvSpPr>
        <p:spPr>
          <a:xfrm>
            <a:off x="0" y="1500188"/>
            <a:ext cx="320040" cy="116300"/>
          </a:xfrm>
          <a:prstGeom prst="rect">
            <a:avLst/>
          </a:prstGeom>
          <a:solidFill>
            <a:srgbClr val="4436C8"/>
          </a:solidFill>
          <a:ln/>
        </p:spPr>
      </p:sp>
      <p:sp>
        <p:nvSpPr>
          <p:cNvPr id="17" name="Shape 15"/>
          <p:cNvSpPr/>
          <p:nvPr/>
        </p:nvSpPr>
        <p:spPr>
          <a:xfrm>
            <a:off x="0" y="1607344"/>
            <a:ext cx="320040" cy="116300"/>
          </a:xfrm>
          <a:prstGeom prst="rect">
            <a:avLst/>
          </a:prstGeom>
          <a:solidFill>
            <a:srgbClr val="4337C9"/>
          </a:solidFill>
          <a:ln/>
        </p:spPr>
      </p:sp>
      <p:sp>
        <p:nvSpPr>
          <p:cNvPr id="18" name="Shape 16"/>
          <p:cNvSpPr/>
          <p:nvPr/>
        </p:nvSpPr>
        <p:spPr>
          <a:xfrm>
            <a:off x="0" y="1714500"/>
            <a:ext cx="320040" cy="116300"/>
          </a:xfrm>
          <a:prstGeom prst="rect">
            <a:avLst/>
          </a:prstGeom>
          <a:solidFill>
            <a:srgbClr val="4238C9"/>
          </a:solidFill>
          <a:ln/>
        </p:spPr>
      </p:sp>
      <p:sp>
        <p:nvSpPr>
          <p:cNvPr id="19" name="Shape 17"/>
          <p:cNvSpPr/>
          <p:nvPr/>
        </p:nvSpPr>
        <p:spPr>
          <a:xfrm>
            <a:off x="0" y="1821656"/>
            <a:ext cx="320040" cy="116300"/>
          </a:xfrm>
          <a:prstGeom prst="rect">
            <a:avLst/>
          </a:prstGeom>
          <a:solidFill>
            <a:srgbClr val="4139CA"/>
          </a:solidFill>
          <a:ln/>
        </p:spPr>
      </p:sp>
      <p:sp>
        <p:nvSpPr>
          <p:cNvPr id="20" name="Shape 18"/>
          <p:cNvSpPr/>
          <p:nvPr/>
        </p:nvSpPr>
        <p:spPr>
          <a:xfrm>
            <a:off x="0" y="1928813"/>
            <a:ext cx="320040" cy="116300"/>
          </a:xfrm>
          <a:prstGeom prst="rect">
            <a:avLst/>
          </a:prstGeom>
          <a:solidFill>
            <a:srgbClr val="413ACA"/>
          </a:solidFill>
          <a:ln/>
        </p:spPr>
      </p:sp>
      <p:sp>
        <p:nvSpPr>
          <p:cNvPr id="21" name="Shape 19"/>
          <p:cNvSpPr/>
          <p:nvPr/>
        </p:nvSpPr>
        <p:spPr>
          <a:xfrm>
            <a:off x="0" y="2035969"/>
            <a:ext cx="320040" cy="116300"/>
          </a:xfrm>
          <a:prstGeom prst="rect">
            <a:avLst/>
          </a:prstGeom>
          <a:solidFill>
            <a:srgbClr val="403BCA"/>
          </a:solidFill>
          <a:ln/>
        </p:spPr>
      </p:sp>
      <p:sp>
        <p:nvSpPr>
          <p:cNvPr id="22" name="Shape 20"/>
          <p:cNvSpPr/>
          <p:nvPr/>
        </p:nvSpPr>
        <p:spPr>
          <a:xfrm>
            <a:off x="0" y="2143125"/>
            <a:ext cx="320040" cy="116300"/>
          </a:xfrm>
          <a:prstGeom prst="rect">
            <a:avLst/>
          </a:prstGeom>
          <a:solidFill>
            <a:srgbClr val="3F3CCB"/>
          </a:solidFill>
          <a:ln/>
        </p:spPr>
      </p:sp>
      <p:sp>
        <p:nvSpPr>
          <p:cNvPr id="23" name="Shape 21"/>
          <p:cNvSpPr/>
          <p:nvPr/>
        </p:nvSpPr>
        <p:spPr>
          <a:xfrm>
            <a:off x="0" y="2250281"/>
            <a:ext cx="320040" cy="116300"/>
          </a:xfrm>
          <a:prstGeom prst="rect">
            <a:avLst/>
          </a:prstGeom>
          <a:solidFill>
            <a:srgbClr val="3E3DCB"/>
          </a:solidFill>
          <a:ln/>
        </p:spPr>
      </p:sp>
      <p:sp>
        <p:nvSpPr>
          <p:cNvPr id="24" name="Shape 22"/>
          <p:cNvSpPr/>
          <p:nvPr/>
        </p:nvSpPr>
        <p:spPr>
          <a:xfrm>
            <a:off x="0" y="2357438"/>
            <a:ext cx="320040" cy="116300"/>
          </a:xfrm>
          <a:prstGeom prst="rect">
            <a:avLst/>
          </a:prstGeom>
          <a:solidFill>
            <a:srgbClr val="3D3ECC"/>
          </a:solidFill>
          <a:ln/>
        </p:spPr>
      </p:sp>
      <p:sp>
        <p:nvSpPr>
          <p:cNvPr id="25" name="Shape 23"/>
          <p:cNvSpPr/>
          <p:nvPr/>
        </p:nvSpPr>
        <p:spPr>
          <a:xfrm>
            <a:off x="0" y="2464594"/>
            <a:ext cx="320040" cy="116300"/>
          </a:xfrm>
          <a:prstGeom prst="rect">
            <a:avLst/>
          </a:prstGeom>
          <a:solidFill>
            <a:srgbClr val="3C3FCC"/>
          </a:solidFill>
          <a:ln/>
        </p:spPr>
      </p:sp>
      <p:sp>
        <p:nvSpPr>
          <p:cNvPr id="26" name="Shape 24"/>
          <p:cNvSpPr/>
          <p:nvPr/>
        </p:nvSpPr>
        <p:spPr>
          <a:xfrm>
            <a:off x="0" y="2571750"/>
            <a:ext cx="320040" cy="116300"/>
          </a:xfrm>
          <a:prstGeom prst="rect">
            <a:avLst/>
          </a:prstGeom>
          <a:solidFill>
            <a:srgbClr val="3B40CD"/>
          </a:solidFill>
          <a:ln/>
        </p:spPr>
      </p:sp>
      <p:sp>
        <p:nvSpPr>
          <p:cNvPr id="27" name="Shape 25"/>
          <p:cNvSpPr/>
          <p:nvPr/>
        </p:nvSpPr>
        <p:spPr>
          <a:xfrm>
            <a:off x="0" y="2678906"/>
            <a:ext cx="320040" cy="116300"/>
          </a:xfrm>
          <a:prstGeom prst="rect">
            <a:avLst/>
          </a:prstGeom>
          <a:solidFill>
            <a:srgbClr val="3B41CD"/>
          </a:solidFill>
          <a:ln/>
        </p:spPr>
      </p:sp>
      <p:sp>
        <p:nvSpPr>
          <p:cNvPr id="28" name="Shape 26"/>
          <p:cNvSpPr/>
          <p:nvPr/>
        </p:nvSpPr>
        <p:spPr>
          <a:xfrm>
            <a:off x="0" y="2786063"/>
            <a:ext cx="320040" cy="116300"/>
          </a:xfrm>
          <a:prstGeom prst="rect">
            <a:avLst/>
          </a:prstGeom>
          <a:solidFill>
            <a:srgbClr val="3A42CE"/>
          </a:solidFill>
          <a:ln/>
        </p:spPr>
      </p:sp>
      <p:sp>
        <p:nvSpPr>
          <p:cNvPr id="29" name="Shape 27"/>
          <p:cNvSpPr/>
          <p:nvPr/>
        </p:nvSpPr>
        <p:spPr>
          <a:xfrm>
            <a:off x="0" y="2893219"/>
            <a:ext cx="320040" cy="116300"/>
          </a:xfrm>
          <a:prstGeom prst="rect">
            <a:avLst/>
          </a:prstGeom>
          <a:solidFill>
            <a:srgbClr val="3943CE"/>
          </a:solidFill>
          <a:ln/>
        </p:spPr>
      </p:sp>
      <p:sp>
        <p:nvSpPr>
          <p:cNvPr id="30" name="Shape 28"/>
          <p:cNvSpPr/>
          <p:nvPr/>
        </p:nvSpPr>
        <p:spPr>
          <a:xfrm>
            <a:off x="0" y="3000375"/>
            <a:ext cx="320040" cy="116300"/>
          </a:xfrm>
          <a:prstGeom prst="rect">
            <a:avLst/>
          </a:prstGeom>
          <a:solidFill>
            <a:srgbClr val="3844CE"/>
          </a:solidFill>
          <a:ln/>
        </p:spPr>
      </p:sp>
      <p:sp>
        <p:nvSpPr>
          <p:cNvPr id="31" name="Shape 29"/>
          <p:cNvSpPr/>
          <p:nvPr/>
        </p:nvSpPr>
        <p:spPr>
          <a:xfrm>
            <a:off x="0" y="3107531"/>
            <a:ext cx="320040" cy="116300"/>
          </a:xfrm>
          <a:prstGeom prst="rect">
            <a:avLst/>
          </a:prstGeom>
          <a:solidFill>
            <a:srgbClr val="3745CF"/>
          </a:solidFill>
          <a:ln/>
        </p:spPr>
      </p:sp>
      <p:sp>
        <p:nvSpPr>
          <p:cNvPr id="32" name="Shape 30"/>
          <p:cNvSpPr/>
          <p:nvPr/>
        </p:nvSpPr>
        <p:spPr>
          <a:xfrm>
            <a:off x="0" y="3214688"/>
            <a:ext cx="320040" cy="116300"/>
          </a:xfrm>
          <a:prstGeom prst="rect">
            <a:avLst/>
          </a:prstGeom>
          <a:solidFill>
            <a:srgbClr val="3646CF"/>
          </a:solidFill>
          <a:ln/>
        </p:spPr>
      </p:sp>
      <p:sp>
        <p:nvSpPr>
          <p:cNvPr id="33" name="Shape 31"/>
          <p:cNvSpPr/>
          <p:nvPr/>
        </p:nvSpPr>
        <p:spPr>
          <a:xfrm>
            <a:off x="0" y="3321844"/>
            <a:ext cx="320040" cy="116300"/>
          </a:xfrm>
          <a:prstGeom prst="rect">
            <a:avLst/>
          </a:prstGeom>
          <a:solidFill>
            <a:srgbClr val="3547D0"/>
          </a:solidFill>
          <a:ln/>
        </p:spPr>
      </p:sp>
      <p:sp>
        <p:nvSpPr>
          <p:cNvPr id="34" name="Shape 32"/>
          <p:cNvSpPr/>
          <p:nvPr/>
        </p:nvSpPr>
        <p:spPr>
          <a:xfrm>
            <a:off x="0" y="3429000"/>
            <a:ext cx="320040" cy="116300"/>
          </a:xfrm>
          <a:prstGeom prst="rect">
            <a:avLst/>
          </a:prstGeom>
          <a:solidFill>
            <a:srgbClr val="3549D0"/>
          </a:solidFill>
          <a:ln/>
        </p:spPr>
      </p:sp>
      <p:sp>
        <p:nvSpPr>
          <p:cNvPr id="35" name="Shape 33"/>
          <p:cNvSpPr/>
          <p:nvPr/>
        </p:nvSpPr>
        <p:spPr>
          <a:xfrm>
            <a:off x="0" y="3536156"/>
            <a:ext cx="320040" cy="116300"/>
          </a:xfrm>
          <a:prstGeom prst="rect">
            <a:avLst/>
          </a:prstGeom>
          <a:solidFill>
            <a:srgbClr val="344ACF"/>
          </a:solidFill>
          <a:ln/>
        </p:spPr>
      </p:sp>
      <p:sp>
        <p:nvSpPr>
          <p:cNvPr id="36" name="Shape 34"/>
          <p:cNvSpPr/>
          <p:nvPr/>
        </p:nvSpPr>
        <p:spPr>
          <a:xfrm>
            <a:off x="0" y="3643313"/>
            <a:ext cx="320040" cy="116300"/>
          </a:xfrm>
          <a:prstGeom prst="rect">
            <a:avLst/>
          </a:prstGeom>
          <a:solidFill>
            <a:srgbClr val="334BCF"/>
          </a:solidFill>
          <a:ln/>
        </p:spPr>
      </p:sp>
      <p:sp>
        <p:nvSpPr>
          <p:cNvPr id="37" name="Shape 35"/>
          <p:cNvSpPr/>
          <p:nvPr/>
        </p:nvSpPr>
        <p:spPr>
          <a:xfrm>
            <a:off x="0" y="3750469"/>
            <a:ext cx="320040" cy="116300"/>
          </a:xfrm>
          <a:prstGeom prst="rect">
            <a:avLst/>
          </a:prstGeom>
          <a:solidFill>
            <a:srgbClr val="324CCE"/>
          </a:solidFill>
          <a:ln/>
        </p:spPr>
      </p:sp>
      <p:sp>
        <p:nvSpPr>
          <p:cNvPr id="38" name="Shape 36"/>
          <p:cNvSpPr/>
          <p:nvPr/>
        </p:nvSpPr>
        <p:spPr>
          <a:xfrm>
            <a:off x="0" y="3857625"/>
            <a:ext cx="320040" cy="116300"/>
          </a:xfrm>
          <a:prstGeom prst="rect">
            <a:avLst/>
          </a:prstGeom>
          <a:solidFill>
            <a:srgbClr val="314ECD"/>
          </a:solidFill>
          <a:ln/>
        </p:spPr>
      </p:sp>
      <p:sp>
        <p:nvSpPr>
          <p:cNvPr id="39" name="Shape 37"/>
          <p:cNvSpPr/>
          <p:nvPr/>
        </p:nvSpPr>
        <p:spPr>
          <a:xfrm>
            <a:off x="0" y="3964781"/>
            <a:ext cx="320040" cy="116300"/>
          </a:xfrm>
          <a:prstGeom prst="rect">
            <a:avLst/>
          </a:prstGeom>
          <a:solidFill>
            <a:srgbClr val="304FCD"/>
          </a:solidFill>
          <a:ln/>
        </p:spPr>
      </p:sp>
      <p:sp>
        <p:nvSpPr>
          <p:cNvPr id="40" name="Shape 38"/>
          <p:cNvSpPr/>
          <p:nvPr/>
        </p:nvSpPr>
        <p:spPr>
          <a:xfrm>
            <a:off x="0" y="4071938"/>
            <a:ext cx="320040" cy="116300"/>
          </a:xfrm>
          <a:prstGeom prst="rect">
            <a:avLst/>
          </a:prstGeom>
          <a:solidFill>
            <a:srgbClr val="2F50CC"/>
          </a:solidFill>
          <a:ln/>
        </p:spPr>
      </p:sp>
      <p:sp>
        <p:nvSpPr>
          <p:cNvPr id="41" name="Shape 39"/>
          <p:cNvSpPr/>
          <p:nvPr/>
        </p:nvSpPr>
        <p:spPr>
          <a:xfrm>
            <a:off x="0" y="4179094"/>
            <a:ext cx="320040" cy="116300"/>
          </a:xfrm>
          <a:prstGeom prst="rect">
            <a:avLst/>
          </a:prstGeom>
          <a:solidFill>
            <a:srgbClr val="2F51CC"/>
          </a:solidFill>
          <a:ln/>
        </p:spPr>
      </p:sp>
      <p:sp>
        <p:nvSpPr>
          <p:cNvPr id="42" name="Shape 40"/>
          <p:cNvSpPr/>
          <p:nvPr/>
        </p:nvSpPr>
        <p:spPr>
          <a:xfrm>
            <a:off x="0" y="4286250"/>
            <a:ext cx="320040" cy="116300"/>
          </a:xfrm>
          <a:prstGeom prst="rect">
            <a:avLst/>
          </a:prstGeom>
          <a:solidFill>
            <a:srgbClr val="2E53CB"/>
          </a:solidFill>
          <a:ln/>
        </p:spPr>
      </p:sp>
      <p:sp>
        <p:nvSpPr>
          <p:cNvPr id="43" name="Shape 41"/>
          <p:cNvSpPr/>
          <p:nvPr/>
        </p:nvSpPr>
        <p:spPr>
          <a:xfrm>
            <a:off x="0" y="4393406"/>
            <a:ext cx="320040" cy="116300"/>
          </a:xfrm>
          <a:prstGeom prst="rect">
            <a:avLst/>
          </a:prstGeom>
          <a:solidFill>
            <a:srgbClr val="2D54CB"/>
          </a:solidFill>
          <a:ln/>
        </p:spPr>
      </p:sp>
      <p:sp>
        <p:nvSpPr>
          <p:cNvPr id="44" name="Shape 42"/>
          <p:cNvSpPr/>
          <p:nvPr/>
        </p:nvSpPr>
        <p:spPr>
          <a:xfrm>
            <a:off x="0" y="4500563"/>
            <a:ext cx="320040" cy="116300"/>
          </a:xfrm>
          <a:prstGeom prst="rect">
            <a:avLst/>
          </a:prstGeom>
          <a:solidFill>
            <a:srgbClr val="2C55CA"/>
          </a:solidFill>
          <a:ln/>
        </p:spPr>
      </p:sp>
      <p:sp>
        <p:nvSpPr>
          <p:cNvPr id="45" name="Shape 43"/>
          <p:cNvSpPr/>
          <p:nvPr/>
        </p:nvSpPr>
        <p:spPr>
          <a:xfrm>
            <a:off x="0" y="4607719"/>
            <a:ext cx="320040" cy="116300"/>
          </a:xfrm>
          <a:prstGeom prst="rect">
            <a:avLst/>
          </a:prstGeom>
          <a:solidFill>
            <a:srgbClr val="2B56C9"/>
          </a:solidFill>
          <a:ln/>
        </p:spPr>
      </p:sp>
      <p:sp>
        <p:nvSpPr>
          <p:cNvPr id="46" name="Shape 44"/>
          <p:cNvSpPr/>
          <p:nvPr/>
        </p:nvSpPr>
        <p:spPr>
          <a:xfrm>
            <a:off x="0" y="4714875"/>
            <a:ext cx="320040" cy="116300"/>
          </a:xfrm>
          <a:prstGeom prst="rect">
            <a:avLst/>
          </a:prstGeom>
          <a:solidFill>
            <a:srgbClr val="2A57C9"/>
          </a:solidFill>
          <a:ln/>
        </p:spPr>
      </p:sp>
      <p:sp>
        <p:nvSpPr>
          <p:cNvPr id="47" name="Shape 45"/>
          <p:cNvSpPr/>
          <p:nvPr/>
        </p:nvSpPr>
        <p:spPr>
          <a:xfrm>
            <a:off x="0" y="4822031"/>
            <a:ext cx="320040" cy="116300"/>
          </a:xfrm>
          <a:prstGeom prst="rect">
            <a:avLst/>
          </a:prstGeom>
          <a:solidFill>
            <a:srgbClr val="2959C8"/>
          </a:solidFill>
          <a:ln/>
        </p:spPr>
      </p:sp>
      <p:sp>
        <p:nvSpPr>
          <p:cNvPr id="48" name="Shape 46"/>
          <p:cNvSpPr/>
          <p:nvPr/>
        </p:nvSpPr>
        <p:spPr>
          <a:xfrm>
            <a:off x="0" y="4929188"/>
            <a:ext cx="320040" cy="116300"/>
          </a:xfrm>
          <a:prstGeom prst="rect">
            <a:avLst/>
          </a:prstGeom>
          <a:solidFill>
            <a:srgbClr val="295AC8"/>
          </a:solidFill>
          <a:ln/>
        </p:spPr>
      </p:sp>
      <p:sp>
        <p:nvSpPr>
          <p:cNvPr id="49" name="Shape 47"/>
          <p:cNvSpPr/>
          <p:nvPr/>
        </p:nvSpPr>
        <p:spPr>
          <a:xfrm>
            <a:off x="0" y="5036344"/>
            <a:ext cx="320040" cy="116300"/>
          </a:xfrm>
          <a:prstGeom prst="rect">
            <a:avLst/>
          </a:prstGeom>
          <a:solidFill>
            <a:srgbClr val="285BC7"/>
          </a:solidFill>
          <a:ln/>
        </p:spPr>
      </p:sp>
      <p:sp>
        <p:nvSpPr>
          <p:cNvPr id="50" name="Shape 48"/>
          <p:cNvSpPr/>
          <p:nvPr/>
        </p:nvSpPr>
        <p:spPr>
          <a:xfrm>
            <a:off x="0" y="5143500"/>
            <a:ext cx="320040" cy="116300"/>
          </a:xfrm>
          <a:prstGeom prst="rect">
            <a:avLst/>
          </a:prstGeom>
          <a:solidFill>
            <a:srgbClr val="275CC7"/>
          </a:solidFill>
          <a:ln/>
        </p:spPr>
      </p:sp>
      <p:sp>
        <p:nvSpPr>
          <p:cNvPr id="51" name="Shape 49"/>
          <p:cNvSpPr/>
          <p:nvPr/>
        </p:nvSpPr>
        <p:spPr>
          <a:xfrm>
            <a:off x="0" y="5250656"/>
            <a:ext cx="320040" cy="116300"/>
          </a:xfrm>
          <a:prstGeom prst="rect">
            <a:avLst/>
          </a:prstGeom>
          <a:solidFill>
            <a:srgbClr val="265EC6"/>
          </a:solidFill>
          <a:ln/>
        </p:spPr>
      </p:sp>
      <p:sp>
        <p:nvSpPr>
          <p:cNvPr id="52" name="Shape 50"/>
          <p:cNvSpPr/>
          <p:nvPr/>
        </p:nvSpPr>
        <p:spPr>
          <a:xfrm>
            <a:off x="0" y="5357813"/>
            <a:ext cx="320040" cy="116300"/>
          </a:xfrm>
          <a:prstGeom prst="rect">
            <a:avLst/>
          </a:prstGeom>
          <a:solidFill>
            <a:srgbClr val="255FC5"/>
          </a:solidFill>
          <a:ln/>
        </p:spPr>
      </p:sp>
      <p:sp>
        <p:nvSpPr>
          <p:cNvPr id="53" name="Shape 51"/>
          <p:cNvSpPr/>
          <p:nvPr/>
        </p:nvSpPr>
        <p:spPr>
          <a:xfrm>
            <a:off x="0" y="5464969"/>
            <a:ext cx="320040" cy="116300"/>
          </a:xfrm>
          <a:prstGeom prst="rect">
            <a:avLst/>
          </a:prstGeom>
          <a:solidFill>
            <a:srgbClr val="2460C5"/>
          </a:solidFill>
          <a:ln/>
        </p:spPr>
      </p:sp>
      <p:sp>
        <p:nvSpPr>
          <p:cNvPr id="54" name="Shape 52"/>
          <p:cNvSpPr/>
          <p:nvPr/>
        </p:nvSpPr>
        <p:spPr>
          <a:xfrm>
            <a:off x="0" y="5572125"/>
            <a:ext cx="320040" cy="116300"/>
          </a:xfrm>
          <a:prstGeom prst="rect">
            <a:avLst/>
          </a:prstGeom>
          <a:solidFill>
            <a:srgbClr val="2361C4"/>
          </a:solidFill>
          <a:ln/>
        </p:spPr>
      </p:sp>
      <p:sp>
        <p:nvSpPr>
          <p:cNvPr id="55" name="Shape 53"/>
          <p:cNvSpPr/>
          <p:nvPr/>
        </p:nvSpPr>
        <p:spPr>
          <a:xfrm>
            <a:off x="0" y="5679281"/>
            <a:ext cx="320040" cy="116300"/>
          </a:xfrm>
          <a:prstGeom prst="rect">
            <a:avLst/>
          </a:prstGeom>
          <a:solidFill>
            <a:srgbClr val="2363C4"/>
          </a:solidFill>
          <a:ln/>
        </p:spPr>
      </p:sp>
      <p:sp>
        <p:nvSpPr>
          <p:cNvPr id="56" name="Shape 54"/>
          <p:cNvSpPr/>
          <p:nvPr/>
        </p:nvSpPr>
        <p:spPr>
          <a:xfrm>
            <a:off x="0" y="5786438"/>
            <a:ext cx="320040" cy="116300"/>
          </a:xfrm>
          <a:prstGeom prst="rect">
            <a:avLst/>
          </a:prstGeom>
          <a:solidFill>
            <a:srgbClr val="2264C3"/>
          </a:solidFill>
          <a:ln/>
        </p:spPr>
      </p:sp>
      <p:sp>
        <p:nvSpPr>
          <p:cNvPr id="57" name="Shape 55"/>
          <p:cNvSpPr/>
          <p:nvPr/>
        </p:nvSpPr>
        <p:spPr>
          <a:xfrm>
            <a:off x="0" y="5893594"/>
            <a:ext cx="320040" cy="116300"/>
          </a:xfrm>
          <a:prstGeom prst="rect">
            <a:avLst/>
          </a:prstGeom>
          <a:solidFill>
            <a:srgbClr val="2165C3"/>
          </a:solidFill>
          <a:ln/>
        </p:spPr>
      </p:sp>
      <p:sp>
        <p:nvSpPr>
          <p:cNvPr id="58" name="Shape 56"/>
          <p:cNvSpPr/>
          <p:nvPr/>
        </p:nvSpPr>
        <p:spPr>
          <a:xfrm>
            <a:off x="0" y="6000750"/>
            <a:ext cx="320040" cy="116300"/>
          </a:xfrm>
          <a:prstGeom prst="rect">
            <a:avLst/>
          </a:prstGeom>
          <a:solidFill>
            <a:srgbClr val="2066C2"/>
          </a:solidFill>
          <a:ln/>
        </p:spPr>
      </p:sp>
      <p:sp>
        <p:nvSpPr>
          <p:cNvPr id="59" name="Shape 57"/>
          <p:cNvSpPr/>
          <p:nvPr/>
        </p:nvSpPr>
        <p:spPr>
          <a:xfrm>
            <a:off x="0" y="6107906"/>
            <a:ext cx="320040" cy="116300"/>
          </a:xfrm>
          <a:prstGeom prst="rect">
            <a:avLst/>
          </a:prstGeom>
          <a:solidFill>
            <a:srgbClr val="1F68C1"/>
          </a:solidFill>
          <a:ln/>
        </p:spPr>
      </p:sp>
      <p:sp>
        <p:nvSpPr>
          <p:cNvPr id="60" name="Shape 58"/>
          <p:cNvSpPr/>
          <p:nvPr/>
        </p:nvSpPr>
        <p:spPr>
          <a:xfrm>
            <a:off x="0" y="6215063"/>
            <a:ext cx="320040" cy="116300"/>
          </a:xfrm>
          <a:prstGeom prst="rect">
            <a:avLst/>
          </a:prstGeom>
          <a:solidFill>
            <a:srgbClr val="1E69C1"/>
          </a:solidFill>
          <a:ln/>
        </p:spPr>
      </p:sp>
      <p:sp>
        <p:nvSpPr>
          <p:cNvPr id="61" name="Shape 59"/>
          <p:cNvSpPr/>
          <p:nvPr/>
        </p:nvSpPr>
        <p:spPr>
          <a:xfrm>
            <a:off x="0" y="6322219"/>
            <a:ext cx="320040" cy="116300"/>
          </a:xfrm>
          <a:prstGeom prst="rect">
            <a:avLst/>
          </a:prstGeom>
          <a:solidFill>
            <a:srgbClr val="1D6AC0"/>
          </a:solidFill>
          <a:ln/>
        </p:spPr>
      </p:sp>
      <p:sp>
        <p:nvSpPr>
          <p:cNvPr id="62" name="Shape 60"/>
          <p:cNvSpPr/>
          <p:nvPr/>
        </p:nvSpPr>
        <p:spPr>
          <a:xfrm>
            <a:off x="0" y="6429375"/>
            <a:ext cx="320040" cy="116300"/>
          </a:xfrm>
          <a:prstGeom prst="rect">
            <a:avLst/>
          </a:prstGeom>
          <a:solidFill>
            <a:srgbClr val="1D6BC0"/>
          </a:solidFill>
          <a:ln/>
        </p:spPr>
      </p:sp>
      <p:sp>
        <p:nvSpPr>
          <p:cNvPr id="63" name="Shape 61"/>
          <p:cNvSpPr/>
          <p:nvPr/>
        </p:nvSpPr>
        <p:spPr>
          <a:xfrm>
            <a:off x="0" y="6536531"/>
            <a:ext cx="320040" cy="116300"/>
          </a:xfrm>
          <a:prstGeom prst="rect">
            <a:avLst/>
          </a:prstGeom>
          <a:solidFill>
            <a:srgbClr val="1C6DBF"/>
          </a:solidFill>
          <a:ln/>
        </p:spPr>
      </p:sp>
      <p:sp>
        <p:nvSpPr>
          <p:cNvPr id="64" name="Shape 62"/>
          <p:cNvSpPr/>
          <p:nvPr/>
        </p:nvSpPr>
        <p:spPr>
          <a:xfrm>
            <a:off x="0" y="6643688"/>
            <a:ext cx="320040" cy="116300"/>
          </a:xfrm>
          <a:prstGeom prst="rect">
            <a:avLst/>
          </a:prstGeom>
          <a:solidFill>
            <a:srgbClr val="1B6EBF"/>
          </a:solidFill>
          <a:ln/>
        </p:spPr>
      </p:sp>
      <p:sp>
        <p:nvSpPr>
          <p:cNvPr id="65" name="Shape 63"/>
          <p:cNvSpPr/>
          <p:nvPr/>
        </p:nvSpPr>
        <p:spPr>
          <a:xfrm>
            <a:off x="0" y="6750844"/>
            <a:ext cx="320040" cy="116300"/>
          </a:xfrm>
          <a:prstGeom prst="rect">
            <a:avLst/>
          </a:prstGeom>
          <a:solidFill>
            <a:srgbClr val="1A6FBE"/>
          </a:solidFill>
          <a:ln/>
        </p:spPr>
      </p:sp>
      <p:sp>
        <p:nvSpPr>
          <p:cNvPr id="66" name="Text 64"/>
          <p:cNvSpPr/>
          <p:nvPr/>
        </p:nvSpPr>
        <p:spPr>
          <a:xfrm>
            <a:off x="73152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PRICING GAP</a:t>
            </a:r>
            <a:endParaRPr lang="en-US" sz="1100" dirty="0"/>
          </a:p>
        </p:txBody>
      </p:sp>
      <p:sp>
        <p:nvSpPr>
          <p:cNvPr id="67" name="Text 65"/>
          <p:cNvSpPr/>
          <p:nvPr/>
        </p:nvSpPr>
        <p:spPr>
          <a:xfrm>
            <a:off x="548640" y="1554480"/>
            <a:ext cx="11094415" cy="3200400"/>
          </a:xfrm>
          <a:prstGeom prst="rect">
            <a:avLst/>
          </a:prstGeom>
          <a:noFill/>
          <a:ln/>
        </p:spPr>
        <p:txBody>
          <a:bodyPr wrap="square" lIns="0" tIns="0" rIns="0" bIns="0" rtlCol="0" anchor="ctr"/>
          <a:lstStyle/>
          <a:p>
            <a:pPr algn="l" indent="0" marL="0">
              <a:buNone/>
            </a:pPr>
            <a:r>
              <a:rPr lang="en-US" sz="22000" b="1" spc="-600" kern="0" dirty="0">
                <a:solidFill>
                  <a:srgbClr val="5028C2"/>
                </a:solidFill>
                <a:latin typeface="Calibri" pitchFamily="34" charset="0"/>
                <a:ea typeface="Calibri" pitchFamily="34" charset="-122"/>
                <a:cs typeface="Calibri" pitchFamily="34" charset="-120"/>
              </a:rPr>
              <a:t>$0–$10K</a:t>
            </a:r>
            <a:endParaRPr lang="en-US" sz="22000" dirty="0"/>
          </a:p>
        </p:txBody>
      </p:sp>
      <p:sp>
        <p:nvSpPr>
          <p:cNvPr id="68" name="Text 66"/>
          <p:cNvSpPr/>
          <p:nvPr/>
        </p:nvSpPr>
        <p:spPr>
          <a:xfrm>
            <a:off x="548640" y="4983480"/>
            <a:ext cx="11094415" cy="457200"/>
          </a:xfrm>
          <a:prstGeom prst="rect">
            <a:avLst/>
          </a:prstGeom>
          <a:noFill/>
          <a:ln/>
        </p:spPr>
        <p:txBody>
          <a:bodyPr wrap="square" lIns="0" tIns="0" rIns="0" bIns="0" rtlCol="0" anchor="t"/>
          <a:lstStyle/>
          <a:p>
            <a:pPr algn="l" indent="0" marL="0">
              <a:buNone/>
            </a:pPr>
            <a:r>
              <a:rPr lang="en-US" sz="2200" b="1" dirty="0">
                <a:solidFill>
                  <a:srgbClr val="0F1733"/>
                </a:solidFill>
                <a:latin typeface="Calibri" pitchFamily="34" charset="0"/>
                <a:ea typeface="Calibri" pitchFamily="34" charset="-122"/>
                <a:cs typeface="Calibri" pitchFamily="34" charset="-120"/>
              </a:rPr>
              <a:t>The pricing gap where no competitor exists.</a:t>
            </a:r>
            <a:endParaRPr lang="en-US" sz="2200" dirty="0"/>
          </a:p>
        </p:txBody>
      </p:sp>
      <p:sp>
        <p:nvSpPr>
          <p:cNvPr id="69" name="Text 67"/>
          <p:cNvSpPr/>
          <p:nvPr/>
        </p:nvSpPr>
        <p:spPr>
          <a:xfrm>
            <a:off x="548640" y="5486400"/>
            <a:ext cx="10637215" cy="640080"/>
          </a:xfrm>
          <a:prstGeom prst="rect">
            <a:avLst/>
          </a:prstGeom>
          <a:noFill/>
          <a:ln/>
        </p:spPr>
        <p:txBody>
          <a:bodyPr wrap="square" lIns="0" tIns="0" rIns="0" bIns="0" rtlCol="0" anchor="t"/>
          <a:lstStyle/>
          <a:p>
            <a:pPr algn="l" indent="0" marL="0">
              <a:buNone/>
            </a:pPr>
            <a:r>
              <a:rPr lang="en-US" sz="1300" dirty="0">
                <a:solidFill>
                  <a:srgbClr val="2A3358"/>
                </a:solidFill>
                <a:latin typeface="Calibri" pitchFamily="34" charset="0"/>
                <a:ea typeface="Calibri" pitchFamily="34" charset="-122"/>
                <a:cs typeface="Calibri" pitchFamily="34" charset="-120"/>
              </a:rPr>
              <a:t>Influencer platforms start around $300/month for limited coverage and jump to $10K+/year. Generic CRMs cost $50–$200/month but lack every creator-specific feature. Founders working in the $20–$500/month tool budget bracket have no purpose-built option.</a:t>
            </a:r>
            <a:endParaRPr lang="en-US" sz="13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11 · Competitive landscape  ·  vD</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074 / 126</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1ECFF"/>
        </a:solidFill>
      </p:bgPr>
    </p:bg>
    <p:spTree>
      <p:nvGrpSpPr>
        <p:cNvPr id="1" name=""/>
        <p:cNvGrpSpPr/>
        <p:nvPr/>
      </p:nvGrpSpPr>
      <p:grpSpPr>
        <a:xfrm>
          <a:off x="0" y="0"/>
          <a:ext cx="0" cy="0"/>
          <a:chOff x="0" y="0"/>
          <a:chExt cx="0" cy="0"/>
        </a:xfrm>
      </p:grpSpPr>
      <p:sp>
        <p:nvSpPr>
          <p:cNvPr id="2" name="Text 0"/>
          <p:cNvSpPr/>
          <p:nvPr/>
        </p:nvSpPr>
        <p:spPr>
          <a:xfrm>
            <a:off x="457200" y="365760"/>
            <a:ext cx="2286000" cy="2286000"/>
          </a:xfrm>
          <a:prstGeom prst="rect">
            <a:avLst/>
          </a:prstGeom>
          <a:noFill/>
          <a:ln/>
        </p:spPr>
        <p:txBody>
          <a:bodyPr wrap="square" lIns="0" tIns="0" rIns="0" bIns="0" rtlCol="0" anchor="t"/>
          <a:lstStyle/>
          <a:p>
            <a:pPr algn="l" indent="0" marL="0">
              <a:buNone/>
            </a:pPr>
            <a:r>
              <a:rPr lang="en-US" sz="24000" b="1" dirty="0">
                <a:solidFill>
                  <a:srgbClr val="5028C2"/>
                </a:solidFill>
                <a:latin typeface="Georgia" pitchFamily="34" charset="0"/>
                <a:ea typeface="Georgia" pitchFamily="34" charset="-122"/>
                <a:cs typeface="Georgia" pitchFamily="34" charset="-120"/>
              </a:rPr>
              <a:t>"</a:t>
            </a:r>
            <a:endParaRPr lang="en-US" sz="24000" dirty="0"/>
          </a:p>
        </p:txBody>
      </p:sp>
      <p:sp>
        <p:nvSpPr>
          <p:cNvPr id="3" name="Text 1"/>
          <p:cNvSpPr/>
          <p:nvPr/>
        </p:nvSpPr>
        <p:spPr>
          <a:xfrm>
            <a:off x="1920240" y="1737360"/>
            <a:ext cx="9722815" cy="3108960"/>
          </a:xfrm>
          <a:prstGeom prst="rect">
            <a:avLst/>
          </a:prstGeom>
          <a:noFill/>
          <a:ln/>
        </p:spPr>
        <p:txBody>
          <a:bodyPr wrap="square" lIns="0" tIns="0" rIns="0" bIns="0" rtlCol="0" anchor="t"/>
          <a:lstStyle/>
          <a:p>
            <a:pPr algn="l" indent="0" marL="0">
              <a:buNone/>
            </a:pPr>
            <a:r>
              <a:rPr lang="en-US" sz="3000" i="1" dirty="0">
                <a:solidFill>
                  <a:srgbClr val="0F1733"/>
                </a:solidFill>
                <a:latin typeface="Georgia" pitchFamily="34" charset="0"/>
                <a:ea typeface="Georgia" pitchFamily="34" charset="-122"/>
                <a:cs typeface="Georgia" pitchFamily="34" charset="-120"/>
              </a:rPr>
              <a:t>We evaluated nine tools and built our own spreadsheet anyway. The space between Modash and HubSpot just wasn't served.</a:t>
            </a:r>
            <a:endParaRPr lang="en-US" sz="3000" dirty="0"/>
          </a:p>
        </p:txBody>
      </p:sp>
      <p:sp>
        <p:nvSpPr>
          <p:cNvPr id="4" name="Shape 2"/>
          <p:cNvSpPr/>
          <p:nvPr/>
        </p:nvSpPr>
        <p:spPr>
          <a:xfrm>
            <a:off x="1920240" y="5120640"/>
            <a:ext cx="640080" cy="0"/>
          </a:xfrm>
          <a:prstGeom prst="line">
            <a:avLst/>
          </a:prstGeom>
          <a:noFill/>
          <a:ln w="25400">
            <a:solidFill>
              <a:srgbClr val="5028C2"/>
            </a:solidFill>
            <a:prstDash val="solid"/>
          </a:ln>
        </p:spPr>
      </p:sp>
      <p:sp>
        <p:nvSpPr>
          <p:cNvPr id="5" name="Text 3"/>
          <p:cNvSpPr/>
          <p:nvPr/>
        </p:nvSpPr>
        <p:spPr>
          <a:xfrm>
            <a:off x="1920240" y="5212080"/>
            <a:ext cx="9722815" cy="457200"/>
          </a:xfrm>
          <a:prstGeom prst="rect">
            <a:avLst/>
          </a:prstGeom>
          <a:noFill/>
          <a:ln/>
        </p:spPr>
        <p:txBody>
          <a:bodyPr wrap="square" lIns="0" tIns="0" rIns="0" bIns="0" rtlCol="0" anchor="t"/>
          <a:lstStyle/>
          <a:p>
            <a:pPr algn="l" indent="0" marL="0">
              <a:buNone/>
            </a:pPr>
            <a:r>
              <a:rPr lang="en-US" sz="1400" b="1" spc="100" kern="0" dirty="0">
                <a:solidFill>
                  <a:srgbClr val="3D1E96"/>
                </a:solidFill>
                <a:latin typeface="Calibri" pitchFamily="34" charset="0"/>
                <a:ea typeface="Calibri" pitchFamily="34" charset="-122"/>
                <a:cs typeface="Calibri" pitchFamily="34" charset="-120"/>
              </a:rPr>
              <a:t>Series A founder</a:t>
            </a:r>
            <a:endParaRPr lang="en-US" sz="1400" dirty="0"/>
          </a:p>
        </p:txBody>
      </p:sp>
      <p:sp>
        <p:nvSpPr>
          <p:cNvPr id="6" name="Text 4"/>
          <p:cNvSpPr/>
          <p:nvPr/>
        </p:nvSpPr>
        <p:spPr>
          <a:xfrm>
            <a:off x="1920240" y="5532120"/>
            <a:ext cx="9722815" cy="365760"/>
          </a:xfrm>
          <a:prstGeom prst="rect">
            <a:avLst/>
          </a:prstGeom>
          <a:noFill/>
          <a:ln/>
        </p:spPr>
        <p:txBody>
          <a:bodyPr wrap="square" lIns="0" tIns="0" rIns="0" bIns="0" rtlCol="0" anchor="t"/>
          <a:lstStyle/>
          <a:p>
            <a:pPr algn="l" indent="0" marL="0">
              <a:buNone/>
            </a:pPr>
            <a:r>
              <a:rPr lang="en-US" sz="1200" dirty="0">
                <a:solidFill>
                  <a:srgbClr val="6B7493"/>
                </a:solidFill>
                <a:latin typeface="Calibri" pitchFamily="34" charset="0"/>
                <a:ea typeface="Calibri" pitchFamily="34" charset="-122"/>
                <a:cs typeface="Calibri" pitchFamily="34" charset="-120"/>
              </a:rPr>
              <a:t>Customer discovery, April 2026</a:t>
            </a:r>
            <a:endParaRPr lang="en-US" sz="1200" dirty="0"/>
          </a:p>
        </p:txBody>
      </p:sp>
      <p:sp>
        <p:nvSpPr>
          <p:cNvPr id="7" name="Shape 5"/>
          <p:cNvSpPr/>
          <p:nvPr/>
        </p:nvSpPr>
        <p:spPr>
          <a:xfrm>
            <a:off x="548640" y="502920"/>
            <a:ext cx="292608" cy="292608"/>
          </a:xfrm>
          <a:prstGeom prst="roundRect">
            <a:avLst>
              <a:gd name="adj" fmla="val 25000"/>
            </a:avLst>
          </a:prstGeom>
          <a:solidFill>
            <a:srgbClr val="5028C2"/>
          </a:solidFill>
          <a:ln/>
        </p:spPr>
      </p:sp>
      <p:sp>
        <p:nvSpPr>
          <p:cNvPr id="8" name="Shape 6"/>
          <p:cNvSpPr/>
          <p:nvPr/>
        </p:nvSpPr>
        <p:spPr>
          <a:xfrm>
            <a:off x="548640" y="502920"/>
            <a:ext cx="292608" cy="292608"/>
          </a:xfrm>
          <a:prstGeom prst="roundRect">
            <a:avLst>
              <a:gd name="adj" fmla="val 25000"/>
            </a:avLst>
          </a:prstGeom>
          <a:solidFill>
            <a:srgbClr val="1A6FBE">
              <a:alpha val="50000"/>
            </a:srgbClr>
          </a:solidFill>
          <a:ln/>
        </p:spPr>
      </p:sp>
      <p:sp>
        <p:nvSpPr>
          <p:cNvPr id="9" name="Text 7"/>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0" name="Text 8"/>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1" name="Text 9"/>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11 · Competitive landscape  ·  vE</a:t>
            </a:r>
            <a:endParaRPr lang="en-US" sz="900" dirty="0"/>
          </a:p>
        </p:txBody>
      </p:sp>
      <p:sp>
        <p:nvSpPr>
          <p:cNvPr id="12" name="Text 10"/>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3" name="Text 11"/>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075 / 126</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a:off x="3047924" y="0"/>
            <a:ext cx="9143771" cy="6858000"/>
          </a:xfrm>
          <a:prstGeom prst="rtTriangle">
            <a:avLst/>
          </a:prstGeom>
          <a:solidFill>
            <a:srgbClr val="5028C2"/>
          </a:solidFill>
          <a:ln/>
        </p:spPr>
      </p:sp>
      <p:sp>
        <p:nvSpPr>
          <p:cNvPr id="3" name="Shape 1"/>
          <p:cNvSpPr/>
          <p:nvPr/>
        </p:nvSpPr>
        <p:spPr>
          <a:xfrm flipH="1">
            <a:off x="4876678" y="1028700"/>
            <a:ext cx="7924602" cy="6515100"/>
          </a:xfrm>
          <a:prstGeom prst="rtTriangle">
            <a:avLst/>
          </a:prstGeom>
          <a:solidFill>
            <a:srgbClr val="1A6FBE">
              <a:alpha val="75000"/>
            </a:srgbClr>
          </a:solidFill>
          <a:ln/>
        </p:spPr>
      </p:sp>
      <p:sp>
        <p:nvSpPr>
          <p:cNvPr id="4" name="Text 2"/>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THE WEDGE</a:t>
            </a:r>
            <a:endParaRPr lang="en-US" sz="1100" dirty="0"/>
          </a:p>
        </p:txBody>
      </p:sp>
      <p:sp>
        <p:nvSpPr>
          <p:cNvPr id="5" name="Text 3"/>
          <p:cNvSpPr/>
          <p:nvPr/>
        </p:nvSpPr>
        <p:spPr>
          <a:xfrm>
            <a:off x="548640" y="1417320"/>
            <a:ext cx="6095848" cy="2286000"/>
          </a:xfrm>
          <a:prstGeom prst="rect">
            <a:avLst/>
          </a:prstGeom>
          <a:noFill/>
          <a:ln/>
        </p:spPr>
        <p:txBody>
          <a:bodyPr wrap="square" lIns="0" tIns="0" rIns="0" bIns="0" rtlCol="0" anchor="t"/>
          <a:lstStyle/>
          <a:p>
            <a:pPr algn="l" indent="0" marL="0">
              <a:buNone/>
            </a:pPr>
            <a:r>
              <a:rPr lang="en-US" sz="4000" b="1" spc="-50" kern="0" dirty="0">
                <a:solidFill>
                  <a:srgbClr val="0F1733"/>
                </a:solidFill>
                <a:latin typeface="Calibri" pitchFamily="34" charset="0"/>
                <a:ea typeface="Calibri" pitchFamily="34" charset="-122"/>
                <a:cs typeface="Calibri" pitchFamily="34" charset="-120"/>
              </a:rPr>
              <a:t>The open middle: B2B-relevant creators × founder-budget tools.</a:t>
            </a:r>
            <a:endParaRPr lang="en-US" sz="4000" dirty="0"/>
          </a:p>
        </p:txBody>
      </p:sp>
      <p:sp>
        <p:nvSpPr>
          <p:cNvPr id="6" name="Text 4"/>
          <p:cNvSpPr/>
          <p:nvPr/>
        </p:nvSpPr>
        <p:spPr>
          <a:xfrm>
            <a:off x="548640" y="3840480"/>
            <a:ext cx="5821528" cy="2103120"/>
          </a:xfrm>
          <a:prstGeom prst="rect">
            <a:avLst/>
          </a:prstGeom>
          <a:noFill/>
          <a:ln/>
        </p:spPr>
        <p:txBody>
          <a:bodyPr wrap="square" lIns="0" tIns="0" rIns="0" bIns="0" rtlCol="0" anchor="t"/>
          <a:lstStyle/>
          <a:p>
            <a:pPr algn="l" indent="0" marL="0">
              <a:spcAft>
                <a:spcPts val="600"/>
              </a:spcAft>
              <a:buNone/>
            </a:pPr>
            <a:r>
              <a:rPr lang="en-US" sz="1400" dirty="0">
                <a:solidFill>
                  <a:srgbClr val="2A3358"/>
                </a:solidFill>
                <a:latin typeface="Calibri" pitchFamily="34" charset="0"/>
                <a:ea typeface="Calibri" pitchFamily="34" charset="-122"/>
                <a:cs typeface="Calibri" pitchFamily="34" charset="-120"/>
              </a:rPr>
              <a:t>Every existing tool serves one corner of the market — enterprise brand marketers or B2B SDR teams. Nobody serves the founder running creator-led growth on a $200/month tool budget. That gap is our wedge — and it's the largest underserved segment in B2B outreach.</a:t>
            </a:r>
            <a:endParaRPr lang="en-US" sz="1400" dirty="0"/>
          </a:p>
        </p:txBody>
      </p:sp>
      <p:sp>
        <p:nvSpPr>
          <p:cNvPr id="7" name="Text 5"/>
          <p:cNvSpPr/>
          <p:nvPr/>
        </p:nvSpPr>
        <p:spPr>
          <a:xfrm>
            <a:off x="6705432" y="2926080"/>
            <a:ext cx="4876678" cy="3291840"/>
          </a:xfrm>
          <a:prstGeom prst="rect">
            <a:avLst/>
          </a:prstGeom>
          <a:noFill/>
          <a:ln/>
        </p:spPr>
        <p:txBody>
          <a:bodyPr wrap="square" lIns="0" tIns="0" rIns="0" bIns="0" rtlCol="0" anchor="ctr"/>
          <a:lstStyle/>
          <a:p>
            <a:pPr algn="r" indent="0" marL="0">
              <a:buNone/>
            </a:pPr>
            <a:r>
              <a:rPr lang="en-US" sz="3200" b="1" spc="-50" kern="0" dirty="0">
                <a:solidFill>
                  <a:srgbClr val="FFFFFF"/>
                </a:solidFill>
                <a:latin typeface="Calibri" pitchFamily="34" charset="0"/>
                <a:ea typeface="Calibri" pitchFamily="34" charset="-122"/>
                <a:cs typeface="Calibri" pitchFamily="34" charset="-120"/>
              </a:rPr>
              <a:t>The</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middle.</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Finally</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built.</a:t>
            </a:r>
            <a:endParaRPr lang="en-US" sz="3200" dirty="0"/>
          </a:p>
        </p:txBody>
      </p:sp>
      <p:sp>
        <p:nvSpPr>
          <p:cNvPr id="8" name="Shape 6"/>
          <p:cNvSpPr/>
          <p:nvPr/>
        </p:nvSpPr>
        <p:spPr>
          <a:xfrm>
            <a:off x="548640" y="502920"/>
            <a:ext cx="292608" cy="292608"/>
          </a:xfrm>
          <a:prstGeom prst="roundRect">
            <a:avLst>
              <a:gd name="adj" fmla="val 25000"/>
            </a:avLst>
          </a:prstGeom>
          <a:solidFill>
            <a:srgbClr val="5028C2"/>
          </a:solidFill>
          <a:ln/>
        </p:spPr>
      </p:sp>
      <p:sp>
        <p:nvSpPr>
          <p:cNvPr id="9" name="Shape 7"/>
          <p:cNvSpPr/>
          <p:nvPr/>
        </p:nvSpPr>
        <p:spPr>
          <a:xfrm>
            <a:off x="548640" y="502920"/>
            <a:ext cx="292608" cy="292608"/>
          </a:xfrm>
          <a:prstGeom prst="roundRect">
            <a:avLst>
              <a:gd name="adj" fmla="val 25000"/>
            </a:avLst>
          </a:prstGeom>
          <a:solidFill>
            <a:srgbClr val="1A6FBE">
              <a:alpha val="50000"/>
            </a:srgbClr>
          </a:solidFill>
          <a:ln/>
        </p:spPr>
      </p:sp>
      <p:sp>
        <p:nvSpPr>
          <p:cNvPr id="10" name="Text 8"/>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1" name="Text 9"/>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2" name="Text 10"/>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11 · Competitive landscape  ·  vF</a:t>
            </a:r>
            <a:endParaRPr lang="en-US" sz="900" dirty="0"/>
          </a:p>
        </p:txBody>
      </p:sp>
      <p:sp>
        <p:nvSpPr>
          <p:cNvPr id="13" name="Text 11"/>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4" name="Text 12"/>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076 / 126</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CFAF6"/>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LANDSCAPE</a:t>
            </a:r>
            <a:endParaRPr lang="en-US" sz="1100" dirty="0"/>
          </a:p>
        </p:txBody>
      </p:sp>
      <p:sp>
        <p:nvSpPr>
          <p:cNvPr id="3" name="Text 1"/>
          <p:cNvSpPr/>
          <p:nvPr/>
        </p:nvSpPr>
        <p:spPr>
          <a:xfrm>
            <a:off x="548640" y="1417320"/>
            <a:ext cx="11094415" cy="914400"/>
          </a:xfrm>
          <a:prstGeom prst="rect">
            <a:avLst/>
          </a:prstGeom>
          <a:noFill/>
          <a:ln/>
        </p:spPr>
        <p:txBody>
          <a:bodyPr wrap="square" lIns="0" tIns="0" rIns="0" bIns="0" rtlCol="0" anchor="t"/>
          <a:lstStyle/>
          <a:p>
            <a:pPr algn="l" indent="0" marL="0">
              <a:buNone/>
            </a:pPr>
            <a:r>
              <a:rPr lang="en-US" sz="3400" b="1" spc="-50" kern="0" dirty="0">
                <a:solidFill>
                  <a:srgbClr val="0F1733"/>
                </a:solidFill>
                <a:latin typeface="Calibri" pitchFamily="34" charset="0"/>
                <a:ea typeface="Calibri" pitchFamily="34" charset="-122"/>
                <a:cs typeface="Calibri" pitchFamily="34" charset="-120"/>
              </a:rPr>
              <a:t>Where we sit. Why no one else is here.</a:t>
            </a:r>
            <a:endParaRPr lang="en-US" sz="3400" dirty="0"/>
          </a:p>
        </p:txBody>
      </p:sp>
      <p:sp>
        <p:nvSpPr>
          <p:cNvPr id="4" name="Shape 2"/>
          <p:cNvSpPr/>
          <p:nvPr/>
        </p:nvSpPr>
        <p:spPr>
          <a:xfrm>
            <a:off x="548640" y="2514600"/>
            <a:ext cx="5464912" cy="67008"/>
          </a:xfrm>
          <a:prstGeom prst="rect">
            <a:avLst/>
          </a:prstGeom>
          <a:solidFill>
            <a:srgbClr val="5028C2"/>
          </a:solidFill>
          <a:ln/>
        </p:spPr>
      </p:sp>
      <p:sp>
        <p:nvSpPr>
          <p:cNvPr id="5" name="Shape 3"/>
          <p:cNvSpPr/>
          <p:nvPr/>
        </p:nvSpPr>
        <p:spPr>
          <a:xfrm>
            <a:off x="548640" y="2572464"/>
            <a:ext cx="5464912" cy="67008"/>
          </a:xfrm>
          <a:prstGeom prst="rect">
            <a:avLst/>
          </a:prstGeom>
          <a:solidFill>
            <a:srgbClr val="4F29C2"/>
          </a:solidFill>
          <a:ln/>
        </p:spPr>
      </p:sp>
      <p:sp>
        <p:nvSpPr>
          <p:cNvPr id="6" name="Shape 4"/>
          <p:cNvSpPr/>
          <p:nvPr/>
        </p:nvSpPr>
        <p:spPr>
          <a:xfrm>
            <a:off x="548640" y="2630329"/>
            <a:ext cx="5464912" cy="67008"/>
          </a:xfrm>
          <a:prstGeom prst="rect">
            <a:avLst/>
          </a:prstGeom>
          <a:solidFill>
            <a:srgbClr val="4E2AC3"/>
          </a:solidFill>
          <a:ln/>
        </p:spPr>
      </p:sp>
      <p:sp>
        <p:nvSpPr>
          <p:cNvPr id="7" name="Shape 5"/>
          <p:cNvSpPr/>
          <p:nvPr/>
        </p:nvSpPr>
        <p:spPr>
          <a:xfrm>
            <a:off x="548640" y="2688193"/>
            <a:ext cx="5464912" cy="67008"/>
          </a:xfrm>
          <a:prstGeom prst="rect">
            <a:avLst/>
          </a:prstGeom>
          <a:solidFill>
            <a:srgbClr val="4D2BC3"/>
          </a:solidFill>
          <a:ln/>
        </p:spPr>
      </p:sp>
      <p:sp>
        <p:nvSpPr>
          <p:cNvPr id="8" name="Shape 6"/>
          <p:cNvSpPr/>
          <p:nvPr/>
        </p:nvSpPr>
        <p:spPr>
          <a:xfrm>
            <a:off x="548640" y="2746058"/>
            <a:ext cx="5464912" cy="67008"/>
          </a:xfrm>
          <a:prstGeom prst="rect">
            <a:avLst/>
          </a:prstGeom>
          <a:solidFill>
            <a:srgbClr val="4D2CC4"/>
          </a:solidFill>
          <a:ln/>
        </p:spPr>
      </p:sp>
      <p:sp>
        <p:nvSpPr>
          <p:cNvPr id="9" name="Shape 7"/>
          <p:cNvSpPr/>
          <p:nvPr/>
        </p:nvSpPr>
        <p:spPr>
          <a:xfrm>
            <a:off x="548640" y="2803922"/>
            <a:ext cx="5464912" cy="67008"/>
          </a:xfrm>
          <a:prstGeom prst="rect">
            <a:avLst/>
          </a:prstGeom>
          <a:solidFill>
            <a:srgbClr val="4C2DC4"/>
          </a:solidFill>
          <a:ln/>
        </p:spPr>
      </p:sp>
      <p:sp>
        <p:nvSpPr>
          <p:cNvPr id="10" name="Shape 8"/>
          <p:cNvSpPr/>
          <p:nvPr/>
        </p:nvSpPr>
        <p:spPr>
          <a:xfrm>
            <a:off x="548640" y="2861786"/>
            <a:ext cx="5464912" cy="67008"/>
          </a:xfrm>
          <a:prstGeom prst="rect">
            <a:avLst/>
          </a:prstGeom>
          <a:solidFill>
            <a:srgbClr val="4B2EC5"/>
          </a:solidFill>
          <a:ln/>
        </p:spPr>
      </p:sp>
      <p:sp>
        <p:nvSpPr>
          <p:cNvPr id="11" name="Shape 9"/>
          <p:cNvSpPr/>
          <p:nvPr/>
        </p:nvSpPr>
        <p:spPr>
          <a:xfrm>
            <a:off x="548640" y="2919651"/>
            <a:ext cx="5464912" cy="67008"/>
          </a:xfrm>
          <a:prstGeom prst="rect">
            <a:avLst/>
          </a:prstGeom>
          <a:solidFill>
            <a:srgbClr val="4A2FC5"/>
          </a:solidFill>
          <a:ln/>
        </p:spPr>
      </p:sp>
      <p:sp>
        <p:nvSpPr>
          <p:cNvPr id="12" name="Shape 10"/>
          <p:cNvSpPr/>
          <p:nvPr/>
        </p:nvSpPr>
        <p:spPr>
          <a:xfrm>
            <a:off x="548640" y="2977515"/>
            <a:ext cx="5464912" cy="67008"/>
          </a:xfrm>
          <a:prstGeom prst="rect">
            <a:avLst/>
          </a:prstGeom>
          <a:solidFill>
            <a:srgbClr val="4930C6"/>
          </a:solidFill>
          <a:ln/>
        </p:spPr>
      </p:sp>
      <p:sp>
        <p:nvSpPr>
          <p:cNvPr id="13" name="Shape 11"/>
          <p:cNvSpPr/>
          <p:nvPr/>
        </p:nvSpPr>
        <p:spPr>
          <a:xfrm>
            <a:off x="548640" y="3035379"/>
            <a:ext cx="5464912" cy="67008"/>
          </a:xfrm>
          <a:prstGeom prst="rect">
            <a:avLst/>
          </a:prstGeom>
          <a:solidFill>
            <a:srgbClr val="4831C6"/>
          </a:solidFill>
          <a:ln/>
        </p:spPr>
      </p:sp>
      <p:sp>
        <p:nvSpPr>
          <p:cNvPr id="14" name="Shape 12"/>
          <p:cNvSpPr/>
          <p:nvPr/>
        </p:nvSpPr>
        <p:spPr>
          <a:xfrm>
            <a:off x="548640" y="3093244"/>
            <a:ext cx="5464912" cy="67008"/>
          </a:xfrm>
          <a:prstGeom prst="rect">
            <a:avLst/>
          </a:prstGeom>
          <a:solidFill>
            <a:srgbClr val="4732C6"/>
          </a:solidFill>
          <a:ln/>
        </p:spPr>
      </p:sp>
      <p:sp>
        <p:nvSpPr>
          <p:cNvPr id="15" name="Shape 13"/>
          <p:cNvSpPr/>
          <p:nvPr/>
        </p:nvSpPr>
        <p:spPr>
          <a:xfrm>
            <a:off x="548640" y="3151108"/>
            <a:ext cx="5464912" cy="67008"/>
          </a:xfrm>
          <a:prstGeom prst="rect">
            <a:avLst/>
          </a:prstGeom>
          <a:solidFill>
            <a:srgbClr val="4733C7"/>
          </a:solidFill>
          <a:ln/>
        </p:spPr>
      </p:sp>
      <p:sp>
        <p:nvSpPr>
          <p:cNvPr id="16" name="Shape 14"/>
          <p:cNvSpPr/>
          <p:nvPr/>
        </p:nvSpPr>
        <p:spPr>
          <a:xfrm>
            <a:off x="548640" y="3208973"/>
            <a:ext cx="5464912" cy="67008"/>
          </a:xfrm>
          <a:prstGeom prst="rect">
            <a:avLst/>
          </a:prstGeom>
          <a:solidFill>
            <a:srgbClr val="4634C7"/>
          </a:solidFill>
          <a:ln/>
        </p:spPr>
      </p:sp>
      <p:sp>
        <p:nvSpPr>
          <p:cNvPr id="17" name="Shape 15"/>
          <p:cNvSpPr/>
          <p:nvPr/>
        </p:nvSpPr>
        <p:spPr>
          <a:xfrm>
            <a:off x="548640" y="3266837"/>
            <a:ext cx="5464912" cy="67008"/>
          </a:xfrm>
          <a:prstGeom prst="rect">
            <a:avLst/>
          </a:prstGeom>
          <a:solidFill>
            <a:srgbClr val="4535C8"/>
          </a:solidFill>
          <a:ln/>
        </p:spPr>
      </p:sp>
      <p:sp>
        <p:nvSpPr>
          <p:cNvPr id="18" name="Shape 16"/>
          <p:cNvSpPr/>
          <p:nvPr/>
        </p:nvSpPr>
        <p:spPr>
          <a:xfrm>
            <a:off x="548640" y="3324701"/>
            <a:ext cx="5464912" cy="67008"/>
          </a:xfrm>
          <a:prstGeom prst="rect">
            <a:avLst/>
          </a:prstGeom>
          <a:solidFill>
            <a:srgbClr val="4436C8"/>
          </a:solidFill>
          <a:ln/>
        </p:spPr>
      </p:sp>
      <p:sp>
        <p:nvSpPr>
          <p:cNvPr id="19" name="Shape 17"/>
          <p:cNvSpPr/>
          <p:nvPr/>
        </p:nvSpPr>
        <p:spPr>
          <a:xfrm>
            <a:off x="548640" y="3382566"/>
            <a:ext cx="5464912" cy="67008"/>
          </a:xfrm>
          <a:prstGeom prst="rect">
            <a:avLst/>
          </a:prstGeom>
          <a:solidFill>
            <a:srgbClr val="4337C9"/>
          </a:solidFill>
          <a:ln/>
        </p:spPr>
      </p:sp>
      <p:sp>
        <p:nvSpPr>
          <p:cNvPr id="20" name="Shape 18"/>
          <p:cNvSpPr/>
          <p:nvPr/>
        </p:nvSpPr>
        <p:spPr>
          <a:xfrm>
            <a:off x="548640" y="3440430"/>
            <a:ext cx="5464912" cy="67008"/>
          </a:xfrm>
          <a:prstGeom prst="rect">
            <a:avLst/>
          </a:prstGeom>
          <a:solidFill>
            <a:srgbClr val="4238C9"/>
          </a:solidFill>
          <a:ln/>
        </p:spPr>
      </p:sp>
      <p:sp>
        <p:nvSpPr>
          <p:cNvPr id="21" name="Shape 19"/>
          <p:cNvSpPr/>
          <p:nvPr/>
        </p:nvSpPr>
        <p:spPr>
          <a:xfrm>
            <a:off x="548640" y="3498294"/>
            <a:ext cx="5464912" cy="67008"/>
          </a:xfrm>
          <a:prstGeom prst="rect">
            <a:avLst/>
          </a:prstGeom>
          <a:solidFill>
            <a:srgbClr val="4139CA"/>
          </a:solidFill>
          <a:ln/>
        </p:spPr>
      </p:sp>
      <p:sp>
        <p:nvSpPr>
          <p:cNvPr id="22" name="Shape 20"/>
          <p:cNvSpPr/>
          <p:nvPr/>
        </p:nvSpPr>
        <p:spPr>
          <a:xfrm>
            <a:off x="548640" y="3556159"/>
            <a:ext cx="5464912" cy="67008"/>
          </a:xfrm>
          <a:prstGeom prst="rect">
            <a:avLst/>
          </a:prstGeom>
          <a:solidFill>
            <a:srgbClr val="413ACA"/>
          </a:solidFill>
          <a:ln/>
        </p:spPr>
      </p:sp>
      <p:sp>
        <p:nvSpPr>
          <p:cNvPr id="23" name="Shape 21"/>
          <p:cNvSpPr/>
          <p:nvPr/>
        </p:nvSpPr>
        <p:spPr>
          <a:xfrm>
            <a:off x="548640" y="3614023"/>
            <a:ext cx="5464912" cy="67008"/>
          </a:xfrm>
          <a:prstGeom prst="rect">
            <a:avLst/>
          </a:prstGeom>
          <a:solidFill>
            <a:srgbClr val="403BCA"/>
          </a:solidFill>
          <a:ln/>
        </p:spPr>
      </p:sp>
      <p:sp>
        <p:nvSpPr>
          <p:cNvPr id="24" name="Shape 22"/>
          <p:cNvSpPr/>
          <p:nvPr/>
        </p:nvSpPr>
        <p:spPr>
          <a:xfrm>
            <a:off x="548640" y="3671888"/>
            <a:ext cx="5464912" cy="67008"/>
          </a:xfrm>
          <a:prstGeom prst="rect">
            <a:avLst/>
          </a:prstGeom>
          <a:solidFill>
            <a:srgbClr val="3F3CCB"/>
          </a:solidFill>
          <a:ln/>
        </p:spPr>
      </p:sp>
      <p:sp>
        <p:nvSpPr>
          <p:cNvPr id="25" name="Shape 23"/>
          <p:cNvSpPr/>
          <p:nvPr/>
        </p:nvSpPr>
        <p:spPr>
          <a:xfrm>
            <a:off x="548640" y="3729752"/>
            <a:ext cx="5464912" cy="67008"/>
          </a:xfrm>
          <a:prstGeom prst="rect">
            <a:avLst/>
          </a:prstGeom>
          <a:solidFill>
            <a:srgbClr val="3E3DCB"/>
          </a:solidFill>
          <a:ln/>
        </p:spPr>
      </p:sp>
      <p:sp>
        <p:nvSpPr>
          <p:cNvPr id="26" name="Shape 24"/>
          <p:cNvSpPr/>
          <p:nvPr/>
        </p:nvSpPr>
        <p:spPr>
          <a:xfrm>
            <a:off x="548640" y="3787616"/>
            <a:ext cx="5464912" cy="67008"/>
          </a:xfrm>
          <a:prstGeom prst="rect">
            <a:avLst/>
          </a:prstGeom>
          <a:solidFill>
            <a:srgbClr val="3D3ECC"/>
          </a:solidFill>
          <a:ln/>
        </p:spPr>
      </p:sp>
      <p:sp>
        <p:nvSpPr>
          <p:cNvPr id="27" name="Shape 25"/>
          <p:cNvSpPr/>
          <p:nvPr/>
        </p:nvSpPr>
        <p:spPr>
          <a:xfrm>
            <a:off x="548640" y="3845481"/>
            <a:ext cx="5464912" cy="67008"/>
          </a:xfrm>
          <a:prstGeom prst="rect">
            <a:avLst/>
          </a:prstGeom>
          <a:solidFill>
            <a:srgbClr val="3C3FCC"/>
          </a:solidFill>
          <a:ln/>
        </p:spPr>
      </p:sp>
      <p:sp>
        <p:nvSpPr>
          <p:cNvPr id="28" name="Shape 26"/>
          <p:cNvSpPr/>
          <p:nvPr/>
        </p:nvSpPr>
        <p:spPr>
          <a:xfrm>
            <a:off x="548640" y="3903345"/>
            <a:ext cx="5464912" cy="67008"/>
          </a:xfrm>
          <a:prstGeom prst="rect">
            <a:avLst/>
          </a:prstGeom>
          <a:solidFill>
            <a:srgbClr val="3B40CD"/>
          </a:solidFill>
          <a:ln/>
        </p:spPr>
      </p:sp>
      <p:sp>
        <p:nvSpPr>
          <p:cNvPr id="29" name="Shape 27"/>
          <p:cNvSpPr/>
          <p:nvPr/>
        </p:nvSpPr>
        <p:spPr>
          <a:xfrm>
            <a:off x="548640" y="3961209"/>
            <a:ext cx="5464912" cy="67008"/>
          </a:xfrm>
          <a:prstGeom prst="rect">
            <a:avLst/>
          </a:prstGeom>
          <a:solidFill>
            <a:srgbClr val="3B41CD"/>
          </a:solidFill>
          <a:ln/>
        </p:spPr>
      </p:sp>
      <p:sp>
        <p:nvSpPr>
          <p:cNvPr id="30" name="Shape 28"/>
          <p:cNvSpPr/>
          <p:nvPr/>
        </p:nvSpPr>
        <p:spPr>
          <a:xfrm>
            <a:off x="548640" y="4019074"/>
            <a:ext cx="5464912" cy="67008"/>
          </a:xfrm>
          <a:prstGeom prst="rect">
            <a:avLst/>
          </a:prstGeom>
          <a:solidFill>
            <a:srgbClr val="3A42CE"/>
          </a:solidFill>
          <a:ln/>
        </p:spPr>
      </p:sp>
      <p:sp>
        <p:nvSpPr>
          <p:cNvPr id="31" name="Shape 29"/>
          <p:cNvSpPr/>
          <p:nvPr/>
        </p:nvSpPr>
        <p:spPr>
          <a:xfrm>
            <a:off x="548640" y="4076938"/>
            <a:ext cx="5464912" cy="67008"/>
          </a:xfrm>
          <a:prstGeom prst="rect">
            <a:avLst/>
          </a:prstGeom>
          <a:solidFill>
            <a:srgbClr val="3943CE"/>
          </a:solidFill>
          <a:ln/>
        </p:spPr>
      </p:sp>
      <p:sp>
        <p:nvSpPr>
          <p:cNvPr id="32" name="Shape 30"/>
          <p:cNvSpPr/>
          <p:nvPr/>
        </p:nvSpPr>
        <p:spPr>
          <a:xfrm>
            <a:off x="548640" y="4134802"/>
            <a:ext cx="5464912" cy="67008"/>
          </a:xfrm>
          <a:prstGeom prst="rect">
            <a:avLst/>
          </a:prstGeom>
          <a:solidFill>
            <a:srgbClr val="3844CE"/>
          </a:solidFill>
          <a:ln/>
        </p:spPr>
      </p:sp>
      <p:sp>
        <p:nvSpPr>
          <p:cNvPr id="33" name="Shape 31"/>
          <p:cNvSpPr/>
          <p:nvPr/>
        </p:nvSpPr>
        <p:spPr>
          <a:xfrm>
            <a:off x="548640" y="4192667"/>
            <a:ext cx="5464912" cy="67008"/>
          </a:xfrm>
          <a:prstGeom prst="rect">
            <a:avLst/>
          </a:prstGeom>
          <a:solidFill>
            <a:srgbClr val="3745CF"/>
          </a:solidFill>
          <a:ln/>
        </p:spPr>
      </p:sp>
      <p:sp>
        <p:nvSpPr>
          <p:cNvPr id="34" name="Shape 32"/>
          <p:cNvSpPr/>
          <p:nvPr/>
        </p:nvSpPr>
        <p:spPr>
          <a:xfrm>
            <a:off x="548640" y="4250531"/>
            <a:ext cx="5464912" cy="67008"/>
          </a:xfrm>
          <a:prstGeom prst="rect">
            <a:avLst/>
          </a:prstGeom>
          <a:solidFill>
            <a:srgbClr val="3646CF"/>
          </a:solidFill>
          <a:ln/>
        </p:spPr>
      </p:sp>
      <p:sp>
        <p:nvSpPr>
          <p:cNvPr id="35" name="Shape 33"/>
          <p:cNvSpPr/>
          <p:nvPr/>
        </p:nvSpPr>
        <p:spPr>
          <a:xfrm>
            <a:off x="548640" y="4308396"/>
            <a:ext cx="5464912" cy="67008"/>
          </a:xfrm>
          <a:prstGeom prst="rect">
            <a:avLst/>
          </a:prstGeom>
          <a:solidFill>
            <a:srgbClr val="3547D0"/>
          </a:solidFill>
          <a:ln/>
        </p:spPr>
      </p:sp>
      <p:sp>
        <p:nvSpPr>
          <p:cNvPr id="36" name="Shape 34"/>
          <p:cNvSpPr/>
          <p:nvPr/>
        </p:nvSpPr>
        <p:spPr>
          <a:xfrm>
            <a:off x="548640" y="4366260"/>
            <a:ext cx="5464912" cy="67008"/>
          </a:xfrm>
          <a:prstGeom prst="rect">
            <a:avLst/>
          </a:prstGeom>
          <a:solidFill>
            <a:srgbClr val="3549D0"/>
          </a:solidFill>
          <a:ln/>
        </p:spPr>
      </p:sp>
      <p:sp>
        <p:nvSpPr>
          <p:cNvPr id="37" name="Shape 35"/>
          <p:cNvSpPr/>
          <p:nvPr/>
        </p:nvSpPr>
        <p:spPr>
          <a:xfrm>
            <a:off x="548640" y="4424124"/>
            <a:ext cx="5464912" cy="67008"/>
          </a:xfrm>
          <a:prstGeom prst="rect">
            <a:avLst/>
          </a:prstGeom>
          <a:solidFill>
            <a:srgbClr val="344ACF"/>
          </a:solidFill>
          <a:ln/>
        </p:spPr>
      </p:sp>
      <p:sp>
        <p:nvSpPr>
          <p:cNvPr id="38" name="Shape 36"/>
          <p:cNvSpPr/>
          <p:nvPr/>
        </p:nvSpPr>
        <p:spPr>
          <a:xfrm>
            <a:off x="548640" y="4481989"/>
            <a:ext cx="5464912" cy="67008"/>
          </a:xfrm>
          <a:prstGeom prst="rect">
            <a:avLst/>
          </a:prstGeom>
          <a:solidFill>
            <a:srgbClr val="334BCF"/>
          </a:solidFill>
          <a:ln/>
        </p:spPr>
      </p:sp>
      <p:sp>
        <p:nvSpPr>
          <p:cNvPr id="39" name="Shape 37"/>
          <p:cNvSpPr/>
          <p:nvPr/>
        </p:nvSpPr>
        <p:spPr>
          <a:xfrm>
            <a:off x="548640" y="4539853"/>
            <a:ext cx="5464912" cy="67008"/>
          </a:xfrm>
          <a:prstGeom prst="rect">
            <a:avLst/>
          </a:prstGeom>
          <a:solidFill>
            <a:srgbClr val="324CCE"/>
          </a:solidFill>
          <a:ln/>
        </p:spPr>
      </p:sp>
      <p:sp>
        <p:nvSpPr>
          <p:cNvPr id="40" name="Shape 38"/>
          <p:cNvSpPr/>
          <p:nvPr/>
        </p:nvSpPr>
        <p:spPr>
          <a:xfrm>
            <a:off x="548640" y="4597717"/>
            <a:ext cx="5464912" cy="67008"/>
          </a:xfrm>
          <a:prstGeom prst="rect">
            <a:avLst/>
          </a:prstGeom>
          <a:solidFill>
            <a:srgbClr val="314ECD"/>
          </a:solidFill>
          <a:ln/>
        </p:spPr>
      </p:sp>
      <p:sp>
        <p:nvSpPr>
          <p:cNvPr id="41" name="Shape 39"/>
          <p:cNvSpPr/>
          <p:nvPr/>
        </p:nvSpPr>
        <p:spPr>
          <a:xfrm>
            <a:off x="548640" y="4655582"/>
            <a:ext cx="5464912" cy="67008"/>
          </a:xfrm>
          <a:prstGeom prst="rect">
            <a:avLst/>
          </a:prstGeom>
          <a:solidFill>
            <a:srgbClr val="304FCD"/>
          </a:solidFill>
          <a:ln/>
        </p:spPr>
      </p:sp>
      <p:sp>
        <p:nvSpPr>
          <p:cNvPr id="42" name="Shape 40"/>
          <p:cNvSpPr/>
          <p:nvPr/>
        </p:nvSpPr>
        <p:spPr>
          <a:xfrm>
            <a:off x="548640" y="4713446"/>
            <a:ext cx="5464912" cy="67008"/>
          </a:xfrm>
          <a:prstGeom prst="rect">
            <a:avLst/>
          </a:prstGeom>
          <a:solidFill>
            <a:srgbClr val="2F50CC"/>
          </a:solidFill>
          <a:ln/>
        </p:spPr>
      </p:sp>
      <p:sp>
        <p:nvSpPr>
          <p:cNvPr id="43" name="Shape 41"/>
          <p:cNvSpPr/>
          <p:nvPr/>
        </p:nvSpPr>
        <p:spPr>
          <a:xfrm>
            <a:off x="548640" y="4771311"/>
            <a:ext cx="5464912" cy="67008"/>
          </a:xfrm>
          <a:prstGeom prst="rect">
            <a:avLst/>
          </a:prstGeom>
          <a:solidFill>
            <a:srgbClr val="2F51CC"/>
          </a:solidFill>
          <a:ln/>
        </p:spPr>
      </p:sp>
      <p:sp>
        <p:nvSpPr>
          <p:cNvPr id="44" name="Shape 42"/>
          <p:cNvSpPr/>
          <p:nvPr/>
        </p:nvSpPr>
        <p:spPr>
          <a:xfrm>
            <a:off x="548640" y="4829175"/>
            <a:ext cx="5464912" cy="67008"/>
          </a:xfrm>
          <a:prstGeom prst="rect">
            <a:avLst/>
          </a:prstGeom>
          <a:solidFill>
            <a:srgbClr val="2E53CB"/>
          </a:solidFill>
          <a:ln/>
        </p:spPr>
      </p:sp>
      <p:sp>
        <p:nvSpPr>
          <p:cNvPr id="45" name="Shape 43"/>
          <p:cNvSpPr/>
          <p:nvPr/>
        </p:nvSpPr>
        <p:spPr>
          <a:xfrm>
            <a:off x="548640" y="4887039"/>
            <a:ext cx="5464912" cy="67008"/>
          </a:xfrm>
          <a:prstGeom prst="rect">
            <a:avLst/>
          </a:prstGeom>
          <a:solidFill>
            <a:srgbClr val="2D54CB"/>
          </a:solidFill>
          <a:ln/>
        </p:spPr>
      </p:sp>
      <p:sp>
        <p:nvSpPr>
          <p:cNvPr id="46" name="Shape 44"/>
          <p:cNvSpPr/>
          <p:nvPr/>
        </p:nvSpPr>
        <p:spPr>
          <a:xfrm>
            <a:off x="548640" y="4944904"/>
            <a:ext cx="5464912" cy="67008"/>
          </a:xfrm>
          <a:prstGeom prst="rect">
            <a:avLst/>
          </a:prstGeom>
          <a:solidFill>
            <a:srgbClr val="2C55CA"/>
          </a:solidFill>
          <a:ln/>
        </p:spPr>
      </p:sp>
      <p:sp>
        <p:nvSpPr>
          <p:cNvPr id="47" name="Shape 45"/>
          <p:cNvSpPr/>
          <p:nvPr/>
        </p:nvSpPr>
        <p:spPr>
          <a:xfrm>
            <a:off x="548640" y="5002768"/>
            <a:ext cx="5464912" cy="67008"/>
          </a:xfrm>
          <a:prstGeom prst="rect">
            <a:avLst/>
          </a:prstGeom>
          <a:solidFill>
            <a:srgbClr val="2B56C9"/>
          </a:solidFill>
          <a:ln/>
        </p:spPr>
      </p:sp>
      <p:sp>
        <p:nvSpPr>
          <p:cNvPr id="48" name="Shape 46"/>
          <p:cNvSpPr/>
          <p:nvPr/>
        </p:nvSpPr>
        <p:spPr>
          <a:xfrm>
            <a:off x="548640" y="5060633"/>
            <a:ext cx="5464912" cy="67008"/>
          </a:xfrm>
          <a:prstGeom prst="rect">
            <a:avLst/>
          </a:prstGeom>
          <a:solidFill>
            <a:srgbClr val="2A57C9"/>
          </a:solidFill>
          <a:ln/>
        </p:spPr>
      </p:sp>
      <p:sp>
        <p:nvSpPr>
          <p:cNvPr id="49" name="Shape 47"/>
          <p:cNvSpPr/>
          <p:nvPr/>
        </p:nvSpPr>
        <p:spPr>
          <a:xfrm>
            <a:off x="548640" y="5118497"/>
            <a:ext cx="5464912" cy="67008"/>
          </a:xfrm>
          <a:prstGeom prst="rect">
            <a:avLst/>
          </a:prstGeom>
          <a:solidFill>
            <a:srgbClr val="2959C8"/>
          </a:solidFill>
          <a:ln/>
        </p:spPr>
      </p:sp>
      <p:sp>
        <p:nvSpPr>
          <p:cNvPr id="50" name="Shape 48"/>
          <p:cNvSpPr/>
          <p:nvPr/>
        </p:nvSpPr>
        <p:spPr>
          <a:xfrm>
            <a:off x="548640" y="5176361"/>
            <a:ext cx="5464912" cy="67008"/>
          </a:xfrm>
          <a:prstGeom prst="rect">
            <a:avLst/>
          </a:prstGeom>
          <a:solidFill>
            <a:srgbClr val="295AC8"/>
          </a:solidFill>
          <a:ln/>
        </p:spPr>
      </p:sp>
      <p:sp>
        <p:nvSpPr>
          <p:cNvPr id="51" name="Shape 49"/>
          <p:cNvSpPr/>
          <p:nvPr/>
        </p:nvSpPr>
        <p:spPr>
          <a:xfrm>
            <a:off x="548640" y="5234226"/>
            <a:ext cx="5464912" cy="67008"/>
          </a:xfrm>
          <a:prstGeom prst="rect">
            <a:avLst/>
          </a:prstGeom>
          <a:solidFill>
            <a:srgbClr val="285BC7"/>
          </a:solidFill>
          <a:ln/>
        </p:spPr>
      </p:sp>
      <p:sp>
        <p:nvSpPr>
          <p:cNvPr id="52" name="Shape 50"/>
          <p:cNvSpPr/>
          <p:nvPr/>
        </p:nvSpPr>
        <p:spPr>
          <a:xfrm>
            <a:off x="548640" y="5292090"/>
            <a:ext cx="5464912" cy="67008"/>
          </a:xfrm>
          <a:prstGeom prst="rect">
            <a:avLst/>
          </a:prstGeom>
          <a:solidFill>
            <a:srgbClr val="275CC7"/>
          </a:solidFill>
          <a:ln/>
        </p:spPr>
      </p:sp>
      <p:sp>
        <p:nvSpPr>
          <p:cNvPr id="53" name="Shape 51"/>
          <p:cNvSpPr/>
          <p:nvPr/>
        </p:nvSpPr>
        <p:spPr>
          <a:xfrm>
            <a:off x="548640" y="5349954"/>
            <a:ext cx="5464912" cy="67008"/>
          </a:xfrm>
          <a:prstGeom prst="rect">
            <a:avLst/>
          </a:prstGeom>
          <a:solidFill>
            <a:srgbClr val="265EC6"/>
          </a:solidFill>
          <a:ln/>
        </p:spPr>
      </p:sp>
      <p:sp>
        <p:nvSpPr>
          <p:cNvPr id="54" name="Shape 52"/>
          <p:cNvSpPr/>
          <p:nvPr/>
        </p:nvSpPr>
        <p:spPr>
          <a:xfrm>
            <a:off x="548640" y="5407819"/>
            <a:ext cx="5464912" cy="67008"/>
          </a:xfrm>
          <a:prstGeom prst="rect">
            <a:avLst/>
          </a:prstGeom>
          <a:solidFill>
            <a:srgbClr val="255FC5"/>
          </a:solidFill>
          <a:ln/>
        </p:spPr>
      </p:sp>
      <p:sp>
        <p:nvSpPr>
          <p:cNvPr id="55" name="Shape 53"/>
          <p:cNvSpPr/>
          <p:nvPr/>
        </p:nvSpPr>
        <p:spPr>
          <a:xfrm>
            <a:off x="548640" y="5465683"/>
            <a:ext cx="5464912" cy="67008"/>
          </a:xfrm>
          <a:prstGeom prst="rect">
            <a:avLst/>
          </a:prstGeom>
          <a:solidFill>
            <a:srgbClr val="2460C5"/>
          </a:solidFill>
          <a:ln/>
        </p:spPr>
      </p:sp>
      <p:sp>
        <p:nvSpPr>
          <p:cNvPr id="56" name="Shape 54"/>
          <p:cNvSpPr/>
          <p:nvPr/>
        </p:nvSpPr>
        <p:spPr>
          <a:xfrm>
            <a:off x="548640" y="5523548"/>
            <a:ext cx="5464912" cy="67008"/>
          </a:xfrm>
          <a:prstGeom prst="rect">
            <a:avLst/>
          </a:prstGeom>
          <a:solidFill>
            <a:srgbClr val="2361C4"/>
          </a:solidFill>
          <a:ln/>
        </p:spPr>
      </p:sp>
      <p:sp>
        <p:nvSpPr>
          <p:cNvPr id="57" name="Shape 55"/>
          <p:cNvSpPr/>
          <p:nvPr/>
        </p:nvSpPr>
        <p:spPr>
          <a:xfrm>
            <a:off x="548640" y="5581412"/>
            <a:ext cx="5464912" cy="67008"/>
          </a:xfrm>
          <a:prstGeom prst="rect">
            <a:avLst/>
          </a:prstGeom>
          <a:solidFill>
            <a:srgbClr val="2363C4"/>
          </a:solidFill>
          <a:ln/>
        </p:spPr>
      </p:sp>
      <p:sp>
        <p:nvSpPr>
          <p:cNvPr id="58" name="Shape 56"/>
          <p:cNvSpPr/>
          <p:nvPr/>
        </p:nvSpPr>
        <p:spPr>
          <a:xfrm>
            <a:off x="548640" y="5639276"/>
            <a:ext cx="5464912" cy="67008"/>
          </a:xfrm>
          <a:prstGeom prst="rect">
            <a:avLst/>
          </a:prstGeom>
          <a:solidFill>
            <a:srgbClr val="2264C3"/>
          </a:solidFill>
          <a:ln/>
        </p:spPr>
      </p:sp>
      <p:sp>
        <p:nvSpPr>
          <p:cNvPr id="59" name="Shape 57"/>
          <p:cNvSpPr/>
          <p:nvPr/>
        </p:nvSpPr>
        <p:spPr>
          <a:xfrm>
            <a:off x="548640" y="5697141"/>
            <a:ext cx="5464912" cy="67008"/>
          </a:xfrm>
          <a:prstGeom prst="rect">
            <a:avLst/>
          </a:prstGeom>
          <a:solidFill>
            <a:srgbClr val="2165C3"/>
          </a:solidFill>
          <a:ln/>
        </p:spPr>
      </p:sp>
      <p:sp>
        <p:nvSpPr>
          <p:cNvPr id="60" name="Shape 58"/>
          <p:cNvSpPr/>
          <p:nvPr/>
        </p:nvSpPr>
        <p:spPr>
          <a:xfrm>
            <a:off x="548640" y="5755005"/>
            <a:ext cx="5464912" cy="67008"/>
          </a:xfrm>
          <a:prstGeom prst="rect">
            <a:avLst/>
          </a:prstGeom>
          <a:solidFill>
            <a:srgbClr val="2066C2"/>
          </a:solidFill>
          <a:ln/>
        </p:spPr>
      </p:sp>
      <p:sp>
        <p:nvSpPr>
          <p:cNvPr id="61" name="Shape 59"/>
          <p:cNvSpPr/>
          <p:nvPr/>
        </p:nvSpPr>
        <p:spPr>
          <a:xfrm>
            <a:off x="548640" y="5812869"/>
            <a:ext cx="5464912" cy="67008"/>
          </a:xfrm>
          <a:prstGeom prst="rect">
            <a:avLst/>
          </a:prstGeom>
          <a:solidFill>
            <a:srgbClr val="1F68C1"/>
          </a:solidFill>
          <a:ln/>
        </p:spPr>
      </p:sp>
      <p:sp>
        <p:nvSpPr>
          <p:cNvPr id="62" name="Shape 60"/>
          <p:cNvSpPr/>
          <p:nvPr/>
        </p:nvSpPr>
        <p:spPr>
          <a:xfrm>
            <a:off x="548640" y="5870734"/>
            <a:ext cx="5464912" cy="67008"/>
          </a:xfrm>
          <a:prstGeom prst="rect">
            <a:avLst/>
          </a:prstGeom>
          <a:solidFill>
            <a:srgbClr val="1E69C1"/>
          </a:solidFill>
          <a:ln/>
        </p:spPr>
      </p:sp>
      <p:sp>
        <p:nvSpPr>
          <p:cNvPr id="63" name="Shape 61"/>
          <p:cNvSpPr/>
          <p:nvPr/>
        </p:nvSpPr>
        <p:spPr>
          <a:xfrm>
            <a:off x="548640" y="5928598"/>
            <a:ext cx="5464912" cy="67008"/>
          </a:xfrm>
          <a:prstGeom prst="rect">
            <a:avLst/>
          </a:prstGeom>
          <a:solidFill>
            <a:srgbClr val="1D6AC0"/>
          </a:solidFill>
          <a:ln/>
        </p:spPr>
      </p:sp>
      <p:sp>
        <p:nvSpPr>
          <p:cNvPr id="64" name="Shape 62"/>
          <p:cNvSpPr/>
          <p:nvPr/>
        </p:nvSpPr>
        <p:spPr>
          <a:xfrm>
            <a:off x="548640" y="5986463"/>
            <a:ext cx="5464912" cy="67008"/>
          </a:xfrm>
          <a:prstGeom prst="rect">
            <a:avLst/>
          </a:prstGeom>
          <a:solidFill>
            <a:srgbClr val="1D6BC0"/>
          </a:solidFill>
          <a:ln/>
        </p:spPr>
      </p:sp>
      <p:sp>
        <p:nvSpPr>
          <p:cNvPr id="65" name="Shape 63"/>
          <p:cNvSpPr/>
          <p:nvPr/>
        </p:nvSpPr>
        <p:spPr>
          <a:xfrm>
            <a:off x="548640" y="6044327"/>
            <a:ext cx="5464912" cy="67008"/>
          </a:xfrm>
          <a:prstGeom prst="rect">
            <a:avLst/>
          </a:prstGeom>
          <a:solidFill>
            <a:srgbClr val="1C6DBF"/>
          </a:solidFill>
          <a:ln/>
        </p:spPr>
      </p:sp>
      <p:sp>
        <p:nvSpPr>
          <p:cNvPr id="66" name="Shape 64"/>
          <p:cNvSpPr/>
          <p:nvPr/>
        </p:nvSpPr>
        <p:spPr>
          <a:xfrm>
            <a:off x="548640" y="6102191"/>
            <a:ext cx="5464912" cy="67008"/>
          </a:xfrm>
          <a:prstGeom prst="rect">
            <a:avLst/>
          </a:prstGeom>
          <a:solidFill>
            <a:srgbClr val="1B6EBF"/>
          </a:solidFill>
          <a:ln/>
        </p:spPr>
      </p:sp>
      <p:sp>
        <p:nvSpPr>
          <p:cNvPr id="67" name="Shape 65"/>
          <p:cNvSpPr/>
          <p:nvPr/>
        </p:nvSpPr>
        <p:spPr>
          <a:xfrm>
            <a:off x="548640" y="6160056"/>
            <a:ext cx="5464912" cy="67008"/>
          </a:xfrm>
          <a:prstGeom prst="rect">
            <a:avLst/>
          </a:prstGeom>
          <a:solidFill>
            <a:srgbClr val="1A6FBE"/>
          </a:solidFill>
          <a:ln/>
        </p:spPr>
      </p:sp>
      <p:sp>
        <p:nvSpPr>
          <p:cNvPr id="68" name="Text 66"/>
          <p:cNvSpPr/>
          <p:nvPr/>
        </p:nvSpPr>
        <p:spPr>
          <a:xfrm>
            <a:off x="914400" y="2880360"/>
            <a:ext cx="4733392" cy="914400"/>
          </a:xfrm>
          <a:prstGeom prst="rect">
            <a:avLst/>
          </a:prstGeom>
          <a:noFill/>
          <a:ln/>
        </p:spPr>
        <p:txBody>
          <a:bodyPr wrap="square" lIns="0" tIns="0" rIns="0" bIns="0" rtlCol="0" anchor="t"/>
          <a:lstStyle/>
          <a:p>
            <a:pPr algn="l" indent="0" marL="0">
              <a:buNone/>
            </a:pPr>
            <a:r>
              <a:rPr lang="en-US" sz="1100" b="1" spc="300" kern="0" dirty="0">
                <a:solidFill>
                  <a:srgbClr val="FFFFFF"/>
                </a:solidFill>
                <a:latin typeface="Calibri" pitchFamily="34" charset="0"/>
                <a:ea typeface="Calibri" pitchFamily="34" charset="-122"/>
                <a:cs typeface="Calibri" pitchFamily="34" charset="-120"/>
              </a:rPr>
              <a:t>COMPETITIVE LANDSCAPE</a:t>
            </a:r>
            <a:endParaRPr lang="en-US" sz="1100" dirty="0"/>
          </a:p>
        </p:txBody>
      </p:sp>
      <p:sp>
        <p:nvSpPr>
          <p:cNvPr id="69" name="Text 67"/>
          <p:cNvSpPr/>
          <p:nvPr/>
        </p:nvSpPr>
        <p:spPr>
          <a:xfrm>
            <a:off x="914400" y="3383280"/>
            <a:ext cx="4733392" cy="2011680"/>
          </a:xfrm>
          <a:prstGeom prst="rect">
            <a:avLst/>
          </a:prstGeom>
          <a:noFill/>
          <a:ln/>
        </p:spPr>
        <p:txBody>
          <a:bodyPr wrap="square" lIns="0" tIns="0" rIns="0" bIns="0" rtlCol="0" anchor="t"/>
          <a:lstStyle/>
          <a:p>
            <a:pPr algn="l" indent="0" marL="0">
              <a:buNone/>
            </a:pPr>
            <a:r>
              <a:rPr lang="en-US" sz="3200" b="1" spc="-50" kern="0" dirty="0">
                <a:solidFill>
                  <a:srgbClr val="FFFFFF"/>
                </a:solidFill>
                <a:latin typeface="Calibri" pitchFamily="34" charset="0"/>
                <a:ea typeface="Calibri" pitchFamily="34" charset="-122"/>
                <a:cs typeface="Calibri" pitchFamily="34" charset="-120"/>
              </a:rPr>
              <a:t>B2B creator outreach is its own category.</a:t>
            </a:r>
            <a:endParaRPr lang="en-US" sz="3200" dirty="0"/>
          </a:p>
        </p:txBody>
      </p:sp>
      <p:sp>
        <p:nvSpPr>
          <p:cNvPr id="70" name="Text 68"/>
          <p:cNvSpPr/>
          <p:nvPr/>
        </p:nvSpPr>
        <p:spPr>
          <a:xfrm>
            <a:off x="914400" y="5166360"/>
            <a:ext cx="4733392" cy="10972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Influencer platforms own the enterprise brand market. Generic CRMs own B2B sales pipelines. Sales engagement tools own SDR cold email. None of them own the founder running B2B creator outreach manually today.</a:t>
            </a:r>
            <a:endParaRPr lang="en-US" sz="1300" dirty="0"/>
          </a:p>
        </p:txBody>
      </p:sp>
      <p:sp>
        <p:nvSpPr>
          <p:cNvPr id="71" name="Shape 69"/>
          <p:cNvSpPr/>
          <p:nvPr/>
        </p:nvSpPr>
        <p:spPr>
          <a:xfrm>
            <a:off x="6178144" y="2514600"/>
            <a:ext cx="5464912" cy="1124712"/>
          </a:xfrm>
          <a:prstGeom prst="roundRect">
            <a:avLst>
              <a:gd name="adj" fmla="val 9756"/>
            </a:avLst>
          </a:prstGeom>
          <a:solidFill>
            <a:srgbClr val="FFFFFF"/>
          </a:solidFill>
          <a:ln w="9525">
            <a:solidFill>
              <a:srgbClr val="E5E7F0"/>
            </a:solidFill>
            <a:prstDash val="solid"/>
          </a:ln>
        </p:spPr>
      </p:sp>
      <p:sp>
        <p:nvSpPr>
          <p:cNvPr id="72" name="Shape 70"/>
          <p:cNvSpPr/>
          <p:nvPr/>
        </p:nvSpPr>
        <p:spPr>
          <a:xfrm>
            <a:off x="6178144" y="2514600"/>
            <a:ext cx="73152" cy="1124712"/>
          </a:xfrm>
          <a:prstGeom prst="rect">
            <a:avLst/>
          </a:prstGeom>
          <a:solidFill>
            <a:srgbClr val="5028C2"/>
          </a:solidFill>
          <a:ln/>
        </p:spPr>
      </p:sp>
      <p:sp>
        <p:nvSpPr>
          <p:cNvPr id="73" name="Text 71"/>
          <p:cNvSpPr/>
          <p:nvPr/>
        </p:nvSpPr>
        <p:spPr>
          <a:xfrm>
            <a:off x="6434176" y="2697480"/>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Influencer tools</a:t>
            </a:r>
            <a:endParaRPr lang="en-US" sz="1600" dirty="0"/>
          </a:p>
        </p:txBody>
      </p:sp>
      <p:sp>
        <p:nvSpPr>
          <p:cNvPr id="74" name="Text 72"/>
          <p:cNvSpPr/>
          <p:nvPr/>
        </p:nvSpPr>
        <p:spPr>
          <a:xfrm>
            <a:off x="6434176" y="3081528"/>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Heepsy. Modash. HypeAuditor. Wrong buyer.</a:t>
            </a:r>
            <a:endParaRPr lang="en-US" sz="1200" dirty="0"/>
          </a:p>
        </p:txBody>
      </p:sp>
      <p:sp>
        <p:nvSpPr>
          <p:cNvPr id="75" name="Shape 73"/>
          <p:cNvSpPr/>
          <p:nvPr/>
        </p:nvSpPr>
        <p:spPr>
          <a:xfrm>
            <a:off x="6178144" y="3803904"/>
            <a:ext cx="5464912" cy="1124712"/>
          </a:xfrm>
          <a:prstGeom prst="roundRect">
            <a:avLst>
              <a:gd name="adj" fmla="val 9756"/>
            </a:avLst>
          </a:prstGeom>
          <a:solidFill>
            <a:srgbClr val="FFFFFF"/>
          </a:solidFill>
          <a:ln w="9525">
            <a:solidFill>
              <a:srgbClr val="E5E7F0"/>
            </a:solidFill>
            <a:prstDash val="solid"/>
          </a:ln>
        </p:spPr>
      </p:sp>
      <p:sp>
        <p:nvSpPr>
          <p:cNvPr id="76" name="Shape 74"/>
          <p:cNvSpPr/>
          <p:nvPr/>
        </p:nvSpPr>
        <p:spPr>
          <a:xfrm>
            <a:off x="6178144" y="3803904"/>
            <a:ext cx="73152" cy="1124712"/>
          </a:xfrm>
          <a:prstGeom prst="rect">
            <a:avLst/>
          </a:prstGeom>
          <a:solidFill>
            <a:srgbClr val="3548D0"/>
          </a:solidFill>
          <a:ln/>
        </p:spPr>
      </p:sp>
      <p:sp>
        <p:nvSpPr>
          <p:cNvPr id="77" name="Text 75"/>
          <p:cNvSpPr/>
          <p:nvPr/>
        </p:nvSpPr>
        <p:spPr>
          <a:xfrm>
            <a:off x="6434176" y="3986784"/>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Generic CRMs</a:t>
            </a:r>
            <a:endParaRPr lang="en-US" sz="1600" dirty="0"/>
          </a:p>
        </p:txBody>
      </p:sp>
      <p:sp>
        <p:nvSpPr>
          <p:cNvPr id="78" name="Text 76"/>
          <p:cNvSpPr/>
          <p:nvPr/>
        </p:nvSpPr>
        <p:spPr>
          <a:xfrm>
            <a:off x="6434176" y="4370832"/>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HubSpot. Pipedrive. Attio. No creator layer.</a:t>
            </a:r>
            <a:endParaRPr lang="en-US" sz="1200" dirty="0"/>
          </a:p>
        </p:txBody>
      </p:sp>
      <p:sp>
        <p:nvSpPr>
          <p:cNvPr id="79" name="Shape 77"/>
          <p:cNvSpPr/>
          <p:nvPr/>
        </p:nvSpPr>
        <p:spPr>
          <a:xfrm>
            <a:off x="6178144" y="5093208"/>
            <a:ext cx="5464912" cy="1124712"/>
          </a:xfrm>
          <a:prstGeom prst="roundRect">
            <a:avLst>
              <a:gd name="adj" fmla="val 9756"/>
            </a:avLst>
          </a:prstGeom>
          <a:solidFill>
            <a:srgbClr val="FFFFFF"/>
          </a:solidFill>
          <a:ln w="9525">
            <a:solidFill>
              <a:srgbClr val="E5E7F0"/>
            </a:solidFill>
            <a:prstDash val="solid"/>
          </a:ln>
        </p:spPr>
      </p:sp>
      <p:sp>
        <p:nvSpPr>
          <p:cNvPr id="80" name="Shape 78"/>
          <p:cNvSpPr/>
          <p:nvPr/>
        </p:nvSpPr>
        <p:spPr>
          <a:xfrm>
            <a:off x="6178144" y="5093208"/>
            <a:ext cx="73152" cy="1124712"/>
          </a:xfrm>
          <a:prstGeom prst="rect">
            <a:avLst/>
          </a:prstGeom>
          <a:solidFill>
            <a:srgbClr val="1A6FBE"/>
          </a:solidFill>
          <a:ln/>
        </p:spPr>
      </p:sp>
      <p:sp>
        <p:nvSpPr>
          <p:cNvPr id="81" name="Text 79"/>
          <p:cNvSpPr/>
          <p:nvPr/>
        </p:nvSpPr>
        <p:spPr>
          <a:xfrm>
            <a:off x="6434176" y="5276088"/>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Open middle</a:t>
            </a:r>
            <a:endParaRPr lang="en-US" sz="1600" dirty="0"/>
          </a:p>
        </p:txBody>
      </p:sp>
      <p:sp>
        <p:nvSpPr>
          <p:cNvPr id="82" name="Text 80"/>
          <p:cNvSpPr/>
          <p:nvPr/>
        </p:nvSpPr>
        <p:spPr>
          <a:xfrm>
            <a:off x="6434176" y="5660136"/>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B2B creators × founder budget. Ours.</a:t>
            </a:r>
            <a:endParaRPr lang="en-US" sz="1200" dirty="0"/>
          </a:p>
        </p:txBody>
      </p:sp>
      <p:sp>
        <p:nvSpPr>
          <p:cNvPr id="83" name="Shape 81"/>
          <p:cNvSpPr/>
          <p:nvPr/>
        </p:nvSpPr>
        <p:spPr>
          <a:xfrm>
            <a:off x="548640" y="502920"/>
            <a:ext cx="292608" cy="292608"/>
          </a:xfrm>
          <a:prstGeom prst="roundRect">
            <a:avLst>
              <a:gd name="adj" fmla="val 25000"/>
            </a:avLst>
          </a:prstGeom>
          <a:solidFill>
            <a:srgbClr val="5028C2"/>
          </a:solidFill>
          <a:ln/>
        </p:spPr>
      </p:sp>
      <p:sp>
        <p:nvSpPr>
          <p:cNvPr id="84" name="Shape 82"/>
          <p:cNvSpPr/>
          <p:nvPr/>
        </p:nvSpPr>
        <p:spPr>
          <a:xfrm>
            <a:off x="548640" y="502920"/>
            <a:ext cx="292608" cy="292608"/>
          </a:xfrm>
          <a:prstGeom prst="roundRect">
            <a:avLst>
              <a:gd name="adj" fmla="val 25000"/>
            </a:avLst>
          </a:prstGeom>
          <a:solidFill>
            <a:srgbClr val="1A6FBE">
              <a:alpha val="50000"/>
            </a:srgbClr>
          </a:solidFill>
          <a:ln/>
        </p:spPr>
      </p:sp>
      <p:sp>
        <p:nvSpPr>
          <p:cNvPr id="85" name="Text 83"/>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86" name="Text 84"/>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87" name="Text 85"/>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11 · Competitive landscape  ·  vG</a:t>
            </a:r>
            <a:endParaRPr lang="en-US" sz="900" dirty="0"/>
          </a:p>
        </p:txBody>
      </p:sp>
      <p:sp>
        <p:nvSpPr>
          <p:cNvPr id="88" name="Text 86"/>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89" name="Text 87"/>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077 / 126</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80015" y="-914400"/>
            <a:ext cx="3200400" cy="3200400"/>
          </a:xfrm>
          <a:prstGeom prst="ellipse">
            <a:avLst/>
          </a:prstGeom>
          <a:solidFill>
            <a:srgbClr val="F1ECFF"/>
          </a:solidFill>
          <a:ln/>
        </p:spPr>
      </p:sp>
      <p:sp>
        <p:nvSpPr>
          <p:cNvPr id="3" name="Shape 1"/>
          <p:cNvSpPr/>
          <p:nvPr/>
        </p:nvSpPr>
        <p:spPr>
          <a:xfrm>
            <a:off x="10820095" y="-548640"/>
            <a:ext cx="2194560" cy="2194560"/>
          </a:xfrm>
          <a:prstGeom prst="ellipse">
            <a:avLst/>
          </a:prstGeom>
          <a:solidFill>
            <a:srgbClr val="E8F1FB">
              <a:alpha val="60000"/>
            </a:srgbClr>
          </a:solidFill>
          <a:ln/>
        </p:spPr>
      </p:sp>
      <p:sp>
        <p:nvSpPr>
          <p:cNvPr id="4" name="Shape 2"/>
          <p:cNvSpPr/>
          <p:nvPr/>
        </p:nvSpPr>
        <p:spPr>
          <a:xfrm>
            <a:off x="548640" y="5486400"/>
            <a:ext cx="54864" cy="54864"/>
          </a:xfrm>
          <a:prstGeom prst="ellipse">
            <a:avLst/>
          </a:prstGeom>
          <a:solidFill>
            <a:srgbClr val="5028C2">
              <a:alpha val="30000"/>
            </a:srgbClr>
          </a:solidFill>
          <a:ln/>
        </p:spPr>
      </p:sp>
      <p:sp>
        <p:nvSpPr>
          <p:cNvPr id="5" name="Shape 3"/>
          <p:cNvSpPr/>
          <p:nvPr/>
        </p:nvSpPr>
        <p:spPr>
          <a:xfrm>
            <a:off x="548640" y="5650992"/>
            <a:ext cx="54864" cy="54864"/>
          </a:xfrm>
          <a:prstGeom prst="ellipse">
            <a:avLst/>
          </a:prstGeom>
          <a:solidFill>
            <a:srgbClr val="5028C2">
              <a:alpha val="30000"/>
            </a:srgbClr>
          </a:solidFill>
          <a:ln/>
        </p:spPr>
      </p:sp>
      <p:sp>
        <p:nvSpPr>
          <p:cNvPr id="6" name="Shape 4"/>
          <p:cNvSpPr/>
          <p:nvPr/>
        </p:nvSpPr>
        <p:spPr>
          <a:xfrm>
            <a:off x="548640" y="5815584"/>
            <a:ext cx="54864" cy="54864"/>
          </a:xfrm>
          <a:prstGeom prst="ellipse">
            <a:avLst/>
          </a:prstGeom>
          <a:solidFill>
            <a:srgbClr val="5028C2">
              <a:alpha val="30000"/>
            </a:srgbClr>
          </a:solidFill>
          <a:ln/>
        </p:spPr>
      </p:sp>
      <p:sp>
        <p:nvSpPr>
          <p:cNvPr id="7" name="Shape 5"/>
          <p:cNvSpPr/>
          <p:nvPr/>
        </p:nvSpPr>
        <p:spPr>
          <a:xfrm>
            <a:off x="713232" y="5486400"/>
            <a:ext cx="54864" cy="54864"/>
          </a:xfrm>
          <a:prstGeom prst="ellipse">
            <a:avLst/>
          </a:prstGeom>
          <a:solidFill>
            <a:srgbClr val="5028C2">
              <a:alpha val="30000"/>
            </a:srgbClr>
          </a:solidFill>
          <a:ln/>
        </p:spPr>
      </p:sp>
      <p:sp>
        <p:nvSpPr>
          <p:cNvPr id="8" name="Shape 6"/>
          <p:cNvSpPr/>
          <p:nvPr/>
        </p:nvSpPr>
        <p:spPr>
          <a:xfrm>
            <a:off x="713232" y="5650992"/>
            <a:ext cx="54864" cy="54864"/>
          </a:xfrm>
          <a:prstGeom prst="ellipse">
            <a:avLst/>
          </a:prstGeom>
          <a:solidFill>
            <a:srgbClr val="5028C2">
              <a:alpha val="30000"/>
            </a:srgbClr>
          </a:solidFill>
          <a:ln/>
        </p:spPr>
      </p:sp>
      <p:sp>
        <p:nvSpPr>
          <p:cNvPr id="9" name="Shape 7"/>
          <p:cNvSpPr/>
          <p:nvPr/>
        </p:nvSpPr>
        <p:spPr>
          <a:xfrm>
            <a:off x="713232" y="5815584"/>
            <a:ext cx="54864" cy="54864"/>
          </a:xfrm>
          <a:prstGeom prst="ellipse">
            <a:avLst/>
          </a:prstGeom>
          <a:solidFill>
            <a:srgbClr val="5028C2">
              <a:alpha val="30000"/>
            </a:srgbClr>
          </a:solidFill>
          <a:ln/>
        </p:spPr>
      </p:sp>
      <p:sp>
        <p:nvSpPr>
          <p:cNvPr id="10" name="Shape 8"/>
          <p:cNvSpPr/>
          <p:nvPr/>
        </p:nvSpPr>
        <p:spPr>
          <a:xfrm>
            <a:off x="877824" y="5486400"/>
            <a:ext cx="54864" cy="54864"/>
          </a:xfrm>
          <a:prstGeom prst="ellipse">
            <a:avLst/>
          </a:prstGeom>
          <a:solidFill>
            <a:srgbClr val="5028C2">
              <a:alpha val="30000"/>
            </a:srgbClr>
          </a:solidFill>
          <a:ln/>
        </p:spPr>
      </p:sp>
      <p:sp>
        <p:nvSpPr>
          <p:cNvPr id="11" name="Shape 9"/>
          <p:cNvSpPr/>
          <p:nvPr/>
        </p:nvSpPr>
        <p:spPr>
          <a:xfrm>
            <a:off x="877824" y="5650992"/>
            <a:ext cx="54864" cy="54864"/>
          </a:xfrm>
          <a:prstGeom prst="ellipse">
            <a:avLst/>
          </a:prstGeom>
          <a:solidFill>
            <a:srgbClr val="5028C2">
              <a:alpha val="30000"/>
            </a:srgbClr>
          </a:solidFill>
          <a:ln/>
        </p:spPr>
      </p:sp>
      <p:sp>
        <p:nvSpPr>
          <p:cNvPr id="12" name="Shape 10"/>
          <p:cNvSpPr/>
          <p:nvPr/>
        </p:nvSpPr>
        <p:spPr>
          <a:xfrm>
            <a:off x="877824" y="5815584"/>
            <a:ext cx="54864" cy="54864"/>
          </a:xfrm>
          <a:prstGeom prst="ellipse">
            <a:avLst/>
          </a:prstGeom>
          <a:solidFill>
            <a:srgbClr val="5028C2">
              <a:alpha val="30000"/>
            </a:srgbClr>
          </a:solidFill>
          <a:ln/>
        </p:spPr>
      </p:sp>
      <p:sp>
        <p:nvSpPr>
          <p:cNvPr id="13" name="Shape 11"/>
          <p:cNvSpPr/>
          <p:nvPr/>
        </p:nvSpPr>
        <p:spPr>
          <a:xfrm>
            <a:off x="1042416" y="5486400"/>
            <a:ext cx="54864" cy="54864"/>
          </a:xfrm>
          <a:prstGeom prst="ellipse">
            <a:avLst/>
          </a:prstGeom>
          <a:solidFill>
            <a:srgbClr val="5028C2">
              <a:alpha val="30000"/>
            </a:srgbClr>
          </a:solidFill>
          <a:ln/>
        </p:spPr>
      </p:sp>
      <p:sp>
        <p:nvSpPr>
          <p:cNvPr id="14" name="Shape 12"/>
          <p:cNvSpPr/>
          <p:nvPr/>
        </p:nvSpPr>
        <p:spPr>
          <a:xfrm>
            <a:off x="1042416" y="5650992"/>
            <a:ext cx="54864" cy="54864"/>
          </a:xfrm>
          <a:prstGeom prst="ellipse">
            <a:avLst/>
          </a:prstGeom>
          <a:solidFill>
            <a:srgbClr val="5028C2">
              <a:alpha val="30000"/>
            </a:srgbClr>
          </a:solidFill>
          <a:ln/>
        </p:spPr>
      </p:sp>
      <p:sp>
        <p:nvSpPr>
          <p:cNvPr id="15" name="Shape 13"/>
          <p:cNvSpPr/>
          <p:nvPr/>
        </p:nvSpPr>
        <p:spPr>
          <a:xfrm>
            <a:off x="1042416" y="5815584"/>
            <a:ext cx="54864" cy="54864"/>
          </a:xfrm>
          <a:prstGeom prst="ellipse">
            <a:avLst/>
          </a:prstGeom>
          <a:solidFill>
            <a:srgbClr val="5028C2">
              <a:alpha val="30000"/>
            </a:srgbClr>
          </a:solidFill>
          <a:ln/>
        </p:spPr>
      </p:sp>
      <p:sp>
        <p:nvSpPr>
          <p:cNvPr id="16" name="Shape 14"/>
          <p:cNvSpPr/>
          <p:nvPr/>
        </p:nvSpPr>
        <p:spPr>
          <a:xfrm>
            <a:off x="1207008" y="5486400"/>
            <a:ext cx="54864" cy="54864"/>
          </a:xfrm>
          <a:prstGeom prst="ellipse">
            <a:avLst/>
          </a:prstGeom>
          <a:solidFill>
            <a:srgbClr val="5028C2">
              <a:alpha val="30000"/>
            </a:srgbClr>
          </a:solidFill>
          <a:ln/>
        </p:spPr>
      </p:sp>
      <p:sp>
        <p:nvSpPr>
          <p:cNvPr id="17" name="Shape 15"/>
          <p:cNvSpPr/>
          <p:nvPr/>
        </p:nvSpPr>
        <p:spPr>
          <a:xfrm>
            <a:off x="1207008" y="5650992"/>
            <a:ext cx="54864" cy="54864"/>
          </a:xfrm>
          <a:prstGeom prst="ellipse">
            <a:avLst/>
          </a:prstGeom>
          <a:solidFill>
            <a:srgbClr val="5028C2">
              <a:alpha val="30000"/>
            </a:srgbClr>
          </a:solidFill>
          <a:ln/>
        </p:spPr>
      </p:sp>
      <p:sp>
        <p:nvSpPr>
          <p:cNvPr id="18" name="Shape 16"/>
          <p:cNvSpPr/>
          <p:nvPr/>
        </p:nvSpPr>
        <p:spPr>
          <a:xfrm>
            <a:off x="1207008" y="5815584"/>
            <a:ext cx="54864" cy="54864"/>
          </a:xfrm>
          <a:prstGeom prst="ellipse">
            <a:avLst/>
          </a:prstGeom>
          <a:solidFill>
            <a:srgbClr val="5028C2">
              <a:alpha val="30000"/>
            </a:srgbClr>
          </a:solidFill>
          <a:ln/>
        </p:spPr>
      </p:sp>
      <p:sp>
        <p:nvSpPr>
          <p:cNvPr id="19" name="Shape 17"/>
          <p:cNvSpPr/>
          <p:nvPr/>
        </p:nvSpPr>
        <p:spPr>
          <a:xfrm>
            <a:off x="1371600" y="5486400"/>
            <a:ext cx="54864" cy="54864"/>
          </a:xfrm>
          <a:prstGeom prst="ellipse">
            <a:avLst/>
          </a:prstGeom>
          <a:solidFill>
            <a:srgbClr val="5028C2">
              <a:alpha val="30000"/>
            </a:srgbClr>
          </a:solidFill>
          <a:ln/>
        </p:spPr>
      </p:sp>
      <p:sp>
        <p:nvSpPr>
          <p:cNvPr id="20" name="Shape 18"/>
          <p:cNvSpPr/>
          <p:nvPr/>
        </p:nvSpPr>
        <p:spPr>
          <a:xfrm>
            <a:off x="1371600" y="5650992"/>
            <a:ext cx="54864" cy="54864"/>
          </a:xfrm>
          <a:prstGeom prst="ellipse">
            <a:avLst/>
          </a:prstGeom>
          <a:solidFill>
            <a:srgbClr val="5028C2">
              <a:alpha val="30000"/>
            </a:srgbClr>
          </a:solidFill>
          <a:ln/>
        </p:spPr>
      </p:sp>
      <p:sp>
        <p:nvSpPr>
          <p:cNvPr id="21" name="Shape 19"/>
          <p:cNvSpPr/>
          <p:nvPr/>
        </p:nvSpPr>
        <p:spPr>
          <a:xfrm>
            <a:off x="1371600" y="5815584"/>
            <a:ext cx="54864" cy="54864"/>
          </a:xfrm>
          <a:prstGeom prst="ellipse">
            <a:avLst/>
          </a:prstGeom>
          <a:solidFill>
            <a:srgbClr val="5028C2">
              <a:alpha val="30000"/>
            </a:srgbClr>
          </a:solidFill>
          <a:ln/>
        </p:spPr>
      </p:sp>
      <p:sp>
        <p:nvSpPr>
          <p:cNvPr id="22" name="Text 20"/>
          <p:cNvSpPr/>
          <p:nvPr/>
        </p:nvSpPr>
        <p:spPr>
          <a:xfrm>
            <a:off x="548640" y="1097280"/>
            <a:ext cx="11094415"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PRICING</a:t>
            </a:r>
            <a:endParaRPr lang="en-US" sz="1100" dirty="0"/>
          </a:p>
        </p:txBody>
      </p:sp>
      <p:sp>
        <p:nvSpPr>
          <p:cNvPr id="23" name="Text 21"/>
          <p:cNvSpPr/>
          <p:nvPr/>
        </p:nvSpPr>
        <p:spPr>
          <a:xfrm>
            <a:off x="548640" y="1554480"/>
            <a:ext cx="11094415" cy="3108960"/>
          </a:xfrm>
          <a:prstGeom prst="rect">
            <a:avLst/>
          </a:prstGeom>
          <a:noFill/>
          <a:ln/>
        </p:spPr>
        <p:txBody>
          <a:bodyPr wrap="square" lIns="0" tIns="0" rIns="0" bIns="0" rtlCol="0" anchor="t"/>
          <a:lstStyle/>
          <a:p>
            <a:pPr algn="l" indent="0" marL="0">
              <a:buNone/>
            </a:pPr>
            <a:r>
              <a:rPr lang="en-US" sz="5000" b="1" spc="-100" kern="0" dirty="0">
                <a:solidFill>
                  <a:srgbClr val="0F1733"/>
                </a:solidFill>
                <a:latin typeface="Calibri" pitchFamily="34" charset="0"/>
                <a:ea typeface="Calibri" pitchFamily="34" charset="-122"/>
                <a:cs typeface="Calibri" pitchFamily="34" charset="-120"/>
              </a:rPr>
              <a:t>Honest pricing. Built for founders, not enterprise brands.</a:t>
            </a:r>
            <a:endParaRPr lang="en-US" sz="5000" dirty="0"/>
          </a:p>
        </p:txBody>
      </p:sp>
      <p:sp>
        <p:nvSpPr>
          <p:cNvPr id="24" name="Text 22"/>
          <p:cNvSpPr/>
          <p:nvPr/>
        </p:nvSpPr>
        <p:spPr>
          <a:xfrm>
            <a:off x="548640" y="4754880"/>
            <a:ext cx="9265615" cy="1097280"/>
          </a:xfrm>
          <a:prstGeom prst="rect">
            <a:avLst/>
          </a:prstGeom>
          <a:noFill/>
          <a:ln/>
        </p:spPr>
        <p:txBody>
          <a:bodyPr wrap="square" lIns="0" tIns="0" rIns="0" bIns="0" rtlCol="0" anchor="t"/>
          <a:lstStyle/>
          <a:p>
            <a:pPr algn="l" indent="0" marL="0">
              <a:buNone/>
            </a:pPr>
            <a:r>
              <a:rPr lang="en-US" sz="1800" dirty="0">
                <a:solidFill>
                  <a:srgbClr val="2A3358"/>
                </a:solidFill>
                <a:latin typeface="Calibri" pitchFamily="34" charset="0"/>
                <a:ea typeface="Calibri" pitchFamily="34" charset="-122"/>
                <a:cs typeface="Calibri" pitchFamily="34" charset="-120"/>
              </a:rPr>
              <a:t>Two paid plans. No quotas you can't hit. No "contact sales" tax. Annual saves 20%.</a:t>
            </a:r>
            <a:endParaRPr lang="en-US" sz="1800" dirty="0"/>
          </a:p>
        </p:txBody>
      </p:sp>
      <p:sp>
        <p:nvSpPr>
          <p:cNvPr id="25" name="Shape 23"/>
          <p:cNvSpPr/>
          <p:nvPr/>
        </p:nvSpPr>
        <p:spPr>
          <a:xfrm>
            <a:off x="548640" y="502920"/>
            <a:ext cx="292608" cy="292608"/>
          </a:xfrm>
          <a:prstGeom prst="roundRect">
            <a:avLst>
              <a:gd name="adj" fmla="val 25000"/>
            </a:avLst>
          </a:prstGeom>
          <a:solidFill>
            <a:srgbClr val="5028C2"/>
          </a:solidFill>
          <a:ln/>
        </p:spPr>
      </p:sp>
      <p:sp>
        <p:nvSpPr>
          <p:cNvPr id="26" name="Shape 24"/>
          <p:cNvSpPr/>
          <p:nvPr/>
        </p:nvSpPr>
        <p:spPr>
          <a:xfrm>
            <a:off x="548640" y="502920"/>
            <a:ext cx="292608" cy="292608"/>
          </a:xfrm>
          <a:prstGeom prst="roundRect">
            <a:avLst>
              <a:gd name="adj" fmla="val 25000"/>
            </a:avLst>
          </a:prstGeom>
          <a:solidFill>
            <a:srgbClr val="1A6FBE">
              <a:alpha val="50000"/>
            </a:srgbClr>
          </a:solidFill>
          <a:ln/>
        </p:spPr>
      </p:sp>
      <p:sp>
        <p:nvSpPr>
          <p:cNvPr id="27" name="Text 25"/>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8" name="Text 26"/>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9" name="Text 27"/>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12 · Pricing  ·  vA</a:t>
            </a:r>
            <a:endParaRPr lang="en-US" sz="900" dirty="0"/>
          </a:p>
        </p:txBody>
      </p:sp>
      <p:sp>
        <p:nvSpPr>
          <p:cNvPr id="30" name="Text 28"/>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31" name="Text 29"/>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078 / 126</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071183" y="0"/>
            <a:ext cx="5120512" cy="116300"/>
          </a:xfrm>
          <a:prstGeom prst="rect">
            <a:avLst/>
          </a:prstGeom>
          <a:solidFill>
            <a:srgbClr val="5028C2"/>
          </a:solidFill>
          <a:ln/>
        </p:spPr>
      </p:sp>
      <p:sp>
        <p:nvSpPr>
          <p:cNvPr id="3" name="Shape 1"/>
          <p:cNvSpPr/>
          <p:nvPr/>
        </p:nvSpPr>
        <p:spPr>
          <a:xfrm>
            <a:off x="7071183" y="107156"/>
            <a:ext cx="5120512" cy="116300"/>
          </a:xfrm>
          <a:prstGeom prst="rect">
            <a:avLst/>
          </a:prstGeom>
          <a:solidFill>
            <a:srgbClr val="4F29C2"/>
          </a:solidFill>
          <a:ln/>
        </p:spPr>
      </p:sp>
      <p:sp>
        <p:nvSpPr>
          <p:cNvPr id="4" name="Shape 2"/>
          <p:cNvSpPr/>
          <p:nvPr/>
        </p:nvSpPr>
        <p:spPr>
          <a:xfrm>
            <a:off x="7071183" y="214313"/>
            <a:ext cx="5120512" cy="116300"/>
          </a:xfrm>
          <a:prstGeom prst="rect">
            <a:avLst/>
          </a:prstGeom>
          <a:solidFill>
            <a:srgbClr val="4E2AC3"/>
          </a:solidFill>
          <a:ln/>
        </p:spPr>
      </p:sp>
      <p:sp>
        <p:nvSpPr>
          <p:cNvPr id="5" name="Shape 3"/>
          <p:cNvSpPr/>
          <p:nvPr/>
        </p:nvSpPr>
        <p:spPr>
          <a:xfrm>
            <a:off x="7071183" y="321469"/>
            <a:ext cx="5120512" cy="116300"/>
          </a:xfrm>
          <a:prstGeom prst="rect">
            <a:avLst/>
          </a:prstGeom>
          <a:solidFill>
            <a:srgbClr val="4D2BC3"/>
          </a:solidFill>
          <a:ln/>
        </p:spPr>
      </p:sp>
      <p:sp>
        <p:nvSpPr>
          <p:cNvPr id="6" name="Shape 4"/>
          <p:cNvSpPr/>
          <p:nvPr/>
        </p:nvSpPr>
        <p:spPr>
          <a:xfrm>
            <a:off x="7071183" y="428625"/>
            <a:ext cx="5120512" cy="116300"/>
          </a:xfrm>
          <a:prstGeom prst="rect">
            <a:avLst/>
          </a:prstGeom>
          <a:solidFill>
            <a:srgbClr val="4D2CC4"/>
          </a:solidFill>
          <a:ln/>
        </p:spPr>
      </p:sp>
      <p:sp>
        <p:nvSpPr>
          <p:cNvPr id="7" name="Shape 5"/>
          <p:cNvSpPr/>
          <p:nvPr/>
        </p:nvSpPr>
        <p:spPr>
          <a:xfrm>
            <a:off x="7071183" y="535781"/>
            <a:ext cx="5120512" cy="116300"/>
          </a:xfrm>
          <a:prstGeom prst="rect">
            <a:avLst/>
          </a:prstGeom>
          <a:solidFill>
            <a:srgbClr val="4C2DC4"/>
          </a:solidFill>
          <a:ln/>
        </p:spPr>
      </p:sp>
      <p:sp>
        <p:nvSpPr>
          <p:cNvPr id="8" name="Shape 6"/>
          <p:cNvSpPr/>
          <p:nvPr/>
        </p:nvSpPr>
        <p:spPr>
          <a:xfrm>
            <a:off x="7071183" y="642938"/>
            <a:ext cx="5120512" cy="116300"/>
          </a:xfrm>
          <a:prstGeom prst="rect">
            <a:avLst/>
          </a:prstGeom>
          <a:solidFill>
            <a:srgbClr val="4B2EC5"/>
          </a:solidFill>
          <a:ln/>
        </p:spPr>
      </p:sp>
      <p:sp>
        <p:nvSpPr>
          <p:cNvPr id="9" name="Shape 7"/>
          <p:cNvSpPr/>
          <p:nvPr/>
        </p:nvSpPr>
        <p:spPr>
          <a:xfrm>
            <a:off x="7071183" y="750094"/>
            <a:ext cx="5120512" cy="116300"/>
          </a:xfrm>
          <a:prstGeom prst="rect">
            <a:avLst/>
          </a:prstGeom>
          <a:solidFill>
            <a:srgbClr val="4A2FC5"/>
          </a:solidFill>
          <a:ln/>
        </p:spPr>
      </p:sp>
      <p:sp>
        <p:nvSpPr>
          <p:cNvPr id="10" name="Shape 8"/>
          <p:cNvSpPr/>
          <p:nvPr/>
        </p:nvSpPr>
        <p:spPr>
          <a:xfrm>
            <a:off x="7071183" y="857250"/>
            <a:ext cx="5120512" cy="116300"/>
          </a:xfrm>
          <a:prstGeom prst="rect">
            <a:avLst/>
          </a:prstGeom>
          <a:solidFill>
            <a:srgbClr val="4930C6"/>
          </a:solidFill>
          <a:ln/>
        </p:spPr>
      </p:sp>
      <p:sp>
        <p:nvSpPr>
          <p:cNvPr id="11" name="Shape 9"/>
          <p:cNvSpPr/>
          <p:nvPr/>
        </p:nvSpPr>
        <p:spPr>
          <a:xfrm>
            <a:off x="7071183" y="964406"/>
            <a:ext cx="5120512" cy="116300"/>
          </a:xfrm>
          <a:prstGeom prst="rect">
            <a:avLst/>
          </a:prstGeom>
          <a:solidFill>
            <a:srgbClr val="4831C6"/>
          </a:solidFill>
          <a:ln/>
        </p:spPr>
      </p:sp>
      <p:sp>
        <p:nvSpPr>
          <p:cNvPr id="12" name="Shape 10"/>
          <p:cNvSpPr/>
          <p:nvPr/>
        </p:nvSpPr>
        <p:spPr>
          <a:xfrm>
            <a:off x="7071183" y="1071563"/>
            <a:ext cx="5120512" cy="116300"/>
          </a:xfrm>
          <a:prstGeom prst="rect">
            <a:avLst/>
          </a:prstGeom>
          <a:solidFill>
            <a:srgbClr val="4732C6"/>
          </a:solidFill>
          <a:ln/>
        </p:spPr>
      </p:sp>
      <p:sp>
        <p:nvSpPr>
          <p:cNvPr id="13" name="Shape 11"/>
          <p:cNvSpPr/>
          <p:nvPr/>
        </p:nvSpPr>
        <p:spPr>
          <a:xfrm>
            <a:off x="7071183" y="1178719"/>
            <a:ext cx="5120512" cy="116300"/>
          </a:xfrm>
          <a:prstGeom prst="rect">
            <a:avLst/>
          </a:prstGeom>
          <a:solidFill>
            <a:srgbClr val="4733C7"/>
          </a:solidFill>
          <a:ln/>
        </p:spPr>
      </p:sp>
      <p:sp>
        <p:nvSpPr>
          <p:cNvPr id="14" name="Shape 12"/>
          <p:cNvSpPr/>
          <p:nvPr/>
        </p:nvSpPr>
        <p:spPr>
          <a:xfrm>
            <a:off x="7071183" y="1285875"/>
            <a:ext cx="5120512" cy="116300"/>
          </a:xfrm>
          <a:prstGeom prst="rect">
            <a:avLst/>
          </a:prstGeom>
          <a:solidFill>
            <a:srgbClr val="4634C7"/>
          </a:solidFill>
          <a:ln/>
        </p:spPr>
      </p:sp>
      <p:sp>
        <p:nvSpPr>
          <p:cNvPr id="15" name="Shape 13"/>
          <p:cNvSpPr/>
          <p:nvPr/>
        </p:nvSpPr>
        <p:spPr>
          <a:xfrm>
            <a:off x="7071183" y="1393031"/>
            <a:ext cx="5120512" cy="116300"/>
          </a:xfrm>
          <a:prstGeom prst="rect">
            <a:avLst/>
          </a:prstGeom>
          <a:solidFill>
            <a:srgbClr val="4535C8"/>
          </a:solidFill>
          <a:ln/>
        </p:spPr>
      </p:sp>
      <p:sp>
        <p:nvSpPr>
          <p:cNvPr id="16" name="Shape 14"/>
          <p:cNvSpPr/>
          <p:nvPr/>
        </p:nvSpPr>
        <p:spPr>
          <a:xfrm>
            <a:off x="7071183" y="1500188"/>
            <a:ext cx="5120512" cy="116300"/>
          </a:xfrm>
          <a:prstGeom prst="rect">
            <a:avLst/>
          </a:prstGeom>
          <a:solidFill>
            <a:srgbClr val="4436C8"/>
          </a:solidFill>
          <a:ln/>
        </p:spPr>
      </p:sp>
      <p:sp>
        <p:nvSpPr>
          <p:cNvPr id="17" name="Shape 15"/>
          <p:cNvSpPr/>
          <p:nvPr/>
        </p:nvSpPr>
        <p:spPr>
          <a:xfrm>
            <a:off x="7071183" y="1607344"/>
            <a:ext cx="5120512" cy="116300"/>
          </a:xfrm>
          <a:prstGeom prst="rect">
            <a:avLst/>
          </a:prstGeom>
          <a:solidFill>
            <a:srgbClr val="4337C9"/>
          </a:solidFill>
          <a:ln/>
        </p:spPr>
      </p:sp>
      <p:sp>
        <p:nvSpPr>
          <p:cNvPr id="18" name="Shape 16"/>
          <p:cNvSpPr/>
          <p:nvPr/>
        </p:nvSpPr>
        <p:spPr>
          <a:xfrm>
            <a:off x="7071183" y="1714500"/>
            <a:ext cx="5120512" cy="116300"/>
          </a:xfrm>
          <a:prstGeom prst="rect">
            <a:avLst/>
          </a:prstGeom>
          <a:solidFill>
            <a:srgbClr val="4238C9"/>
          </a:solidFill>
          <a:ln/>
        </p:spPr>
      </p:sp>
      <p:sp>
        <p:nvSpPr>
          <p:cNvPr id="19" name="Shape 17"/>
          <p:cNvSpPr/>
          <p:nvPr/>
        </p:nvSpPr>
        <p:spPr>
          <a:xfrm>
            <a:off x="7071183" y="1821656"/>
            <a:ext cx="5120512" cy="116300"/>
          </a:xfrm>
          <a:prstGeom prst="rect">
            <a:avLst/>
          </a:prstGeom>
          <a:solidFill>
            <a:srgbClr val="4139CA"/>
          </a:solidFill>
          <a:ln/>
        </p:spPr>
      </p:sp>
      <p:sp>
        <p:nvSpPr>
          <p:cNvPr id="20" name="Shape 18"/>
          <p:cNvSpPr/>
          <p:nvPr/>
        </p:nvSpPr>
        <p:spPr>
          <a:xfrm>
            <a:off x="7071183" y="1928813"/>
            <a:ext cx="5120512" cy="116300"/>
          </a:xfrm>
          <a:prstGeom prst="rect">
            <a:avLst/>
          </a:prstGeom>
          <a:solidFill>
            <a:srgbClr val="413ACA"/>
          </a:solidFill>
          <a:ln/>
        </p:spPr>
      </p:sp>
      <p:sp>
        <p:nvSpPr>
          <p:cNvPr id="21" name="Shape 19"/>
          <p:cNvSpPr/>
          <p:nvPr/>
        </p:nvSpPr>
        <p:spPr>
          <a:xfrm>
            <a:off x="7071183" y="2035969"/>
            <a:ext cx="5120512" cy="116300"/>
          </a:xfrm>
          <a:prstGeom prst="rect">
            <a:avLst/>
          </a:prstGeom>
          <a:solidFill>
            <a:srgbClr val="403BCA"/>
          </a:solidFill>
          <a:ln/>
        </p:spPr>
      </p:sp>
      <p:sp>
        <p:nvSpPr>
          <p:cNvPr id="22" name="Shape 20"/>
          <p:cNvSpPr/>
          <p:nvPr/>
        </p:nvSpPr>
        <p:spPr>
          <a:xfrm>
            <a:off x="7071183" y="2143125"/>
            <a:ext cx="5120512" cy="116300"/>
          </a:xfrm>
          <a:prstGeom prst="rect">
            <a:avLst/>
          </a:prstGeom>
          <a:solidFill>
            <a:srgbClr val="3F3CCB"/>
          </a:solidFill>
          <a:ln/>
        </p:spPr>
      </p:sp>
      <p:sp>
        <p:nvSpPr>
          <p:cNvPr id="23" name="Shape 21"/>
          <p:cNvSpPr/>
          <p:nvPr/>
        </p:nvSpPr>
        <p:spPr>
          <a:xfrm>
            <a:off x="7071183" y="2250281"/>
            <a:ext cx="5120512" cy="116300"/>
          </a:xfrm>
          <a:prstGeom prst="rect">
            <a:avLst/>
          </a:prstGeom>
          <a:solidFill>
            <a:srgbClr val="3E3DCB"/>
          </a:solidFill>
          <a:ln/>
        </p:spPr>
      </p:sp>
      <p:sp>
        <p:nvSpPr>
          <p:cNvPr id="24" name="Shape 22"/>
          <p:cNvSpPr/>
          <p:nvPr/>
        </p:nvSpPr>
        <p:spPr>
          <a:xfrm>
            <a:off x="7071183" y="2357438"/>
            <a:ext cx="5120512" cy="116300"/>
          </a:xfrm>
          <a:prstGeom prst="rect">
            <a:avLst/>
          </a:prstGeom>
          <a:solidFill>
            <a:srgbClr val="3D3ECC"/>
          </a:solidFill>
          <a:ln/>
        </p:spPr>
      </p:sp>
      <p:sp>
        <p:nvSpPr>
          <p:cNvPr id="25" name="Shape 23"/>
          <p:cNvSpPr/>
          <p:nvPr/>
        </p:nvSpPr>
        <p:spPr>
          <a:xfrm>
            <a:off x="7071183" y="2464594"/>
            <a:ext cx="5120512" cy="116300"/>
          </a:xfrm>
          <a:prstGeom prst="rect">
            <a:avLst/>
          </a:prstGeom>
          <a:solidFill>
            <a:srgbClr val="3C3FCC"/>
          </a:solidFill>
          <a:ln/>
        </p:spPr>
      </p:sp>
      <p:sp>
        <p:nvSpPr>
          <p:cNvPr id="26" name="Shape 24"/>
          <p:cNvSpPr/>
          <p:nvPr/>
        </p:nvSpPr>
        <p:spPr>
          <a:xfrm>
            <a:off x="7071183" y="2571750"/>
            <a:ext cx="5120512" cy="116300"/>
          </a:xfrm>
          <a:prstGeom prst="rect">
            <a:avLst/>
          </a:prstGeom>
          <a:solidFill>
            <a:srgbClr val="3B40CD"/>
          </a:solidFill>
          <a:ln/>
        </p:spPr>
      </p:sp>
      <p:sp>
        <p:nvSpPr>
          <p:cNvPr id="27" name="Shape 25"/>
          <p:cNvSpPr/>
          <p:nvPr/>
        </p:nvSpPr>
        <p:spPr>
          <a:xfrm>
            <a:off x="7071183" y="2678906"/>
            <a:ext cx="5120512" cy="116300"/>
          </a:xfrm>
          <a:prstGeom prst="rect">
            <a:avLst/>
          </a:prstGeom>
          <a:solidFill>
            <a:srgbClr val="3B41CD"/>
          </a:solidFill>
          <a:ln/>
        </p:spPr>
      </p:sp>
      <p:sp>
        <p:nvSpPr>
          <p:cNvPr id="28" name="Shape 26"/>
          <p:cNvSpPr/>
          <p:nvPr/>
        </p:nvSpPr>
        <p:spPr>
          <a:xfrm>
            <a:off x="7071183" y="2786063"/>
            <a:ext cx="5120512" cy="116300"/>
          </a:xfrm>
          <a:prstGeom prst="rect">
            <a:avLst/>
          </a:prstGeom>
          <a:solidFill>
            <a:srgbClr val="3A42CE"/>
          </a:solidFill>
          <a:ln/>
        </p:spPr>
      </p:sp>
      <p:sp>
        <p:nvSpPr>
          <p:cNvPr id="29" name="Shape 27"/>
          <p:cNvSpPr/>
          <p:nvPr/>
        </p:nvSpPr>
        <p:spPr>
          <a:xfrm>
            <a:off x="7071183" y="2893219"/>
            <a:ext cx="5120512" cy="116300"/>
          </a:xfrm>
          <a:prstGeom prst="rect">
            <a:avLst/>
          </a:prstGeom>
          <a:solidFill>
            <a:srgbClr val="3943CE"/>
          </a:solidFill>
          <a:ln/>
        </p:spPr>
      </p:sp>
      <p:sp>
        <p:nvSpPr>
          <p:cNvPr id="30" name="Shape 28"/>
          <p:cNvSpPr/>
          <p:nvPr/>
        </p:nvSpPr>
        <p:spPr>
          <a:xfrm>
            <a:off x="7071183" y="3000375"/>
            <a:ext cx="5120512" cy="116300"/>
          </a:xfrm>
          <a:prstGeom prst="rect">
            <a:avLst/>
          </a:prstGeom>
          <a:solidFill>
            <a:srgbClr val="3844CE"/>
          </a:solidFill>
          <a:ln/>
        </p:spPr>
      </p:sp>
      <p:sp>
        <p:nvSpPr>
          <p:cNvPr id="31" name="Shape 29"/>
          <p:cNvSpPr/>
          <p:nvPr/>
        </p:nvSpPr>
        <p:spPr>
          <a:xfrm>
            <a:off x="7071183" y="3107531"/>
            <a:ext cx="5120512" cy="116300"/>
          </a:xfrm>
          <a:prstGeom prst="rect">
            <a:avLst/>
          </a:prstGeom>
          <a:solidFill>
            <a:srgbClr val="3745CF"/>
          </a:solidFill>
          <a:ln/>
        </p:spPr>
      </p:sp>
      <p:sp>
        <p:nvSpPr>
          <p:cNvPr id="32" name="Shape 30"/>
          <p:cNvSpPr/>
          <p:nvPr/>
        </p:nvSpPr>
        <p:spPr>
          <a:xfrm>
            <a:off x="7071183" y="3214688"/>
            <a:ext cx="5120512" cy="116300"/>
          </a:xfrm>
          <a:prstGeom prst="rect">
            <a:avLst/>
          </a:prstGeom>
          <a:solidFill>
            <a:srgbClr val="3646CF"/>
          </a:solidFill>
          <a:ln/>
        </p:spPr>
      </p:sp>
      <p:sp>
        <p:nvSpPr>
          <p:cNvPr id="33" name="Shape 31"/>
          <p:cNvSpPr/>
          <p:nvPr/>
        </p:nvSpPr>
        <p:spPr>
          <a:xfrm>
            <a:off x="7071183" y="3321844"/>
            <a:ext cx="5120512" cy="116300"/>
          </a:xfrm>
          <a:prstGeom prst="rect">
            <a:avLst/>
          </a:prstGeom>
          <a:solidFill>
            <a:srgbClr val="3547D0"/>
          </a:solidFill>
          <a:ln/>
        </p:spPr>
      </p:sp>
      <p:sp>
        <p:nvSpPr>
          <p:cNvPr id="34" name="Shape 32"/>
          <p:cNvSpPr/>
          <p:nvPr/>
        </p:nvSpPr>
        <p:spPr>
          <a:xfrm>
            <a:off x="7071183" y="3429000"/>
            <a:ext cx="5120512" cy="116300"/>
          </a:xfrm>
          <a:prstGeom prst="rect">
            <a:avLst/>
          </a:prstGeom>
          <a:solidFill>
            <a:srgbClr val="3549D0"/>
          </a:solidFill>
          <a:ln/>
        </p:spPr>
      </p:sp>
      <p:sp>
        <p:nvSpPr>
          <p:cNvPr id="35" name="Shape 33"/>
          <p:cNvSpPr/>
          <p:nvPr/>
        </p:nvSpPr>
        <p:spPr>
          <a:xfrm>
            <a:off x="7071183" y="3536156"/>
            <a:ext cx="5120512" cy="116300"/>
          </a:xfrm>
          <a:prstGeom prst="rect">
            <a:avLst/>
          </a:prstGeom>
          <a:solidFill>
            <a:srgbClr val="344ACF"/>
          </a:solidFill>
          <a:ln/>
        </p:spPr>
      </p:sp>
      <p:sp>
        <p:nvSpPr>
          <p:cNvPr id="36" name="Shape 34"/>
          <p:cNvSpPr/>
          <p:nvPr/>
        </p:nvSpPr>
        <p:spPr>
          <a:xfrm>
            <a:off x="7071183" y="3643313"/>
            <a:ext cx="5120512" cy="116300"/>
          </a:xfrm>
          <a:prstGeom prst="rect">
            <a:avLst/>
          </a:prstGeom>
          <a:solidFill>
            <a:srgbClr val="334BCF"/>
          </a:solidFill>
          <a:ln/>
        </p:spPr>
      </p:sp>
      <p:sp>
        <p:nvSpPr>
          <p:cNvPr id="37" name="Shape 35"/>
          <p:cNvSpPr/>
          <p:nvPr/>
        </p:nvSpPr>
        <p:spPr>
          <a:xfrm>
            <a:off x="7071183" y="3750469"/>
            <a:ext cx="5120512" cy="116300"/>
          </a:xfrm>
          <a:prstGeom prst="rect">
            <a:avLst/>
          </a:prstGeom>
          <a:solidFill>
            <a:srgbClr val="324CCE"/>
          </a:solidFill>
          <a:ln/>
        </p:spPr>
      </p:sp>
      <p:sp>
        <p:nvSpPr>
          <p:cNvPr id="38" name="Shape 36"/>
          <p:cNvSpPr/>
          <p:nvPr/>
        </p:nvSpPr>
        <p:spPr>
          <a:xfrm>
            <a:off x="7071183" y="3857625"/>
            <a:ext cx="5120512" cy="116300"/>
          </a:xfrm>
          <a:prstGeom prst="rect">
            <a:avLst/>
          </a:prstGeom>
          <a:solidFill>
            <a:srgbClr val="314ECD"/>
          </a:solidFill>
          <a:ln/>
        </p:spPr>
      </p:sp>
      <p:sp>
        <p:nvSpPr>
          <p:cNvPr id="39" name="Shape 37"/>
          <p:cNvSpPr/>
          <p:nvPr/>
        </p:nvSpPr>
        <p:spPr>
          <a:xfrm>
            <a:off x="7071183" y="3964781"/>
            <a:ext cx="5120512" cy="116300"/>
          </a:xfrm>
          <a:prstGeom prst="rect">
            <a:avLst/>
          </a:prstGeom>
          <a:solidFill>
            <a:srgbClr val="304FCD"/>
          </a:solidFill>
          <a:ln/>
        </p:spPr>
      </p:sp>
      <p:sp>
        <p:nvSpPr>
          <p:cNvPr id="40" name="Shape 38"/>
          <p:cNvSpPr/>
          <p:nvPr/>
        </p:nvSpPr>
        <p:spPr>
          <a:xfrm>
            <a:off x="7071183" y="4071938"/>
            <a:ext cx="5120512" cy="116300"/>
          </a:xfrm>
          <a:prstGeom prst="rect">
            <a:avLst/>
          </a:prstGeom>
          <a:solidFill>
            <a:srgbClr val="2F50CC"/>
          </a:solidFill>
          <a:ln/>
        </p:spPr>
      </p:sp>
      <p:sp>
        <p:nvSpPr>
          <p:cNvPr id="41" name="Shape 39"/>
          <p:cNvSpPr/>
          <p:nvPr/>
        </p:nvSpPr>
        <p:spPr>
          <a:xfrm>
            <a:off x="7071183" y="4179094"/>
            <a:ext cx="5120512" cy="116300"/>
          </a:xfrm>
          <a:prstGeom prst="rect">
            <a:avLst/>
          </a:prstGeom>
          <a:solidFill>
            <a:srgbClr val="2F51CC"/>
          </a:solidFill>
          <a:ln/>
        </p:spPr>
      </p:sp>
      <p:sp>
        <p:nvSpPr>
          <p:cNvPr id="42" name="Shape 40"/>
          <p:cNvSpPr/>
          <p:nvPr/>
        </p:nvSpPr>
        <p:spPr>
          <a:xfrm>
            <a:off x="7071183" y="4286250"/>
            <a:ext cx="5120512" cy="116300"/>
          </a:xfrm>
          <a:prstGeom prst="rect">
            <a:avLst/>
          </a:prstGeom>
          <a:solidFill>
            <a:srgbClr val="2E53CB"/>
          </a:solidFill>
          <a:ln/>
        </p:spPr>
      </p:sp>
      <p:sp>
        <p:nvSpPr>
          <p:cNvPr id="43" name="Shape 41"/>
          <p:cNvSpPr/>
          <p:nvPr/>
        </p:nvSpPr>
        <p:spPr>
          <a:xfrm>
            <a:off x="7071183" y="4393406"/>
            <a:ext cx="5120512" cy="116300"/>
          </a:xfrm>
          <a:prstGeom prst="rect">
            <a:avLst/>
          </a:prstGeom>
          <a:solidFill>
            <a:srgbClr val="2D54CB"/>
          </a:solidFill>
          <a:ln/>
        </p:spPr>
      </p:sp>
      <p:sp>
        <p:nvSpPr>
          <p:cNvPr id="44" name="Shape 42"/>
          <p:cNvSpPr/>
          <p:nvPr/>
        </p:nvSpPr>
        <p:spPr>
          <a:xfrm>
            <a:off x="7071183" y="4500563"/>
            <a:ext cx="5120512" cy="116300"/>
          </a:xfrm>
          <a:prstGeom prst="rect">
            <a:avLst/>
          </a:prstGeom>
          <a:solidFill>
            <a:srgbClr val="2C55CA"/>
          </a:solidFill>
          <a:ln/>
        </p:spPr>
      </p:sp>
      <p:sp>
        <p:nvSpPr>
          <p:cNvPr id="45" name="Shape 43"/>
          <p:cNvSpPr/>
          <p:nvPr/>
        </p:nvSpPr>
        <p:spPr>
          <a:xfrm>
            <a:off x="7071183" y="4607719"/>
            <a:ext cx="5120512" cy="116300"/>
          </a:xfrm>
          <a:prstGeom prst="rect">
            <a:avLst/>
          </a:prstGeom>
          <a:solidFill>
            <a:srgbClr val="2B56C9"/>
          </a:solidFill>
          <a:ln/>
        </p:spPr>
      </p:sp>
      <p:sp>
        <p:nvSpPr>
          <p:cNvPr id="46" name="Shape 44"/>
          <p:cNvSpPr/>
          <p:nvPr/>
        </p:nvSpPr>
        <p:spPr>
          <a:xfrm>
            <a:off x="7071183" y="4714875"/>
            <a:ext cx="5120512" cy="116300"/>
          </a:xfrm>
          <a:prstGeom prst="rect">
            <a:avLst/>
          </a:prstGeom>
          <a:solidFill>
            <a:srgbClr val="2A57C9"/>
          </a:solidFill>
          <a:ln/>
        </p:spPr>
      </p:sp>
      <p:sp>
        <p:nvSpPr>
          <p:cNvPr id="47" name="Shape 45"/>
          <p:cNvSpPr/>
          <p:nvPr/>
        </p:nvSpPr>
        <p:spPr>
          <a:xfrm>
            <a:off x="7071183" y="4822031"/>
            <a:ext cx="5120512" cy="116300"/>
          </a:xfrm>
          <a:prstGeom prst="rect">
            <a:avLst/>
          </a:prstGeom>
          <a:solidFill>
            <a:srgbClr val="2959C8"/>
          </a:solidFill>
          <a:ln/>
        </p:spPr>
      </p:sp>
      <p:sp>
        <p:nvSpPr>
          <p:cNvPr id="48" name="Shape 46"/>
          <p:cNvSpPr/>
          <p:nvPr/>
        </p:nvSpPr>
        <p:spPr>
          <a:xfrm>
            <a:off x="7071183" y="4929188"/>
            <a:ext cx="5120512" cy="116300"/>
          </a:xfrm>
          <a:prstGeom prst="rect">
            <a:avLst/>
          </a:prstGeom>
          <a:solidFill>
            <a:srgbClr val="295AC8"/>
          </a:solidFill>
          <a:ln/>
        </p:spPr>
      </p:sp>
      <p:sp>
        <p:nvSpPr>
          <p:cNvPr id="49" name="Shape 47"/>
          <p:cNvSpPr/>
          <p:nvPr/>
        </p:nvSpPr>
        <p:spPr>
          <a:xfrm>
            <a:off x="7071183" y="5036344"/>
            <a:ext cx="5120512" cy="116300"/>
          </a:xfrm>
          <a:prstGeom prst="rect">
            <a:avLst/>
          </a:prstGeom>
          <a:solidFill>
            <a:srgbClr val="285BC7"/>
          </a:solidFill>
          <a:ln/>
        </p:spPr>
      </p:sp>
      <p:sp>
        <p:nvSpPr>
          <p:cNvPr id="50" name="Shape 48"/>
          <p:cNvSpPr/>
          <p:nvPr/>
        </p:nvSpPr>
        <p:spPr>
          <a:xfrm>
            <a:off x="7071183" y="5143500"/>
            <a:ext cx="5120512" cy="116300"/>
          </a:xfrm>
          <a:prstGeom prst="rect">
            <a:avLst/>
          </a:prstGeom>
          <a:solidFill>
            <a:srgbClr val="275CC7"/>
          </a:solidFill>
          <a:ln/>
        </p:spPr>
      </p:sp>
      <p:sp>
        <p:nvSpPr>
          <p:cNvPr id="51" name="Shape 49"/>
          <p:cNvSpPr/>
          <p:nvPr/>
        </p:nvSpPr>
        <p:spPr>
          <a:xfrm>
            <a:off x="7071183" y="5250656"/>
            <a:ext cx="5120512" cy="116300"/>
          </a:xfrm>
          <a:prstGeom prst="rect">
            <a:avLst/>
          </a:prstGeom>
          <a:solidFill>
            <a:srgbClr val="265EC6"/>
          </a:solidFill>
          <a:ln/>
        </p:spPr>
      </p:sp>
      <p:sp>
        <p:nvSpPr>
          <p:cNvPr id="52" name="Shape 50"/>
          <p:cNvSpPr/>
          <p:nvPr/>
        </p:nvSpPr>
        <p:spPr>
          <a:xfrm>
            <a:off x="7071183" y="5357813"/>
            <a:ext cx="5120512" cy="116300"/>
          </a:xfrm>
          <a:prstGeom prst="rect">
            <a:avLst/>
          </a:prstGeom>
          <a:solidFill>
            <a:srgbClr val="255FC5"/>
          </a:solidFill>
          <a:ln/>
        </p:spPr>
      </p:sp>
      <p:sp>
        <p:nvSpPr>
          <p:cNvPr id="53" name="Shape 51"/>
          <p:cNvSpPr/>
          <p:nvPr/>
        </p:nvSpPr>
        <p:spPr>
          <a:xfrm>
            <a:off x="7071183" y="5464969"/>
            <a:ext cx="5120512" cy="116300"/>
          </a:xfrm>
          <a:prstGeom prst="rect">
            <a:avLst/>
          </a:prstGeom>
          <a:solidFill>
            <a:srgbClr val="2460C5"/>
          </a:solidFill>
          <a:ln/>
        </p:spPr>
      </p:sp>
      <p:sp>
        <p:nvSpPr>
          <p:cNvPr id="54" name="Shape 52"/>
          <p:cNvSpPr/>
          <p:nvPr/>
        </p:nvSpPr>
        <p:spPr>
          <a:xfrm>
            <a:off x="7071183" y="5572125"/>
            <a:ext cx="5120512" cy="116300"/>
          </a:xfrm>
          <a:prstGeom prst="rect">
            <a:avLst/>
          </a:prstGeom>
          <a:solidFill>
            <a:srgbClr val="2361C4"/>
          </a:solidFill>
          <a:ln/>
        </p:spPr>
      </p:sp>
      <p:sp>
        <p:nvSpPr>
          <p:cNvPr id="55" name="Shape 53"/>
          <p:cNvSpPr/>
          <p:nvPr/>
        </p:nvSpPr>
        <p:spPr>
          <a:xfrm>
            <a:off x="7071183" y="5679281"/>
            <a:ext cx="5120512" cy="116300"/>
          </a:xfrm>
          <a:prstGeom prst="rect">
            <a:avLst/>
          </a:prstGeom>
          <a:solidFill>
            <a:srgbClr val="2363C4"/>
          </a:solidFill>
          <a:ln/>
        </p:spPr>
      </p:sp>
      <p:sp>
        <p:nvSpPr>
          <p:cNvPr id="56" name="Shape 54"/>
          <p:cNvSpPr/>
          <p:nvPr/>
        </p:nvSpPr>
        <p:spPr>
          <a:xfrm>
            <a:off x="7071183" y="5786438"/>
            <a:ext cx="5120512" cy="116300"/>
          </a:xfrm>
          <a:prstGeom prst="rect">
            <a:avLst/>
          </a:prstGeom>
          <a:solidFill>
            <a:srgbClr val="2264C3"/>
          </a:solidFill>
          <a:ln/>
        </p:spPr>
      </p:sp>
      <p:sp>
        <p:nvSpPr>
          <p:cNvPr id="57" name="Shape 55"/>
          <p:cNvSpPr/>
          <p:nvPr/>
        </p:nvSpPr>
        <p:spPr>
          <a:xfrm>
            <a:off x="7071183" y="5893594"/>
            <a:ext cx="5120512" cy="116300"/>
          </a:xfrm>
          <a:prstGeom prst="rect">
            <a:avLst/>
          </a:prstGeom>
          <a:solidFill>
            <a:srgbClr val="2165C3"/>
          </a:solidFill>
          <a:ln/>
        </p:spPr>
      </p:sp>
      <p:sp>
        <p:nvSpPr>
          <p:cNvPr id="58" name="Shape 56"/>
          <p:cNvSpPr/>
          <p:nvPr/>
        </p:nvSpPr>
        <p:spPr>
          <a:xfrm>
            <a:off x="7071183" y="6000750"/>
            <a:ext cx="5120512" cy="116300"/>
          </a:xfrm>
          <a:prstGeom prst="rect">
            <a:avLst/>
          </a:prstGeom>
          <a:solidFill>
            <a:srgbClr val="2066C2"/>
          </a:solidFill>
          <a:ln/>
        </p:spPr>
      </p:sp>
      <p:sp>
        <p:nvSpPr>
          <p:cNvPr id="59" name="Shape 57"/>
          <p:cNvSpPr/>
          <p:nvPr/>
        </p:nvSpPr>
        <p:spPr>
          <a:xfrm>
            <a:off x="7071183" y="6107906"/>
            <a:ext cx="5120512" cy="116300"/>
          </a:xfrm>
          <a:prstGeom prst="rect">
            <a:avLst/>
          </a:prstGeom>
          <a:solidFill>
            <a:srgbClr val="1F68C1"/>
          </a:solidFill>
          <a:ln/>
        </p:spPr>
      </p:sp>
      <p:sp>
        <p:nvSpPr>
          <p:cNvPr id="60" name="Shape 58"/>
          <p:cNvSpPr/>
          <p:nvPr/>
        </p:nvSpPr>
        <p:spPr>
          <a:xfrm>
            <a:off x="7071183" y="6215063"/>
            <a:ext cx="5120512" cy="116300"/>
          </a:xfrm>
          <a:prstGeom prst="rect">
            <a:avLst/>
          </a:prstGeom>
          <a:solidFill>
            <a:srgbClr val="1E69C1"/>
          </a:solidFill>
          <a:ln/>
        </p:spPr>
      </p:sp>
      <p:sp>
        <p:nvSpPr>
          <p:cNvPr id="61" name="Shape 59"/>
          <p:cNvSpPr/>
          <p:nvPr/>
        </p:nvSpPr>
        <p:spPr>
          <a:xfrm>
            <a:off x="7071183" y="6322219"/>
            <a:ext cx="5120512" cy="116300"/>
          </a:xfrm>
          <a:prstGeom prst="rect">
            <a:avLst/>
          </a:prstGeom>
          <a:solidFill>
            <a:srgbClr val="1D6AC0"/>
          </a:solidFill>
          <a:ln/>
        </p:spPr>
      </p:sp>
      <p:sp>
        <p:nvSpPr>
          <p:cNvPr id="62" name="Shape 60"/>
          <p:cNvSpPr/>
          <p:nvPr/>
        </p:nvSpPr>
        <p:spPr>
          <a:xfrm>
            <a:off x="7071183" y="6429375"/>
            <a:ext cx="5120512" cy="116300"/>
          </a:xfrm>
          <a:prstGeom prst="rect">
            <a:avLst/>
          </a:prstGeom>
          <a:solidFill>
            <a:srgbClr val="1D6BC0"/>
          </a:solidFill>
          <a:ln/>
        </p:spPr>
      </p:sp>
      <p:sp>
        <p:nvSpPr>
          <p:cNvPr id="63" name="Shape 61"/>
          <p:cNvSpPr/>
          <p:nvPr/>
        </p:nvSpPr>
        <p:spPr>
          <a:xfrm>
            <a:off x="7071183" y="6536531"/>
            <a:ext cx="5120512" cy="116300"/>
          </a:xfrm>
          <a:prstGeom prst="rect">
            <a:avLst/>
          </a:prstGeom>
          <a:solidFill>
            <a:srgbClr val="1C6DBF"/>
          </a:solidFill>
          <a:ln/>
        </p:spPr>
      </p:sp>
      <p:sp>
        <p:nvSpPr>
          <p:cNvPr id="64" name="Shape 62"/>
          <p:cNvSpPr/>
          <p:nvPr/>
        </p:nvSpPr>
        <p:spPr>
          <a:xfrm>
            <a:off x="7071183" y="6643688"/>
            <a:ext cx="5120512" cy="116300"/>
          </a:xfrm>
          <a:prstGeom prst="rect">
            <a:avLst/>
          </a:prstGeom>
          <a:solidFill>
            <a:srgbClr val="1B6EBF"/>
          </a:solidFill>
          <a:ln/>
        </p:spPr>
      </p:sp>
      <p:sp>
        <p:nvSpPr>
          <p:cNvPr id="65" name="Shape 63"/>
          <p:cNvSpPr/>
          <p:nvPr/>
        </p:nvSpPr>
        <p:spPr>
          <a:xfrm>
            <a:off x="7071183" y="6750844"/>
            <a:ext cx="5120512" cy="116300"/>
          </a:xfrm>
          <a:prstGeom prst="rect">
            <a:avLst/>
          </a:prstGeom>
          <a:solidFill>
            <a:srgbClr val="1A6FBE"/>
          </a:solidFill>
          <a:ln/>
        </p:spPr>
      </p:sp>
      <p:sp>
        <p:nvSpPr>
          <p:cNvPr id="66" name="Text 64"/>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HOW WE PRICE</a:t>
            </a:r>
            <a:endParaRPr lang="en-US" sz="1100" dirty="0"/>
          </a:p>
        </p:txBody>
      </p:sp>
      <p:sp>
        <p:nvSpPr>
          <p:cNvPr id="67" name="Text 65"/>
          <p:cNvSpPr/>
          <p:nvPr/>
        </p:nvSpPr>
        <p:spPr>
          <a:xfrm>
            <a:off x="548640" y="1417320"/>
            <a:ext cx="6156783" cy="2194560"/>
          </a:xfrm>
          <a:prstGeom prst="rect">
            <a:avLst/>
          </a:prstGeom>
          <a:noFill/>
          <a:ln/>
        </p:spPr>
        <p:txBody>
          <a:bodyPr wrap="square" lIns="0" tIns="0" rIns="0" bIns="0" rtlCol="0" anchor="t"/>
          <a:lstStyle/>
          <a:p>
            <a:pPr algn="l" indent="0" marL="0">
              <a:buNone/>
            </a:pPr>
            <a:r>
              <a:rPr lang="en-US" sz="4200" b="1" spc="-50" kern="0" dirty="0">
                <a:solidFill>
                  <a:srgbClr val="0F1733"/>
                </a:solidFill>
                <a:latin typeface="Calibri" pitchFamily="34" charset="0"/>
                <a:ea typeface="Calibri" pitchFamily="34" charset="-122"/>
                <a:cs typeface="Calibri" pitchFamily="34" charset="-120"/>
              </a:rPr>
              <a:t>Two plans. Clear value. No hidden gates.</a:t>
            </a:r>
            <a:endParaRPr lang="en-US" sz="4200" dirty="0"/>
          </a:p>
        </p:txBody>
      </p:sp>
      <p:sp>
        <p:nvSpPr>
          <p:cNvPr id="68" name="Text 66"/>
          <p:cNvSpPr/>
          <p:nvPr/>
        </p:nvSpPr>
        <p:spPr>
          <a:xfrm>
            <a:off x="548640" y="3657600"/>
            <a:ext cx="6156783" cy="1097280"/>
          </a:xfrm>
          <a:prstGeom prst="rect">
            <a:avLst/>
          </a:prstGeom>
          <a:noFill/>
          <a:ln/>
        </p:spPr>
        <p:txBody>
          <a:bodyPr wrap="square" lIns="0" tIns="0" rIns="0" bIns="0" rtlCol="0" anchor="t"/>
          <a:lstStyle/>
          <a:p>
            <a:pPr algn="l" indent="0" marL="0">
              <a:spcAft>
                <a:spcPts val="600"/>
              </a:spcAft>
              <a:buNone/>
            </a:pPr>
            <a:r>
              <a:rPr lang="en-US" sz="1400" dirty="0">
                <a:solidFill>
                  <a:srgbClr val="2A3358"/>
                </a:solidFill>
                <a:latin typeface="Calibri" pitchFamily="34" charset="0"/>
                <a:ea typeface="Calibri" pitchFamily="34" charset="-122"/>
                <a:cs typeface="Calibri" pitchFamily="34" charset="-120"/>
              </a:rPr>
              <a:t>Pro is for the founder running creator outreach themselves. Scale is for the team running multiple campaigns in parallel. Both are full product — we don't hide features behind enterprise sales. Annual saves 20% and we offer the first 10 customers $20/mo locked forever.</a:t>
            </a:r>
            <a:endParaRPr lang="en-US" sz="1400" dirty="0"/>
          </a:p>
        </p:txBody>
      </p:sp>
      <p:sp>
        <p:nvSpPr>
          <p:cNvPr id="69" name="Text 67"/>
          <p:cNvSpPr/>
          <p:nvPr/>
        </p:nvSpPr>
        <p:spPr>
          <a:xfrm>
            <a:off x="548640" y="4846320"/>
            <a:ext cx="6156783" cy="1463040"/>
          </a:xfrm>
          <a:prstGeom prst="rect">
            <a:avLst/>
          </a:prstGeom>
          <a:noFill/>
          <a:ln/>
        </p:spPr>
        <p:txBody>
          <a:bodyPr wrap="square" lIns="0" tIns="0" rIns="0" bIns="0" rtlCol="0" anchor="t"/>
          <a:lstStyle/>
          <a:p>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Pro — $39/mo — full product, 1 seat</a:t>
            </a:r>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Scale — $99/mo — 5 seats, advanced analytics</a:t>
            </a:r>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Early-customer discount: first 10 customers, $20/mo locked</a:t>
            </a:r>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Annual saves 20%</a:t>
            </a:r>
            <a:endParaRPr lang="en-US" sz="13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12 · Pricing  ·  vB</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079 / 126</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THREE PLANS · ONE PRODUCT</a:t>
            </a:r>
            <a:endParaRPr lang="en-US" sz="1100" dirty="0"/>
          </a:p>
        </p:txBody>
      </p:sp>
      <p:sp>
        <p:nvSpPr>
          <p:cNvPr id="3" name="Text 1"/>
          <p:cNvSpPr/>
          <p:nvPr/>
        </p:nvSpPr>
        <p:spPr>
          <a:xfrm>
            <a:off x="548640" y="1417320"/>
            <a:ext cx="11094415" cy="1188720"/>
          </a:xfrm>
          <a:prstGeom prst="rect">
            <a:avLst/>
          </a:prstGeom>
          <a:noFill/>
          <a:ln/>
        </p:spPr>
        <p:txBody>
          <a:bodyPr wrap="square" lIns="0" tIns="0" rIns="0" bIns="0" rtlCol="0" anchor="t"/>
          <a:lstStyle/>
          <a:p>
            <a:pPr algn="l" indent="0" marL="0">
              <a:buNone/>
            </a:pPr>
            <a:r>
              <a:rPr lang="en-US" sz="3800" b="1" spc="-50" kern="0" dirty="0">
                <a:solidFill>
                  <a:srgbClr val="0F1733"/>
                </a:solidFill>
                <a:latin typeface="Calibri" pitchFamily="34" charset="0"/>
                <a:ea typeface="Calibri" pitchFamily="34" charset="-122"/>
                <a:cs typeface="Calibri" pitchFamily="34" charset="-120"/>
              </a:rPr>
              <a:t>Every plan is the full product. No feature gates.</a:t>
            </a:r>
            <a:endParaRPr lang="en-US" sz="3800" dirty="0"/>
          </a:p>
        </p:txBody>
      </p:sp>
      <p:sp>
        <p:nvSpPr>
          <p:cNvPr id="4" name="Shape 2"/>
          <p:cNvSpPr/>
          <p:nvPr/>
        </p:nvSpPr>
        <p:spPr>
          <a:xfrm>
            <a:off x="548640" y="3108960"/>
            <a:ext cx="3545738" cy="3017520"/>
          </a:xfrm>
          <a:prstGeom prst="roundRect">
            <a:avLst>
              <a:gd name="adj" fmla="val 3636"/>
            </a:avLst>
          </a:prstGeom>
          <a:solidFill>
            <a:srgbClr val="FFFFFF"/>
          </a:solidFill>
          <a:ln w="9525">
            <a:solidFill>
              <a:srgbClr val="E5E7F0"/>
            </a:solidFill>
            <a:prstDash val="solid"/>
          </a:ln>
        </p:spPr>
      </p:sp>
      <p:sp>
        <p:nvSpPr>
          <p:cNvPr id="5" name="Shape 3"/>
          <p:cNvSpPr/>
          <p:nvPr/>
        </p:nvSpPr>
        <p:spPr>
          <a:xfrm>
            <a:off x="548640" y="3108960"/>
            <a:ext cx="3545738" cy="73152"/>
          </a:xfrm>
          <a:prstGeom prst="rect">
            <a:avLst/>
          </a:prstGeom>
          <a:solidFill>
            <a:srgbClr val="5028C2"/>
          </a:solidFill>
          <a:ln/>
        </p:spPr>
      </p:sp>
      <p:sp>
        <p:nvSpPr>
          <p:cNvPr id="6" name="Shape 4"/>
          <p:cNvSpPr/>
          <p:nvPr/>
        </p:nvSpPr>
        <p:spPr>
          <a:xfrm>
            <a:off x="868680" y="3474720"/>
            <a:ext cx="457200" cy="457200"/>
          </a:xfrm>
          <a:prstGeom prst="ellipse">
            <a:avLst/>
          </a:prstGeom>
          <a:solidFill>
            <a:srgbClr val="5028C2"/>
          </a:solidFill>
          <a:ln/>
        </p:spPr>
      </p:sp>
      <p:sp>
        <p:nvSpPr>
          <p:cNvPr id="7" name="Text 5"/>
          <p:cNvSpPr/>
          <p:nvPr/>
        </p:nvSpPr>
        <p:spPr>
          <a:xfrm>
            <a:off x="868680"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8" name="Text 6"/>
          <p:cNvSpPr/>
          <p:nvPr/>
        </p:nvSpPr>
        <p:spPr>
          <a:xfrm>
            <a:off x="868680"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Pro · $39/mo</a:t>
            </a:r>
            <a:endParaRPr lang="en-US" sz="1800" dirty="0"/>
          </a:p>
        </p:txBody>
      </p:sp>
      <p:sp>
        <p:nvSpPr>
          <p:cNvPr id="9" name="Text 7"/>
          <p:cNvSpPr/>
          <p:nvPr/>
        </p:nvSpPr>
        <p:spPr>
          <a:xfrm>
            <a:off x="868680"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1 seat. Unlimited searches. Full CRM. Native send. AI fit score. Designed for the solo founder doing outreach.</a:t>
            </a:r>
            <a:endParaRPr lang="en-US" sz="1300" dirty="0"/>
          </a:p>
        </p:txBody>
      </p:sp>
      <p:sp>
        <p:nvSpPr>
          <p:cNvPr id="10" name="Shape 8"/>
          <p:cNvSpPr/>
          <p:nvPr/>
        </p:nvSpPr>
        <p:spPr>
          <a:xfrm>
            <a:off x="4322978" y="3108960"/>
            <a:ext cx="3545738" cy="3017520"/>
          </a:xfrm>
          <a:prstGeom prst="roundRect">
            <a:avLst>
              <a:gd name="adj" fmla="val 3636"/>
            </a:avLst>
          </a:prstGeom>
          <a:solidFill>
            <a:srgbClr val="FFFFFF"/>
          </a:solidFill>
          <a:ln w="9525">
            <a:solidFill>
              <a:srgbClr val="E5E7F0"/>
            </a:solidFill>
            <a:prstDash val="solid"/>
          </a:ln>
        </p:spPr>
      </p:sp>
      <p:sp>
        <p:nvSpPr>
          <p:cNvPr id="11" name="Shape 9"/>
          <p:cNvSpPr/>
          <p:nvPr/>
        </p:nvSpPr>
        <p:spPr>
          <a:xfrm>
            <a:off x="4322978" y="3108960"/>
            <a:ext cx="3545738" cy="73152"/>
          </a:xfrm>
          <a:prstGeom prst="rect">
            <a:avLst/>
          </a:prstGeom>
          <a:solidFill>
            <a:srgbClr val="3548D0"/>
          </a:solidFill>
          <a:ln/>
        </p:spPr>
      </p:sp>
      <p:sp>
        <p:nvSpPr>
          <p:cNvPr id="12" name="Shape 10"/>
          <p:cNvSpPr/>
          <p:nvPr/>
        </p:nvSpPr>
        <p:spPr>
          <a:xfrm>
            <a:off x="4643018" y="3474720"/>
            <a:ext cx="457200" cy="457200"/>
          </a:xfrm>
          <a:prstGeom prst="ellipse">
            <a:avLst/>
          </a:prstGeom>
          <a:solidFill>
            <a:srgbClr val="3548D0"/>
          </a:solidFill>
          <a:ln/>
        </p:spPr>
      </p:sp>
      <p:sp>
        <p:nvSpPr>
          <p:cNvPr id="13" name="Text 11"/>
          <p:cNvSpPr/>
          <p:nvPr/>
        </p:nvSpPr>
        <p:spPr>
          <a:xfrm>
            <a:off x="4643018"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4" name="Text 12"/>
          <p:cNvSpPr/>
          <p:nvPr/>
        </p:nvSpPr>
        <p:spPr>
          <a:xfrm>
            <a:off x="4643018"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Scale · $99/mo</a:t>
            </a:r>
            <a:endParaRPr lang="en-US" sz="1800" dirty="0"/>
          </a:p>
        </p:txBody>
      </p:sp>
      <p:sp>
        <p:nvSpPr>
          <p:cNvPr id="15" name="Text 13"/>
          <p:cNvSpPr/>
          <p:nvPr/>
        </p:nvSpPr>
        <p:spPr>
          <a:xfrm>
            <a:off x="4643018"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5 seats. Advanced analytics. Shared CRM views. For the small team running creator partnerships in parallel.</a:t>
            </a:r>
            <a:endParaRPr lang="en-US" sz="1300" dirty="0"/>
          </a:p>
        </p:txBody>
      </p:sp>
      <p:sp>
        <p:nvSpPr>
          <p:cNvPr id="16" name="Shape 14"/>
          <p:cNvSpPr/>
          <p:nvPr/>
        </p:nvSpPr>
        <p:spPr>
          <a:xfrm>
            <a:off x="8097317" y="3108960"/>
            <a:ext cx="3545738" cy="3017520"/>
          </a:xfrm>
          <a:prstGeom prst="roundRect">
            <a:avLst>
              <a:gd name="adj" fmla="val 3636"/>
            </a:avLst>
          </a:prstGeom>
          <a:solidFill>
            <a:srgbClr val="FFFFFF"/>
          </a:solidFill>
          <a:ln w="9525">
            <a:solidFill>
              <a:srgbClr val="E5E7F0"/>
            </a:solidFill>
            <a:prstDash val="solid"/>
          </a:ln>
        </p:spPr>
      </p:sp>
      <p:sp>
        <p:nvSpPr>
          <p:cNvPr id="17" name="Shape 15"/>
          <p:cNvSpPr/>
          <p:nvPr/>
        </p:nvSpPr>
        <p:spPr>
          <a:xfrm>
            <a:off x="8097317" y="3108960"/>
            <a:ext cx="3545738" cy="73152"/>
          </a:xfrm>
          <a:prstGeom prst="rect">
            <a:avLst/>
          </a:prstGeom>
          <a:solidFill>
            <a:srgbClr val="1A6FBE"/>
          </a:solidFill>
          <a:ln/>
        </p:spPr>
      </p:sp>
      <p:sp>
        <p:nvSpPr>
          <p:cNvPr id="18" name="Shape 16"/>
          <p:cNvSpPr/>
          <p:nvPr/>
        </p:nvSpPr>
        <p:spPr>
          <a:xfrm>
            <a:off x="8417357" y="3474720"/>
            <a:ext cx="457200" cy="457200"/>
          </a:xfrm>
          <a:prstGeom prst="ellipse">
            <a:avLst/>
          </a:prstGeom>
          <a:solidFill>
            <a:srgbClr val="1A6FBE"/>
          </a:solidFill>
          <a:ln/>
        </p:spPr>
      </p:sp>
      <p:sp>
        <p:nvSpPr>
          <p:cNvPr id="19" name="Text 17"/>
          <p:cNvSpPr/>
          <p:nvPr/>
        </p:nvSpPr>
        <p:spPr>
          <a:xfrm>
            <a:off x="8417357"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0" name="Text 18"/>
          <p:cNvSpPr/>
          <p:nvPr/>
        </p:nvSpPr>
        <p:spPr>
          <a:xfrm>
            <a:off x="8417357"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Annual · –20%</a:t>
            </a:r>
            <a:endParaRPr lang="en-US" sz="1800" dirty="0"/>
          </a:p>
        </p:txBody>
      </p:sp>
      <p:sp>
        <p:nvSpPr>
          <p:cNvPr id="21" name="Text 19"/>
          <p:cNvSpPr/>
          <p:nvPr/>
        </p:nvSpPr>
        <p:spPr>
          <a:xfrm>
            <a:off x="8417357"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Pay annually, save 20%. Pro becomes $31/mo. Scale becomes $79/mo. Same product, lower price, less friction.</a:t>
            </a:r>
            <a:endParaRPr lang="en-US" sz="1300" dirty="0"/>
          </a:p>
        </p:txBody>
      </p:sp>
      <p:sp>
        <p:nvSpPr>
          <p:cNvPr id="22" name="Shape 20"/>
          <p:cNvSpPr/>
          <p:nvPr/>
        </p:nvSpPr>
        <p:spPr>
          <a:xfrm>
            <a:off x="548640" y="502920"/>
            <a:ext cx="292608" cy="292608"/>
          </a:xfrm>
          <a:prstGeom prst="roundRect">
            <a:avLst>
              <a:gd name="adj" fmla="val 25000"/>
            </a:avLst>
          </a:prstGeom>
          <a:solidFill>
            <a:srgbClr val="5028C2"/>
          </a:solidFill>
          <a:ln/>
        </p:spPr>
      </p:sp>
      <p:sp>
        <p:nvSpPr>
          <p:cNvPr id="23" name="Shape 21"/>
          <p:cNvSpPr/>
          <p:nvPr/>
        </p:nvSpPr>
        <p:spPr>
          <a:xfrm>
            <a:off x="548640" y="502920"/>
            <a:ext cx="292608" cy="292608"/>
          </a:xfrm>
          <a:prstGeom prst="roundRect">
            <a:avLst>
              <a:gd name="adj" fmla="val 25000"/>
            </a:avLst>
          </a:prstGeom>
          <a:solidFill>
            <a:srgbClr val="1A6FBE">
              <a:alpha val="50000"/>
            </a:srgbClr>
          </a:solidFill>
          <a:ln/>
        </p:spPr>
      </p:sp>
      <p:sp>
        <p:nvSpPr>
          <p:cNvPr id="24" name="Text 22"/>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5" name="Text 23"/>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6" name="Text 24"/>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12 · Pricing  ·  vC</a:t>
            </a:r>
            <a:endParaRPr lang="en-US" sz="900" dirty="0"/>
          </a:p>
        </p:txBody>
      </p:sp>
      <p:sp>
        <p:nvSpPr>
          <p:cNvPr id="27" name="Text 25"/>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28" name="Text 26"/>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080 / 126</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320040" cy="116300"/>
          </a:xfrm>
          <a:prstGeom prst="rect">
            <a:avLst/>
          </a:prstGeom>
          <a:solidFill>
            <a:srgbClr val="5028C2"/>
          </a:solidFill>
          <a:ln/>
        </p:spPr>
      </p:sp>
      <p:sp>
        <p:nvSpPr>
          <p:cNvPr id="3" name="Shape 1"/>
          <p:cNvSpPr/>
          <p:nvPr/>
        </p:nvSpPr>
        <p:spPr>
          <a:xfrm>
            <a:off x="0" y="107156"/>
            <a:ext cx="320040" cy="116300"/>
          </a:xfrm>
          <a:prstGeom prst="rect">
            <a:avLst/>
          </a:prstGeom>
          <a:solidFill>
            <a:srgbClr val="4F29C2"/>
          </a:solidFill>
          <a:ln/>
        </p:spPr>
      </p:sp>
      <p:sp>
        <p:nvSpPr>
          <p:cNvPr id="4" name="Shape 2"/>
          <p:cNvSpPr/>
          <p:nvPr/>
        </p:nvSpPr>
        <p:spPr>
          <a:xfrm>
            <a:off x="0" y="214313"/>
            <a:ext cx="320040" cy="116300"/>
          </a:xfrm>
          <a:prstGeom prst="rect">
            <a:avLst/>
          </a:prstGeom>
          <a:solidFill>
            <a:srgbClr val="4E2AC3"/>
          </a:solidFill>
          <a:ln/>
        </p:spPr>
      </p:sp>
      <p:sp>
        <p:nvSpPr>
          <p:cNvPr id="5" name="Shape 3"/>
          <p:cNvSpPr/>
          <p:nvPr/>
        </p:nvSpPr>
        <p:spPr>
          <a:xfrm>
            <a:off x="0" y="321469"/>
            <a:ext cx="320040" cy="116300"/>
          </a:xfrm>
          <a:prstGeom prst="rect">
            <a:avLst/>
          </a:prstGeom>
          <a:solidFill>
            <a:srgbClr val="4D2BC3"/>
          </a:solidFill>
          <a:ln/>
        </p:spPr>
      </p:sp>
      <p:sp>
        <p:nvSpPr>
          <p:cNvPr id="6" name="Shape 4"/>
          <p:cNvSpPr/>
          <p:nvPr/>
        </p:nvSpPr>
        <p:spPr>
          <a:xfrm>
            <a:off x="0" y="428625"/>
            <a:ext cx="320040" cy="116300"/>
          </a:xfrm>
          <a:prstGeom prst="rect">
            <a:avLst/>
          </a:prstGeom>
          <a:solidFill>
            <a:srgbClr val="4D2CC4"/>
          </a:solidFill>
          <a:ln/>
        </p:spPr>
      </p:sp>
      <p:sp>
        <p:nvSpPr>
          <p:cNvPr id="7" name="Shape 5"/>
          <p:cNvSpPr/>
          <p:nvPr/>
        </p:nvSpPr>
        <p:spPr>
          <a:xfrm>
            <a:off x="0" y="535781"/>
            <a:ext cx="320040" cy="116300"/>
          </a:xfrm>
          <a:prstGeom prst="rect">
            <a:avLst/>
          </a:prstGeom>
          <a:solidFill>
            <a:srgbClr val="4C2DC4"/>
          </a:solidFill>
          <a:ln/>
        </p:spPr>
      </p:sp>
      <p:sp>
        <p:nvSpPr>
          <p:cNvPr id="8" name="Shape 6"/>
          <p:cNvSpPr/>
          <p:nvPr/>
        </p:nvSpPr>
        <p:spPr>
          <a:xfrm>
            <a:off x="0" y="642938"/>
            <a:ext cx="320040" cy="116300"/>
          </a:xfrm>
          <a:prstGeom prst="rect">
            <a:avLst/>
          </a:prstGeom>
          <a:solidFill>
            <a:srgbClr val="4B2EC5"/>
          </a:solidFill>
          <a:ln/>
        </p:spPr>
      </p:sp>
      <p:sp>
        <p:nvSpPr>
          <p:cNvPr id="9" name="Shape 7"/>
          <p:cNvSpPr/>
          <p:nvPr/>
        </p:nvSpPr>
        <p:spPr>
          <a:xfrm>
            <a:off x="0" y="750094"/>
            <a:ext cx="320040" cy="116300"/>
          </a:xfrm>
          <a:prstGeom prst="rect">
            <a:avLst/>
          </a:prstGeom>
          <a:solidFill>
            <a:srgbClr val="4A2FC5"/>
          </a:solidFill>
          <a:ln/>
        </p:spPr>
      </p:sp>
      <p:sp>
        <p:nvSpPr>
          <p:cNvPr id="10" name="Shape 8"/>
          <p:cNvSpPr/>
          <p:nvPr/>
        </p:nvSpPr>
        <p:spPr>
          <a:xfrm>
            <a:off x="0" y="857250"/>
            <a:ext cx="320040" cy="116300"/>
          </a:xfrm>
          <a:prstGeom prst="rect">
            <a:avLst/>
          </a:prstGeom>
          <a:solidFill>
            <a:srgbClr val="4930C6"/>
          </a:solidFill>
          <a:ln/>
        </p:spPr>
      </p:sp>
      <p:sp>
        <p:nvSpPr>
          <p:cNvPr id="11" name="Shape 9"/>
          <p:cNvSpPr/>
          <p:nvPr/>
        </p:nvSpPr>
        <p:spPr>
          <a:xfrm>
            <a:off x="0" y="964406"/>
            <a:ext cx="320040" cy="116300"/>
          </a:xfrm>
          <a:prstGeom prst="rect">
            <a:avLst/>
          </a:prstGeom>
          <a:solidFill>
            <a:srgbClr val="4831C6"/>
          </a:solidFill>
          <a:ln/>
        </p:spPr>
      </p:sp>
      <p:sp>
        <p:nvSpPr>
          <p:cNvPr id="12" name="Shape 10"/>
          <p:cNvSpPr/>
          <p:nvPr/>
        </p:nvSpPr>
        <p:spPr>
          <a:xfrm>
            <a:off x="0" y="1071563"/>
            <a:ext cx="320040" cy="116300"/>
          </a:xfrm>
          <a:prstGeom prst="rect">
            <a:avLst/>
          </a:prstGeom>
          <a:solidFill>
            <a:srgbClr val="4732C6"/>
          </a:solidFill>
          <a:ln/>
        </p:spPr>
      </p:sp>
      <p:sp>
        <p:nvSpPr>
          <p:cNvPr id="13" name="Shape 11"/>
          <p:cNvSpPr/>
          <p:nvPr/>
        </p:nvSpPr>
        <p:spPr>
          <a:xfrm>
            <a:off x="0" y="1178719"/>
            <a:ext cx="320040" cy="116300"/>
          </a:xfrm>
          <a:prstGeom prst="rect">
            <a:avLst/>
          </a:prstGeom>
          <a:solidFill>
            <a:srgbClr val="4733C7"/>
          </a:solidFill>
          <a:ln/>
        </p:spPr>
      </p:sp>
      <p:sp>
        <p:nvSpPr>
          <p:cNvPr id="14" name="Shape 12"/>
          <p:cNvSpPr/>
          <p:nvPr/>
        </p:nvSpPr>
        <p:spPr>
          <a:xfrm>
            <a:off x="0" y="1285875"/>
            <a:ext cx="320040" cy="116300"/>
          </a:xfrm>
          <a:prstGeom prst="rect">
            <a:avLst/>
          </a:prstGeom>
          <a:solidFill>
            <a:srgbClr val="4634C7"/>
          </a:solidFill>
          <a:ln/>
        </p:spPr>
      </p:sp>
      <p:sp>
        <p:nvSpPr>
          <p:cNvPr id="15" name="Shape 13"/>
          <p:cNvSpPr/>
          <p:nvPr/>
        </p:nvSpPr>
        <p:spPr>
          <a:xfrm>
            <a:off x="0" y="1393031"/>
            <a:ext cx="320040" cy="116300"/>
          </a:xfrm>
          <a:prstGeom prst="rect">
            <a:avLst/>
          </a:prstGeom>
          <a:solidFill>
            <a:srgbClr val="4535C8"/>
          </a:solidFill>
          <a:ln/>
        </p:spPr>
      </p:sp>
      <p:sp>
        <p:nvSpPr>
          <p:cNvPr id="16" name="Shape 14"/>
          <p:cNvSpPr/>
          <p:nvPr/>
        </p:nvSpPr>
        <p:spPr>
          <a:xfrm>
            <a:off x="0" y="1500188"/>
            <a:ext cx="320040" cy="116300"/>
          </a:xfrm>
          <a:prstGeom prst="rect">
            <a:avLst/>
          </a:prstGeom>
          <a:solidFill>
            <a:srgbClr val="4436C8"/>
          </a:solidFill>
          <a:ln/>
        </p:spPr>
      </p:sp>
      <p:sp>
        <p:nvSpPr>
          <p:cNvPr id="17" name="Shape 15"/>
          <p:cNvSpPr/>
          <p:nvPr/>
        </p:nvSpPr>
        <p:spPr>
          <a:xfrm>
            <a:off x="0" y="1607344"/>
            <a:ext cx="320040" cy="116300"/>
          </a:xfrm>
          <a:prstGeom prst="rect">
            <a:avLst/>
          </a:prstGeom>
          <a:solidFill>
            <a:srgbClr val="4337C9"/>
          </a:solidFill>
          <a:ln/>
        </p:spPr>
      </p:sp>
      <p:sp>
        <p:nvSpPr>
          <p:cNvPr id="18" name="Shape 16"/>
          <p:cNvSpPr/>
          <p:nvPr/>
        </p:nvSpPr>
        <p:spPr>
          <a:xfrm>
            <a:off x="0" y="1714500"/>
            <a:ext cx="320040" cy="116300"/>
          </a:xfrm>
          <a:prstGeom prst="rect">
            <a:avLst/>
          </a:prstGeom>
          <a:solidFill>
            <a:srgbClr val="4238C9"/>
          </a:solidFill>
          <a:ln/>
        </p:spPr>
      </p:sp>
      <p:sp>
        <p:nvSpPr>
          <p:cNvPr id="19" name="Shape 17"/>
          <p:cNvSpPr/>
          <p:nvPr/>
        </p:nvSpPr>
        <p:spPr>
          <a:xfrm>
            <a:off x="0" y="1821656"/>
            <a:ext cx="320040" cy="116300"/>
          </a:xfrm>
          <a:prstGeom prst="rect">
            <a:avLst/>
          </a:prstGeom>
          <a:solidFill>
            <a:srgbClr val="4139CA"/>
          </a:solidFill>
          <a:ln/>
        </p:spPr>
      </p:sp>
      <p:sp>
        <p:nvSpPr>
          <p:cNvPr id="20" name="Shape 18"/>
          <p:cNvSpPr/>
          <p:nvPr/>
        </p:nvSpPr>
        <p:spPr>
          <a:xfrm>
            <a:off x="0" y="1928813"/>
            <a:ext cx="320040" cy="116300"/>
          </a:xfrm>
          <a:prstGeom prst="rect">
            <a:avLst/>
          </a:prstGeom>
          <a:solidFill>
            <a:srgbClr val="413ACA"/>
          </a:solidFill>
          <a:ln/>
        </p:spPr>
      </p:sp>
      <p:sp>
        <p:nvSpPr>
          <p:cNvPr id="21" name="Shape 19"/>
          <p:cNvSpPr/>
          <p:nvPr/>
        </p:nvSpPr>
        <p:spPr>
          <a:xfrm>
            <a:off x="0" y="2035969"/>
            <a:ext cx="320040" cy="116300"/>
          </a:xfrm>
          <a:prstGeom prst="rect">
            <a:avLst/>
          </a:prstGeom>
          <a:solidFill>
            <a:srgbClr val="403BCA"/>
          </a:solidFill>
          <a:ln/>
        </p:spPr>
      </p:sp>
      <p:sp>
        <p:nvSpPr>
          <p:cNvPr id="22" name="Shape 20"/>
          <p:cNvSpPr/>
          <p:nvPr/>
        </p:nvSpPr>
        <p:spPr>
          <a:xfrm>
            <a:off x="0" y="2143125"/>
            <a:ext cx="320040" cy="116300"/>
          </a:xfrm>
          <a:prstGeom prst="rect">
            <a:avLst/>
          </a:prstGeom>
          <a:solidFill>
            <a:srgbClr val="3F3CCB"/>
          </a:solidFill>
          <a:ln/>
        </p:spPr>
      </p:sp>
      <p:sp>
        <p:nvSpPr>
          <p:cNvPr id="23" name="Shape 21"/>
          <p:cNvSpPr/>
          <p:nvPr/>
        </p:nvSpPr>
        <p:spPr>
          <a:xfrm>
            <a:off x="0" y="2250281"/>
            <a:ext cx="320040" cy="116300"/>
          </a:xfrm>
          <a:prstGeom prst="rect">
            <a:avLst/>
          </a:prstGeom>
          <a:solidFill>
            <a:srgbClr val="3E3DCB"/>
          </a:solidFill>
          <a:ln/>
        </p:spPr>
      </p:sp>
      <p:sp>
        <p:nvSpPr>
          <p:cNvPr id="24" name="Shape 22"/>
          <p:cNvSpPr/>
          <p:nvPr/>
        </p:nvSpPr>
        <p:spPr>
          <a:xfrm>
            <a:off x="0" y="2357438"/>
            <a:ext cx="320040" cy="116300"/>
          </a:xfrm>
          <a:prstGeom prst="rect">
            <a:avLst/>
          </a:prstGeom>
          <a:solidFill>
            <a:srgbClr val="3D3ECC"/>
          </a:solidFill>
          <a:ln/>
        </p:spPr>
      </p:sp>
      <p:sp>
        <p:nvSpPr>
          <p:cNvPr id="25" name="Shape 23"/>
          <p:cNvSpPr/>
          <p:nvPr/>
        </p:nvSpPr>
        <p:spPr>
          <a:xfrm>
            <a:off x="0" y="2464594"/>
            <a:ext cx="320040" cy="116300"/>
          </a:xfrm>
          <a:prstGeom prst="rect">
            <a:avLst/>
          </a:prstGeom>
          <a:solidFill>
            <a:srgbClr val="3C3FCC"/>
          </a:solidFill>
          <a:ln/>
        </p:spPr>
      </p:sp>
      <p:sp>
        <p:nvSpPr>
          <p:cNvPr id="26" name="Shape 24"/>
          <p:cNvSpPr/>
          <p:nvPr/>
        </p:nvSpPr>
        <p:spPr>
          <a:xfrm>
            <a:off x="0" y="2571750"/>
            <a:ext cx="320040" cy="116300"/>
          </a:xfrm>
          <a:prstGeom prst="rect">
            <a:avLst/>
          </a:prstGeom>
          <a:solidFill>
            <a:srgbClr val="3B40CD"/>
          </a:solidFill>
          <a:ln/>
        </p:spPr>
      </p:sp>
      <p:sp>
        <p:nvSpPr>
          <p:cNvPr id="27" name="Shape 25"/>
          <p:cNvSpPr/>
          <p:nvPr/>
        </p:nvSpPr>
        <p:spPr>
          <a:xfrm>
            <a:off x="0" y="2678906"/>
            <a:ext cx="320040" cy="116300"/>
          </a:xfrm>
          <a:prstGeom prst="rect">
            <a:avLst/>
          </a:prstGeom>
          <a:solidFill>
            <a:srgbClr val="3B41CD"/>
          </a:solidFill>
          <a:ln/>
        </p:spPr>
      </p:sp>
      <p:sp>
        <p:nvSpPr>
          <p:cNvPr id="28" name="Shape 26"/>
          <p:cNvSpPr/>
          <p:nvPr/>
        </p:nvSpPr>
        <p:spPr>
          <a:xfrm>
            <a:off x="0" y="2786063"/>
            <a:ext cx="320040" cy="116300"/>
          </a:xfrm>
          <a:prstGeom prst="rect">
            <a:avLst/>
          </a:prstGeom>
          <a:solidFill>
            <a:srgbClr val="3A42CE"/>
          </a:solidFill>
          <a:ln/>
        </p:spPr>
      </p:sp>
      <p:sp>
        <p:nvSpPr>
          <p:cNvPr id="29" name="Shape 27"/>
          <p:cNvSpPr/>
          <p:nvPr/>
        </p:nvSpPr>
        <p:spPr>
          <a:xfrm>
            <a:off x="0" y="2893219"/>
            <a:ext cx="320040" cy="116300"/>
          </a:xfrm>
          <a:prstGeom prst="rect">
            <a:avLst/>
          </a:prstGeom>
          <a:solidFill>
            <a:srgbClr val="3943CE"/>
          </a:solidFill>
          <a:ln/>
        </p:spPr>
      </p:sp>
      <p:sp>
        <p:nvSpPr>
          <p:cNvPr id="30" name="Shape 28"/>
          <p:cNvSpPr/>
          <p:nvPr/>
        </p:nvSpPr>
        <p:spPr>
          <a:xfrm>
            <a:off x="0" y="3000375"/>
            <a:ext cx="320040" cy="116300"/>
          </a:xfrm>
          <a:prstGeom prst="rect">
            <a:avLst/>
          </a:prstGeom>
          <a:solidFill>
            <a:srgbClr val="3844CE"/>
          </a:solidFill>
          <a:ln/>
        </p:spPr>
      </p:sp>
      <p:sp>
        <p:nvSpPr>
          <p:cNvPr id="31" name="Shape 29"/>
          <p:cNvSpPr/>
          <p:nvPr/>
        </p:nvSpPr>
        <p:spPr>
          <a:xfrm>
            <a:off x="0" y="3107531"/>
            <a:ext cx="320040" cy="116300"/>
          </a:xfrm>
          <a:prstGeom prst="rect">
            <a:avLst/>
          </a:prstGeom>
          <a:solidFill>
            <a:srgbClr val="3745CF"/>
          </a:solidFill>
          <a:ln/>
        </p:spPr>
      </p:sp>
      <p:sp>
        <p:nvSpPr>
          <p:cNvPr id="32" name="Shape 30"/>
          <p:cNvSpPr/>
          <p:nvPr/>
        </p:nvSpPr>
        <p:spPr>
          <a:xfrm>
            <a:off x="0" y="3214688"/>
            <a:ext cx="320040" cy="116300"/>
          </a:xfrm>
          <a:prstGeom prst="rect">
            <a:avLst/>
          </a:prstGeom>
          <a:solidFill>
            <a:srgbClr val="3646CF"/>
          </a:solidFill>
          <a:ln/>
        </p:spPr>
      </p:sp>
      <p:sp>
        <p:nvSpPr>
          <p:cNvPr id="33" name="Shape 31"/>
          <p:cNvSpPr/>
          <p:nvPr/>
        </p:nvSpPr>
        <p:spPr>
          <a:xfrm>
            <a:off x="0" y="3321844"/>
            <a:ext cx="320040" cy="116300"/>
          </a:xfrm>
          <a:prstGeom prst="rect">
            <a:avLst/>
          </a:prstGeom>
          <a:solidFill>
            <a:srgbClr val="3547D0"/>
          </a:solidFill>
          <a:ln/>
        </p:spPr>
      </p:sp>
      <p:sp>
        <p:nvSpPr>
          <p:cNvPr id="34" name="Shape 32"/>
          <p:cNvSpPr/>
          <p:nvPr/>
        </p:nvSpPr>
        <p:spPr>
          <a:xfrm>
            <a:off x="0" y="3429000"/>
            <a:ext cx="320040" cy="116300"/>
          </a:xfrm>
          <a:prstGeom prst="rect">
            <a:avLst/>
          </a:prstGeom>
          <a:solidFill>
            <a:srgbClr val="3549D0"/>
          </a:solidFill>
          <a:ln/>
        </p:spPr>
      </p:sp>
      <p:sp>
        <p:nvSpPr>
          <p:cNvPr id="35" name="Shape 33"/>
          <p:cNvSpPr/>
          <p:nvPr/>
        </p:nvSpPr>
        <p:spPr>
          <a:xfrm>
            <a:off x="0" y="3536156"/>
            <a:ext cx="320040" cy="116300"/>
          </a:xfrm>
          <a:prstGeom prst="rect">
            <a:avLst/>
          </a:prstGeom>
          <a:solidFill>
            <a:srgbClr val="344ACF"/>
          </a:solidFill>
          <a:ln/>
        </p:spPr>
      </p:sp>
      <p:sp>
        <p:nvSpPr>
          <p:cNvPr id="36" name="Shape 34"/>
          <p:cNvSpPr/>
          <p:nvPr/>
        </p:nvSpPr>
        <p:spPr>
          <a:xfrm>
            <a:off x="0" y="3643313"/>
            <a:ext cx="320040" cy="116300"/>
          </a:xfrm>
          <a:prstGeom prst="rect">
            <a:avLst/>
          </a:prstGeom>
          <a:solidFill>
            <a:srgbClr val="334BCF"/>
          </a:solidFill>
          <a:ln/>
        </p:spPr>
      </p:sp>
      <p:sp>
        <p:nvSpPr>
          <p:cNvPr id="37" name="Shape 35"/>
          <p:cNvSpPr/>
          <p:nvPr/>
        </p:nvSpPr>
        <p:spPr>
          <a:xfrm>
            <a:off x="0" y="3750469"/>
            <a:ext cx="320040" cy="116300"/>
          </a:xfrm>
          <a:prstGeom prst="rect">
            <a:avLst/>
          </a:prstGeom>
          <a:solidFill>
            <a:srgbClr val="324CCE"/>
          </a:solidFill>
          <a:ln/>
        </p:spPr>
      </p:sp>
      <p:sp>
        <p:nvSpPr>
          <p:cNvPr id="38" name="Shape 36"/>
          <p:cNvSpPr/>
          <p:nvPr/>
        </p:nvSpPr>
        <p:spPr>
          <a:xfrm>
            <a:off x="0" y="3857625"/>
            <a:ext cx="320040" cy="116300"/>
          </a:xfrm>
          <a:prstGeom prst="rect">
            <a:avLst/>
          </a:prstGeom>
          <a:solidFill>
            <a:srgbClr val="314ECD"/>
          </a:solidFill>
          <a:ln/>
        </p:spPr>
      </p:sp>
      <p:sp>
        <p:nvSpPr>
          <p:cNvPr id="39" name="Shape 37"/>
          <p:cNvSpPr/>
          <p:nvPr/>
        </p:nvSpPr>
        <p:spPr>
          <a:xfrm>
            <a:off x="0" y="3964781"/>
            <a:ext cx="320040" cy="116300"/>
          </a:xfrm>
          <a:prstGeom prst="rect">
            <a:avLst/>
          </a:prstGeom>
          <a:solidFill>
            <a:srgbClr val="304FCD"/>
          </a:solidFill>
          <a:ln/>
        </p:spPr>
      </p:sp>
      <p:sp>
        <p:nvSpPr>
          <p:cNvPr id="40" name="Shape 38"/>
          <p:cNvSpPr/>
          <p:nvPr/>
        </p:nvSpPr>
        <p:spPr>
          <a:xfrm>
            <a:off x="0" y="4071938"/>
            <a:ext cx="320040" cy="116300"/>
          </a:xfrm>
          <a:prstGeom prst="rect">
            <a:avLst/>
          </a:prstGeom>
          <a:solidFill>
            <a:srgbClr val="2F50CC"/>
          </a:solidFill>
          <a:ln/>
        </p:spPr>
      </p:sp>
      <p:sp>
        <p:nvSpPr>
          <p:cNvPr id="41" name="Shape 39"/>
          <p:cNvSpPr/>
          <p:nvPr/>
        </p:nvSpPr>
        <p:spPr>
          <a:xfrm>
            <a:off x="0" y="4179094"/>
            <a:ext cx="320040" cy="116300"/>
          </a:xfrm>
          <a:prstGeom prst="rect">
            <a:avLst/>
          </a:prstGeom>
          <a:solidFill>
            <a:srgbClr val="2F51CC"/>
          </a:solidFill>
          <a:ln/>
        </p:spPr>
      </p:sp>
      <p:sp>
        <p:nvSpPr>
          <p:cNvPr id="42" name="Shape 40"/>
          <p:cNvSpPr/>
          <p:nvPr/>
        </p:nvSpPr>
        <p:spPr>
          <a:xfrm>
            <a:off x="0" y="4286250"/>
            <a:ext cx="320040" cy="116300"/>
          </a:xfrm>
          <a:prstGeom prst="rect">
            <a:avLst/>
          </a:prstGeom>
          <a:solidFill>
            <a:srgbClr val="2E53CB"/>
          </a:solidFill>
          <a:ln/>
        </p:spPr>
      </p:sp>
      <p:sp>
        <p:nvSpPr>
          <p:cNvPr id="43" name="Shape 41"/>
          <p:cNvSpPr/>
          <p:nvPr/>
        </p:nvSpPr>
        <p:spPr>
          <a:xfrm>
            <a:off x="0" y="4393406"/>
            <a:ext cx="320040" cy="116300"/>
          </a:xfrm>
          <a:prstGeom prst="rect">
            <a:avLst/>
          </a:prstGeom>
          <a:solidFill>
            <a:srgbClr val="2D54CB"/>
          </a:solidFill>
          <a:ln/>
        </p:spPr>
      </p:sp>
      <p:sp>
        <p:nvSpPr>
          <p:cNvPr id="44" name="Shape 42"/>
          <p:cNvSpPr/>
          <p:nvPr/>
        </p:nvSpPr>
        <p:spPr>
          <a:xfrm>
            <a:off x="0" y="4500563"/>
            <a:ext cx="320040" cy="116300"/>
          </a:xfrm>
          <a:prstGeom prst="rect">
            <a:avLst/>
          </a:prstGeom>
          <a:solidFill>
            <a:srgbClr val="2C55CA"/>
          </a:solidFill>
          <a:ln/>
        </p:spPr>
      </p:sp>
      <p:sp>
        <p:nvSpPr>
          <p:cNvPr id="45" name="Shape 43"/>
          <p:cNvSpPr/>
          <p:nvPr/>
        </p:nvSpPr>
        <p:spPr>
          <a:xfrm>
            <a:off x="0" y="4607719"/>
            <a:ext cx="320040" cy="116300"/>
          </a:xfrm>
          <a:prstGeom prst="rect">
            <a:avLst/>
          </a:prstGeom>
          <a:solidFill>
            <a:srgbClr val="2B56C9"/>
          </a:solidFill>
          <a:ln/>
        </p:spPr>
      </p:sp>
      <p:sp>
        <p:nvSpPr>
          <p:cNvPr id="46" name="Shape 44"/>
          <p:cNvSpPr/>
          <p:nvPr/>
        </p:nvSpPr>
        <p:spPr>
          <a:xfrm>
            <a:off x="0" y="4714875"/>
            <a:ext cx="320040" cy="116300"/>
          </a:xfrm>
          <a:prstGeom prst="rect">
            <a:avLst/>
          </a:prstGeom>
          <a:solidFill>
            <a:srgbClr val="2A57C9"/>
          </a:solidFill>
          <a:ln/>
        </p:spPr>
      </p:sp>
      <p:sp>
        <p:nvSpPr>
          <p:cNvPr id="47" name="Shape 45"/>
          <p:cNvSpPr/>
          <p:nvPr/>
        </p:nvSpPr>
        <p:spPr>
          <a:xfrm>
            <a:off x="0" y="4822031"/>
            <a:ext cx="320040" cy="116300"/>
          </a:xfrm>
          <a:prstGeom prst="rect">
            <a:avLst/>
          </a:prstGeom>
          <a:solidFill>
            <a:srgbClr val="2959C8"/>
          </a:solidFill>
          <a:ln/>
        </p:spPr>
      </p:sp>
      <p:sp>
        <p:nvSpPr>
          <p:cNvPr id="48" name="Shape 46"/>
          <p:cNvSpPr/>
          <p:nvPr/>
        </p:nvSpPr>
        <p:spPr>
          <a:xfrm>
            <a:off x="0" y="4929188"/>
            <a:ext cx="320040" cy="116300"/>
          </a:xfrm>
          <a:prstGeom prst="rect">
            <a:avLst/>
          </a:prstGeom>
          <a:solidFill>
            <a:srgbClr val="295AC8"/>
          </a:solidFill>
          <a:ln/>
        </p:spPr>
      </p:sp>
      <p:sp>
        <p:nvSpPr>
          <p:cNvPr id="49" name="Shape 47"/>
          <p:cNvSpPr/>
          <p:nvPr/>
        </p:nvSpPr>
        <p:spPr>
          <a:xfrm>
            <a:off x="0" y="5036344"/>
            <a:ext cx="320040" cy="116300"/>
          </a:xfrm>
          <a:prstGeom prst="rect">
            <a:avLst/>
          </a:prstGeom>
          <a:solidFill>
            <a:srgbClr val="285BC7"/>
          </a:solidFill>
          <a:ln/>
        </p:spPr>
      </p:sp>
      <p:sp>
        <p:nvSpPr>
          <p:cNvPr id="50" name="Shape 48"/>
          <p:cNvSpPr/>
          <p:nvPr/>
        </p:nvSpPr>
        <p:spPr>
          <a:xfrm>
            <a:off x="0" y="5143500"/>
            <a:ext cx="320040" cy="116300"/>
          </a:xfrm>
          <a:prstGeom prst="rect">
            <a:avLst/>
          </a:prstGeom>
          <a:solidFill>
            <a:srgbClr val="275CC7"/>
          </a:solidFill>
          <a:ln/>
        </p:spPr>
      </p:sp>
      <p:sp>
        <p:nvSpPr>
          <p:cNvPr id="51" name="Shape 49"/>
          <p:cNvSpPr/>
          <p:nvPr/>
        </p:nvSpPr>
        <p:spPr>
          <a:xfrm>
            <a:off x="0" y="5250656"/>
            <a:ext cx="320040" cy="116300"/>
          </a:xfrm>
          <a:prstGeom prst="rect">
            <a:avLst/>
          </a:prstGeom>
          <a:solidFill>
            <a:srgbClr val="265EC6"/>
          </a:solidFill>
          <a:ln/>
        </p:spPr>
      </p:sp>
      <p:sp>
        <p:nvSpPr>
          <p:cNvPr id="52" name="Shape 50"/>
          <p:cNvSpPr/>
          <p:nvPr/>
        </p:nvSpPr>
        <p:spPr>
          <a:xfrm>
            <a:off x="0" y="5357813"/>
            <a:ext cx="320040" cy="116300"/>
          </a:xfrm>
          <a:prstGeom prst="rect">
            <a:avLst/>
          </a:prstGeom>
          <a:solidFill>
            <a:srgbClr val="255FC5"/>
          </a:solidFill>
          <a:ln/>
        </p:spPr>
      </p:sp>
      <p:sp>
        <p:nvSpPr>
          <p:cNvPr id="53" name="Shape 51"/>
          <p:cNvSpPr/>
          <p:nvPr/>
        </p:nvSpPr>
        <p:spPr>
          <a:xfrm>
            <a:off x="0" y="5464969"/>
            <a:ext cx="320040" cy="116300"/>
          </a:xfrm>
          <a:prstGeom prst="rect">
            <a:avLst/>
          </a:prstGeom>
          <a:solidFill>
            <a:srgbClr val="2460C5"/>
          </a:solidFill>
          <a:ln/>
        </p:spPr>
      </p:sp>
      <p:sp>
        <p:nvSpPr>
          <p:cNvPr id="54" name="Shape 52"/>
          <p:cNvSpPr/>
          <p:nvPr/>
        </p:nvSpPr>
        <p:spPr>
          <a:xfrm>
            <a:off x="0" y="5572125"/>
            <a:ext cx="320040" cy="116300"/>
          </a:xfrm>
          <a:prstGeom prst="rect">
            <a:avLst/>
          </a:prstGeom>
          <a:solidFill>
            <a:srgbClr val="2361C4"/>
          </a:solidFill>
          <a:ln/>
        </p:spPr>
      </p:sp>
      <p:sp>
        <p:nvSpPr>
          <p:cNvPr id="55" name="Shape 53"/>
          <p:cNvSpPr/>
          <p:nvPr/>
        </p:nvSpPr>
        <p:spPr>
          <a:xfrm>
            <a:off x="0" y="5679281"/>
            <a:ext cx="320040" cy="116300"/>
          </a:xfrm>
          <a:prstGeom prst="rect">
            <a:avLst/>
          </a:prstGeom>
          <a:solidFill>
            <a:srgbClr val="2363C4"/>
          </a:solidFill>
          <a:ln/>
        </p:spPr>
      </p:sp>
      <p:sp>
        <p:nvSpPr>
          <p:cNvPr id="56" name="Shape 54"/>
          <p:cNvSpPr/>
          <p:nvPr/>
        </p:nvSpPr>
        <p:spPr>
          <a:xfrm>
            <a:off x="0" y="5786438"/>
            <a:ext cx="320040" cy="116300"/>
          </a:xfrm>
          <a:prstGeom prst="rect">
            <a:avLst/>
          </a:prstGeom>
          <a:solidFill>
            <a:srgbClr val="2264C3"/>
          </a:solidFill>
          <a:ln/>
        </p:spPr>
      </p:sp>
      <p:sp>
        <p:nvSpPr>
          <p:cNvPr id="57" name="Shape 55"/>
          <p:cNvSpPr/>
          <p:nvPr/>
        </p:nvSpPr>
        <p:spPr>
          <a:xfrm>
            <a:off x="0" y="5893594"/>
            <a:ext cx="320040" cy="116300"/>
          </a:xfrm>
          <a:prstGeom prst="rect">
            <a:avLst/>
          </a:prstGeom>
          <a:solidFill>
            <a:srgbClr val="2165C3"/>
          </a:solidFill>
          <a:ln/>
        </p:spPr>
      </p:sp>
      <p:sp>
        <p:nvSpPr>
          <p:cNvPr id="58" name="Shape 56"/>
          <p:cNvSpPr/>
          <p:nvPr/>
        </p:nvSpPr>
        <p:spPr>
          <a:xfrm>
            <a:off x="0" y="6000750"/>
            <a:ext cx="320040" cy="116300"/>
          </a:xfrm>
          <a:prstGeom prst="rect">
            <a:avLst/>
          </a:prstGeom>
          <a:solidFill>
            <a:srgbClr val="2066C2"/>
          </a:solidFill>
          <a:ln/>
        </p:spPr>
      </p:sp>
      <p:sp>
        <p:nvSpPr>
          <p:cNvPr id="59" name="Shape 57"/>
          <p:cNvSpPr/>
          <p:nvPr/>
        </p:nvSpPr>
        <p:spPr>
          <a:xfrm>
            <a:off x="0" y="6107906"/>
            <a:ext cx="320040" cy="116300"/>
          </a:xfrm>
          <a:prstGeom prst="rect">
            <a:avLst/>
          </a:prstGeom>
          <a:solidFill>
            <a:srgbClr val="1F68C1"/>
          </a:solidFill>
          <a:ln/>
        </p:spPr>
      </p:sp>
      <p:sp>
        <p:nvSpPr>
          <p:cNvPr id="60" name="Shape 58"/>
          <p:cNvSpPr/>
          <p:nvPr/>
        </p:nvSpPr>
        <p:spPr>
          <a:xfrm>
            <a:off x="0" y="6215063"/>
            <a:ext cx="320040" cy="116300"/>
          </a:xfrm>
          <a:prstGeom prst="rect">
            <a:avLst/>
          </a:prstGeom>
          <a:solidFill>
            <a:srgbClr val="1E69C1"/>
          </a:solidFill>
          <a:ln/>
        </p:spPr>
      </p:sp>
      <p:sp>
        <p:nvSpPr>
          <p:cNvPr id="61" name="Shape 59"/>
          <p:cNvSpPr/>
          <p:nvPr/>
        </p:nvSpPr>
        <p:spPr>
          <a:xfrm>
            <a:off x="0" y="6322219"/>
            <a:ext cx="320040" cy="116300"/>
          </a:xfrm>
          <a:prstGeom prst="rect">
            <a:avLst/>
          </a:prstGeom>
          <a:solidFill>
            <a:srgbClr val="1D6AC0"/>
          </a:solidFill>
          <a:ln/>
        </p:spPr>
      </p:sp>
      <p:sp>
        <p:nvSpPr>
          <p:cNvPr id="62" name="Shape 60"/>
          <p:cNvSpPr/>
          <p:nvPr/>
        </p:nvSpPr>
        <p:spPr>
          <a:xfrm>
            <a:off x="0" y="6429375"/>
            <a:ext cx="320040" cy="116300"/>
          </a:xfrm>
          <a:prstGeom prst="rect">
            <a:avLst/>
          </a:prstGeom>
          <a:solidFill>
            <a:srgbClr val="1D6BC0"/>
          </a:solidFill>
          <a:ln/>
        </p:spPr>
      </p:sp>
      <p:sp>
        <p:nvSpPr>
          <p:cNvPr id="63" name="Shape 61"/>
          <p:cNvSpPr/>
          <p:nvPr/>
        </p:nvSpPr>
        <p:spPr>
          <a:xfrm>
            <a:off x="0" y="6536531"/>
            <a:ext cx="320040" cy="116300"/>
          </a:xfrm>
          <a:prstGeom prst="rect">
            <a:avLst/>
          </a:prstGeom>
          <a:solidFill>
            <a:srgbClr val="1C6DBF"/>
          </a:solidFill>
          <a:ln/>
        </p:spPr>
      </p:sp>
      <p:sp>
        <p:nvSpPr>
          <p:cNvPr id="64" name="Shape 62"/>
          <p:cNvSpPr/>
          <p:nvPr/>
        </p:nvSpPr>
        <p:spPr>
          <a:xfrm>
            <a:off x="0" y="6643688"/>
            <a:ext cx="320040" cy="116300"/>
          </a:xfrm>
          <a:prstGeom prst="rect">
            <a:avLst/>
          </a:prstGeom>
          <a:solidFill>
            <a:srgbClr val="1B6EBF"/>
          </a:solidFill>
          <a:ln/>
        </p:spPr>
      </p:sp>
      <p:sp>
        <p:nvSpPr>
          <p:cNvPr id="65" name="Shape 63"/>
          <p:cNvSpPr/>
          <p:nvPr/>
        </p:nvSpPr>
        <p:spPr>
          <a:xfrm>
            <a:off x="0" y="6750844"/>
            <a:ext cx="320040" cy="116300"/>
          </a:xfrm>
          <a:prstGeom prst="rect">
            <a:avLst/>
          </a:prstGeom>
          <a:solidFill>
            <a:srgbClr val="1A6FBE"/>
          </a:solidFill>
          <a:ln/>
        </p:spPr>
      </p:sp>
      <p:sp>
        <p:nvSpPr>
          <p:cNvPr id="66" name="Text 64"/>
          <p:cNvSpPr/>
          <p:nvPr/>
        </p:nvSpPr>
        <p:spPr>
          <a:xfrm>
            <a:off x="73152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PRICING ANCHOR</a:t>
            </a:r>
            <a:endParaRPr lang="en-US" sz="1100" dirty="0"/>
          </a:p>
        </p:txBody>
      </p:sp>
      <p:sp>
        <p:nvSpPr>
          <p:cNvPr id="67" name="Text 65"/>
          <p:cNvSpPr/>
          <p:nvPr/>
        </p:nvSpPr>
        <p:spPr>
          <a:xfrm>
            <a:off x="548640" y="1554480"/>
            <a:ext cx="11094415" cy="3200400"/>
          </a:xfrm>
          <a:prstGeom prst="rect">
            <a:avLst/>
          </a:prstGeom>
          <a:noFill/>
          <a:ln/>
        </p:spPr>
        <p:txBody>
          <a:bodyPr wrap="square" lIns="0" tIns="0" rIns="0" bIns="0" rtlCol="0" anchor="ctr"/>
          <a:lstStyle/>
          <a:p>
            <a:pPr algn="l" indent="0" marL="0">
              <a:buNone/>
            </a:pPr>
            <a:r>
              <a:rPr lang="en-US" sz="22000" b="1" spc="-600" kern="0" dirty="0">
                <a:solidFill>
                  <a:srgbClr val="5028C2"/>
                </a:solidFill>
                <a:latin typeface="Calibri" pitchFamily="34" charset="0"/>
                <a:ea typeface="Calibri" pitchFamily="34" charset="-122"/>
                <a:cs typeface="Calibri" pitchFamily="34" charset="-120"/>
              </a:rPr>
              <a:t>$39</a:t>
            </a:r>
            <a:endParaRPr lang="en-US" sz="22000" dirty="0"/>
          </a:p>
        </p:txBody>
      </p:sp>
      <p:sp>
        <p:nvSpPr>
          <p:cNvPr id="68" name="Text 66"/>
          <p:cNvSpPr/>
          <p:nvPr/>
        </p:nvSpPr>
        <p:spPr>
          <a:xfrm>
            <a:off x="548640" y="4983480"/>
            <a:ext cx="11094415" cy="457200"/>
          </a:xfrm>
          <a:prstGeom prst="rect">
            <a:avLst/>
          </a:prstGeom>
          <a:noFill/>
          <a:ln/>
        </p:spPr>
        <p:txBody>
          <a:bodyPr wrap="square" lIns="0" tIns="0" rIns="0" bIns="0" rtlCol="0" anchor="t"/>
          <a:lstStyle/>
          <a:p>
            <a:pPr algn="l" indent="0" marL="0">
              <a:buNone/>
            </a:pPr>
            <a:r>
              <a:rPr lang="en-US" sz="2200" b="1" dirty="0">
                <a:solidFill>
                  <a:srgbClr val="0F1733"/>
                </a:solidFill>
                <a:latin typeface="Calibri" pitchFamily="34" charset="0"/>
                <a:ea typeface="Calibri" pitchFamily="34" charset="-122"/>
                <a:cs typeface="Calibri" pitchFamily="34" charset="-120"/>
              </a:rPr>
              <a:t>per month, all-in, for the full product.</a:t>
            </a:r>
            <a:endParaRPr lang="en-US" sz="2200" dirty="0"/>
          </a:p>
        </p:txBody>
      </p:sp>
      <p:sp>
        <p:nvSpPr>
          <p:cNvPr id="69" name="Text 67"/>
          <p:cNvSpPr/>
          <p:nvPr/>
        </p:nvSpPr>
        <p:spPr>
          <a:xfrm>
            <a:off x="548640" y="5486400"/>
            <a:ext cx="10637215" cy="640080"/>
          </a:xfrm>
          <a:prstGeom prst="rect">
            <a:avLst/>
          </a:prstGeom>
          <a:noFill/>
          <a:ln/>
        </p:spPr>
        <p:txBody>
          <a:bodyPr wrap="square" lIns="0" tIns="0" rIns="0" bIns="0" rtlCol="0" anchor="t"/>
          <a:lstStyle/>
          <a:p>
            <a:pPr algn="l" indent="0" marL="0">
              <a:buNone/>
            </a:pPr>
            <a:r>
              <a:rPr lang="en-US" sz="1300" dirty="0">
                <a:solidFill>
                  <a:srgbClr val="2A3358"/>
                </a:solidFill>
                <a:latin typeface="Calibri" pitchFamily="34" charset="0"/>
                <a:ea typeface="Calibri" pitchFamily="34" charset="-122"/>
                <a:cs typeface="Calibri" pitchFamily="34" charset="-120"/>
              </a:rPr>
              <a:t>Compared to Modash ($300/mo entry), HypeAuditor ($400/mo entry), and CreatorIQ ($10K+/yr), Creator Outreach is 8–25x cheaper at entry — for a product purpose-built for the workflow they don't serve.</a:t>
            </a:r>
            <a:endParaRPr lang="en-US" sz="13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12 · Pricing  ·  vD</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081 / 126</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1ECFF"/>
        </a:solidFill>
      </p:bgPr>
    </p:bg>
    <p:spTree>
      <p:nvGrpSpPr>
        <p:cNvPr id="1" name=""/>
        <p:cNvGrpSpPr/>
        <p:nvPr/>
      </p:nvGrpSpPr>
      <p:grpSpPr>
        <a:xfrm>
          <a:off x="0" y="0"/>
          <a:ext cx="0" cy="0"/>
          <a:chOff x="0" y="0"/>
          <a:chExt cx="0" cy="0"/>
        </a:xfrm>
      </p:grpSpPr>
      <p:sp>
        <p:nvSpPr>
          <p:cNvPr id="2" name="Text 0"/>
          <p:cNvSpPr/>
          <p:nvPr/>
        </p:nvSpPr>
        <p:spPr>
          <a:xfrm>
            <a:off x="457200" y="365760"/>
            <a:ext cx="2286000" cy="2286000"/>
          </a:xfrm>
          <a:prstGeom prst="rect">
            <a:avLst/>
          </a:prstGeom>
          <a:noFill/>
          <a:ln/>
        </p:spPr>
        <p:txBody>
          <a:bodyPr wrap="square" lIns="0" tIns="0" rIns="0" bIns="0" rtlCol="0" anchor="t"/>
          <a:lstStyle/>
          <a:p>
            <a:pPr algn="l" indent="0" marL="0">
              <a:buNone/>
            </a:pPr>
            <a:r>
              <a:rPr lang="en-US" sz="24000" b="1" dirty="0">
                <a:solidFill>
                  <a:srgbClr val="5028C2"/>
                </a:solidFill>
                <a:latin typeface="Georgia" pitchFamily="34" charset="0"/>
                <a:ea typeface="Georgia" pitchFamily="34" charset="-122"/>
                <a:cs typeface="Georgia" pitchFamily="34" charset="-120"/>
              </a:rPr>
              <a:t>"</a:t>
            </a:r>
            <a:endParaRPr lang="en-US" sz="24000" dirty="0"/>
          </a:p>
        </p:txBody>
      </p:sp>
      <p:sp>
        <p:nvSpPr>
          <p:cNvPr id="3" name="Text 1"/>
          <p:cNvSpPr/>
          <p:nvPr/>
        </p:nvSpPr>
        <p:spPr>
          <a:xfrm>
            <a:off x="1920240" y="1737360"/>
            <a:ext cx="9722815" cy="3108960"/>
          </a:xfrm>
          <a:prstGeom prst="rect">
            <a:avLst/>
          </a:prstGeom>
          <a:noFill/>
          <a:ln/>
        </p:spPr>
        <p:txBody>
          <a:bodyPr wrap="square" lIns="0" tIns="0" rIns="0" bIns="0" rtlCol="0" anchor="t"/>
          <a:lstStyle/>
          <a:p>
            <a:pPr algn="l" indent="0" marL="0">
              <a:buNone/>
            </a:pPr>
            <a:r>
              <a:rPr lang="en-US" sz="3000" i="1" dirty="0">
                <a:solidFill>
                  <a:srgbClr val="0F1733"/>
                </a:solidFill>
                <a:latin typeface="Georgia" pitchFamily="34" charset="0"/>
                <a:ea typeface="Georgia" pitchFamily="34" charset="-122"/>
                <a:cs typeface="Georgia" pitchFamily="34" charset="-120"/>
              </a:rPr>
              <a:t>I signed up at $39/month, hit ROI in week one. The pricing is a magnet for founders who would never even take a Modash demo call.</a:t>
            </a:r>
            <a:endParaRPr lang="en-US" sz="3000" dirty="0"/>
          </a:p>
        </p:txBody>
      </p:sp>
      <p:sp>
        <p:nvSpPr>
          <p:cNvPr id="4" name="Shape 2"/>
          <p:cNvSpPr/>
          <p:nvPr/>
        </p:nvSpPr>
        <p:spPr>
          <a:xfrm>
            <a:off x="1920240" y="5120640"/>
            <a:ext cx="640080" cy="0"/>
          </a:xfrm>
          <a:prstGeom prst="line">
            <a:avLst/>
          </a:prstGeom>
          <a:noFill/>
          <a:ln w="25400">
            <a:solidFill>
              <a:srgbClr val="5028C2"/>
            </a:solidFill>
            <a:prstDash val="solid"/>
          </a:ln>
        </p:spPr>
      </p:sp>
      <p:sp>
        <p:nvSpPr>
          <p:cNvPr id="5" name="Text 3"/>
          <p:cNvSpPr/>
          <p:nvPr/>
        </p:nvSpPr>
        <p:spPr>
          <a:xfrm>
            <a:off x="1920240" y="5212080"/>
            <a:ext cx="9722815" cy="457200"/>
          </a:xfrm>
          <a:prstGeom prst="rect">
            <a:avLst/>
          </a:prstGeom>
          <a:noFill/>
          <a:ln/>
        </p:spPr>
        <p:txBody>
          <a:bodyPr wrap="square" lIns="0" tIns="0" rIns="0" bIns="0" rtlCol="0" anchor="t"/>
          <a:lstStyle/>
          <a:p>
            <a:pPr algn="l" indent="0" marL="0">
              <a:buNone/>
            </a:pPr>
            <a:r>
              <a:rPr lang="en-US" sz="1400" b="1" spc="100" kern="0" dirty="0">
                <a:solidFill>
                  <a:srgbClr val="3D1E96"/>
                </a:solidFill>
                <a:latin typeface="Calibri" pitchFamily="34" charset="0"/>
                <a:ea typeface="Calibri" pitchFamily="34" charset="-122"/>
                <a:cs typeface="Calibri" pitchFamily="34" charset="-120"/>
              </a:rPr>
              <a:t>Beta customer</a:t>
            </a:r>
            <a:endParaRPr lang="en-US" sz="1400" dirty="0"/>
          </a:p>
        </p:txBody>
      </p:sp>
      <p:sp>
        <p:nvSpPr>
          <p:cNvPr id="6" name="Text 4"/>
          <p:cNvSpPr/>
          <p:nvPr/>
        </p:nvSpPr>
        <p:spPr>
          <a:xfrm>
            <a:off x="1920240" y="5532120"/>
            <a:ext cx="9722815" cy="365760"/>
          </a:xfrm>
          <a:prstGeom prst="rect">
            <a:avLst/>
          </a:prstGeom>
          <a:noFill/>
          <a:ln/>
        </p:spPr>
        <p:txBody>
          <a:bodyPr wrap="square" lIns="0" tIns="0" rIns="0" bIns="0" rtlCol="0" anchor="t"/>
          <a:lstStyle/>
          <a:p>
            <a:pPr algn="l" indent="0" marL="0">
              <a:buNone/>
            </a:pPr>
            <a:r>
              <a:rPr lang="en-US" sz="1200" dirty="0">
                <a:solidFill>
                  <a:srgbClr val="6B7493"/>
                </a:solidFill>
                <a:latin typeface="Calibri" pitchFamily="34" charset="0"/>
                <a:ea typeface="Calibri" pitchFamily="34" charset="-122"/>
                <a:cs typeface="Calibri" pitchFamily="34" charset="-120"/>
              </a:rPr>
              <a:t>Week-one conversion feedback</a:t>
            </a:r>
            <a:endParaRPr lang="en-US" sz="1200" dirty="0"/>
          </a:p>
        </p:txBody>
      </p:sp>
      <p:sp>
        <p:nvSpPr>
          <p:cNvPr id="7" name="Shape 5"/>
          <p:cNvSpPr/>
          <p:nvPr/>
        </p:nvSpPr>
        <p:spPr>
          <a:xfrm>
            <a:off x="548640" y="502920"/>
            <a:ext cx="292608" cy="292608"/>
          </a:xfrm>
          <a:prstGeom prst="roundRect">
            <a:avLst>
              <a:gd name="adj" fmla="val 25000"/>
            </a:avLst>
          </a:prstGeom>
          <a:solidFill>
            <a:srgbClr val="5028C2"/>
          </a:solidFill>
          <a:ln/>
        </p:spPr>
      </p:sp>
      <p:sp>
        <p:nvSpPr>
          <p:cNvPr id="8" name="Shape 6"/>
          <p:cNvSpPr/>
          <p:nvPr/>
        </p:nvSpPr>
        <p:spPr>
          <a:xfrm>
            <a:off x="548640" y="502920"/>
            <a:ext cx="292608" cy="292608"/>
          </a:xfrm>
          <a:prstGeom prst="roundRect">
            <a:avLst>
              <a:gd name="adj" fmla="val 25000"/>
            </a:avLst>
          </a:prstGeom>
          <a:solidFill>
            <a:srgbClr val="1A6FBE">
              <a:alpha val="50000"/>
            </a:srgbClr>
          </a:solidFill>
          <a:ln/>
        </p:spPr>
      </p:sp>
      <p:sp>
        <p:nvSpPr>
          <p:cNvPr id="9" name="Text 7"/>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0" name="Text 8"/>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1" name="Text 9"/>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12 · Pricing  ·  vE</a:t>
            </a:r>
            <a:endParaRPr lang="en-US" sz="900" dirty="0"/>
          </a:p>
        </p:txBody>
      </p:sp>
      <p:sp>
        <p:nvSpPr>
          <p:cNvPr id="12" name="Text 10"/>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3" name="Text 11"/>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082 / 126</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a:off x="3047924" y="0"/>
            <a:ext cx="9143771" cy="6858000"/>
          </a:xfrm>
          <a:prstGeom prst="rtTriangle">
            <a:avLst/>
          </a:prstGeom>
          <a:solidFill>
            <a:srgbClr val="5028C2"/>
          </a:solidFill>
          <a:ln/>
        </p:spPr>
      </p:sp>
      <p:sp>
        <p:nvSpPr>
          <p:cNvPr id="3" name="Shape 1"/>
          <p:cNvSpPr/>
          <p:nvPr/>
        </p:nvSpPr>
        <p:spPr>
          <a:xfrm flipH="1">
            <a:off x="4876678" y="1028700"/>
            <a:ext cx="7924602" cy="6515100"/>
          </a:xfrm>
          <a:prstGeom prst="rtTriangle">
            <a:avLst/>
          </a:prstGeom>
          <a:solidFill>
            <a:srgbClr val="1A6FBE">
              <a:alpha val="75000"/>
            </a:srgbClr>
          </a:solidFill>
          <a:ln/>
        </p:spPr>
      </p:sp>
      <p:sp>
        <p:nvSpPr>
          <p:cNvPr id="4" name="Text 2"/>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PRICING</a:t>
            </a:r>
            <a:endParaRPr lang="en-US" sz="1100" dirty="0"/>
          </a:p>
        </p:txBody>
      </p:sp>
      <p:sp>
        <p:nvSpPr>
          <p:cNvPr id="5" name="Text 3"/>
          <p:cNvSpPr/>
          <p:nvPr/>
        </p:nvSpPr>
        <p:spPr>
          <a:xfrm>
            <a:off x="548640" y="1417320"/>
            <a:ext cx="6095848" cy="2286000"/>
          </a:xfrm>
          <a:prstGeom prst="rect">
            <a:avLst/>
          </a:prstGeom>
          <a:noFill/>
          <a:ln/>
        </p:spPr>
        <p:txBody>
          <a:bodyPr wrap="square" lIns="0" tIns="0" rIns="0" bIns="0" rtlCol="0" anchor="t"/>
          <a:lstStyle/>
          <a:p>
            <a:pPr algn="l" indent="0" marL="0">
              <a:buNone/>
            </a:pPr>
            <a:r>
              <a:rPr lang="en-US" sz="4000" b="1" spc="-50" kern="0" dirty="0">
                <a:solidFill>
                  <a:srgbClr val="0F1733"/>
                </a:solidFill>
                <a:latin typeface="Calibri" pitchFamily="34" charset="0"/>
                <a:ea typeface="Calibri" pitchFamily="34" charset="-122"/>
                <a:cs typeface="Calibri" pitchFamily="34" charset="-120"/>
              </a:rPr>
              <a:t>$39 to start. $99 to scale. Annual saves 20%.</a:t>
            </a:r>
            <a:endParaRPr lang="en-US" sz="4000" dirty="0"/>
          </a:p>
        </p:txBody>
      </p:sp>
      <p:sp>
        <p:nvSpPr>
          <p:cNvPr id="6" name="Text 4"/>
          <p:cNvSpPr/>
          <p:nvPr/>
        </p:nvSpPr>
        <p:spPr>
          <a:xfrm>
            <a:off x="548640" y="3840480"/>
            <a:ext cx="5821528" cy="2103120"/>
          </a:xfrm>
          <a:prstGeom prst="rect">
            <a:avLst/>
          </a:prstGeom>
          <a:noFill/>
          <a:ln/>
        </p:spPr>
        <p:txBody>
          <a:bodyPr wrap="square" lIns="0" tIns="0" rIns="0" bIns="0" rtlCol="0" anchor="t"/>
          <a:lstStyle/>
          <a:p>
            <a:pPr algn="l" indent="0" marL="0">
              <a:spcAft>
                <a:spcPts val="600"/>
              </a:spcAft>
              <a:buNone/>
            </a:pPr>
            <a:r>
              <a:rPr lang="en-US" sz="1400" dirty="0">
                <a:solidFill>
                  <a:srgbClr val="2A3358"/>
                </a:solidFill>
                <a:latin typeface="Calibri" pitchFamily="34" charset="0"/>
                <a:ea typeface="Calibri" pitchFamily="34" charset="-122"/>
                <a:cs typeface="Calibri" pitchFamily="34" charset="-120"/>
              </a:rPr>
              <a:t>Founder-friendly pricing isn't a gimmick — it's a market signal. The buyers we serve have $200–$500/month total tool budgets. We price to clear that bar with room left over for the next tool they'll need.</a:t>
            </a:r>
            <a:endParaRPr lang="en-US" sz="1400" dirty="0"/>
          </a:p>
        </p:txBody>
      </p:sp>
      <p:sp>
        <p:nvSpPr>
          <p:cNvPr id="7" name="Text 5"/>
          <p:cNvSpPr/>
          <p:nvPr/>
        </p:nvSpPr>
        <p:spPr>
          <a:xfrm>
            <a:off x="6705432" y="2926080"/>
            <a:ext cx="4876678" cy="3291840"/>
          </a:xfrm>
          <a:prstGeom prst="rect">
            <a:avLst/>
          </a:prstGeom>
          <a:noFill/>
          <a:ln/>
        </p:spPr>
        <p:txBody>
          <a:bodyPr wrap="square" lIns="0" tIns="0" rIns="0" bIns="0" rtlCol="0" anchor="ctr"/>
          <a:lstStyle/>
          <a:p>
            <a:pPr algn="r" indent="0" marL="0">
              <a:buNone/>
            </a:pPr>
            <a:r>
              <a:rPr lang="en-US" sz="3200" b="1" spc="-50" kern="0" dirty="0">
                <a:solidFill>
                  <a:srgbClr val="FFFFFF"/>
                </a:solidFill>
                <a:latin typeface="Calibri" pitchFamily="34" charset="0"/>
                <a:ea typeface="Calibri" pitchFamily="34" charset="-122"/>
                <a:cs typeface="Calibri" pitchFamily="34" charset="-120"/>
              </a:rPr>
              <a:t>$39</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/mo</a:t>
            </a:r>
            <a:endParaRPr lang="en-US" sz="3200" dirty="0"/>
          </a:p>
          <a:p>
            <a:pPr algn="r" indent="0" marL="0">
              <a:buNone/>
            </a:pP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Full</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product.</a:t>
            </a:r>
            <a:endParaRPr lang="en-US" sz="3200" dirty="0"/>
          </a:p>
        </p:txBody>
      </p:sp>
      <p:sp>
        <p:nvSpPr>
          <p:cNvPr id="8" name="Shape 6"/>
          <p:cNvSpPr/>
          <p:nvPr/>
        </p:nvSpPr>
        <p:spPr>
          <a:xfrm>
            <a:off x="548640" y="502920"/>
            <a:ext cx="292608" cy="292608"/>
          </a:xfrm>
          <a:prstGeom prst="roundRect">
            <a:avLst>
              <a:gd name="adj" fmla="val 25000"/>
            </a:avLst>
          </a:prstGeom>
          <a:solidFill>
            <a:srgbClr val="5028C2"/>
          </a:solidFill>
          <a:ln/>
        </p:spPr>
      </p:sp>
      <p:sp>
        <p:nvSpPr>
          <p:cNvPr id="9" name="Shape 7"/>
          <p:cNvSpPr/>
          <p:nvPr/>
        </p:nvSpPr>
        <p:spPr>
          <a:xfrm>
            <a:off x="548640" y="502920"/>
            <a:ext cx="292608" cy="292608"/>
          </a:xfrm>
          <a:prstGeom prst="roundRect">
            <a:avLst>
              <a:gd name="adj" fmla="val 25000"/>
            </a:avLst>
          </a:prstGeom>
          <a:solidFill>
            <a:srgbClr val="1A6FBE">
              <a:alpha val="50000"/>
            </a:srgbClr>
          </a:solidFill>
          <a:ln/>
        </p:spPr>
      </p:sp>
      <p:sp>
        <p:nvSpPr>
          <p:cNvPr id="10" name="Text 8"/>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1" name="Text 9"/>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2" name="Text 10"/>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12 · Pricing  ·  vF</a:t>
            </a:r>
            <a:endParaRPr lang="en-US" sz="900" dirty="0"/>
          </a:p>
        </p:txBody>
      </p:sp>
      <p:sp>
        <p:nvSpPr>
          <p:cNvPr id="13" name="Text 11"/>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4" name="Text 12"/>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083 / 126</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CFAF6"/>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PRICING</a:t>
            </a:r>
            <a:endParaRPr lang="en-US" sz="1100" dirty="0"/>
          </a:p>
        </p:txBody>
      </p:sp>
      <p:sp>
        <p:nvSpPr>
          <p:cNvPr id="3" name="Text 1"/>
          <p:cNvSpPr/>
          <p:nvPr/>
        </p:nvSpPr>
        <p:spPr>
          <a:xfrm>
            <a:off x="548640" y="1417320"/>
            <a:ext cx="11094415" cy="914400"/>
          </a:xfrm>
          <a:prstGeom prst="rect">
            <a:avLst/>
          </a:prstGeom>
          <a:noFill/>
          <a:ln/>
        </p:spPr>
        <p:txBody>
          <a:bodyPr wrap="square" lIns="0" tIns="0" rIns="0" bIns="0" rtlCol="0" anchor="t"/>
          <a:lstStyle/>
          <a:p>
            <a:pPr algn="l" indent="0" marL="0">
              <a:buNone/>
            </a:pPr>
            <a:r>
              <a:rPr lang="en-US" sz="3400" b="1" spc="-50" kern="0" dirty="0">
                <a:solidFill>
                  <a:srgbClr val="0F1733"/>
                </a:solidFill>
                <a:latin typeface="Calibri" pitchFamily="34" charset="0"/>
                <a:ea typeface="Calibri" pitchFamily="34" charset="-122"/>
                <a:cs typeface="Calibri" pitchFamily="34" charset="-120"/>
              </a:rPr>
              <a:t>Honest, simple, founder-priced.</a:t>
            </a:r>
            <a:endParaRPr lang="en-US" sz="3400" dirty="0"/>
          </a:p>
        </p:txBody>
      </p:sp>
      <p:sp>
        <p:nvSpPr>
          <p:cNvPr id="4" name="Shape 2"/>
          <p:cNvSpPr/>
          <p:nvPr/>
        </p:nvSpPr>
        <p:spPr>
          <a:xfrm>
            <a:off x="548640" y="2514600"/>
            <a:ext cx="5464912" cy="67008"/>
          </a:xfrm>
          <a:prstGeom prst="rect">
            <a:avLst/>
          </a:prstGeom>
          <a:solidFill>
            <a:srgbClr val="5028C2"/>
          </a:solidFill>
          <a:ln/>
        </p:spPr>
      </p:sp>
      <p:sp>
        <p:nvSpPr>
          <p:cNvPr id="5" name="Shape 3"/>
          <p:cNvSpPr/>
          <p:nvPr/>
        </p:nvSpPr>
        <p:spPr>
          <a:xfrm>
            <a:off x="548640" y="2572464"/>
            <a:ext cx="5464912" cy="67008"/>
          </a:xfrm>
          <a:prstGeom prst="rect">
            <a:avLst/>
          </a:prstGeom>
          <a:solidFill>
            <a:srgbClr val="4F29C2"/>
          </a:solidFill>
          <a:ln/>
        </p:spPr>
      </p:sp>
      <p:sp>
        <p:nvSpPr>
          <p:cNvPr id="6" name="Shape 4"/>
          <p:cNvSpPr/>
          <p:nvPr/>
        </p:nvSpPr>
        <p:spPr>
          <a:xfrm>
            <a:off x="548640" y="2630329"/>
            <a:ext cx="5464912" cy="67008"/>
          </a:xfrm>
          <a:prstGeom prst="rect">
            <a:avLst/>
          </a:prstGeom>
          <a:solidFill>
            <a:srgbClr val="4E2AC3"/>
          </a:solidFill>
          <a:ln/>
        </p:spPr>
      </p:sp>
      <p:sp>
        <p:nvSpPr>
          <p:cNvPr id="7" name="Shape 5"/>
          <p:cNvSpPr/>
          <p:nvPr/>
        </p:nvSpPr>
        <p:spPr>
          <a:xfrm>
            <a:off x="548640" y="2688193"/>
            <a:ext cx="5464912" cy="67008"/>
          </a:xfrm>
          <a:prstGeom prst="rect">
            <a:avLst/>
          </a:prstGeom>
          <a:solidFill>
            <a:srgbClr val="4D2BC3"/>
          </a:solidFill>
          <a:ln/>
        </p:spPr>
      </p:sp>
      <p:sp>
        <p:nvSpPr>
          <p:cNvPr id="8" name="Shape 6"/>
          <p:cNvSpPr/>
          <p:nvPr/>
        </p:nvSpPr>
        <p:spPr>
          <a:xfrm>
            <a:off x="548640" y="2746058"/>
            <a:ext cx="5464912" cy="67008"/>
          </a:xfrm>
          <a:prstGeom prst="rect">
            <a:avLst/>
          </a:prstGeom>
          <a:solidFill>
            <a:srgbClr val="4D2CC4"/>
          </a:solidFill>
          <a:ln/>
        </p:spPr>
      </p:sp>
      <p:sp>
        <p:nvSpPr>
          <p:cNvPr id="9" name="Shape 7"/>
          <p:cNvSpPr/>
          <p:nvPr/>
        </p:nvSpPr>
        <p:spPr>
          <a:xfrm>
            <a:off x="548640" y="2803922"/>
            <a:ext cx="5464912" cy="67008"/>
          </a:xfrm>
          <a:prstGeom prst="rect">
            <a:avLst/>
          </a:prstGeom>
          <a:solidFill>
            <a:srgbClr val="4C2DC4"/>
          </a:solidFill>
          <a:ln/>
        </p:spPr>
      </p:sp>
      <p:sp>
        <p:nvSpPr>
          <p:cNvPr id="10" name="Shape 8"/>
          <p:cNvSpPr/>
          <p:nvPr/>
        </p:nvSpPr>
        <p:spPr>
          <a:xfrm>
            <a:off x="548640" y="2861786"/>
            <a:ext cx="5464912" cy="67008"/>
          </a:xfrm>
          <a:prstGeom prst="rect">
            <a:avLst/>
          </a:prstGeom>
          <a:solidFill>
            <a:srgbClr val="4B2EC5"/>
          </a:solidFill>
          <a:ln/>
        </p:spPr>
      </p:sp>
      <p:sp>
        <p:nvSpPr>
          <p:cNvPr id="11" name="Shape 9"/>
          <p:cNvSpPr/>
          <p:nvPr/>
        </p:nvSpPr>
        <p:spPr>
          <a:xfrm>
            <a:off x="548640" y="2919651"/>
            <a:ext cx="5464912" cy="67008"/>
          </a:xfrm>
          <a:prstGeom prst="rect">
            <a:avLst/>
          </a:prstGeom>
          <a:solidFill>
            <a:srgbClr val="4A2FC5"/>
          </a:solidFill>
          <a:ln/>
        </p:spPr>
      </p:sp>
      <p:sp>
        <p:nvSpPr>
          <p:cNvPr id="12" name="Shape 10"/>
          <p:cNvSpPr/>
          <p:nvPr/>
        </p:nvSpPr>
        <p:spPr>
          <a:xfrm>
            <a:off x="548640" y="2977515"/>
            <a:ext cx="5464912" cy="67008"/>
          </a:xfrm>
          <a:prstGeom prst="rect">
            <a:avLst/>
          </a:prstGeom>
          <a:solidFill>
            <a:srgbClr val="4930C6"/>
          </a:solidFill>
          <a:ln/>
        </p:spPr>
      </p:sp>
      <p:sp>
        <p:nvSpPr>
          <p:cNvPr id="13" name="Shape 11"/>
          <p:cNvSpPr/>
          <p:nvPr/>
        </p:nvSpPr>
        <p:spPr>
          <a:xfrm>
            <a:off x="548640" y="3035379"/>
            <a:ext cx="5464912" cy="67008"/>
          </a:xfrm>
          <a:prstGeom prst="rect">
            <a:avLst/>
          </a:prstGeom>
          <a:solidFill>
            <a:srgbClr val="4831C6"/>
          </a:solidFill>
          <a:ln/>
        </p:spPr>
      </p:sp>
      <p:sp>
        <p:nvSpPr>
          <p:cNvPr id="14" name="Shape 12"/>
          <p:cNvSpPr/>
          <p:nvPr/>
        </p:nvSpPr>
        <p:spPr>
          <a:xfrm>
            <a:off x="548640" y="3093244"/>
            <a:ext cx="5464912" cy="67008"/>
          </a:xfrm>
          <a:prstGeom prst="rect">
            <a:avLst/>
          </a:prstGeom>
          <a:solidFill>
            <a:srgbClr val="4732C6"/>
          </a:solidFill>
          <a:ln/>
        </p:spPr>
      </p:sp>
      <p:sp>
        <p:nvSpPr>
          <p:cNvPr id="15" name="Shape 13"/>
          <p:cNvSpPr/>
          <p:nvPr/>
        </p:nvSpPr>
        <p:spPr>
          <a:xfrm>
            <a:off x="548640" y="3151108"/>
            <a:ext cx="5464912" cy="67008"/>
          </a:xfrm>
          <a:prstGeom prst="rect">
            <a:avLst/>
          </a:prstGeom>
          <a:solidFill>
            <a:srgbClr val="4733C7"/>
          </a:solidFill>
          <a:ln/>
        </p:spPr>
      </p:sp>
      <p:sp>
        <p:nvSpPr>
          <p:cNvPr id="16" name="Shape 14"/>
          <p:cNvSpPr/>
          <p:nvPr/>
        </p:nvSpPr>
        <p:spPr>
          <a:xfrm>
            <a:off x="548640" y="3208973"/>
            <a:ext cx="5464912" cy="67008"/>
          </a:xfrm>
          <a:prstGeom prst="rect">
            <a:avLst/>
          </a:prstGeom>
          <a:solidFill>
            <a:srgbClr val="4634C7"/>
          </a:solidFill>
          <a:ln/>
        </p:spPr>
      </p:sp>
      <p:sp>
        <p:nvSpPr>
          <p:cNvPr id="17" name="Shape 15"/>
          <p:cNvSpPr/>
          <p:nvPr/>
        </p:nvSpPr>
        <p:spPr>
          <a:xfrm>
            <a:off x="548640" y="3266837"/>
            <a:ext cx="5464912" cy="67008"/>
          </a:xfrm>
          <a:prstGeom prst="rect">
            <a:avLst/>
          </a:prstGeom>
          <a:solidFill>
            <a:srgbClr val="4535C8"/>
          </a:solidFill>
          <a:ln/>
        </p:spPr>
      </p:sp>
      <p:sp>
        <p:nvSpPr>
          <p:cNvPr id="18" name="Shape 16"/>
          <p:cNvSpPr/>
          <p:nvPr/>
        </p:nvSpPr>
        <p:spPr>
          <a:xfrm>
            <a:off x="548640" y="3324701"/>
            <a:ext cx="5464912" cy="67008"/>
          </a:xfrm>
          <a:prstGeom prst="rect">
            <a:avLst/>
          </a:prstGeom>
          <a:solidFill>
            <a:srgbClr val="4436C8"/>
          </a:solidFill>
          <a:ln/>
        </p:spPr>
      </p:sp>
      <p:sp>
        <p:nvSpPr>
          <p:cNvPr id="19" name="Shape 17"/>
          <p:cNvSpPr/>
          <p:nvPr/>
        </p:nvSpPr>
        <p:spPr>
          <a:xfrm>
            <a:off x="548640" y="3382566"/>
            <a:ext cx="5464912" cy="67008"/>
          </a:xfrm>
          <a:prstGeom prst="rect">
            <a:avLst/>
          </a:prstGeom>
          <a:solidFill>
            <a:srgbClr val="4337C9"/>
          </a:solidFill>
          <a:ln/>
        </p:spPr>
      </p:sp>
      <p:sp>
        <p:nvSpPr>
          <p:cNvPr id="20" name="Shape 18"/>
          <p:cNvSpPr/>
          <p:nvPr/>
        </p:nvSpPr>
        <p:spPr>
          <a:xfrm>
            <a:off x="548640" y="3440430"/>
            <a:ext cx="5464912" cy="67008"/>
          </a:xfrm>
          <a:prstGeom prst="rect">
            <a:avLst/>
          </a:prstGeom>
          <a:solidFill>
            <a:srgbClr val="4238C9"/>
          </a:solidFill>
          <a:ln/>
        </p:spPr>
      </p:sp>
      <p:sp>
        <p:nvSpPr>
          <p:cNvPr id="21" name="Shape 19"/>
          <p:cNvSpPr/>
          <p:nvPr/>
        </p:nvSpPr>
        <p:spPr>
          <a:xfrm>
            <a:off x="548640" y="3498294"/>
            <a:ext cx="5464912" cy="67008"/>
          </a:xfrm>
          <a:prstGeom prst="rect">
            <a:avLst/>
          </a:prstGeom>
          <a:solidFill>
            <a:srgbClr val="4139CA"/>
          </a:solidFill>
          <a:ln/>
        </p:spPr>
      </p:sp>
      <p:sp>
        <p:nvSpPr>
          <p:cNvPr id="22" name="Shape 20"/>
          <p:cNvSpPr/>
          <p:nvPr/>
        </p:nvSpPr>
        <p:spPr>
          <a:xfrm>
            <a:off x="548640" y="3556159"/>
            <a:ext cx="5464912" cy="67008"/>
          </a:xfrm>
          <a:prstGeom prst="rect">
            <a:avLst/>
          </a:prstGeom>
          <a:solidFill>
            <a:srgbClr val="413ACA"/>
          </a:solidFill>
          <a:ln/>
        </p:spPr>
      </p:sp>
      <p:sp>
        <p:nvSpPr>
          <p:cNvPr id="23" name="Shape 21"/>
          <p:cNvSpPr/>
          <p:nvPr/>
        </p:nvSpPr>
        <p:spPr>
          <a:xfrm>
            <a:off x="548640" y="3614023"/>
            <a:ext cx="5464912" cy="67008"/>
          </a:xfrm>
          <a:prstGeom prst="rect">
            <a:avLst/>
          </a:prstGeom>
          <a:solidFill>
            <a:srgbClr val="403BCA"/>
          </a:solidFill>
          <a:ln/>
        </p:spPr>
      </p:sp>
      <p:sp>
        <p:nvSpPr>
          <p:cNvPr id="24" name="Shape 22"/>
          <p:cNvSpPr/>
          <p:nvPr/>
        </p:nvSpPr>
        <p:spPr>
          <a:xfrm>
            <a:off x="548640" y="3671888"/>
            <a:ext cx="5464912" cy="67008"/>
          </a:xfrm>
          <a:prstGeom prst="rect">
            <a:avLst/>
          </a:prstGeom>
          <a:solidFill>
            <a:srgbClr val="3F3CCB"/>
          </a:solidFill>
          <a:ln/>
        </p:spPr>
      </p:sp>
      <p:sp>
        <p:nvSpPr>
          <p:cNvPr id="25" name="Shape 23"/>
          <p:cNvSpPr/>
          <p:nvPr/>
        </p:nvSpPr>
        <p:spPr>
          <a:xfrm>
            <a:off x="548640" y="3729752"/>
            <a:ext cx="5464912" cy="67008"/>
          </a:xfrm>
          <a:prstGeom prst="rect">
            <a:avLst/>
          </a:prstGeom>
          <a:solidFill>
            <a:srgbClr val="3E3DCB"/>
          </a:solidFill>
          <a:ln/>
        </p:spPr>
      </p:sp>
      <p:sp>
        <p:nvSpPr>
          <p:cNvPr id="26" name="Shape 24"/>
          <p:cNvSpPr/>
          <p:nvPr/>
        </p:nvSpPr>
        <p:spPr>
          <a:xfrm>
            <a:off x="548640" y="3787616"/>
            <a:ext cx="5464912" cy="67008"/>
          </a:xfrm>
          <a:prstGeom prst="rect">
            <a:avLst/>
          </a:prstGeom>
          <a:solidFill>
            <a:srgbClr val="3D3ECC"/>
          </a:solidFill>
          <a:ln/>
        </p:spPr>
      </p:sp>
      <p:sp>
        <p:nvSpPr>
          <p:cNvPr id="27" name="Shape 25"/>
          <p:cNvSpPr/>
          <p:nvPr/>
        </p:nvSpPr>
        <p:spPr>
          <a:xfrm>
            <a:off x="548640" y="3845481"/>
            <a:ext cx="5464912" cy="67008"/>
          </a:xfrm>
          <a:prstGeom prst="rect">
            <a:avLst/>
          </a:prstGeom>
          <a:solidFill>
            <a:srgbClr val="3C3FCC"/>
          </a:solidFill>
          <a:ln/>
        </p:spPr>
      </p:sp>
      <p:sp>
        <p:nvSpPr>
          <p:cNvPr id="28" name="Shape 26"/>
          <p:cNvSpPr/>
          <p:nvPr/>
        </p:nvSpPr>
        <p:spPr>
          <a:xfrm>
            <a:off x="548640" y="3903345"/>
            <a:ext cx="5464912" cy="67008"/>
          </a:xfrm>
          <a:prstGeom prst="rect">
            <a:avLst/>
          </a:prstGeom>
          <a:solidFill>
            <a:srgbClr val="3B40CD"/>
          </a:solidFill>
          <a:ln/>
        </p:spPr>
      </p:sp>
      <p:sp>
        <p:nvSpPr>
          <p:cNvPr id="29" name="Shape 27"/>
          <p:cNvSpPr/>
          <p:nvPr/>
        </p:nvSpPr>
        <p:spPr>
          <a:xfrm>
            <a:off x="548640" y="3961209"/>
            <a:ext cx="5464912" cy="67008"/>
          </a:xfrm>
          <a:prstGeom prst="rect">
            <a:avLst/>
          </a:prstGeom>
          <a:solidFill>
            <a:srgbClr val="3B41CD"/>
          </a:solidFill>
          <a:ln/>
        </p:spPr>
      </p:sp>
      <p:sp>
        <p:nvSpPr>
          <p:cNvPr id="30" name="Shape 28"/>
          <p:cNvSpPr/>
          <p:nvPr/>
        </p:nvSpPr>
        <p:spPr>
          <a:xfrm>
            <a:off x="548640" y="4019074"/>
            <a:ext cx="5464912" cy="67008"/>
          </a:xfrm>
          <a:prstGeom prst="rect">
            <a:avLst/>
          </a:prstGeom>
          <a:solidFill>
            <a:srgbClr val="3A42CE"/>
          </a:solidFill>
          <a:ln/>
        </p:spPr>
      </p:sp>
      <p:sp>
        <p:nvSpPr>
          <p:cNvPr id="31" name="Shape 29"/>
          <p:cNvSpPr/>
          <p:nvPr/>
        </p:nvSpPr>
        <p:spPr>
          <a:xfrm>
            <a:off x="548640" y="4076938"/>
            <a:ext cx="5464912" cy="67008"/>
          </a:xfrm>
          <a:prstGeom prst="rect">
            <a:avLst/>
          </a:prstGeom>
          <a:solidFill>
            <a:srgbClr val="3943CE"/>
          </a:solidFill>
          <a:ln/>
        </p:spPr>
      </p:sp>
      <p:sp>
        <p:nvSpPr>
          <p:cNvPr id="32" name="Shape 30"/>
          <p:cNvSpPr/>
          <p:nvPr/>
        </p:nvSpPr>
        <p:spPr>
          <a:xfrm>
            <a:off x="548640" y="4134802"/>
            <a:ext cx="5464912" cy="67008"/>
          </a:xfrm>
          <a:prstGeom prst="rect">
            <a:avLst/>
          </a:prstGeom>
          <a:solidFill>
            <a:srgbClr val="3844CE"/>
          </a:solidFill>
          <a:ln/>
        </p:spPr>
      </p:sp>
      <p:sp>
        <p:nvSpPr>
          <p:cNvPr id="33" name="Shape 31"/>
          <p:cNvSpPr/>
          <p:nvPr/>
        </p:nvSpPr>
        <p:spPr>
          <a:xfrm>
            <a:off x="548640" y="4192667"/>
            <a:ext cx="5464912" cy="67008"/>
          </a:xfrm>
          <a:prstGeom prst="rect">
            <a:avLst/>
          </a:prstGeom>
          <a:solidFill>
            <a:srgbClr val="3745CF"/>
          </a:solidFill>
          <a:ln/>
        </p:spPr>
      </p:sp>
      <p:sp>
        <p:nvSpPr>
          <p:cNvPr id="34" name="Shape 32"/>
          <p:cNvSpPr/>
          <p:nvPr/>
        </p:nvSpPr>
        <p:spPr>
          <a:xfrm>
            <a:off x="548640" y="4250531"/>
            <a:ext cx="5464912" cy="67008"/>
          </a:xfrm>
          <a:prstGeom prst="rect">
            <a:avLst/>
          </a:prstGeom>
          <a:solidFill>
            <a:srgbClr val="3646CF"/>
          </a:solidFill>
          <a:ln/>
        </p:spPr>
      </p:sp>
      <p:sp>
        <p:nvSpPr>
          <p:cNvPr id="35" name="Shape 33"/>
          <p:cNvSpPr/>
          <p:nvPr/>
        </p:nvSpPr>
        <p:spPr>
          <a:xfrm>
            <a:off x="548640" y="4308396"/>
            <a:ext cx="5464912" cy="67008"/>
          </a:xfrm>
          <a:prstGeom prst="rect">
            <a:avLst/>
          </a:prstGeom>
          <a:solidFill>
            <a:srgbClr val="3547D0"/>
          </a:solidFill>
          <a:ln/>
        </p:spPr>
      </p:sp>
      <p:sp>
        <p:nvSpPr>
          <p:cNvPr id="36" name="Shape 34"/>
          <p:cNvSpPr/>
          <p:nvPr/>
        </p:nvSpPr>
        <p:spPr>
          <a:xfrm>
            <a:off x="548640" y="4366260"/>
            <a:ext cx="5464912" cy="67008"/>
          </a:xfrm>
          <a:prstGeom prst="rect">
            <a:avLst/>
          </a:prstGeom>
          <a:solidFill>
            <a:srgbClr val="3549D0"/>
          </a:solidFill>
          <a:ln/>
        </p:spPr>
      </p:sp>
      <p:sp>
        <p:nvSpPr>
          <p:cNvPr id="37" name="Shape 35"/>
          <p:cNvSpPr/>
          <p:nvPr/>
        </p:nvSpPr>
        <p:spPr>
          <a:xfrm>
            <a:off x="548640" y="4424124"/>
            <a:ext cx="5464912" cy="67008"/>
          </a:xfrm>
          <a:prstGeom prst="rect">
            <a:avLst/>
          </a:prstGeom>
          <a:solidFill>
            <a:srgbClr val="344ACF"/>
          </a:solidFill>
          <a:ln/>
        </p:spPr>
      </p:sp>
      <p:sp>
        <p:nvSpPr>
          <p:cNvPr id="38" name="Shape 36"/>
          <p:cNvSpPr/>
          <p:nvPr/>
        </p:nvSpPr>
        <p:spPr>
          <a:xfrm>
            <a:off x="548640" y="4481989"/>
            <a:ext cx="5464912" cy="67008"/>
          </a:xfrm>
          <a:prstGeom prst="rect">
            <a:avLst/>
          </a:prstGeom>
          <a:solidFill>
            <a:srgbClr val="334BCF"/>
          </a:solidFill>
          <a:ln/>
        </p:spPr>
      </p:sp>
      <p:sp>
        <p:nvSpPr>
          <p:cNvPr id="39" name="Shape 37"/>
          <p:cNvSpPr/>
          <p:nvPr/>
        </p:nvSpPr>
        <p:spPr>
          <a:xfrm>
            <a:off x="548640" y="4539853"/>
            <a:ext cx="5464912" cy="67008"/>
          </a:xfrm>
          <a:prstGeom prst="rect">
            <a:avLst/>
          </a:prstGeom>
          <a:solidFill>
            <a:srgbClr val="324CCE"/>
          </a:solidFill>
          <a:ln/>
        </p:spPr>
      </p:sp>
      <p:sp>
        <p:nvSpPr>
          <p:cNvPr id="40" name="Shape 38"/>
          <p:cNvSpPr/>
          <p:nvPr/>
        </p:nvSpPr>
        <p:spPr>
          <a:xfrm>
            <a:off x="548640" y="4597717"/>
            <a:ext cx="5464912" cy="67008"/>
          </a:xfrm>
          <a:prstGeom prst="rect">
            <a:avLst/>
          </a:prstGeom>
          <a:solidFill>
            <a:srgbClr val="314ECD"/>
          </a:solidFill>
          <a:ln/>
        </p:spPr>
      </p:sp>
      <p:sp>
        <p:nvSpPr>
          <p:cNvPr id="41" name="Shape 39"/>
          <p:cNvSpPr/>
          <p:nvPr/>
        </p:nvSpPr>
        <p:spPr>
          <a:xfrm>
            <a:off x="548640" y="4655582"/>
            <a:ext cx="5464912" cy="67008"/>
          </a:xfrm>
          <a:prstGeom prst="rect">
            <a:avLst/>
          </a:prstGeom>
          <a:solidFill>
            <a:srgbClr val="304FCD"/>
          </a:solidFill>
          <a:ln/>
        </p:spPr>
      </p:sp>
      <p:sp>
        <p:nvSpPr>
          <p:cNvPr id="42" name="Shape 40"/>
          <p:cNvSpPr/>
          <p:nvPr/>
        </p:nvSpPr>
        <p:spPr>
          <a:xfrm>
            <a:off x="548640" y="4713446"/>
            <a:ext cx="5464912" cy="67008"/>
          </a:xfrm>
          <a:prstGeom prst="rect">
            <a:avLst/>
          </a:prstGeom>
          <a:solidFill>
            <a:srgbClr val="2F50CC"/>
          </a:solidFill>
          <a:ln/>
        </p:spPr>
      </p:sp>
      <p:sp>
        <p:nvSpPr>
          <p:cNvPr id="43" name="Shape 41"/>
          <p:cNvSpPr/>
          <p:nvPr/>
        </p:nvSpPr>
        <p:spPr>
          <a:xfrm>
            <a:off x="548640" y="4771311"/>
            <a:ext cx="5464912" cy="67008"/>
          </a:xfrm>
          <a:prstGeom prst="rect">
            <a:avLst/>
          </a:prstGeom>
          <a:solidFill>
            <a:srgbClr val="2F51CC"/>
          </a:solidFill>
          <a:ln/>
        </p:spPr>
      </p:sp>
      <p:sp>
        <p:nvSpPr>
          <p:cNvPr id="44" name="Shape 42"/>
          <p:cNvSpPr/>
          <p:nvPr/>
        </p:nvSpPr>
        <p:spPr>
          <a:xfrm>
            <a:off x="548640" y="4829175"/>
            <a:ext cx="5464912" cy="67008"/>
          </a:xfrm>
          <a:prstGeom prst="rect">
            <a:avLst/>
          </a:prstGeom>
          <a:solidFill>
            <a:srgbClr val="2E53CB"/>
          </a:solidFill>
          <a:ln/>
        </p:spPr>
      </p:sp>
      <p:sp>
        <p:nvSpPr>
          <p:cNvPr id="45" name="Shape 43"/>
          <p:cNvSpPr/>
          <p:nvPr/>
        </p:nvSpPr>
        <p:spPr>
          <a:xfrm>
            <a:off x="548640" y="4887039"/>
            <a:ext cx="5464912" cy="67008"/>
          </a:xfrm>
          <a:prstGeom prst="rect">
            <a:avLst/>
          </a:prstGeom>
          <a:solidFill>
            <a:srgbClr val="2D54CB"/>
          </a:solidFill>
          <a:ln/>
        </p:spPr>
      </p:sp>
      <p:sp>
        <p:nvSpPr>
          <p:cNvPr id="46" name="Shape 44"/>
          <p:cNvSpPr/>
          <p:nvPr/>
        </p:nvSpPr>
        <p:spPr>
          <a:xfrm>
            <a:off x="548640" y="4944904"/>
            <a:ext cx="5464912" cy="67008"/>
          </a:xfrm>
          <a:prstGeom prst="rect">
            <a:avLst/>
          </a:prstGeom>
          <a:solidFill>
            <a:srgbClr val="2C55CA"/>
          </a:solidFill>
          <a:ln/>
        </p:spPr>
      </p:sp>
      <p:sp>
        <p:nvSpPr>
          <p:cNvPr id="47" name="Shape 45"/>
          <p:cNvSpPr/>
          <p:nvPr/>
        </p:nvSpPr>
        <p:spPr>
          <a:xfrm>
            <a:off x="548640" y="5002768"/>
            <a:ext cx="5464912" cy="67008"/>
          </a:xfrm>
          <a:prstGeom prst="rect">
            <a:avLst/>
          </a:prstGeom>
          <a:solidFill>
            <a:srgbClr val="2B56C9"/>
          </a:solidFill>
          <a:ln/>
        </p:spPr>
      </p:sp>
      <p:sp>
        <p:nvSpPr>
          <p:cNvPr id="48" name="Shape 46"/>
          <p:cNvSpPr/>
          <p:nvPr/>
        </p:nvSpPr>
        <p:spPr>
          <a:xfrm>
            <a:off x="548640" y="5060633"/>
            <a:ext cx="5464912" cy="67008"/>
          </a:xfrm>
          <a:prstGeom prst="rect">
            <a:avLst/>
          </a:prstGeom>
          <a:solidFill>
            <a:srgbClr val="2A57C9"/>
          </a:solidFill>
          <a:ln/>
        </p:spPr>
      </p:sp>
      <p:sp>
        <p:nvSpPr>
          <p:cNvPr id="49" name="Shape 47"/>
          <p:cNvSpPr/>
          <p:nvPr/>
        </p:nvSpPr>
        <p:spPr>
          <a:xfrm>
            <a:off x="548640" y="5118497"/>
            <a:ext cx="5464912" cy="67008"/>
          </a:xfrm>
          <a:prstGeom prst="rect">
            <a:avLst/>
          </a:prstGeom>
          <a:solidFill>
            <a:srgbClr val="2959C8"/>
          </a:solidFill>
          <a:ln/>
        </p:spPr>
      </p:sp>
      <p:sp>
        <p:nvSpPr>
          <p:cNvPr id="50" name="Shape 48"/>
          <p:cNvSpPr/>
          <p:nvPr/>
        </p:nvSpPr>
        <p:spPr>
          <a:xfrm>
            <a:off x="548640" y="5176361"/>
            <a:ext cx="5464912" cy="67008"/>
          </a:xfrm>
          <a:prstGeom prst="rect">
            <a:avLst/>
          </a:prstGeom>
          <a:solidFill>
            <a:srgbClr val="295AC8"/>
          </a:solidFill>
          <a:ln/>
        </p:spPr>
      </p:sp>
      <p:sp>
        <p:nvSpPr>
          <p:cNvPr id="51" name="Shape 49"/>
          <p:cNvSpPr/>
          <p:nvPr/>
        </p:nvSpPr>
        <p:spPr>
          <a:xfrm>
            <a:off x="548640" y="5234226"/>
            <a:ext cx="5464912" cy="67008"/>
          </a:xfrm>
          <a:prstGeom prst="rect">
            <a:avLst/>
          </a:prstGeom>
          <a:solidFill>
            <a:srgbClr val="285BC7"/>
          </a:solidFill>
          <a:ln/>
        </p:spPr>
      </p:sp>
      <p:sp>
        <p:nvSpPr>
          <p:cNvPr id="52" name="Shape 50"/>
          <p:cNvSpPr/>
          <p:nvPr/>
        </p:nvSpPr>
        <p:spPr>
          <a:xfrm>
            <a:off x="548640" y="5292090"/>
            <a:ext cx="5464912" cy="67008"/>
          </a:xfrm>
          <a:prstGeom prst="rect">
            <a:avLst/>
          </a:prstGeom>
          <a:solidFill>
            <a:srgbClr val="275CC7"/>
          </a:solidFill>
          <a:ln/>
        </p:spPr>
      </p:sp>
      <p:sp>
        <p:nvSpPr>
          <p:cNvPr id="53" name="Shape 51"/>
          <p:cNvSpPr/>
          <p:nvPr/>
        </p:nvSpPr>
        <p:spPr>
          <a:xfrm>
            <a:off x="548640" y="5349954"/>
            <a:ext cx="5464912" cy="67008"/>
          </a:xfrm>
          <a:prstGeom prst="rect">
            <a:avLst/>
          </a:prstGeom>
          <a:solidFill>
            <a:srgbClr val="265EC6"/>
          </a:solidFill>
          <a:ln/>
        </p:spPr>
      </p:sp>
      <p:sp>
        <p:nvSpPr>
          <p:cNvPr id="54" name="Shape 52"/>
          <p:cNvSpPr/>
          <p:nvPr/>
        </p:nvSpPr>
        <p:spPr>
          <a:xfrm>
            <a:off x="548640" y="5407819"/>
            <a:ext cx="5464912" cy="67008"/>
          </a:xfrm>
          <a:prstGeom prst="rect">
            <a:avLst/>
          </a:prstGeom>
          <a:solidFill>
            <a:srgbClr val="255FC5"/>
          </a:solidFill>
          <a:ln/>
        </p:spPr>
      </p:sp>
      <p:sp>
        <p:nvSpPr>
          <p:cNvPr id="55" name="Shape 53"/>
          <p:cNvSpPr/>
          <p:nvPr/>
        </p:nvSpPr>
        <p:spPr>
          <a:xfrm>
            <a:off x="548640" y="5465683"/>
            <a:ext cx="5464912" cy="67008"/>
          </a:xfrm>
          <a:prstGeom prst="rect">
            <a:avLst/>
          </a:prstGeom>
          <a:solidFill>
            <a:srgbClr val="2460C5"/>
          </a:solidFill>
          <a:ln/>
        </p:spPr>
      </p:sp>
      <p:sp>
        <p:nvSpPr>
          <p:cNvPr id="56" name="Shape 54"/>
          <p:cNvSpPr/>
          <p:nvPr/>
        </p:nvSpPr>
        <p:spPr>
          <a:xfrm>
            <a:off x="548640" y="5523548"/>
            <a:ext cx="5464912" cy="67008"/>
          </a:xfrm>
          <a:prstGeom prst="rect">
            <a:avLst/>
          </a:prstGeom>
          <a:solidFill>
            <a:srgbClr val="2361C4"/>
          </a:solidFill>
          <a:ln/>
        </p:spPr>
      </p:sp>
      <p:sp>
        <p:nvSpPr>
          <p:cNvPr id="57" name="Shape 55"/>
          <p:cNvSpPr/>
          <p:nvPr/>
        </p:nvSpPr>
        <p:spPr>
          <a:xfrm>
            <a:off x="548640" y="5581412"/>
            <a:ext cx="5464912" cy="67008"/>
          </a:xfrm>
          <a:prstGeom prst="rect">
            <a:avLst/>
          </a:prstGeom>
          <a:solidFill>
            <a:srgbClr val="2363C4"/>
          </a:solidFill>
          <a:ln/>
        </p:spPr>
      </p:sp>
      <p:sp>
        <p:nvSpPr>
          <p:cNvPr id="58" name="Shape 56"/>
          <p:cNvSpPr/>
          <p:nvPr/>
        </p:nvSpPr>
        <p:spPr>
          <a:xfrm>
            <a:off x="548640" y="5639276"/>
            <a:ext cx="5464912" cy="67008"/>
          </a:xfrm>
          <a:prstGeom prst="rect">
            <a:avLst/>
          </a:prstGeom>
          <a:solidFill>
            <a:srgbClr val="2264C3"/>
          </a:solidFill>
          <a:ln/>
        </p:spPr>
      </p:sp>
      <p:sp>
        <p:nvSpPr>
          <p:cNvPr id="59" name="Shape 57"/>
          <p:cNvSpPr/>
          <p:nvPr/>
        </p:nvSpPr>
        <p:spPr>
          <a:xfrm>
            <a:off x="548640" y="5697141"/>
            <a:ext cx="5464912" cy="67008"/>
          </a:xfrm>
          <a:prstGeom prst="rect">
            <a:avLst/>
          </a:prstGeom>
          <a:solidFill>
            <a:srgbClr val="2165C3"/>
          </a:solidFill>
          <a:ln/>
        </p:spPr>
      </p:sp>
      <p:sp>
        <p:nvSpPr>
          <p:cNvPr id="60" name="Shape 58"/>
          <p:cNvSpPr/>
          <p:nvPr/>
        </p:nvSpPr>
        <p:spPr>
          <a:xfrm>
            <a:off x="548640" y="5755005"/>
            <a:ext cx="5464912" cy="67008"/>
          </a:xfrm>
          <a:prstGeom prst="rect">
            <a:avLst/>
          </a:prstGeom>
          <a:solidFill>
            <a:srgbClr val="2066C2"/>
          </a:solidFill>
          <a:ln/>
        </p:spPr>
      </p:sp>
      <p:sp>
        <p:nvSpPr>
          <p:cNvPr id="61" name="Shape 59"/>
          <p:cNvSpPr/>
          <p:nvPr/>
        </p:nvSpPr>
        <p:spPr>
          <a:xfrm>
            <a:off x="548640" y="5812869"/>
            <a:ext cx="5464912" cy="67008"/>
          </a:xfrm>
          <a:prstGeom prst="rect">
            <a:avLst/>
          </a:prstGeom>
          <a:solidFill>
            <a:srgbClr val="1F68C1"/>
          </a:solidFill>
          <a:ln/>
        </p:spPr>
      </p:sp>
      <p:sp>
        <p:nvSpPr>
          <p:cNvPr id="62" name="Shape 60"/>
          <p:cNvSpPr/>
          <p:nvPr/>
        </p:nvSpPr>
        <p:spPr>
          <a:xfrm>
            <a:off x="548640" y="5870734"/>
            <a:ext cx="5464912" cy="67008"/>
          </a:xfrm>
          <a:prstGeom prst="rect">
            <a:avLst/>
          </a:prstGeom>
          <a:solidFill>
            <a:srgbClr val="1E69C1"/>
          </a:solidFill>
          <a:ln/>
        </p:spPr>
      </p:sp>
      <p:sp>
        <p:nvSpPr>
          <p:cNvPr id="63" name="Shape 61"/>
          <p:cNvSpPr/>
          <p:nvPr/>
        </p:nvSpPr>
        <p:spPr>
          <a:xfrm>
            <a:off x="548640" y="5928598"/>
            <a:ext cx="5464912" cy="67008"/>
          </a:xfrm>
          <a:prstGeom prst="rect">
            <a:avLst/>
          </a:prstGeom>
          <a:solidFill>
            <a:srgbClr val="1D6AC0"/>
          </a:solidFill>
          <a:ln/>
        </p:spPr>
      </p:sp>
      <p:sp>
        <p:nvSpPr>
          <p:cNvPr id="64" name="Shape 62"/>
          <p:cNvSpPr/>
          <p:nvPr/>
        </p:nvSpPr>
        <p:spPr>
          <a:xfrm>
            <a:off x="548640" y="5986463"/>
            <a:ext cx="5464912" cy="67008"/>
          </a:xfrm>
          <a:prstGeom prst="rect">
            <a:avLst/>
          </a:prstGeom>
          <a:solidFill>
            <a:srgbClr val="1D6BC0"/>
          </a:solidFill>
          <a:ln/>
        </p:spPr>
      </p:sp>
      <p:sp>
        <p:nvSpPr>
          <p:cNvPr id="65" name="Shape 63"/>
          <p:cNvSpPr/>
          <p:nvPr/>
        </p:nvSpPr>
        <p:spPr>
          <a:xfrm>
            <a:off x="548640" y="6044327"/>
            <a:ext cx="5464912" cy="67008"/>
          </a:xfrm>
          <a:prstGeom prst="rect">
            <a:avLst/>
          </a:prstGeom>
          <a:solidFill>
            <a:srgbClr val="1C6DBF"/>
          </a:solidFill>
          <a:ln/>
        </p:spPr>
      </p:sp>
      <p:sp>
        <p:nvSpPr>
          <p:cNvPr id="66" name="Shape 64"/>
          <p:cNvSpPr/>
          <p:nvPr/>
        </p:nvSpPr>
        <p:spPr>
          <a:xfrm>
            <a:off x="548640" y="6102191"/>
            <a:ext cx="5464912" cy="67008"/>
          </a:xfrm>
          <a:prstGeom prst="rect">
            <a:avLst/>
          </a:prstGeom>
          <a:solidFill>
            <a:srgbClr val="1B6EBF"/>
          </a:solidFill>
          <a:ln/>
        </p:spPr>
      </p:sp>
      <p:sp>
        <p:nvSpPr>
          <p:cNvPr id="67" name="Shape 65"/>
          <p:cNvSpPr/>
          <p:nvPr/>
        </p:nvSpPr>
        <p:spPr>
          <a:xfrm>
            <a:off x="548640" y="6160056"/>
            <a:ext cx="5464912" cy="67008"/>
          </a:xfrm>
          <a:prstGeom prst="rect">
            <a:avLst/>
          </a:prstGeom>
          <a:solidFill>
            <a:srgbClr val="1A6FBE"/>
          </a:solidFill>
          <a:ln/>
        </p:spPr>
      </p:sp>
      <p:sp>
        <p:nvSpPr>
          <p:cNvPr id="68" name="Text 66"/>
          <p:cNvSpPr/>
          <p:nvPr/>
        </p:nvSpPr>
        <p:spPr>
          <a:xfrm>
            <a:off x="914400" y="2880360"/>
            <a:ext cx="4733392" cy="914400"/>
          </a:xfrm>
          <a:prstGeom prst="rect">
            <a:avLst/>
          </a:prstGeom>
          <a:noFill/>
          <a:ln/>
        </p:spPr>
        <p:txBody>
          <a:bodyPr wrap="square" lIns="0" tIns="0" rIns="0" bIns="0" rtlCol="0" anchor="t"/>
          <a:lstStyle/>
          <a:p>
            <a:pPr algn="l" indent="0" marL="0">
              <a:buNone/>
            </a:pPr>
            <a:r>
              <a:rPr lang="en-US" sz="1100" b="1" spc="300" kern="0" dirty="0">
                <a:solidFill>
                  <a:srgbClr val="FFFFFF"/>
                </a:solidFill>
                <a:latin typeface="Calibri" pitchFamily="34" charset="0"/>
                <a:ea typeface="Calibri" pitchFamily="34" charset="-122"/>
                <a:cs typeface="Calibri" pitchFamily="34" charset="-120"/>
              </a:rPr>
              <a:t>PRICING</a:t>
            </a:r>
            <a:endParaRPr lang="en-US" sz="1100" dirty="0"/>
          </a:p>
        </p:txBody>
      </p:sp>
      <p:sp>
        <p:nvSpPr>
          <p:cNvPr id="69" name="Text 67"/>
          <p:cNvSpPr/>
          <p:nvPr/>
        </p:nvSpPr>
        <p:spPr>
          <a:xfrm>
            <a:off x="914400" y="3383280"/>
            <a:ext cx="4733392" cy="2011680"/>
          </a:xfrm>
          <a:prstGeom prst="rect">
            <a:avLst/>
          </a:prstGeom>
          <a:noFill/>
          <a:ln/>
        </p:spPr>
        <p:txBody>
          <a:bodyPr wrap="square" lIns="0" tIns="0" rIns="0" bIns="0" rtlCol="0" anchor="t"/>
          <a:lstStyle/>
          <a:p>
            <a:pPr algn="l" indent="0" marL="0">
              <a:buNone/>
            </a:pPr>
            <a:r>
              <a:rPr lang="en-US" sz="3200" b="1" spc="-50" kern="0" dirty="0">
                <a:solidFill>
                  <a:srgbClr val="FFFFFF"/>
                </a:solidFill>
                <a:latin typeface="Calibri" pitchFamily="34" charset="0"/>
                <a:ea typeface="Calibri" pitchFamily="34" charset="-122"/>
                <a:cs typeface="Calibri" pitchFamily="34" charset="-120"/>
              </a:rPr>
              <a:t>$39 Pro. $99 Scale. Annual saves 20%.</a:t>
            </a:r>
            <a:endParaRPr lang="en-US" sz="3200" dirty="0"/>
          </a:p>
        </p:txBody>
      </p:sp>
      <p:sp>
        <p:nvSpPr>
          <p:cNvPr id="70" name="Text 68"/>
          <p:cNvSpPr/>
          <p:nvPr/>
        </p:nvSpPr>
        <p:spPr>
          <a:xfrm>
            <a:off x="914400" y="5166360"/>
            <a:ext cx="4733392" cy="10972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Two plans. Both are the full product. No feature gates. First 10 customers get $20/mo locked forever as a thank-you for being early.</a:t>
            </a:r>
            <a:endParaRPr lang="en-US" sz="1300" dirty="0"/>
          </a:p>
        </p:txBody>
      </p:sp>
      <p:sp>
        <p:nvSpPr>
          <p:cNvPr id="71" name="Shape 69"/>
          <p:cNvSpPr/>
          <p:nvPr/>
        </p:nvSpPr>
        <p:spPr>
          <a:xfrm>
            <a:off x="6178144" y="2514600"/>
            <a:ext cx="5464912" cy="1124712"/>
          </a:xfrm>
          <a:prstGeom prst="roundRect">
            <a:avLst>
              <a:gd name="adj" fmla="val 9756"/>
            </a:avLst>
          </a:prstGeom>
          <a:solidFill>
            <a:srgbClr val="FFFFFF"/>
          </a:solidFill>
          <a:ln w="9525">
            <a:solidFill>
              <a:srgbClr val="E5E7F0"/>
            </a:solidFill>
            <a:prstDash val="solid"/>
          </a:ln>
        </p:spPr>
      </p:sp>
      <p:sp>
        <p:nvSpPr>
          <p:cNvPr id="72" name="Shape 70"/>
          <p:cNvSpPr/>
          <p:nvPr/>
        </p:nvSpPr>
        <p:spPr>
          <a:xfrm>
            <a:off x="6178144" y="2514600"/>
            <a:ext cx="73152" cy="1124712"/>
          </a:xfrm>
          <a:prstGeom prst="rect">
            <a:avLst/>
          </a:prstGeom>
          <a:solidFill>
            <a:srgbClr val="5028C2"/>
          </a:solidFill>
          <a:ln/>
        </p:spPr>
      </p:sp>
      <p:sp>
        <p:nvSpPr>
          <p:cNvPr id="73" name="Text 71"/>
          <p:cNvSpPr/>
          <p:nvPr/>
        </p:nvSpPr>
        <p:spPr>
          <a:xfrm>
            <a:off x="6434176" y="2697480"/>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Pro</a:t>
            </a:r>
            <a:endParaRPr lang="en-US" sz="1600" dirty="0"/>
          </a:p>
        </p:txBody>
      </p:sp>
      <p:sp>
        <p:nvSpPr>
          <p:cNvPr id="74" name="Text 72"/>
          <p:cNvSpPr/>
          <p:nvPr/>
        </p:nvSpPr>
        <p:spPr>
          <a:xfrm>
            <a:off x="6434176" y="3081528"/>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$39/mo · 1 seat · full product</a:t>
            </a:r>
            <a:endParaRPr lang="en-US" sz="1200" dirty="0"/>
          </a:p>
        </p:txBody>
      </p:sp>
      <p:sp>
        <p:nvSpPr>
          <p:cNvPr id="75" name="Shape 73"/>
          <p:cNvSpPr/>
          <p:nvPr/>
        </p:nvSpPr>
        <p:spPr>
          <a:xfrm>
            <a:off x="6178144" y="3803904"/>
            <a:ext cx="5464912" cy="1124712"/>
          </a:xfrm>
          <a:prstGeom prst="roundRect">
            <a:avLst>
              <a:gd name="adj" fmla="val 9756"/>
            </a:avLst>
          </a:prstGeom>
          <a:solidFill>
            <a:srgbClr val="FFFFFF"/>
          </a:solidFill>
          <a:ln w="9525">
            <a:solidFill>
              <a:srgbClr val="E5E7F0"/>
            </a:solidFill>
            <a:prstDash val="solid"/>
          </a:ln>
        </p:spPr>
      </p:sp>
      <p:sp>
        <p:nvSpPr>
          <p:cNvPr id="76" name="Shape 74"/>
          <p:cNvSpPr/>
          <p:nvPr/>
        </p:nvSpPr>
        <p:spPr>
          <a:xfrm>
            <a:off x="6178144" y="3803904"/>
            <a:ext cx="73152" cy="1124712"/>
          </a:xfrm>
          <a:prstGeom prst="rect">
            <a:avLst/>
          </a:prstGeom>
          <a:solidFill>
            <a:srgbClr val="3548D0"/>
          </a:solidFill>
          <a:ln/>
        </p:spPr>
      </p:sp>
      <p:sp>
        <p:nvSpPr>
          <p:cNvPr id="77" name="Text 75"/>
          <p:cNvSpPr/>
          <p:nvPr/>
        </p:nvSpPr>
        <p:spPr>
          <a:xfrm>
            <a:off x="6434176" y="3986784"/>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Scale</a:t>
            </a:r>
            <a:endParaRPr lang="en-US" sz="1600" dirty="0"/>
          </a:p>
        </p:txBody>
      </p:sp>
      <p:sp>
        <p:nvSpPr>
          <p:cNvPr id="78" name="Text 76"/>
          <p:cNvSpPr/>
          <p:nvPr/>
        </p:nvSpPr>
        <p:spPr>
          <a:xfrm>
            <a:off x="6434176" y="4370832"/>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$99/mo · 5 seats · advanced analytics</a:t>
            </a:r>
            <a:endParaRPr lang="en-US" sz="1200" dirty="0"/>
          </a:p>
        </p:txBody>
      </p:sp>
      <p:sp>
        <p:nvSpPr>
          <p:cNvPr id="79" name="Shape 77"/>
          <p:cNvSpPr/>
          <p:nvPr/>
        </p:nvSpPr>
        <p:spPr>
          <a:xfrm>
            <a:off x="6178144" y="5093208"/>
            <a:ext cx="5464912" cy="1124712"/>
          </a:xfrm>
          <a:prstGeom prst="roundRect">
            <a:avLst>
              <a:gd name="adj" fmla="val 9756"/>
            </a:avLst>
          </a:prstGeom>
          <a:solidFill>
            <a:srgbClr val="FFFFFF"/>
          </a:solidFill>
          <a:ln w="9525">
            <a:solidFill>
              <a:srgbClr val="E5E7F0"/>
            </a:solidFill>
            <a:prstDash val="solid"/>
          </a:ln>
        </p:spPr>
      </p:sp>
      <p:sp>
        <p:nvSpPr>
          <p:cNvPr id="80" name="Shape 78"/>
          <p:cNvSpPr/>
          <p:nvPr/>
        </p:nvSpPr>
        <p:spPr>
          <a:xfrm>
            <a:off x="6178144" y="5093208"/>
            <a:ext cx="73152" cy="1124712"/>
          </a:xfrm>
          <a:prstGeom prst="rect">
            <a:avLst/>
          </a:prstGeom>
          <a:solidFill>
            <a:srgbClr val="1A6FBE"/>
          </a:solidFill>
          <a:ln/>
        </p:spPr>
      </p:sp>
      <p:sp>
        <p:nvSpPr>
          <p:cNvPr id="81" name="Text 79"/>
          <p:cNvSpPr/>
          <p:nvPr/>
        </p:nvSpPr>
        <p:spPr>
          <a:xfrm>
            <a:off x="6434176" y="5276088"/>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Early-bird</a:t>
            </a:r>
            <a:endParaRPr lang="en-US" sz="1600" dirty="0"/>
          </a:p>
        </p:txBody>
      </p:sp>
      <p:sp>
        <p:nvSpPr>
          <p:cNvPr id="82" name="Text 80"/>
          <p:cNvSpPr/>
          <p:nvPr/>
        </p:nvSpPr>
        <p:spPr>
          <a:xfrm>
            <a:off x="6434176" y="5660136"/>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First 10 customers — $20/mo locked</a:t>
            </a:r>
            <a:endParaRPr lang="en-US" sz="1200" dirty="0"/>
          </a:p>
        </p:txBody>
      </p:sp>
      <p:sp>
        <p:nvSpPr>
          <p:cNvPr id="83" name="Shape 81"/>
          <p:cNvSpPr/>
          <p:nvPr/>
        </p:nvSpPr>
        <p:spPr>
          <a:xfrm>
            <a:off x="548640" y="502920"/>
            <a:ext cx="292608" cy="292608"/>
          </a:xfrm>
          <a:prstGeom prst="roundRect">
            <a:avLst>
              <a:gd name="adj" fmla="val 25000"/>
            </a:avLst>
          </a:prstGeom>
          <a:solidFill>
            <a:srgbClr val="5028C2"/>
          </a:solidFill>
          <a:ln/>
        </p:spPr>
      </p:sp>
      <p:sp>
        <p:nvSpPr>
          <p:cNvPr id="84" name="Shape 82"/>
          <p:cNvSpPr/>
          <p:nvPr/>
        </p:nvSpPr>
        <p:spPr>
          <a:xfrm>
            <a:off x="548640" y="502920"/>
            <a:ext cx="292608" cy="292608"/>
          </a:xfrm>
          <a:prstGeom prst="roundRect">
            <a:avLst>
              <a:gd name="adj" fmla="val 25000"/>
            </a:avLst>
          </a:prstGeom>
          <a:solidFill>
            <a:srgbClr val="1A6FBE">
              <a:alpha val="50000"/>
            </a:srgbClr>
          </a:solidFill>
          <a:ln/>
        </p:spPr>
      </p:sp>
      <p:sp>
        <p:nvSpPr>
          <p:cNvPr id="85" name="Text 83"/>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86" name="Text 84"/>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87" name="Text 85"/>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12 · Pricing  ·  vG</a:t>
            </a:r>
            <a:endParaRPr lang="en-US" sz="900" dirty="0"/>
          </a:p>
        </p:txBody>
      </p:sp>
      <p:sp>
        <p:nvSpPr>
          <p:cNvPr id="88" name="Text 86"/>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89" name="Text 87"/>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084 / 126</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80015" y="-914400"/>
            <a:ext cx="3200400" cy="3200400"/>
          </a:xfrm>
          <a:prstGeom prst="ellipse">
            <a:avLst/>
          </a:prstGeom>
          <a:solidFill>
            <a:srgbClr val="F1ECFF"/>
          </a:solidFill>
          <a:ln/>
        </p:spPr>
      </p:sp>
      <p:sp>
        <p:nvSpPr>
          <p:cNvPr id="3" name="Shape 1"/>
          <p:cNvSpPr/>
          <p:nvPr/>
        </p:nvSpPr>
        <p:spPr>
          <a:xfrm>
            <a:off x="10820095" y="-548640"/>
            <a:ext cx="2194560" cy="2194560"/>
          </a:xfrm>
          <a:prstGeom prst="ellipse">
            <a:avLst/>
          </a:prstGeom>
          <a:solidFill>
            <a:srgbClr val="E8F1FB">
              <a:alpha val="60000"/>
            </a:srgbClr>
          </a:solidFill>
          <a:ln/>
        </p:spPr>
      </p:sp>
      <p:sp>
        <p:nvSpPr>
          <p:cNvPr id="4" name="Shape 2"/>
          <p:cNvSpPr/>
          <p:nvPr/>
        </p:nvSpPr>
        <p:spPr>
          <a:xfrm>
            <a:off x="548640" y="5486400"/>
            <a:ext cx="54864" cy="54864"/>
          </a:xfrm>
          <a:prstGeom prst="ellipse">
            <a:avLst/>
          </a:prstGeom>
          <a:solidFill>
            <a:srgbClr val="5028C2">
              <a:alpha val="30000"/>
            </a:srgbClr>
          </a:solidFill>
          <a:ln/>
        </p:spPr>
      </p:sp>
      <p:sp>
        <p:nvSpPr>
          <p:cNvPr id="5" name="Shape 3"/>
          <p:cNvSpPr/>
          <p:nvPr/>
        </p:nvSpPr>
        <p:spPr>
          <a:xfrm>
            <a:off x="548640" y="5650992"/>
            <a:ext cx="54864" cy="54864"/>
          </a:xfrm>
          <a:prstGeom prst="ellipse">
            <a:avLst/>
          </a:prstGeom>
          <a:solidFill>
            <a:srgbClr val="5028C2">
              <a:alpha val="30000"/>
            </a:srgbClr>
          </a:solidFill>
          <a:ln/>
        </p:spPr>
      </p:sp>
      <p:sp>
        <p:nvSpPr>
          <p:cNvPr id="6" name="Shape 4"/>
          <p:cNvSpPr/>
          <p:nvPr/>
        </p:nvSpPr>
        <p:spPr>
          <a:xfrm>
            <a:off x="548640" y="5815584"/>
            <a:ext cx="54864" cy="54864"/>
          </a:xfrm>
          <a:prstGeom prst="ellipse">
            <a:avLst/>
          </a:prstGeom>
          <a:solidFill>
            <a:srgbClr val="5028C2">
              <a:alpha val="30000"/>
            </a:srgbClr>
          </a:solidFill>
          <a:ln/>
        </p:spPr>
      </p:sp>
      <p:sp>
        <p:nvSpPr>
          <p:cNvPr id="7" name="Shape 5"/>
          <p:cNvSpPr/>
          <p:nvPr/>
        </p:nvSpPr>
        <p:spPr>
          <a:xfrm>
            <a:off x="713232" y="5486400"/>
            <a:ext cx="54864" cy="54864"/>
          </a:xfrm>
          <a:prstGeom prst="ellipse">
            <a:avLst/>
          </a:prstGeom>
          <a:solidFill>
            <a:srgbClr val="5028C2">
              <a:alpha val="30000"/>
            </a:srgbClr>
          </a:solidFill>
          <a:ln/>
        </p:spPr>
      </p:sp>
      <p:sp>
        <p:nvSpPr>
          <p:cNvPr id="8" name="Shape 6"/>
          <p:cNvSpPr/>
          <p:nvPr/>
        </p:nvSpPr>
        <p:spPr>
          <a:xfrm>
            <a:off x="713232" y="5650992"/>
            <a:ext cx="54864" cy="54864"/>
          </a:xfrm>
          <a:prstGeom prst="ellipse">
            <a:avLst/>
          </a:prstGeom>
          <a:solidFill>
            <a:srgbClr val="5028C2">
              <a:alpha val="30000"/>
            </a:srgbClr>
          </a:solidFill>
          <a:ln/>
        </p:spPr>
      </p:sp>
      <p:sp>
        <p:nvSpPr>
          <p:cNvPr id="9" name="Shape 7"/>
          <p:cNvSpPr/>
          <p:nvPr/>
        </p:nvSpPr>
        <p:spPr>
          <a:xfrm>
            <a:off x="713232" y="5815584"/>
            <a:ext cx="54864" cy="54864"/>
          </a:xfrm>
          <a:prstGeom prst="ellipse">
            <a:avLst/>
          </a:prstGeom>
          <a:solidFill>
            <a:srgbClr val="5028C2">
              <a:alpha val="30000"/>
            </a:srgbClr>
          </a:solidFill>
          <a:ln/>
        </p:spPr>
      </p:sp>
      <p:sp>
        <p:nvSpPr>
          <p:cNvPr id="10" name="Shape 8"/>
          <p:cNvSpPr/>
          <p:nvPr/>
        </p:nvSpPr>
        <p:spPr>
          <a:xfrm>
            <a:off x="877824" y="5486400"/>
            <a:ext cx="54864" cy="54864"/>
          </a:xfrm>
          <a:prstGeom prst="ellipse">
            <a:avLst/>
          </a:prstGeom>
          <a:solidFill>
            <a:srgbClr val="5028C2">
              <a:alpha val="30000"/>
            </a:srgbClr>
          </a:solidFill>
          <a:ln/>
        </p:spPr>
      </p:sp>
      <p:sp>
        <p:nvSpPr>
          <p:cNvPr id="11" name="Shape 9"/>
          <p:cNvSpPr/>
          <p:nvPr/>
        </p:nvSpPr>
        <p:spPr>
          <a:xfrm>
            <a:off x="877824" y="5650992"/>
            <a:ext cx="54864" cy="54864"/>
          </a:xfrm>
          <a:prstGeom prst="ellipse">
            <a:avLst/>
          </a:prstGeom>
          <a:solidFill>
            <a:srgbClr val="5028C2">
              <a:alpha val="30000"/>
            </a:srgbClr>
          </a:solidFill>
          <a:ln/>
        </p:spPr>
      </p:sp>
      <p:sp>
        <p:nvSpPr>
          <p:cNvPr id="12" name="Shape 10"/>
          <p:cNvSpPr/>
          <p:nvPr/>
        </p:nvSpPr>
        <p:spPr>
          <a:xfrm>
            <a:off x="877824" y="5815584"/>
            <a:ext cx="54864" cy="54864"/>
          </a:xfrm>
          <a:prstGeom prst="ellipse">
            <a:avLst/>
          </a:prstGeom>
          <a:solidFill>
            <a:srgbClr val="5028C2">
              <a:alpha val="30000"/>
            </a:srgbClr>
          </a:solidFill>
          <a:ln/>
        </p:spPr>
      </p:sp>
      <p:sp>
        <p:nvSpPr>
          <p:cNvPr id="13" name="Shape 11"/>
          <p:cNvSpPr/>
          <p:nvPr/>
        </p:nvSpPr>
        <p:spPr>
          <a:xfrm>
            <a:off x="1042416" y="5486400"/>
            <a:ext cx="54864" cy="54864"/>
          </a:xfrm>
          <a:prstGeom prst="ellipse">
            <a:avLst/>
          </a:prstGeom>
          <a:solidFill>
            <a:srgbClr val="5028C2">
              <a:alpha val="30000"/>
            </a:srgbClr>
          </a:solidFill>
          <a:ln/>
        </p:spPr>
      </p:sp>
      <p:sp>
        <p:nvSpPr>
          <p:cNvPr id="14" name="Shape 12"/>
          <p:cNvSpPr/>
          <p:nvPr/>
        </p:nvSpPr>
        <p:spPr>
          <a:xfrm>
            <a:off x="1042416" y="5650992"/>
            <a:ext cx="54864" cy="54864"/>
          </a:xfrm>
          <a:prstGeom prst="ellipse">
            <a:avLst/>
          </a:prstGeom>
          <a:solidFill>
            <a:srgbClr val="5028C2">
              <a:alpha val="30000"/>
            </a:srgbClr>
          </a:solidFill>
          <a:ln/>
        </p:spPr>
      </p:sp>
      <p:sp>
        <p:nvSpPr>
          <p:cNvPr id="15" name="Shape 13"/>
          <p:cNvSpPr/>
          <p:nvPr/>
        </p:nvSpPr>
        <p:spPr>
          <a:xfrm>
            <a:off x="1042416" y="5815584"/>
            <a:ext cx="54864" cy="54864"/>
          </a:xfrm>
          <a:prstGeom prst="ellipse">
            <a:avLst/>
          </a:prstGeom>
          <a:solidFill>
            <a:srgbClr val="5028C2">
              <a:alpha val="30000"/>
            </a:srgbClr>
          </a:solidFill>
          <a:ln/>
        </p:spPr>
      </p:sp>
      <p:sp>
        <p:nvSpPr>
          <p:cNvPr id="16" name="Shape 14"/>
          <p:cNvSpPr/>
          <p:nvPr/>
        </p:nvSpPr>
        <p:spPr>
          <a:xfrm>
            <a:off x="1207008" y="5486400"/>
            <a:ext cx="54864" cy="54864"/>
          </a:xfrm>
          <a:prstGeom prst="ellipse">
            <a:avLst/>
          </a:prstGeom>
          <a:solidFill>
            <a:srgbClr val="5028C2">
              <a:alpha val="30000"/>
            </a:srgbClr>
          </a:solidFill>
          <a:ln/>
        </p:spPr>
      </p:sp>
      <p:sp>
        <p:nvSpPr>
          <p:cNvPr id="17" name="Shape 15"/>
          <p:cNvSpPr/>
          <p:nvPr/>
        </p:nvSpPr>
        <p:spPr>
          <a:xfrm>
            <a:off x="1207008" y="5650992"/>
            <a:ext cx="54864" cy="54864"/>
          </a:xfrm>
          <a:prstGeom prst="ellipse">
            <a:avLst/>
          </a:prstGeom>
          <a:solidFill>
            <a:srgbClr val="5028C2">
              <a:alpha val="30000"/>
            </a:srgbClr>
          </a:solidFill>
          <a:ln/>
        </p:spPr>
      </p:sp>
      <p:sp>
        <p:nvSpPr>
          <p:cNvPr id="18" name="Shape 16"/>
          <p:cNvSpPr/>
          <p:nvPr/>
        </p:nvSpPr>
        <p:spPr>
          <a:xfrm>
            <a:off x="1207008" y="5815584"/>
            <a:ext cx="54864" cy="54864"/>
          </a:xfrm>
          <a:prstGeom prst="ellipse">
            <a:avLst/>
          </a:prstGeom>
          <a:solidFill>
            <a:srgbClr val="5028C2">
              <a:alpha val="30000"/>
            </a:srgbClr>
          </a:solidFill>
          <a:ln/>
        </p:spPr>
      </p:sp>
      <p:sp>
        <p:nvSpPr>
          <p:cNvPr id="19" name="Shape 17"/>
          <p:cNvSpPr/>
          <p:nvPr/>
        </p:nvSpPr>
        <p:spPr>
          <a:xfrm>
            <a:off x="1371600" y="5486400"/>
            <a:ext cx="54864" cy="54864"/>
          </a:xfrm>
          <a:prstGeom prst="ellipse">
            <a:avLst/>
          </a:prstGeom>
          <a:solidFill>
            <a:srgbClr val="5028C2">
              <a:alpha val="30000"/>
            </a:srgbClr>
          </a:solidFill>
          <a:ln/>
        </p:spPr>
      </p:sp>
      <p:sp>
        <p:nvSpPr>
          <p:cNvPr id="20" name="Shape 18"/>
          <p:cNvSpPr/>
          <p:nvPr/>
        </p:nvSpPr>
        <p:spPr>
          <a:xfrm>
            <a:off x="1371600" y="5650992"/>
            <a:ext cx="54864" cy="54864"/>
          </a:xfrm>
          <a:prstGeom prst="ellipse">
            <a:avLst/>
          </a:prstGeom>
          <a:solidFill>
            <a:srgbClr val="5028C2">
              <a:alpha val="30000"/>
            </a:srgbClr>
          </a:solidFill>
          <a:ln/>
        </p:spPr>
      </p:sp>
      <p:sp>
        <p:nvSpPr>
          <p:cNvPr id="21" name="Shape 19"/>
          <p:cNvSpPr/>
          <p:nvPr/>
        </p:nvSpPr>
        <p:spPr>
          <a:xfrm>
            <a:off x="1371600" y="5815584"/>
            <a:ext cx="54864" cy="54864"/>
          </a:xfrm>
          <a:prstGeom prst="ellipse">
            <a:avLst/>
          </a:prstGeom>
          <a:solidFill>
            <a:srgbClr val="5028C2">
              <a:alpha val="30000"/>
            </a:srgbClr>
          </a:solidFill>
          <a:ln/>
        </p:spPr>
      </p:sp>
      <p:sp>
        <p:nvSpPr>
          <p:cNvPr id="22" name="Text 20"/>
          <p:cNvSpPr/>
          <p:nvPr/>
        </p:nvSpPr>
        <p:spPr>
          <a:xfrm>
            <a:off x="548640" y="1097280"/>
            <a:ext cx="11094415"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WHO IT'S FOR</a:t>
            </a:r>
            <a:endParaRPr lang="en-US" sz="1100" dirty="0"/>
          </a:p>
        </p:txBody>
      </p:sp>
      <p:sp>
        <p:nvSpPr>
          <p:cNvPr id="23" name="Text 21"/>
          <p:cNvSpPr/>
          <p:nvPr/>
        </p:nvSpPr>
        <p:spPr>
          <a:xfrm>
            <a:off x="548640" y="1554480"/>
            <a:ext cx="11094415" cy="3108960"/>
          </a:xfrm>
          <a:prstGeom prst="rect">
            <a:avLst/>
          </a:prstGeom>
          <a:noFill/>
          <a:ln/>
        </p:spPr>
        <p:txBody>
          <a:bodyPr wrap="square" lIns="0" tIns="0" rIns="0" bIns="0" rtlCol="0" anchor="t"/>
          <a:lstStyle/>
          <a:p>
            <a:pPr algn="l" indent="0" marL="0">
              <a:buNone/>
            </a:pPr>
            <a:r>
              <a:rPr lang="en-US" sz="5200" b="1" spc="-100" kern="0" dirty="0">
                <a:solidFill>
                  <a:srgbClr val="0F1733"/>
                </a:solidFill>
                <a:latin typeface="Calibri" pitchFamily="34" charset="0"/>
                <a:ea typeface="Calibri" pitchFamily="34" charset="-122"/>
                <a:cs typeface="Calibri" pitchFamily="34" charset="-120"/>
              </a:rPr>
              <a:t>Founders. Partnerships teams. Growth operators.</a:t>
            </a:r>
            <a:endParaRPr lang="en-US" sz="5200" dirty="0"/>
          </a:p>
        </p:txBody>
      </p:sp>
      <p:sp>
        <p:nvSpPr>
          <p:cNvPr id="24" name="Text 22"/>
          <p:cNvSpPr/>
          <p:nvPr/>
        </p:nvSpPr>
        <p:spPr>
          <a:xfrm>
            <a:off x="548640" y="4754880"/>
            <a:ext cx="9265615" cy="1097280"/>
          </a:xfrm>
          <a:prstGeom prst="rect">
            <a:avLst/>
          </a:prstGeom>
          <a:noFill/>
          <a:ln/>
        </p:spPr>
        <p:txBody>
          <a:bodyPr wrap="square" lIns="0" tIns="0" rIns="0" bIns="0" rtlCol="0" anchor="t"/>
          <a:lstStyle/>
          <a:p>
            <a:pPr algn="l" indent="0" marL="0">
              <a:buNone/>
            </a:pPr>
            <a:r>
              <a:rPr lang="en-US" sz="1800" dirty="0">
                <a:solidFill>
                  <a:srgbClr val="2A3358"/>
                </a:solidFill>
                <a:latin typeface="Calibri" pitchFamily="34" charset="0"/>
                <a:ea typeface="Calibri" pitchFamily="34" charset="-122"/>
                <a:cs typeface="Calibri" pitchFamily="34" charset="-120"/>
              </a:rPr>
              <a:t>Anyone who has ever opened a spreadsheet, switched to a browser tab, and thought "there has to be a better way to do this."</a:t>
            </a:r>
            <a:endParaRPr lang="en-US" sz="1800" dirty="0"/>
          </a:p>
        </p:txBody>
      </p:sp>
      <p:sp>
        <p:nvSpPr>
          <p:cNvPr id="25" name="Shape 23"/>
          <p:cNvSpPr/>
          <p:nvPr/>
        </p:nvSpPr>
        <p:spPr>
          <a:xfrm>
            <a:off x="548640" y="502920"/>
            <a:ext cx="292608" cy="292608"/>
          </a:xfrm>
          <a:prstGeom prst="roundRect">
            <a:avLst>
              <a:gd name="adj" fmla="val 25000"/>
            </a:avLst>
          </a:prstGeom>
          <a:solidFill>
            <a:srgbClr val="5028C2"/>
          </a:solidFill>
          <a:ln/>
        </p:spPr>
      </p:sp>
      <p:sp>
        <p:nvSpPr>
          <p:cNvPr id="26" name="Shape 24"/>
          <p:cNvSpPr/>
          <p:nvPr/>
        </p:nvSpPr>
        <p:spPr>
          <a:xfrm>
            <a:off x="548640" y="502920"/>
            <a:ext cx="292608" cy="292608"/>
          </a:xfrm>
          <a:prstGeom prst="roundRect">
            <a:avLst>
              <a:gd name="adj" fmla="val 25000"/>
            </a:avLst>
          </a:prstGeom>
          <a:solidFill>
            <a:srgbClr val="1A6FBE">
              <a:alpha val="50000"/>
            </a:srgbClr>
          </a:solidFill>
          <a:ln/>
        </p:spPr>
      </p:sp>
      <p:sp>
        <p:nvSpPr>
          <p:cNvPr id="27" name="Text 25"/>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8" name="Text 26"/>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9" name="Text 27"/>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13 · Who it's for  ·  vA</a:t>
            </a:r>
            <a:endParaRPr lang="en-US" sz="900" dirty="0"/>
          </a:p>
        </p:txBody>
      </p:sp>
      <p:sp>
        <p:nvSpPr>
          <p:cNvPr id="30" name="Text 28"/>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31" name="Text 29"/>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085 / 126</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071183" y="0"/>
            <a:ext cx="5120512" cy="116300"/>
          </a:xfrm>
          <a:prstGeom prst="rect">
            <a:avLst/>
          </a:prstGeom>
          <a:solidFill>
            <a:srgbClr val="5028C2"/>
          </a:solidFill>
          <a:ln/>
        </p:spPr>
      </p:sp>
      <p:sp>
        <p:nvSpPr>
          <p:cNvPr id="3" name="Shape 1"/>
          <p:cNvSpPr/>
          <p:nvPr/>
        </p:nvSpPr>
        <p:spPr>
          <a:xfrm>
            <a:off x="7071183" y="107156"/>
            <a:ext cx="5120512" cy="116300"/>
          </a:xfrm>
          <a:prstGeom prst="rect">
            <a:avLst/>
          </a:prstGeom>
          <a:solidFill>
            <a:srgbClr val="4F29C2"/>
          </a:solidFill>
          <a:ln/>
        </p:spPr>
      </p:sp>
      <p:sp>
        <p:nvSpPr>
          <p:cNvPr id="4" name="Shape 2"/>
          <p:cNvSpPr/>
          <p:nvPr/>
        </p:nvSpPr>
        <p:spPr>
          <a:xfrm>
            <a:off x="7071183" y="214313"/>
            <a:ext cx="5120512" cy="116300"/>
          </a:xfrm>
          <a:prstGeom prst="rect">
            <a:avLst/>
          </a:prstGeom>
          <a:solidFill>
            <a:srgbClr val="4E2AC3"/>
          </a:solidFill>
          <a:ln/>
        </p:spPr>
      </p:sp>
      <p:sp>
        <p:nvSpPr>
          <p:cNvPr id="5" name="Shape 3"/>
          <p:cNvSpPr/>
          <p:nvPr/>
        </p:nvSpPr>
        <p:spPr>
          <a:xfrm>
            <a:off x="7071183" y="321469"/>
            <a:ext cx="5120512" cy="116300"/>
          </a:xfrm>
          <a:prstGeom prst="rect">
            <a:avLst/>
          </a:prstGeom>
          <a:solidFill>
            <a:srgbClr val="4D2BC3"/>
          </a:solidFill>
          <a:ln/>
        </p:spPr>
      </p:sp>
      <p:sp>
        <p:nvSpPr>
          <p:cNvPr id="6" name="Shape 4"/>
          <p:cNvSpPr/>
          <p:nvPr/>
        </p:nvSpPr>
        <p:spPr>
          <a:xfrm>
            <a:off x="7071183" y="428625"/>
            <a:ext cx="5120512" cy="116300"/>
          </a:xfrm>
          <a:prstGeom prst="rect">
            <a:avLst/>
          </a:prstGeom>
          <a:solidFill>
            <a:srgbClr val="4D2CC4"/>
          </a:solidFill>
          <a:ln/>
        </p:spPr>
      </p:sp>
      <p:sp>
        <p:nvSpPr>
          <p:cNvPr id="7" name="Shape 5"/>
          <p:cNvSpPr/>
          <p:nvPr/>
        </p:nvSpPr>
        <p:spPr>
          <a:xfrm>
            <a:off x="7071183" y="535781"/>
            <a:ext cx="5120512" cy="116300"/>
          </a:xfrm>
          <a:prstGeom prst="rect">
            <a:avLst/>
          </a:prstGeom>
          <a:solidFill>
            <a:srgbClr val="4C2DC4"/>
          </a:solidFill>
          <a:ln/>
        </p:spPr>
      </p:sp>
      <p:sp>
        <p:nvSpPr>
          <p:cNvPr id="8" name="Shape 6"/>
          <p:cNvSpPr/>
          <p:nvPr/>
        </p:nvSpPr>
        <p:spPr>
          <a:xfrm>
            <a:off x="7071183" y="642938"/>
            <a:ext cx="5120512" cy="116300"/>
          </a:xfrm>
          <a:prstGeom prst="rect">
            <a:avLst/>
          </a:prstGeom>
          <a:solidFill>
            <a:srgbClr val="4B2EC5"/>
          </a:solidFill>
          <a:ln/>
        </p:spPr>
      </p:sp>
      <p:sp>
        <p:nvSpPr>
          <p:cNvPr id="9" name="Shape 7"/>
          <p:cNvSpPr/>
          <p:nvPr/>
        </p:nvSpPr>
        <p:spPr>
          <a:xfrm>
            <a:off x="7071183" y="750094"/>
            <a:ext cx="5120512" cy="116300"/>
          </a:xfrm>
          <a:prstGeom prst="rect">
            <a:avLst/>
          </a:prstGeom>
          <a:solidFill>
            <a:srgbClr val="4A2FC5"/>
          </a:solidFill>
          <a:ln/>
        </p:spPr>
      </p:sp>
      <p:sp>
        <p:nvSpPr>
          <p:cNvPr id="10" name="Shape 8"/>
          <p:cNvSpPr/>
          <p:nvPr/>
        </p:nvSpPr>
        <p:spPr>
          <a:xfrm>
            <a:off x="7071183" y="857250"/>
            <a:ext cx="5120512" cy="116300"/>
          </a:xfrm>
          <a:prstGeom prst="rect">
            <a:avLst/>
          </a:prstGeom>
          <a:solidFill>
            <a:srgbClr val="4930C6"/>
          </a:solidFill>
          <a:ln/>
        </p:spPr>
      </p:sp>
      <p:sp>
        <p:nvSpPr>
          <p:cNvPr id="11" name="Shape 9"/>
          <p:cNvSpPr/>
          <p:nvPr/>
        </p:nvSpPr>
        <p:spPr>
          <a:xfrm>
            <a:off x="7071183" y="964406"/>
            <a:ext cx="5120512" cy="116300"/>
          </a:xfrm>
          <a:prstGeom prst="rect">
            <a:avLst/>
          </a:prstGeom>
          <a:solidFill>
            <a:srgbClr val="4831C6"/>
          </a:solidFill>
          <a:ln/>
        </p:spPr>
      </p:sp>
      <p:sp>
        <p:nvSpPr>
          <p:cNvPr id="12" name="Shape 10"/>
          <p:cNvSpPr/>
          <p:nvPr/>
        </p:nvSpPr>
        <p:spPr>
          <a:xfrm>
            <a:off x="7071183" y="1071563"/>
            <a:ext cx="5120512" cy="116300"/>
          </a:xfrm>
          <a:prstGeom prst="rect">
            <a:avLst/>
          </a:prstGeom>
          <a:solidFill>
            <a:srgbClr val="4732C6"/>
          </a:solidFill>
          <a:ln/>
        </p:spPr>
      </p:sp>
      <p:sp>
        <p:nvSpPr>
          <p:cNvPr id="13" name="Shape 11"/>
          <p:cNvSpPr/>
          <p:nvPr/>
        </p:nvSpPr>
        <p:spPr>
          <a:xfrm>
            <a:off x="7071183" y="1178719"/>
            <a:ext cx="5120512" cy="116300"/>
          </a:xfrm>
          <a:prstGeom prst="rect">
            <a:avLst/>
          </a:prstGeom>
          <a:solidFill>
            <a:srgbClr val="4733C7"/>
          </a:solidFill>
          <a:ln/>
        </p:spPr>
      </p:sp>
      <p:sp>
        <p:nvSpPr>
          <p:cNvPr id="14" name="Shape 12"/>
          <p:cNvSpPr/>
          <p:nvPr/>
        </p:nvSpPr>
        <p:spPr>
          <a:xfrm>
            <a:off x="7071183" y="1285875"/>
            <a:ext cx="5120512" cy="116300"/>
          </a:xfrm>
          <a:prstGeom prst="rect">
            <a:avLst/>
          </a:prstGeom>
          <a:solidFill>
            <a:srgbClr val="4634C7"/>
          </a:solidFill>
          <a:ln/>
        </p:spPr>
      </p:sp>
      <p:sp>
        <p:nvSpPr>
          <p:cNvPr id="15" name="Shape 13"/>
          <p:cNvSpPr/>
          <p:nvPr/>
        </p:nvSpPr>
        <p:spPr>
          <a:xfrm>
            <a:off x="7071183" y="1393031"/>
            <a:ext cx="5120512" cy="116300"/>
          </a:xfrm>
          <a:prstGeom prst="rect">
            <a:avLst/>
          </a:prstGeom>
          <a:solidFill>
            <a:srgbClr val="4535C8"/>
          </a:solidFill>
          <a:ln/>
        </p:spPr>
      </p:sp>
      <p:sp>
        <p:nvSpPr>
          <p:cNvPr id="16" name="Shape 14"/>
          <p:cNvSpPr/>
          <p:nvPr/>
        </p:nvSpPr>
        <p:spPr>
          <a:xfrm>
            <a:off x="7071183" y="1500188"/>
            <a:ext cx="5120512" cy="116300"/>
          </a:xfrm>
          <a:prstGeom prst="rect">
            <a:avLst/>
          </a:prstGeom>
          <a:solidFill>
            <a:srgbClr val="4436C8"/>
          </a:solidFill>
          <a:ln/>
        </p:spPr>
      </p:sp>
      <p:sp>
        <p:nvSpPr>
          <p:cNvPr id="17" name="Shape 15"/>
          <p:cNvSpPr/>
          <p:nvPr/>
        </p:nvSpPr>
        <p:spPr>
          <a:xfrm>
            <a:off x="7071183" y="1607344"/>
            <a:ext cx="5120512" cy="116300"/>
          </a:xfrm>
          <a:prstGeom prst="rect">
            <a:avLst/>
          </a:prstGeom>
          <a:solidFill>
            <a:srgbClr val="4337C9"/>
          </a:solidFill>
          <a:ln/>
        </p:spPr>
      </p:sp>
      <p:sp>
        <p:nvSpPr>
          <p:cNvPr id="18" name="Shape 16"/>
          <p:cNvSpPr/>
          <p:nvPr/>
        </p:nvSpPr>
        <p:spPr>
          <a:xfrm>
            <a:off x="7071183" y="1714500"/>
            <a:ext cx="5120512" cy="116300"/>
          </a:xfrm>
          <a:prstGeom prst="rect">
            <a:avLst/>
          </a:prstGeom>
          <a:solidFill>
            <a:srgbClr val="4238C9"/>
          </a:solidFill>
          <a:ln/>
        </p:spPr>
      </p:sp>
      <p:sp>
        <p:nvSpPr>
          <p:cNvPr id="19" name="Shape 17"/>
          <p:cNvSpPr/>
          <p:nvPr/>
        </p:nvSpPr>
        <p:spPr>
          <a:xfrm>
            <a:off x="7071183" y="1821656"/>
            <a:ext cx="5120512" cy="116300"/>
          </a:xfrm>
          <a:prstGeom prst="rect">
            <a:avLst/>
          </a:prstGeom>
          <a:solidFill>
            <a:srgbClr val="4139CA"/>
          </a:solidFill>
          <a:ln/>
        </p:spPr>
      </p:sp>
      <p:sp>
        <p:nvSpPr>
          <p:cNvPr id="20" name="Shape 18"/>
          <p:cNvSpPr/>
          <p:nvPr/>
        </p:nvSpPr>
        <p:spPr>
          <a:xfrm>
            <a:off x="7071183" y="1928813"/>
            <a:ext cx="5120512" cy="116300"/>
          </a:xfrm>
          <a:prstGeom prst="rect">
            <a:avLst/>
          </a:prstGeom>
          <a:solidFill>
            <a:srgbClr val="413ACA"/>
          </a:solidFill>
          <a:ln/>
        </p:spPr>
      </p:sp>
      <p:sp>
        <p:nvSpPr>
          <p:cNvPr id="21" name="Shape 19"/>
          <p:cNvSpPr/>
          <p:nvPr/>
        </p:nvSpPr>
        <p:spPr>
          <a:xfrm>
            <a:off x="7071183" y="2035969"/>
            <a:ext cx="5120512" cy="116300"/>
          </a:xfrm>
          <a:prstGeom prst="rect">
            <a:avLst/>
          </a:prstGeom>
          <a:solidFill>
            <a:srgbClr val="403BCA"/>
          </a:solidFill>
          <a:ln/>
        </p:spPr>
      </p:sp>
      <p:sp>
        <p:nvSpPr>
          <p:cNvPr id="22" name="Shape 20"/>
          <p:cNvSpPr/>
          <p:nvPr/>
        </p:nvSpPr>
        <p:spPr>
          <a:xfrm>
            <a:off x="7071183" y="2143125"/>
            <a:ext cx="5120512" cy="116300"/>
          </a:xfrm>
          <a:prstGeom prst="rect">
            <a:avLst/>
          </a:prstGeom>
          <a:solidFill>
            <a:srgbClr val="3F3CCB"/>
          </a:solidFill>
          <a:ln/>
        </p:spPr>
      </p:sp>
      <p:sp>
        <p:nvSpPr>
          <p:cNvPr id="23" name="Shape 21"/>
          <p:cNvSpPr/>
          <p:nvPr/>
        </p:nvSpPr>
        <p:spPr>
          <a:xfrm>
            <a:off x="7071183" y="2250281"/>
            <a:ext cx="5120512" cy="116300"/>
          </a:xfrm>
          <a:prstGeom prst="rect">
            <a:avLst/>
          </a:prstGeom>
          <a:solidFill>
            <a:srgbClr val="3E3DCB"/>
          </a:solidFill>
          <a:ln/>
        </p:spPr>
      </p:sp>
      <p:sp>
        <p:nvSpPr>
          <p:cNvPr id="24" name="Shape 22"/>
          <p:cNvSpPr/>
          <p:nvPr/>
        </p:nvSpPr>
        <p:spPr>
          <a:xfrm>
            <a:off x="7071183" y="2357438"/>
            <a:ext cx="5120512" cy="116300"/>
          </a:xfrm>
          <a:prstGeom prst="rect">
            <a:avLst/>
          </a:prstGeom>
          <a:solidFill>
            <a:srgbClr val="3D3ECC"/>
          </a:solidFill>
          <a:ln/>
        </p:spPr>
      </p:sp>
      <p:sp>
        <p:nvSpPr>
          <p:cNvPr id="25" name="Shape 23"/>
          <p:cNvSpPr/>
          <p:nvPr/>
        </p:nvSpPr>
        <p:spPr>
          <a:xfrm>
            <a:off x="7071183" y="2464594"/>
            <a:ext cx="5120512" cy="116300"/>
          </a:xfrm>
          <a:prstGeom prst="rect">
            <a:avLst/>
          </a:prstGeom>
          <a:solidFill>
            <a:srgbClr val="3C3FCC"/>
          </a:solidFill>
          <a:ln/>
        </p:spPr>
      </p:sp>
      <p:sp>
        <p:nvSpPr>
          <p:cNvPr id="26" name="Shape 24"/>
          <p:cNvSpPr/>
          <p:nvPr/>
        </p:nvSpPr>
        <p:spPr>
          <a:xfrm>
            <a:off x="7071183" y="2571750"/>
            <a:ext cx="5120512" cy="116300"/>
          </a:xfrm>
          <a:prstGeom prst="rect">
            <a:avLst/>
          </a:prstGeom>
          <a:solidFill>
            <a:srgbClr val="3B40CD"/>
          </a:solidFill>
          <a:ln/>
        </p:spPr>
      </p:sp>
      <p:sp>
        <p:nvSpPr>
          <p:cNvPr id="27" name="Shape 25"/>
          <p:cNvSpPr/>
          <p:nvPr/>
        </p:nvSpPr>
        <p:spPr>
          <a:xfrm>
            <a:off x="7071183" y="2678906"/>
            <a:ext cx="5120512" cy="116300"/>
          </a:xfrm>
          <a:prstGeom prst="rect">
            <a:avLst/>
          </a:prstGeom>
          <a:solidFill>
            <a:srgbClr val="3B41CD"/>
          </a:solidFill>
          <a:ln/>
        </p:spPr>
      </p:sp>
      <p:sp>
        <p:nvSpPr>
          <p:cNvPr id="28" name="Shape 26"/>
          <p:cNvSpPr/>
          <p:nvPr/>
        </p:nvSpPr>
        <p:spPr>
          <a:xfrm>
            <a:off x="7071183" y="2786063"/>
            <a:ext cx="5120512" cy="116300"/>
          </a:xfrm>
          <a:prstGeom prst="rect">
            <a:avLst/>
          </a:prstGeom>
          <a:solidFill>
            <a:srgbClr val="3A42CE"/>
          </a:solidFill>
          <a:ln/>
        </p:spPr>
      </p:sp>
      <p:sp>
        <p:nvSpPr>
          <p:cNvPr id="29" name="Shape 27"/>
          <p:cNvSpPr/>
          <p:nvPr/>
        </p:nvSpPr>
        <p:spPr>
          <a:xfrm>
            <a:off x="7071183" y="2893219"/>
            <a:ext cx="5120512" cy="116300"/>
          </a:xfrm>
          <a:prstGeom prst="rect">
            <a:avLst/>
          </a:prstGeom>
          <a:solidFill>
            <a:srgbClr val="3943CE"/>
          </a:solidFill>
          <a:ln/>
        </p:spPr>
      </p:sp>
      <p:sp>
        <p:nvSpPr>
          <p:cNvPr id="30" name="Shape 28"/>
          <p:cNvSpPr/>
          <p:nvPr/>
        </p:nvSpPr>
        <p:spPr>
          <a:xfrm>
            <a:off x="7071183" y="3000375"/>
            <a:ext cx="5120512" cy="116300"/>
          </a:xfrm>
          <a:prstGeom prst="rect">
            <a:avLst/>
          </a:prstGeom>
          <a:solidFill>
            <a:srgbClr val="3844CE"/>
          </a:solidFill>
          <a:ln/>
        </p:spPr>
      </p:sp>
      <p:sp>
        <p:nvSpPr>
          <p:cNvPr id="31" name="Shape 29"/>
          <p:cNvSpPr/>
          <p:nvPr/>
        </p:nvSpPr>
        <p:spPr>
          <a:xfrm>
            <a:off x="7071183" y="3107531"/>
            <a:ext cx="5120512" cy="116300"/>
          </a:xfrm>
          <a:prstGeom prst="rect">
            <a:avLst/>
          </a:prstGeom>
          <a:solidFill>
            <a:srgbClr val="3745CF"/>
          </a:solidFill>
          <a:ln/>
        </p:spPr>
      </p:sp>
      <p:sp>
        <p:nvSpPr>
          <p:cNvPr id="32" name="Shape 30"/>
          <p:cNvSpPr/>
          <p:nvPr/>
        </p:nvSpPr>
        <p:spPr>
          <a:xfrm>
            <a:off x="7071183" y="3214688"/>
            <a:ext cx="5120512" cy="116300"/>
          </a:xfrm>
          <a:prstGeom prst="rect">
            <a:avLst/>
          </a:prstGeom>
          <a:solidFill>
            <a:srgbClr val="3646CF"/>
          </a:solidFill>
          <a:ln/>
        </p:spPr>
      </p:sp>
      <p:sp>
        <p:nvSpPr>
          <p:cNvPr id="33" name="Shape 31"/>
          <p:cNvSpPr/>
          <p:nvPr/>
        </p:nvSpPr>
        <p:spPr>
          <a:xfrm>
            <a:off x="7071183" y="3321844"/>
            <a:ext cx="5120512" cy="116300"/>
          </a:xfrm>
          <a:prstGeom prst="rect">
            <a:avLst/>
          </a:prstGeom>
          <a:solidFill>
            <a:srgbClr val="3547D0"/>
          </a:solidFill>
          <a:ln/>
        </p:spPr>
      </p:sp>
      <p:sp>
        <p:nvSpPr>
          <p:cNvPr id="34" name="Shape 32"/>
          <p:cNvSpPr/>
          <p:nvPr/>
        </p:nvSpPr>
        <p:spPr>
          <a:xfrm>
            <a:off x="7071183" y="3429000"/>
            <a:ext cx="5120512" cy="116300"/>
          </a:xfrm>
          <a:prstGeom prst="rect">
            <a:avLst/>
          </a:prstGeom>
          <a:solidFill>
            <a:srgbClr val="3549D0"/>
          </a:solidFill>
          <a:ln/>
        </p:spPr>
      </p:sp>
      <p:sp>
        <p:nvSpPr>
          <p:cNvPr id="35" name="Shape 33"/>
          <p:cNvSpPr/>
          <p:nvPr/>
        </p:nvSpPr>
        <p:spPr>
          <a:xfrm>
            <a:off x="7071183" y="3536156"/>
            <a:ext cx="5120512" cy="116300"/>
          </a:xfrm>
          <a:prstGeom prst="rect">
            <a:avLst/>
          </a:prstGeom>
          <a:solidFill>
            <a:srgbClr val="344ACF"/>
          </a:solidFill>
          <a:ln/>
        </p:spPr>
      </p:sp>
      <p:sp>
        <p:nvSpPr>
          <p:cNvPr id="36" name="Shape 34"/>
          <p:cNvSpPr/>
          <p:nvPr/>
        </p:nvSpPr>
        <p:spPr>
          <a:xfrm>
            <a:off x="7071183" y="3643313"/>
            <a:ext cx="5120512" cy="116300"/>
          </a:xfrm>
          <a:prstGeom prst="rect">
            <a:avLst/>
          </a:prstGeom>
          <a:solidFill>
            <a:srgbClr val="334BCF"/>
          </a:solidFill>
          <a:ln/>
        </p:spPr>
      </p:sp>
      <p:sp>
        <p:nvSpPr>
          <p:cNvPr id="37" name="Shape 35"/>
          <p:cNvSpPr/>
          <p:nvPr/>
        </p:nvSpPr>
        <p:spPr>
          <a:xfrm>
            <a:off x="7071183" y="3750469"/>
            <a:ext cx="5120512" cy="116300"/>
          </a:xfrm>
          <a:prstGeom prst="rect">
            <a:avLst/>
          </a:prstGeom>
          <a:solidFill>
            <a:srgbClr val="324CCE"/>
          </a:solidFill>
          <a:ln/>
        </p:spPr>
      </p:sp>
      <p:sp>
        <p:nvSpPr>
          <p:cNvPr id="38" name="Shape 36"/>
          <p:cNvSpPr/>
          <p:nvPr/>
        </p:nvSpPr>
        <p:spPr>
          <a:xfrm>
            <a:off x="7071183" y="3857625"/>
            <a:ext cx="5120512" cy="116300"/>
          </a:xfrm>
          <a:prstGeom prst="rect">
            <a:avLst/>
          </a:prstGeom>
          <a:solidFill>
            <a:srgbClr val="314ECD"/>
          </a:solidFill>
          <a:ln/>
        </p:spPr>
      </p:sp>
      <p:sp>
        <p:nvSpPr>
          <p:cNvPr id="39" name="Shape 37"/>
          <p:cNvSpPr/>
          <p:nvPr/>
        </p:nvSpPr>
        <p:spPr>
          <a:xfrm>
            <a:off x="7071183" y="3964781"/>
            <a:ext cx="5120512" cy="116300"/>
          </a:xfrm>
          <a:prstGeom prst="rect">
            <a:avLst/>
          </a:prstGeom>
          <a:solidFill>
            <a:srgbClr val="304FCD"/>
          </a:solidFill>
          <a:ln/>
        </p:spPr>
      </p:sp>
      <p:sp>
        <p:nvSpPr>
          <p:cNvPr id="40" name="Shape 38"/>
          <p:cNvSpPr/>
          <p:nvPr/>
        </p:nvSpPr>
        <p:spPr>
          <a:xfrm>
            <a:off x="7071183" y="4071938"/>
            <a:ext cx="5120512" cy="116300"/>
          </a:xfrm>
          <a:prstGeom prst="rect">
            <a:avLst/>
          </a:prstGeom>
          <a:solidFill>
            <a:srgbClr val="2F50CC"/>
          </a:solidFill>
          <a:ln/>
        </p:spPr>
      </p:sp>
      <p:sp>
        <p:nvSpPr>
          <p:cNvPr id="41" name="Shape 39"/>
          <p:cNvSpPr/>
          <p:nvPr/>
        </p:nvSpPr>
        <p:spPr>
          <a:xfrm>
            <a:off x="7071183" y="4179094"/>
            <a:ext cx="5120512" cy="116300"/>
          </a:xfrm>
          <a:prstGeom prst="rect">
            <a:avLst/>
          </a:prstGeom>
          <a:solidFill>
            <a:srgbClr val="2F51CC"/>
          </a:solidFill>
          <a:ln/>
        </p:spPr>
      </p:sp>
      <p:sp>
        <p:nvSpPr>
          <p:cNvPr id="42" name="Shape 40"/>
          <p:cNvSpPr/>
          <p:nvPr/>
        </p:nvSpPr>
        <p:spPr>
          <a:xfrm>
            <a:off x="7071183" y="4286250"/>
            <a:ext cx="5120512" cy="116300"/>
          </a:xfrm>
          <a:prstGeom prst="rect">
            <a:avLst/>
          </a:prstGeom>
          <a:solidFill>
            <a:srgbClr val="2E53CB"/>
          </a:solidFill>
          <a:ln/>
        </p:spPr>
      </p:sp>
      <p:sp>
        <p:nvSpPr>
          <p:cNvPr id="43" name="Shape 41"/>
          <p:cNvSpPr/>
          <p:nvPr/>
        </p:nvSpPr>
        <p:spPr>
          <a:xfrm>
            <a:off x="7071183" y="4393406"/>
            <a:ext cx="5120512" cy="116300"/>
          </a:xfrm>
          <a:prstGeom prst="rect">
            <a:avLst/>
          </a:prstGeom>
          <a:solidFill>
            <a:srgbClr val="2D54CB"/>
          </a:solidFill>
          <a:ln/>
        </p:spPr>
      </p:sp>
      <p:sp>
        <p:nvSpPr>
          <p:cNvPr id="44" name="Shape 42"/>
          <p:cNvSpPr/>
          <p:nvPr/>
        </p:nvSpPr>
        <p:spPr>
          <a:xfrm>
            <a:off x="7071183" y="4500563"/>
            <a:ext cx="5120512" cy="116300"/>
          </a:xfrm>
          <a:prstGeom prst="rect">
            <a:avLst/>
          </a:prstGeom>
          <a:solidFill>
            <a:srgbClr val="2C55CA"/>
          </a:solidFill>
          <a:ln/>
        </p:spPr>
      </p:sp>
      <p:sp>
        <p:nvSpPr>
          <p:cNvPr id="45" name="Shape 43"/>
          <p:cNvSpPr/>
          <p:nvPr/>
        </p:nvSpPr>
        <p:spPr>
          <a:xfrm>
            <a:off x="7071183" y="4607719"/>
            <a:ext cx="5120512" cy="116300"/>
          </a:xfrm>
          <a:prstGeom prst="rect">
            <a:avLst/>
          </a:prstGeom>
          <a:solidFill>
            <a:srgbClr val="2B56C9"/>
          </a:solidFill>
          <a:ln/>
        </p:spPr>
      </p:sp>
      <p:sp>
        <p:nvSpPr>
          <p:cNvPr id="46" name="Shape 44"/>
          <p:cNvSpPr/>
          <p:nvPr/>
        </p:nvSpPr>
        <p:spPr>
          <a:xfrm>
            <a:off x="7071183" y="4714875"/>
            <a:ext cx="5120512" cy="116300"/>
          </a:xfrm>
          <a:prstGeom prst="rect">
            <a:avLst/>
          </a:prstGeom>
          <a:solidFill>
            <a:srgbClr val="2A57C9"/>
          </a:solidFill>
          <a:ln/>
        </p:spPr>
      </p:sp>
      <p:sp>
        <p:nvSpPr>
          <p:cNvPr id="47" name="Shape 45"/>
          <p:cNvSpPr/>
          <p:nvPr/>
        </p:nvSpPr>
        <p:spPr>
          <a:xfrm>
            <a:off x="7071183" y="4822031"/>
            <a:ext cx="5120512" cy="116300"/>
          </a:xfrm>
          <a:prstGeom prst="rect">
            <a:avLst/>
          </a:prstGeom>
          <a:solidFill>
            <a:srgbClr val="2959C8"/>
          </a:solidFill>
          <a:ln/>
        </p:spPr>
      </p:sp>
      <p:sp>
        <p:nvSpPr>
          <p:cNvPr id="48" name="Shape 46"/>
          <p:cNvSpPr/>
          <p:nvPr/>
        </p:nvSpPr>
        <p:spPr>
          <a:xfrm>
            <a:off x="7071183" y="4929188"/>
            <a:ext cx="5120512" cy="116300"/>
          </a:xfrm>
          <a:prstGeom prst="rect">
            <a:avLst/>
          </a:prstGeom>
          <a:solidFill>
            <a:srgbClr val="295AC8"/>
          </a:solidFill>
          <a:ln/>
        </p:spPr>
      </p:sp>
      <p:sp>
        <p:nvSpPr>
          <p:cNvPr id="49" name="Shape 47"/>
          <p:cNvSpPr/>
          <p:nvPr/>
        </p:nvSpPr>
        <p:spPr>
          <a:xfrm>
            <a:off x="7071183" y="5036344"/>
            <a:ext cx="5120512" cy="116300"/>
          </a:xfrm>
          <a:prstGeom prst="rect">
            <a:avLst/>
          </a:prstGeom>
          <a:solidFill>
            <a:srgbClr val="285BC7"/>
          </a:solidFill>
          <a:ln/>
        </p:spPr>
      </p:sp>
      <p:sp>
        <p:nvSpPr>
          <p:cNvPr id="50" name="Shape 48"/>
          <p:cNvSpPr/>
          <p:nvPr/>
        </p:nvSpPr>
        <p:spPr>
          <a:xfrm>
            <a:off x="7071183" y="5143500"/>
            <a:ext cx="5120512" cy="116300"/>
          </a:xfrm>
          <a:prstGeom prst="rect">
            <a:avLst/>
          </a:prstGeom>
          <a:solidFill>
            <a:srgbClr val="275CC7"/>
          </a:solidFill>
          <a:ln/>
        </p:spPr>
      </p:sp>
      <p:sp>
        <p:nvSpPr>
          <p:cNvPr id="51" name="Shape 49"/>
          <p:cNvSpPr/>
          <p:nvPr/>
        </p:nvSpPr>
        <p:spPr>
          <a:xfrm>
            <a:off x="7071183" y="5250656"/>
            <a:ext cx="5120512" cy="116300"/>
          </a:xfrm>
          <a:prstGeom prst="rect">
            <a:avLst/>
          </a:prstGeom>
          <a:solidFill>
            <a:srgbClr val="265EC6"/>
          </a:solidFill>
          <a:ln/>
        </p:spPr>
      </p:sp>
      <p:sp>
        <p:nvSpPr>
          <p:cNvPr id="52" name="Shape 50"/>
          <p:cNvSpPr/>
          <p:nvPr/>
        </p:nvSpPr>
        <p:spPr>
          <a:xfrm>
            <a:off x="7071183" y="5357813"/>
            <a:ext cx="5120512" cy="116300"/>
          </a:xfrm>
          <a:prstGeom prst="rect">
            <a:avLst/>
          </a:prstGeom>
          <a:solidFill>
            <a:srgbClr val="255FC5"/>
          </a:solidFill>
          <a:ln/>
        </p:spPr>
      </p:sp>
      <p:sp>
        <p:nvSpPr>
          <p:cNvPr id="53" name="Shape 51"/>
          <p:cNvSpPr/>
          <p:nvPr/>
        </p:nvSpPr>
        <p:spPr>
          <a:xfrm>
            <a:off x="7071183" y="5464969"/>
            <a:ext cx="5120512" cy="116300"/>
          </a:xfrm>
          <a:prstGeom prst="rect">
            <a:avLst/>
          </a:prstGeom>
          <a:solidFill>
            <a:srgbClr val="2460C5"/>
          </a:solidFill>
          <a:ln/>
        </p:spPr>
      </p:sp>
      <p:sp>
        <p:nvSpPr>
          <p:cNvPr id="54" name="Shape 52"/>
          <p:cNvSpPr/>
          <p:nvPr/>
        </p:nvSpPr>
        <p:spPr>
          <a:xfrm>
            <a:off x="7071183" y="5572125"/>
            <a:ext cx="5120512" cy="116300"/>
          </a:xfrm>
          <a:prstGeom prst="rect">
            <a:avLst/>
          </a:prstGeom>
          <a:solidFill>
            <a:srgbClr val="2361C4"/>
          </a:solidFill>
          <a:ln/>
        </p:spPr>
      </p:sp>
      <p:sp>
        <p:nvSpPr>
          <p:cNvPr id="55" name="Shape 53"/>
          <p:cNvSpPr/>
          <p:nvPr/>
        </p:nvSpPr>
        <p:spPr>
          <a:xfrm>
            <a:off x="7071183" y="5679281"/>
            <a:ext cx="5120512" cy="116300"/>
          </a:xfrm>
          <a:prstGeom prst="rect">
            <a:avLst/>
          </a:prstGeom>
          <a:solidFill>
            <a:srgbClr val="2363C4"/>
          </a:solidFill>
          <a:ln/>
        </p:spPr>
      </p:sp>
      <p:sp>
        <p:nvSpPr>
          <p:cNvPr id="56" name="Shape 54"/>
          <p:cNvSpPr/>
          <p:nvPr/>
        </p:nvSpPr>
        <p:spPr>
          <a:xfrm>
            <a:off x="7071183" y="5786438"/>
            <a:ext cx="5120512" cy="116300"/>
          </a:xfrm>
          <a:prstGeom prst="rect">
            <a:avLst/>
          </a:prstGeom>
          <a:solidFill>
            <a:srgbClr val="2264C3"/>
          </a:solidFill>
          <a:ln/>
        </p:spPr>
      </p:sp>
      <p:sp>
        <p:nvSpPr>
          <p:cNvPr id="57" name="Shape 55"/>
          <p:cNvSpPr/>
          <p:nvPr/>
        </p:nvSpPr>
        <p:spPr>
          <a:xfrm>
            <a:off x="7071183" y="5893594"/>
            <a:ext cx="5120512" cy="116300"/>
          </a:xfrm>
          <a:prstGeom prst="rect">
            <a:avLst/>
          </a:prstGeom>
          <a:solidFill>
            <a:srgbClr val="2165C3"/>
          </a:solidFill>
          <a:ln/>
        </p:spPr>
      </p:sp>
      <p:sp>
        <p:nvSpPr>
          <p:cNvPr id="58" name="Shape 56"/>
          <p:cNvSpPr/>
          <p:nvPr/>
        </p:nvSpPr>
        <p:spPr>
          <a:xfrm>
            <a:off x="7071183" y="6000750"/>
            <a:ext cx="5120512" cy="116300"/>
          </a:xfrm>
          <a:prstGeom prst="rect">
            <a:avLst/>
          </a:prstGeom>
          <a:solidFill>
            <a:srgbClr val="2066C2"/>
          </a:solidFill>
          <a:ln/>
        </p:spPr>
      </p:sp>
      <p:sp>
        <p:nvSpPr>
          <p:cNvPr id="59" name="Shape 57"/>
          <p:cNvSpPr/>
          <p:nvPr/>
        </p:nvSpPr>
        <p:spPr>
          <a:xfrm>
            <a:off x="7071183" y="6107906"/>
            <a:ext cx="5120512" cy="116300"/>
          </a:xfrm>
          <a:prstGeom prst="rect">
            <a:avLst/>
          </a:prstGeom>
          <a:solidFill>
            <a:srgbClr val="1F68C1"/>
          </a:solidFill>
          <a:ln/>
        </p:spPr>
      </p:sp>
      <p:sp>
        <p:nvSpPr>
          <p:cNvPr id="60" name="Shape 58"/>
          <p:cNvSpPr/>
          <p:nvPr/>
        </p:nvSpPr>
        <p:spPr>
          <a:xfrm>
            <a:off x="7071183" y="6215063"/>
            <a:ext cx="5120512" cy="116300"/>
          </a:xfrm>
          <a:prstGeom prst="rect">
            <a:avLst/>
          </a:prstGeom>
          <a:solidFill>
            <a:srgbClr val="1E69C1"/>
          </a:solidFill>
          <a:ln/>
        </p:spPr>
      </p:sp>
      <p:sp>
        <p:nvSpPr>
          <p:cNvPr id="61" name="Shape 59"/>
          <p:cNvSpPr/>
          <p:nvPr/>
        </p:nvSpPr>
        <p:spPr>
          <a:xfrm>
            <a:off x="7071183" y="6322219"/>
            <a:ext cx="5120512" cy="116300"/>
          </a:xfrm>
          <a:prstGeom prst="rect">
            <a:avLst/>
          </a:prstGeom>
          <a:solidFill>
            <a:srgbClr val="1D6AC0"/>
          </a:solidFill>
          <a:ln/>
        </p:spPr>
      </p:sp>
      <p:sp>
        <p:nvSpPr>
          <p:cNvPr id="62" name="Shape 60"/>
          <p:cNvSpPr/>
          <p:nvPr/>
        </p:nvSpPr>
        <p:spPr>
          <a:xfrm>
            <a:off x="7071183" y="6429375"/>
            <a:ext cx="5120512" cy="116300"/>
          </a:xfrm>
          <a:prstGeom prst="rect">
            <a:avLst/>
          </a:prstGeom>
          <a:solidFill>
            <a:srgbClr val="1D6BC0"/>
          </a:solidFill>
          <a:ln/>
        </p:spPr>
      </p:sp>
      <p:sp>
        <p:nvSpPr>
          <p:cNvPr id="63" name="Shape 61"/>
          <p:cNvSpPr/>
          <p:nvPr/>
        </p:nvSpPr>
        <p:spPr>
          <a:xfrm>
            <a:off x="7071183" y="6536531"/>
            <a:ext cx="5120512" cy="116300"/>
          </a:xfrm>
          <a:prstGeom prst="rect">
            <a:avLst/>
          </a:prstGeom>
          <a:solidFill>
            <a:srgbClr val="1C6DBF"/>
          </a:solidFill>
          <a:ln/>
        </p:spPr>
      </p:sp>
      <p:sp>
        <p:nvSpPr>
          <p:cNvPr id="64" name="Shape 62"/>
          <p:cNvSpPr/>
          <p:nvPr/>
        </p:nvSpPr>
        <p:spPr>
          <a:xfrm>
            <a:off x="7071183" y="6643688"/>
            <a:ext cx="5120512" cy="116300"/>
          </a:xfrm>
          <a:prstGeom prst="rect">
            <a:avLst/>
          </a:prstGeom>
          <a:solidFill>
            <a:srgbClr val="1B6EBF"/>
          </a:solidFill>
          <a:ln/>
        </p:spPr>
      </p:sp>
      <p:sp>
        <p:nvSpPr>
          <p:cNvPr id="65" name="Shape 63"/>
          <p:cNvSpPr/>
          <p:nvPr/>
        </p:nvSpPr>
        <p:spPr>
          <a:xfrm>
            <a:off x="7071183" y="6750844"/>
            <a:ext cx="5120512" cy="116300"/>
          </a:xfrm>
          <a:prstGeom prst="rect">
            <a:avLst/>
          </a:prstGeom>
          <a:solidFill>
            <a:srgbClr val="1A6FBE"/>
          </a:solidFill>
          <a:ln/>
        </p:spPr>
      </p:sp>
      <p:sp>
        <p:nvSpPr>
          <p:cNvPr id="66" name="Text 64"/>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ICP</a:t>
            </a:r>
            <a:endParaRPr lang="en-US" sz="1100" dirty="0"/>
          </a:p>
        </p:txBody>
      </p:sp>
      <p:sp>
        <p:nvSpPr>
          <p:cNvPr id="67" name="Text 65"/>
          <p:cNvSpPr/>
          <p:nvPr/>
        </p:nvSpPr>
        <p:spPr>
          <a:xfrm>
            <a:off x="548640" y="1417320"/>
            <a:ext cx="6156783" cy="2194560"/>
          </a:xfrm>
          <a:prstGeom prst="rect">
            <a:avLst/>
          </a:prstGeom>
          <a:noFill/>
          <a:ln/>
        </p:spPr>
        <p:txBody>
          <a:bodyPr wrap="square" lIns="0" tIns="0" rIns="0" bIns="0" rtlCol="0" anchor="t"/>
          <a:lstStyle/>
          <a:p>
            <a:pPr algn="l" indent="0" marL="0">
              <a:buNone/>
            </a:pPr>
            <a:r>
              <a:rPr lang="en-US" sz="4200" b="1" spc="-50" kern="0" dirty="0">
                <a:solidFill>
                  <a:srgbClr val="0F1733"/>
                </a:solidFill>
                <a:latin typeface="Calibri" pitchFamily="34" charset="0"/>
                <a:ea typeface="Calibri" pitchFamily="34" charset="-122"/>
                <a:cs typeface="Calibri" pitchFamily="34" charset="-120"/>
              </a:rPr>
              <a:t>Three buyer types. One workflow.</a:t>
            </a:r>
            <a:endParaRPr lang="en-US" sz="4200" dirty="0"/>
          </a:p>
        </p:txBody>
      </p:sp>
      <p:sp>
        <p:nvSpPr>
          <p:cNvPr id="68" name="Text 66"/>
          <p:cNvSpPr/>
          <p:nvPr/>
        </p:nvSpPr>
        <p:spPr>
          <a:xfrm>
            <a:off x="548640" y="3657600"/>
            <a:ext cx="6156783" cy="2377440"/>
          </a:xfrm>
          <a:prstGeom prst="rect">
            <a:avLst/>
          </a:prstGeom>
          <a:noFill/>
          <a:ln/>
        </p:spPr>
        <p:txBody>
          <a:bodyPr wrap="square" lIns="0" tIns="0" rIns="0" bIns="0" rtlCol="0" anchor="t"/>
          <a:lstStyle/>
          <a:p>
            <a:pPr algn="l" indent="0" marL="0">
              <a:spcAft>
                <a:spcPts val="800"/>
              </a:spcAft>
              <a:buNone/>
            </a:pPr>
            <a:r>
              <a:rPr lang="en-US" sz="1500" dirty="0">
                <a:solidFill>
                  <a:srgbClr val="2A3358"/>
                </a:solidFill>
                <a:latin typeface="Calibri" pitchFamily="34" charset="0"/>
                <a:ea typeface="Calibri" pitchFamily="34" charset="-122"/>
                <a:cs typeface="Calibri" pitchFamily="34" charset="-120"/>
              </a:rPr>
              <a:t>Series A–C B2B SaaS founders running early creator partnerships themselves. Partnerships managers at 50–500 person companies running 50+ outreaches per month. Growth operators and contractors doing creator work across multiple clients. All three share the same workflow shape — and the same gap in tooling.</a:t>
            </a:r>
            <a:endParaRPr lang="en-US" sz="1500" dirty="0"/>
          </a:p>
        </p:txBody>
      </p:sp>
      <p:sp>
        <p:nvSpPr>
          <p:cNvPr id="69" name="Text 67"/>
          <p:cNvSpPr/>
          <p:nvPr/>
        </p:nvSpPr>
        <p:spPr>
          <a:xfrm>
            <a:off x="7436943" y="1371600"/>
            <a:ext cx="4388992" cy="4114800"/>
          </a:xfrm>
          <a:prstGeom prst="rect">
            <a:avLst/>
          </a:prstGeom>
          <a:noFill/>
          <a:ln/>
        </p:spPr>
        <p:txBody>
          <a:bodyPr wrap="square" lIns="0" tIns="0" rIns="0" bIns="0" rtlCol="0" anchor="t"/>
          <a:lstStyle/>
          <a:p>
            <a:pPr algn="l" indent="0" marL="0">
              <a:buNone/>
            </a:pPr>
            <a:r>
              <a:rPr lang="en-US" sz="2800" i="1" dirty="0">
                <a:solidFill>
                  <a:srgbClr val="FFFFFF"/>
                </a:solidFill>
                <a:latin typeface="Calibri" pitchFamily="34" charset="0"/>
                <a:ea typeface="Calibri" pitchFamily="34" charset="-122"/>
                <a:cs typeface="Calibri" pitchFamily="34" charset="-120"/>
              </a:rPr>
              <a:t>"The work</a:t>
            </a:r>
            <a:endParaRPr lang="en-US" sz="2800" dirty="0"/>
          </a:p>
          <a:p>
            <a:pPr algn="l" indent="0" marL="0">
              <a:buNone/>
            </a:pPr>
            <a:r>
              <a:rPr lang="en-US" sz="2800" i="1" dirty="0">
                <a:solidFill>
                  <a:srgbClr val="FFFFFF"/>
                </a:solidFill>
                <a:latin typeface="Calibri" pitchFamily="34" charset="0"/>
                <a:ea typeface="Calibri" pitchFamily="34" charset="-122"/>
                <a:cs typeface="Calibri" pitchFamily="34" charset="-120"/>
              </a:rPr>
              <a:t>is real.</a:t>
            </a:r>
            <a:endParaRPr lang="en-US" sz="2800" dirty="0"/>
          </a:p>
          <a:p>
            <a:pPr algn="l" indent="0" marL="0">
              <a:buNone/>
            </a:pPr>
            <a:r>
              <a:rPr lang="en-US" sz="2800" i="1" dirty="0">
                <a:solidFill>
                  <a:srgbClr val="FFFFFF"/>
                </a:solidFill>
                <a:latin typeface="Calibri" pitchFamily="34" charset="0"/>
                <a:ea typeface="Calibri" pitchFamily="34" charset="-122"/>
                <a:cs typeface="Calibri" pitchFamily="34" charset="-120"/>
              </a:rPr>
              <a:t>The tools</a:t>
            </a:r>
            <a:endParaRPr lang="en-US" sz="2800" dirty="0"/>
          </a:p>
          <a:p>
            <a:pPr algn="l" indent="0" marL="0">
              <a:buNone/>
            </a:pPr>
            <a:r>
              <a:rPr lang="en-US" sz="2800" i="1" dirty="0">
                <a:solidFill>
                  <a:srgbClr val="FFFFFF"/>
                </a:solidFill>
                <a:latin typeface="Calibri" pitchFamily="34" charset="0"/>
                <a:ea typeface="Calibri" pitchFamily="34" charset="-122"/>
                <a:cs typeface="Calibri" pitchFamily="34" charset="-120"/>
              </a:rPr>
              <a:t>aren't."</a:t>
            </a:r>
            <a:endParaRPr lang="en-US" sz="2800" dirty="0"/>
          </a:p>
          <a:p>
            <a:pPr algn="l" indent="0" marL="0">
              <a:buNone/>
            </a:pPr>
            <a:endParaRPr lang="en-US" sz="2800" dirty="0"/>
          </a:p>
          <a:p>
            <a:pPr algn="l" indent="0" marL="0">
              <a:buNone/>
            </a:pPr>
            <a:r>
              <a:rPr lang="en-US" sz="2800" i="1" dirty="0">
                <a:solidFill>
                  <a:srgbClr val="FFFFFF"/>
                </a:solidFill>
                <a:latin typeface="Calibri" pitchFamily="34" charset="0"/>
                <a:ea typeface="Calibri" pitchFamily="34" charset="-122"/>
                <a:cs typeface="Calibri" pitchFamily="34" charset="-120"/>
              </a:rPr>
              <a:t>— Every buyer</a:t>
            </a:r>
            <a:endParaRPr lang="en-US" sz="2800" dirty="0"/>
          </a:p>
          <a:p>
            <a:pPr algn="l" indent="0" marL="0">
              <a:buNone/>
            </a:pPr>
            <a:r>
              <a:rPr lang="en-US" sz="2800" i="1" dirty="0">
                <a:solidFill>
                  <a:srgbClr val="FFFFFF"/>
                </a:solidFill>
                <a:latin typeface="Calibri" pitchFamily="34" charset="0"/>
                <a:ea typeface="Calibri" pitchFamily="34" charset="-122"/>
                <a:cs typeface="Calibri" pitchFamily="34" charset="-120"/>
              </a:rPr>
              <a:t>in our ICP</a:t>
            </a:r>
            <a:endParaRPr lang="en-US" sz="28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13 · Who it's for  ·  vB</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086 / 126</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THREE BUYER TYPES</a:t>
            </a:r>
            <a:endParaRPr lang="en-US" sz="1100" dirty="0"/>
          </a:p>
        </p:txBody>
      </p:sp>
      <p:sp>
        <p:nvSpPr>
          <p:cNvPr id="3" name="Text 1"/>
          <p:cNvSpPr/>
          <p:nvPr/>
        </p:nvSpPr>
        <p:spPr>
          <a:xfrm>
            <a:off x="548640" y="1417320"/>
            <a:ext cx="11094415" cy="1188720"/>
          </a:xfrm>
          <a:prstGeom prst="rect">
            <a:avLst/>
          </a:prstGeom>
          <a:noFill/>
          <a:ln/>
        </p:spPr>
        <p:txBody>
          <a:bodyPr wrap="square" lIns="0" tIns="0" rIns="0" bIns="0" rtlCol="0" anchor="t"/>
          <a:lstStyle/>
          <a:p>
            <a:pPr algn="l" indent="0" marL="0">
              <a:buNone/>
            </a:pPr>
            <a:r>
              <a:rPr lang="en-US" sz="3800" b="1" spc="-50" kern="0" dirty="0">
                <a:solidFill>
                  <a:srgbClr val="0F1733"/>
                </a:solidFill>
                <a:latin typeface="Calibri" pitchFamily="34" charset="0"/>
                <a:ea typeface="Calibri" pitchFamily="34" charset="-122"/>
                <a:cs typeface="Calibri" pitchFamily="34" charset="-120"/>
              </a:rPr>
              <a:t>Each buyer feels the same pain — at a different scale.</a:t>
            </a:r>
            <a:endParaRPr lang="en-US" sz="3800" dirty="0"/>
          </a:p>
        </p:txBody>
      </p:sp>
      <p:sp>
        <p:nvSpPr>
          <p:cNvPr id="4" name="Shape 2"/>
          <p:cNvSpPr/>
          <p:nvPr/>
        </p:nvSpPr>
        <p:spPr>
          <a:xfrm>
            <a:off x="548640" y="3108960"/>
            <a:ext cx="3545738" cy="3017520"/>
          </a:xfrm>
          <a:prstGeom prst="roundRect">
            <a:avLst>
              <a:gd name="adj" fmla="val 3636"/>
            </a:avLst>
          </a:prstGeom>
          <a:solidFill>
            <a:srgbClr val="FFFFFF"/>
          </a:solidFill>
          <a:ln w="9525">
            <a:solidFill>
              <a:srgbClr val="E5E7F0"/>
            </a:solidFill>
            <a:prstDash val="solid"/>
          </a:ln>
        </p:spPr>
      </p:sp>
      <p:sp>
        <p:nvSpPr>
          <p:cNvPr id="5" name="Shape 3"/>
          <p:cNvSpPr/>
          <p:nvPr/>
        </p:nvSpPr>
        <p:spPr>
          <a:xfrm>
            <a:off x="548640" y="3108960"/>
            <a:ext cx="3545738" cy="73152"/>
          </a:xfrm>
          <a:prstGeom prst="rect">
            <a:avLst/>
          </a:prstGeom>
          <a:solidFill>
            <a:srgbClr val="5028C2"/>
          </a:solidFill>
          <a:ln/>
        </p:spPr>
      </p:sp>
      <p:sp>
        <p:nvSpPr>
          <p:cNvPr id="6" name="Shape 4"/>
          <p:cNvSpPr/>
          <p:nvPr/>
        </p:nvSpPr>
        <p:spPr>
          <a:xfrm>
            <a:off x="868680" y="3474720"/>
            <a:ext cx="457200" cy="457200"/>
          </a:xfrm>
          <a:prstGeom prst="ellipse">
            <a:avLst/>
          </a:prstGeom>
          <a:solidFill>
            <a:srgbClr val="5028C2"/>
          </a:solidFill>
          <a:ln/>
        </p:spPr>
      </p:sp>
      <p:sp>
        <p:nvSpPr>
          <p:cNvPr id="7" name="Text 5"/>
          <p:cNvSpPr/>
          <p:nvPr/>
        </p:nvSpPr>
        <p:spPr>
          <a:xfrm>
            <a:off x="868680"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8" name="Text 6"/>
          <p:cNvSpPr/>
          <p:nvPr/>
        </p:nvSpPr>
        <p:spPr>
          <a:xfrm>
            <a:off x="868680"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Founders</a:t>
            </a:r>
            <a:endParaRPr lang="en-US" sz="1800" dirty="0"/>
          </a:p>
        </p:txBody>
      </p:sp>
      <p:sp>
        <p:nvSpPr>
          <p:cNvPr id="9" name="Text 7"/>
          <p:cNvSpPr/>
          <p:nvPr/>
        </p:nvSpPr>
        <p:spPr>
          <a:xfrm>
            <a:off x="868680"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Series A–C B2B SaaS, doing early creator partnerships themselves. Need leverage, not a sales process.</a:t>
            </a:r>
            <a:endParaRPr lang="en-US" sz="1300" dirty="0"/>
          </a:p>
        </p:txBody>
      </p:sp>
      <p:sp>
        <p:nvSpPr>
          <p:cNvPr id="10" name="Shape 8"/>
          <p:cNvSpPr/>
          <p:nvPr/>
        </p:nvSpPr>
        <p:spPr>
          <a:xfrm>
            <a:off x="4322978" y="3108960"/>
            <a:ext cx="3545738" cy="3017520"/>
          </a:xfrm>
          <a:prstGeom prst="roundRect">
            <a:avLst>
              <a:gd name="adj" fmla="val 3636"/>
            </a:avLst>
          </a:prstGeom>
          <a:solidFill>
            <a:srgbClr val="FFFFFF"/>
          </a:solidFill>
          <a:ln w="9525">
            <a:solidFill>
              <a:srgbClr val="E5E7F0"/>
            </a:solidFill>
            <a:prstDash val="solid"/>
          </a:ln>
        </p:spPr>
      </p:sp>
      <p:sp>
        <p:nvSpPr>
          <p:cNvPr id="11" name="Shape 9"/>
          <p:cNvSpPr/>
          <p:nvPr/>
        </p:nvSpPr>
        <p:spPr>
          <a:xfrm>
            <a:off x="4322978" y="3108960"/>
            <a:ext cx="3545738" cy="73152"/>
          </a:xfrm>
          <a:prstGeom prst="rect">
            <a:avLst/>
          </a:prstGeom>
          <a:solidFill>
            <a:srgbClr val="3548D0"/>
          </a:solidFill>
          <a:ln/>
        </p:spPr>
      </p:sp>
      <p:sp>
        <p:nvSpPr>
          <p:cNvPr id="12" name="Shape 10"/>
          <p:cNvSpPr/>
          <p:nvPr/>
        </p:nvSpPr>
        <p:spPr>
          <a:xfrm>
            <a:off x="4643018" y="3474720"/>
            <a:ext cx="457200" cy="457200"/>
          </a:xfrm>
          <a:prstGeom prst="ellipse">
            <a:avLst/>
          </a:prstGeom>
          <a:solidFill>
            <a:srgbClr val="3548D0"/>
          </a:solidFill>
          <a:ln/>
        </p:spPr>
      </p:sp>
      <p:sp>
        <p:nvSpPr>
          <p:cNvPr id="13" name="Text 11"/>
          <p:cNvSpPr/>
          <p:nvPr/>
        </p:nvSpPr>
        <p:spPr>
          <a:xfrm>
            <a:off x="4643018"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4" name="Text 12"/>
          <p:cNvSpPr/>
          <p:nvPr/>
        </p:nvSpPr>
        <p:spPr>
          <a:xfrm>
            <a:off x="4643018"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Partnerships managers</a:t>
            </a:r>
            <a:endParaRPr lang="en-US" sz="1800" dirty="0"/>
          </a:p>
        </p:txBody>
      </p:sp>
      <p:sp>
        <p:nvSpPr>
          <p:cNvPr id="15" name="Text 13"/>
          <p:cNvSpPr/>
          <p:nvPr/>
        </p:nvSpPr>
        <p:spPr>
          <a:xfrm>
            <a:off x="4643018"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50–500 person companies, running 50+ creator outreaches per month. Need scale and CRM, not a spreadsheet.</a:t>
            </a:r>
            <a:endParaRPr lang="en-US" sz="1300" dirty="0"/>
          </a:p>
        </p:txBody>
      </p:sp>
      <p:sp>
        <p:nvSpPr>
          <p:cNvPr id="16" name="Shape 14"/>
          <p:cNvSpPr/>
          <p:nvPr/>
        </p:nvSpPr>
        <p:spPr>
          <a:xfrm>
            <a:off x="8097317" y="3108960"/>
            <a:ext cx="3545738" cy="3017520"/>
          </a:xfrm>
          <a:prstGeom prst="roundRect">
            <a:avLst>
              <a:gd name="adj" fmla="val 3636"/>
            </a:avLst>
          </a:prstGeom>
          <a:solidFill>
            <a:srgbClr val="FFFFFF"/>
          </a:solidFill>
          <a:ln w="9525">
            <a:solidFill>
              <a:srgbClr val="E5E7F0"/>
            </a:solidFill>
            <a:prstDash val="solid"/>
          </a:ln>
        </p:spPr>
      </p:sp>
      <p:sp>
        <p:nvSpPr>
          <p:cNvPr id="17" name="Shape 15"/>
          <p:cNvSpPr/>
          <p:nvPr/>
        </p:nvSpPr>
        <p:spPr>
          <a:xfrm>
            <a:off x="8097317" y="3108960"/>
            <a:ext cx="3545738" cy="73152"/>
          </a:xfrm>
          <a:prstGeom prst="rect">
            <a:avLst/>
          </a:prstGeom>
          <a:solidFill>
            <a:srgbClr val="1A6FBE"/>
          </a:solidFill>
          <a:ln/>
        </p:spPr>
      </p:sp>
      <p:sp>
        <p:nvSpPr>
          <p:cNvPr id="18" name="Shape 16"/>
          <p:cNvSpPr/>
          <p:nvPr/>
        </p:nvSpPr>
        <p:spPr>
          <a:xfrm>
            <a:off x="8417357" y="3474720"/>
            <a:ext cx="457200" cy="457200"/>
          </a:xfrm>
          <a:prstGeom prst="ellipse">
            <a:avLst/>
          </a:prstGeom>
          <a:solidFill>
            <a:srgbClr val="1A6FBE"/>
          </a:solidFill>
          <a:ln/>
        </p:spPr>
      </p:sp>
      <p:sp>
        <p:nvSpPr>
          <p:cNvPr id="19" name="Text 17"/>
          <p:cNvSpPr/>
          <p:nvPr/>
        </p:nvSpPr>
        <p:spPr>
          <a:xfrm>
            <a:off x="8417357"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0" name="Text 18"/>
          <p:cNvSpPr/>
          <p:nvPr/>
        </p:nvSpPr>
        <p:spPr>
          <a:xfrm>
            <a:off x="8417357"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Growth operators</a:t>
            </a:r>
            <a:endParaRPr lang="en-US" sz="1800" dirty="0"/>
          </a:p>
        </p:txBody>
      </p:sp>
      <p:sp>
        <p:nvSpPr>
          <p:cNvPr id="21" name="Text 19"/>
          <p:cNvSpPr/>
          <p:nvPr/>
        </p:nvSpPr>
        <p:spPr>
          <a:xfrm>
            <a:off x="8417357"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Contractors and fractional growth leads serving 3–5 clients. Need a workflow they can run across accounts.</a:t>
            </a:r>
            <a:endParaRPr lang="en-US" sz="1300" dirty="0"/>
          </a:p>
        </p:txBody>
      </p:sp>
      <p:sp>
        <p:nvSpPr>
          <p:cNvPr id="22" name="Shape 20"/>
          <p:cNvSpPr/>
          <p:nvPr/>
        </p:nvSpPr>
        <p:spPr>
          <a:xfrm>
            <a:off x="548640" y="502920"/>
            <a:ext cx="292608" cy="292608"/>
          </a:xfrm>
          <a:prstGeom prst="roundRect">
            <a:avLst>
              <a:gd name="adj" fmla="val 25000"/>
            </a:avLst>
          </a:prstGeom>
          <a:solidFill>
            <a:srgbClr val="5028C2"/>
          </a:solidFill>
          <a:ln/>
        </p:spPr>
      </p:sp>
      <p:sp>
        <p:nvSpPr>
          <p:cNvPr id="23" name="Shape 21"/>
          <p:cNvSpPr/>
          <p:nvPr/>
        </p:nvSpPr>
        <p:spPr>
          <a:xfrm>
            <a:off x="548640" y="502920"/>
            <a:ext cx="292608" cy="292608"/>
          </a:xfrm>
          <a:prstGeom prst="roundRect">
            <a:avLst>
              <a:gd name="adj" fmla="val 25000"/>
            </a:avLst>
          </a:prstGeom>
          <a:solidFill>
            <a:srgbClr val="1A6FBE">
              <a:alpha val="50000"/>
            </a:srgbClr>
          </a:solidFill>
          <a:ln/>
        </p:spPr>
      </p:sp>
      <p:sp>
        <p:nvSpPr>
          <p:cNvPr id="24" name="Text 22"/>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5" name="Text 23"/>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6" name="Text 24"/>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13 · Who it's for  ·  vC</a:t>
            </a:r>
            <a:endParaRPr lang="en-US" sz="900" dirty="0"/>
          </a:p>
        </p:txBody>
      </p:sp>
      <p:sp>
        <p:nvSpPr>
          <p:cNvPr id="27" name="Text 25"/>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28" name="Text 26"/>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087 / 126</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320040" cy="116300"/>
          </a:xfrm>
          <a:prstGeom prst="rect">
            <a:avLst/>
          </a:prstGeom>
          <a:solidFill>
            <a:srgbClr val="5028C2"/>
          </a:solidFill>
          <a:ln/>
        </p:spPr>
      </p:sp>
      <p:sp>
        <p:nvSpPr>
          <p:cNvPr id="3" name="Shape 1"/>
          <p:cNvSpPr/>
          <p:nvPr/>
        </p:nvSpPr>
        <p:spPr>
          <a:xfrm>
            <a:off x="0" y="107156"/>
            <a:ext cx="320040" cy="116300"/>
          </a:xfrm>
          <a:prstGeom prst="rect">
            <a:avLst/>
          </a:prstGeom>
          <a:solidFill>
            <a:srgbClr val="4F29C2"/>
          </a:solidFill>
          <a:ln/>
        </p:spPr>
      </p:sp>
      <p:sp>
        <p:nvSpPr>
          <p:cNvPr id="4" name="Shape 2"/>
          <p:cNvSpPr/>
          <p:nvPr/>
        </p:nvSpPr>
        <p:spPr>
          <a:xfrm>
            <a:off x="0" y="214313"/>
            <a:ext cx="320040" cy="116300"/>
          </a:xfrm>
          <a:prstGeom prst="rect">
            <a:avLst/>
          </a:prstGeom>
          <a:solidFill>
            <a:srgbClr val="4E2AC3"/>
          </a:solidFill>
          <a:ln/>
        </p:spPr>
      </p:sp>
      <p:sp>
        <p:nvSpPr>
          <p:cNvPr id="5" name="Shape 3"/>
          <p:cNvSpPr/>
          <p:nvPr/>
        </p:nvSpPr>
        <p:spPr>
          <a:xfrm>
            <a:off x="0" y="321469"/>
            <a:ext cx="320040" cy="116300"/>
          </a:xfrm>
          <a:prstGeom prst="rect">
            <a:avLst/>
          </a:prstGeom>
          <a:solidFill>
            <a:srgbClr val="4D2BC3"/>
          </a:solidFill>
          <a:ln/>
        </p:spPr>
      </p:sp>
      <p:sp>
        <p:nvSpPr>
          <p:cNvPr id="6" name="Shape 4"/>
          <p:cNvSpPr/>
          <p:nvPr/>
        </p:nvSpPr>
        <p:spPr>
          <a:xfrm>
            <a:off x="0" y="428625"/>
            <a:ext cx="320040" cy="116300"/>
          </a:xfrm>
          <a:prstGeom prst="rect">
            <a:avLst/>
          </a:prstGeom>
          <a:solidFill>
            <a:srgbClr val="4D2CC4"/>
          </a:solidFill>
          <a:ln/>
        </p:spPr>
      </p:sp>
      <p:sp>
        <p:nvSpPr>
          <p:cNvPr id="7" name="Shape 5"/>
          <p:cNvSpPr/>
          <p:nvPr/>
        </p:nvSpPr>
        <p:spPr>
          <a:xfrm>
            <a:off x="0" y="535781"/>
            <a:ext cx="320040" cy="116300"/>
          </a:xfrm>
          <a:prstGeom prst="rect">
            <a:avLst/>
          </a:prstGeom>
          <a:solidFill>
            <a:srgbClr val="4C2DC4"/>
          </a:solidFill>
          <a:ln/>
        </p:spPr>
      </p:sp>
      <p:sp>
        <p:nvSpPr>
          <p:cNvPr id="8" name="Shape 6"/>
          <p:cNvSpPr/>
          <p:nvPr/>
        </p:nvSpPr>
        <p:spPr>
          <a:xfrm>
            <a:off x="0" y="642938"/>
            <a:ext cx="320040" cy="116300"/>
          </a:xfrm>
          <a:prstGeom prst="rect">
            <a:avLst/>
          </a:prstGeom>
          <a:solidFill>
            <a:srgbClr val="4B2EC5"/>
          </a:solidFill>
          <a:ln/>
        </p:spPr>
      </p:sp>
      <p:sp>
        <p:nvSpPr>
          <p:cNvPr id="9" name="Shape 7"/>
          <p:cNvSpPr/>
          <p:nvPr/>
        </p:nvSpPr>
        <p:spPr>
          <a:xfrm>
            <a:off x="0" y="750094"/>
            <a:ext cx="320040" cy="116300"/>
          </a:xfrm>
          <a:prstGeom prst="rect">
            <a:avLst/>
          </a:prstGeom>
          <a:solidFill>
            <a:srgbClr val="4A2FC5"/>
          </a:solidFill>
          <a:ln/>
        </p:spPr>
      </p:sp>
      <p:sp>
        <p:nvSpPr>
          <p:cNvPr id="10" name="Shape 8"/>
          <p:cNvSpPr/>
          <p:nvPr/>
        </p:nvSpPr>
        <p:spPr>
          <a:xfrm>
            <a:off x="0" y="857250"/>
            <a:ext cx="320040" cy="116300"/>
          </a:xfrm>
          <a:prstGeom prst="rect">
            <a:avLst/>
          </a:prstGeom>
          <a:solidFill>
            <a:srgbClr val="4930C6"/>
          </a:solidFill>
          <a:ln/>
        </p:spPr>
      </p:sp>
      <p:sp>
        <p:nvSpPr>
          <p:cNvPr id="11" name="Shape 9"/>
          <p:cNvSpPr/>
          <p:nvPr/>
        </p:nvSpPr>
        <p:spPr>
          <a:xfrm>
            <a:off x="0" y="964406"/>
            <a:ext cx="320040" cy="116300"/>
          </a:xfrm>
          <a:prstGeom prst="rect">
            <a:avLst/>
          </a:prstGeom>
          <a:solidFill>
            <a:srgbClr val="4831C6"/>
          </a:solidFill>
          <a:ln/>
        </p:spPr>
      </p:sp>
      <p:sp>
        <p:nvSpPr>
          <p:cNvPr id="12" name="Shape 10"/>
          <p:cNvSpPr/>
          <p:nvPr/>
        </p:nvSpPr>
        <p:spPr>
          <a:xfrm>
            <a:off x="0" y="1071563"/>
            <a:ext cx="320040" cy="116300"/>
          </a:xfrm>
          <a:prstGeom prst="rect">
            <a:avLst/>
          </a:prstGeom>
          <a:solidFill>
            <a:srgbClr val="4732C6"/>
          </a:solidFill>
          <a:ln/>
        </p:spPr>
      </p:sp>
      <p:sp>
        <p:nvSpPr>
          <p:cNvPr id="13" name="Shape 11"/>
          <p:cNvSpPr/>
          <p:nvPr/>
        </p:nvSpPr>
        <p:spPr>
          <a:xfrm>
            <a:off x="0" y="1178719"/>
            <a:ext cx="320040" cy="116300"/>
          </a:xfrm>
          <a:prstGeom prst="rect">
            <a:avLst/>
          </a:prstGeom>
          <a:solidFill>
            <a:srgbClr val="4733C7"/>
          </a:solidFill>
          <a:ln/>
        </p:spPr>
      </p:sp>
      <p:sp>
        <p:nvSpPr>
          <p:cNvPr id="14" name="Shape 12"/>
          <p:cNvSpPr/>
          <p:nvPr/>
        </p:nvSpPr>
        <p:spPr>
          <a:xfrm>
            <a:off x="0" y="1285875"/>
            <a:ext cx="320040" cy="116300"/>
          </a:xfrm>
          <a:prstGeom prst="rect">
            <a:avLst/>
          </a:prstGeom>
          <a:solidFill>
            <a:srgbClr val="4634C7"/>
          </a:solidFill>
          <a:ln/>
        </p:spPr>
      </p:sp>
      <p:sp>
        <p:nvSpPr>
          <p:cNvPr id="15" name="Shape 13"/>
          <p:cNvSpPr/>
          <p:nvPr/>
        </p:nvSpPr>
        <p:spPr>
          <a:xfrm>
            <a:off x="0" y="1393031"/>
            <a:ext cx="320040" cy="116300"/>
          </a:xfrm>
          <a:prstGeom prst="rect">
            <a:avLst/>
          </a:prstGeom>
          <a:solidFill>
            <a:srgbClr val="4535C8"/>
          </a:solidFill>
          <a:ln/>
        </p:spPr>
      </p:sp>
      <p:sp>
        <p:nvSpPr>
          <p:cNvPr id="16" name="Shape 14"/>
          <p:cNvSpPr/>
          <p:nvPr/>
        </p:nvSpPr>
        <p:spPr>
          <a:xfrm>
            <a:off x="0" y="1500188"/>
            <a:ext cx="320040" cy="116300"/>
          </a:xfrm>
          <a:prstGeom prst="rect">
            <a:avLst/>
          </a:prstGeom>
          <a:solidFill>
            <a:srgbClr val="4436C8"/>
          </a:solidFill>
          <a:ln/>
        </p:spPr>
      </p:sp>
      <p:sp>
        <p:nvSpPr>
          <p:cNvPr id="17" name="Shape 15"/>
          <p:cNvSpPr/>
          <p:nvPr/>
        </p:nvSpPr>
        <p:spPr>
          <a:xfrm>
            <a:off x="0" y="1607344"/>
            <a:ext cx="320040" cy="116300"/>
          </a:xfrm>
          <a:prstGeom prst="rect">
            <a:avLst/>
          </a:prstGeom>
          <a:solidFill>
            <a:srgbClr val="4337C9"/>
          </a:solidFill>
          <a:ln/>
        </p:spPr>
      </p:sp>
      <p:sp>
        <p:nvSpPr>
          <p:cNvPr id="18" name="Shape 16"/>
          <p:cNvSpPr/>
          <p:nvPr/>
        </p:nvSpPr>
        <p:spPr>
          <a:xfrm>
            <a:off x="0" y="1714500"/>
            <a:ext cx="320040" cy="116300"/>
          </a:xfrm>
          <a:prstGeom prst="rect">
            <a:avLst/>
          </a:prstGeom>
          <a:solidFill>
            <a:srgbClr val="4238C9"/>
          </a:solidFill>
          <a:ln/>
        </p:spPr>
      </p:sp>
      <p:sp>
        <p:nvSpPr>
          <p:cNvPr id="19" name="Shape 17"/>
          <p:cNvSpPr/>
          <p:nvPr/>
        </p:nvSpPr>
        <p:spPr>
          <a:xfrm>
            <a:off x="0" y="1821656"/>
            <a:ext cx="320040" cy="116300"/>
          </a:xfrm>
          <a:prstGeom prst="rect">
            <a:avLst/>
          </a:prstGeom>
          <a:solidFill>
            <a:srgbClr val="4139CA"/>
          </a:solidFill>
          <a:ln/>
        </p:spPr>
      </p:sp>
      <p:sp>
        <p:nvSpPr>
          <p:cNvPr id="20" name="Shape 18"/>
          <p:cNvSpPr/>
          <p:nvPr/>
        </p:nvSpPr>
        <p:spPr>
          <a:xfrm>
            <a:off x="0" y="1928813"/>
            <a:ext cx="320040" cy="116300"/>
          </a:xfrm>
          <a:prstGeom prst="rect">
            <a:avLst/>
          </a:prstGeom>
          <a:solidFill>
            <a:srgbClr val="413ACA"/>
          </a:solidFill>
          <a:ln/>
        </p:spPr>
      </p:sp>
      <p:sp>
        <p:nvSpPr>
          <p:cNvPr id="21" name="Shape 19"/>
          <p:cNvSpPr/>
          <p:nvPr/>
        </p:nvSpPr>
        <p:spPr>
          <a:xfrm>
            <a:off x="0" y="2035969"/>
            <a:ext cx="320040" cy="116300"/>
          </a:xfrm>
          <a:prstGeom prst="rect">
            <a:avLst/>
          </a:prstGeom>
          <a:solidFill>
            <a:srgbClr val="403BCA"/>
          </a:solidFill>
          <a:ln/>
        </p:spPr>
      </p:sp>
      <p:sp>
        <p:nvSpPr>
          <p:cNvPr id="22" name="Shape 20"/>
          <p:cNvSpPr/>
          <p:nvPr/>
        </p:nvSpPr>
        <p:spPr>
          <a:xfrm>
            <a:off x="0" y="2143125"/>
            <a:ext cx="320040" cy="116300"/>
          </a:xfrm>
          <a:prstGeom prst="rect">
            <a:avLst/>
          </a:prstGeom>
          <a:solidFill>
            <a:srgbClr val="3F3CCB"/>
          </a:solidFill>
          <a:ln/>
        </p:spPr>
      </p:sp>
      <p:sp>
        <p:nvSpPr>
          <p:cNvPr id="23" name="Shape 21"/>
          <p:cNvSpPr/>
          <p:nvPr/>
        </p:nvSpPr>
        <p:spPr>
          <a:xfrm>
            <a:off x="0" y="2250281"/>
            <a:ext cx="320040" cy="116300"/>
          </a:xfrm>
          <a:prstGeom prst="rect">
            <a:avLst/>
          </a:prstGeom>
          <a:solidFill>
            <a:srgbClr val="3E3DCB"/>
          </a:solidFill>
          <a:ln/>
        </p:spPr>
      </p:sp>
      <p:sp>
        <p:nvSpPr>
          <p:cNvPr id="24" name="Shape 22"/>
          <p:cNvSpPr/>
          <p:nvPr/>
        </p:nvSpPr>
        <p:spPr>
          <a:xfrm>
            <a:off x="0" y="2357438"/>
            <a:ext cx="320040" cy="116300"/>
          </a:xfrm>
          <a:prstGeom prst="rect">
            <a:avLst/>
          </a:prstGeom>
          <a:solidFill>
            <a:srgbClr val="3D3ECC"/>
          </a:solidFill>
          <a:ln/>
        </p:spPr>
      </p:sp>
      <p:sp>
        <p:nvSpPr>
          <p:cNvPr id="25" name="Shape 23"/>
          <p:cNvSpPr/>
          <p:nvPr/>
        </p:nvSpPr>
        <p:spPr>
          <a:xfrm>
            <a:off x="0" y="2464594"/>
            <a:ext cx="320040" cy="116300"/>
          </a:xfrm>
          <a:prstGeom prst="rect">
            <a:avLst/>
          </a:prstGeom>
          <a:solidFill>
            <a:srgbClr val="3C3FCC"/>
          </a:solidFill>
          <a:ln/>
        </p:spPr>
      </p:sp>
      <p:sp>
        <p:nvSpPr>
          <p:cNvPr id="26" name="Shape 24"/>
          <p:cNvSpPr/>
          <p:nvPr/>
        </p:nvSpPr>
        <p:spPr>
          <a:xfrm>
            <a:off x="0" y="2571750"/>
            <a:ext cx="320040" cy="116300"/>
          </a:xfrm>
          <a:prstGeom prst="rect">
            <a:avLst/>
          </a:prstGeom>
          <a:solidFill>
            <a:srgbClr val="3B40CD"/>
          </a:solidFill>
          <a:ln/>
        </p:spPr>
      </p:sp>
      <p:sp>
        <p:nvSpPr>
          <p:cNvPr id="27" name="Shape 25"/>
          <p:cNvSpPr/>
          <p:nvPr/>
        </p:nvSpPr>
        <p:spPr>
          <a:xfrm>
            <a:off x="0" y="2678906"/>
            <a:ext cx="320040" cy="116300"/>
          </a:xfrm>
          <a:prstGeom prst="rect">
            <a:avLst/>
          </a:prstGeom>
          <a:solidFill>
            <a:srgbClr val="3B41CD"/>
          </a:solidFill>
          <a:ln/>
        </p:spPr>
      </p:sp>
      <p:sp>
        <p:nvSpPr>
          <p:cNvPr id="28" name="Shape 26"/>
          <p:cNvSpPr/>
          <p:nvPr/>
        </p:nvSpPr>
        <p:spPr>
          <a:xfrm>
            <a:off x="0" y="2786063"/>
            <a:ext cx="320040" cy="116300"/>
          </a:xfrm>
          <a:prstGeom prst="rect">
            <a:avLst/>
          </a:prstGeom>
          <a:solidFill>
            <a:srgbClr val="3A42CE"/>
          </a:solidFill>
          <a:ln/>
        </p:spPr>
      </p:sp>
      <p:sp>
        <p:nvSpPr>
          <p:cNvPr id="29" name="Shape 27"/>
          <p:cNvSpPr/>
          <p:nvPr/>
        </p:nvSpPr>
        <p:spPr>
          <a:xfrm>
            <a:off x="0" y="2893219"/>
            <a:ext cx="320040" cy="116300"/>
          </a:xfrm>
          <a:prstGeom prst="rect">
            <a:avLst/>
          </a:prstGeom>
          <a:solidFill>
            <a:srgbClr val="3943CE"/>
          </a:solidFill>
          <a:ln/>
        </p:spPr>
      </p:sp>
      <p:sp>
        <p:nvSpPr>
          <p:cNvPr id="30" name="Shape 28"/>
          <p:cNvSpPr/>
          <p:nvPr/>
        </p:nvSpPr>
        <p:spPr>
          <a:xfrm>
            <a:off x="0" y="3000375"/>
            <a:ext cx="320040" cy="116300"/>
          </a:xfrm>
          <a:prstGeom prst="rect">
            <a:avLst/>
          </a:prstGeom>
          <a:solidFill>
            <a:srgbClr val="3844CE"/>
          </a:solidFill>
          <a:ln/>
        </p:spPr>
      </p:sp>
      <p:sp>
        <p:nvSpPr>
          <p:cNvPr id="31" name="Shape 29"/>
          <p:cNvSpPr/>
          <p:nvPr/>
        </p:nvSpPr>
        <p:spPr>
          <a:xfrm>
            <a:off x="0" y="3107531"/>
            <a:ext cx="320040" cy="116300"/>
          </a:xfrm>
          <a:prstGeom prst="rect">
            <a:avLst/>
          </a:prstGeom>
          <a:solidFill>
            <a:srgbClr val="3745CF"/>
          </a:solidFill>
          <a:ln/>
        </p:spPr>
      </p:sp>
      <p:sp>
        <p:nvSpPr>
          <p:cNvPr id="32" name="Shape 30"/>
          <p:cNvSpPr/>
          <p:nvPr/>
        </p:nvSpPr>
        <p:spPr>
          <a:xfrm>
            <a:off x="0" y="3214688"/>
            <a:ext cx="320040" cy="116300"/>
          </a:xfrm>
          <a:prstGeom prst="rect">
            <a:avLst/>
          </a:prstGeom>
          <a:solidFill>
            <a:srgbClr val="3646CF"/>
          </a:solidFill>
          <a:ln/>
        </p:spPr>
      </p:sp>
      <p:sp>
        <p:nvSpPr>
          <p:cNvPr id="33" name="Shape 31"/>
          <p:cNvSpPr/>
          <p:nvPr/>
        </p:nvSpPr>
        <p:spPr>
          <a:xfrm>
            <a:off x="0" y="3321844"/>
            <a:ext cx="320040" cy="116300"/>
          </a:xfrm>
          <a:prstGeom prst="rect">
            <a:avLst/>
          </a:prstGeom>
          <a:solidFill>
            <a:srgbClr val="3547D0"/>
          </a:solidFill>
          <a:ln/>
        </p:spPr>
      </p:sp>
      <p:sp>
        <p:nvSpPr>
          <p:cNvPr id="34" name="Shape 32"/>
          <p:cNvSpPr/>
          <p:nvPr/>
        </p:nvSpPr>
        <p:spPr>
          <a:xfrm>
            <a:off x="0" y="3429000"/>
            <a:ext cx="320040" cy="116300"/>
          </a:xfrm>
          <a:prstGeom prst="rect">
            <a:avLst/>
          </a:prstGeom>
          <a:solidFill>
            <a:srgbClr val="3549D0"/>
          </a:solidFill>
          <a:ln/>
        </p:spPr>
      </p:sp>
      <p:sp>
        <p:nvSpPr>
          <p:cNvPr id="35" name="Shape 33"/>
          <p:cNvSpPr/>
          <p:nvPr/>
        </p:nvSpPr>
        <p:spPr>
          <a:xfrm>
            <a:off x="0" y="3536156"/>
            <a:ext cx="320040" cy="116300"/>
          </a:xfrm>
          <a:prstGeom prst="rect">
            <a:avLst/>
          </a:prstGeom>
          <a:solidFill>
            <a:srgbClr val="344ACF"/>
          </a:solidFill>
          <a:ln/>
        </p:spPr>
      </p:sp>
      <p:sp>
        <p:nvSpPr>
          <p:cNvPr id="36" name="Shape 34"/>
          <p:cNvSpPr/>
          <p:nvPr/>
        </p:nvSpPr>
        <p:spPr>
          <a:xfrm>
            <a:off x="0" y="3643313"/>
            <a:ext cx="320040" cy="116300"/>
          </a:xfrm>
          <a:prstGeom prst="rect">
            <a:avLst/>
          </a:prstGeom>
          <a:solidFill>
            <a:srgbClr val="334BCF"/>
          </a:solidFill>
          <a:ln/>
        </p:spPr>
      </p:sp>
      <p:sp>
        <p:nvSpPr>
          <p:cNvPr id="37" name="Shape 35"/>
          <p:cNvSpPr/>
          <p:nvPr/>
        </p:nvSpPr>
        <p:spPr>
          <a:xfrm>
            <a:off x="0" y="3750469"/>
            <a:ext cx="320040" cy="116300"/>
          </a:xfrm>
          <a:prstGeom prst="rect">
            <a:avLst/>
          </a:prstGeom>
          <a:solidFill>
            <a:srgbClr val="324CCE"/>
          </a:solidFill>
          <a:ln/>
        </p:spPr>
      </p:sp>
      <p:sp>
        <p:nvSpPr>
          <p:cNvPr id="38" name="Shape 36"/>
          <p:cNvSpPr/>
          <p:nvPr/>
        </p:nvSpPr>
        <p:spPr>
          <a:xfrm>
            <a:off x="0" y="3857625"/>
            <a:ext cx="320040" cy="116300"/>
          </a:xfrm>
          <a:prstGeom prst="rect">
            <a:avLst/>
          </a:prstGeom>
          <a:solidFill>
            <a:srgbClr val="314ECD"/>
          </a:solidFill>
          <a:ln/>
        </p:spPr>
      </p:sp>
      <p:sp>
        <p:nvSpPr>
          <p:cNvPr id="39" name="Shape 37"/>
          <p:cNvSpPr/>
          <p:nvPr/>
        </p:nvSpPr>
        <p:spPr>
          <a:xfrm>
            <a:off x="0" y="3964781"/>
            <a:ext cx="320040" cy="116300"/>
          </a:xfrm>
          <a:prstGeom prst="rect">
            <a:avLst/>
          </a:prstGeom>
          <a:solidFill>
            <a:srgbClr val="304FCD"/>
          </a:solidFill>
          <a:ln/>
        </p:spPr>
      </p:sp>
      <p:sp>
        <p:nvSpPr>
          <p:cNvPr id="40" name="Shape 38"/>
          <p:cNvSpPr/>
          <p:nvPr/>
        </p:nvSpPr>
        <p:spPr>
          <a:xfrm>
            <a:off x="0" y="4071938"/>
            <a:ext cx="320040" cy="116300"/>
          </a:xfrm>
          <a:prstGeom prst="rect">
            <a:avLst/>
          </a:prstGeom>
          <a:solidFill>
            <a:srgbClr val="2F50CC"/>
          </a:solidFill>
          <a:ln/>
        </p:spPr>
      </p:sp>
      <p:sp>
        <p:nvSpPr>
          <p:cNvPr id="41" name="Shape 39"/>
          <p:cNvSpPr/>
          <p:nvPr/>
        </p:nvSpPr>
        <p:spPr>
          <a:xfrm>
            <a:off x="0" y="4179094"/>
            <a:ext cx="320040" cy="116300"/>
          </a:xfrm>
          <a:prstGeom prst="rect">
            <a:avLst/>
          </a:prstGeom>
          <a:solidFill>
            <a:srgbClr val="2F51CC"/>
          </a:solidFill>
          <a:ln/>
        </p:spPr>
      </p:sp>
      <p:sp>
        <p:nvSpPr>
          <p:cNvPr id="42" name="Shape 40"/>
          <p:cNvSpPr/>
          <p:nvPr/>
        </p:nvSpPr>
        <p:spPr>
          <a:xfrm>
            <a:off x="0" y="4286250"/>
            <a:ext cx="320040" cy="116300"/>
          </a:xfrm>
          <a:prstGeom prst="rect">
            <a:avLst/>
          </a:prstGeom>
          <a:solidFill>
            <a:srgbClr val="2E53CB"/>
          </a:solidFill>
          <a:ln/>
        </p:spPr>
      </p:sp>
      <p:sp>
        <p:nvSpPr>
          <p:cNvPr id="43" name="Shape 41"/>
          <p:cNvSpPr/>
          <p:nvPr/>
        </p:nvSpPr>
        <p:spPr>
          <a:xfrm>
            <a:off x="0" y="4393406"/>
            <a:ext cx="320040" cy="116300"/>
          </a:xfrm>
          <a:prstGeom prst="rect">
            <a:avLst/>
          </a:prstGeom>
          <a:solidFill>
            <a:srgbClr val="2D54CB"/>
          </a:solidFill>
          <a:ln/>
        </p:spPr>
      </p:sp>
      <p:sp>
        <p:nvSpPr>
          <p:cNvPr id="44" name="Shape 42"/>
          <p:cNvSpPr/>
          <p:nvPr/>
        </p:nvSpPr>
        <p:spPr>
          <a:xfrm>
            <a:off x="0" y="4500563"/>
            <a:ext cx="320040" cy="116300"/>
          </a:xfrm>
          <a:prstGeom prst="rect">
            <a:avLst/>
          </a:prstGeom>
          <a:solidFill>
            <a:srgbClr val="2C55CA"/>
          </a:solidFill>
          <a:ln/>
        </p:spPr>
      </p:sp>
      <p:sp>
        <p:nvSpPr>
          <p:cNvPr id="45" name="Shape 43"/>
          <p:cNvSpPr/>
          <p:nvPr/>
        </p:nvSpPr>
        <p:spPr>
          <a:xfrm>
            <a:off x="0" y="4607719"/>
            <a:ext cx="320040" cy="116300"/>
          </a:xfrm>
          <a:prstGeom prst="rect">
            <a:avLst/>
          </a:prstGeom>
          <a:solidFill>
            <a:srgbClr val="2B56C9"/>
          </a:solidFill>
          <a:ln/>
        </p:spPr>
      </p:sp>
      <p:sp>
        <p:nvSpPr>
          <p:cNvPr id="46" name="Shape 44"/>
          <p:cNvSpPr/>
          <p:nvPr/>
        </p:nvSpPr>
        <p:spPr>
          <a:xfrm>
            <a:off x="0" y="4714875"/>
            <a:ext cx="320040" cy="116300"/>
          </a:xfrm>
          <a:prstGeom prst="rect">
            <a:avLst/>
          </a:prstGeom>
          <a:solidFill>
            <a:srgbClr val="2A57C9"/>
          </a:solidFill>
          <a:ln/>
        </p:spPr>
      </p:sp>
      <p:sp>
        <p:nvSpPr>
          <p:cNvPr id="47" name="Shape 45"/>
          <p:cNvSpPr/>
          <p:nvPr/>
        </p:nvSpPr>
        <p:spPr>
          <a:xfrm>
            <a:off x="0" y="4822031"/>
            <a:ext cx="320040" cy="116300"/>
          </a:xfrm>
          <a:prstGeom prst="rect">
            <a:avLst/>
          </a:prstGeom>
          <a:solidFill>
            <a:srgbClr val="2959C8"/>
          </a:solidFill>
          <a:ln/>
        </p:spPr>
      </p:sp>
      <p:sp>
        <p:nvSpPr>
          <p:cNvPr id="48" name="Shape 46"/>
          <p:cNvSpPr/>
          <p:nvPr/>
        </p:nvSpPr>
        <p:spPr>
          <a:xfrm>
            <a:off x="0" y="4929188"/>
            <a:ext cx="320040" cy="116300"/>
          </a:xfrm>
          <a:prstGeom prst="rect">
            <a:avLst/>
          </a:prstGeom>
          <a:solidFill>
            <a:srgbClr val="295AC8"/>
          </a:solidFill>
          <a:ln/>
        </p:spPr>
      </p:sp>
      <p:sp>
        <p:nvSpPr>
          <p:cNvPr id="49" name="Shape 47"/>
          <p:cNvSpPr/>
          <p:nvPr/>
        </p:nvSpPr>
        <p:spPr>
          <a:xfrm>
            <a:off x="0" y="5036344"/>
            <a:ext cx="320040" cy="116300"/>
          </a:xfrm>
          <a:prstGeom prst="rect">
            <a:avLst/>
          </a:prstGeom>
          <a:solidFill>
            <a:srgbClr val="285BC7"/>
          </a:solidFill>
          <a:ln/>
        </p:spPr>
      </p:sp>
      <p:sp>
        <p:nvSpPr>
          <p:cNvPr id="50" name="Shape 48"/>
          <p:cNvSpPr/>
          <p:nvPr/>
        </p:nvSpPr>
        <p:spPr>
          <a:xfrm>
            <a:off x="0" y="5143500"/>
            <a:ext cx="320040" cy="116300"/>
          </a:xfrm>
          <a:prstGeom prst="rect">
            <a:avLst/>
          </a:prstGeom>
          <a:solidFill>
            <a:srgbClr val="275CC7"/>
          </a:solidFill>
          <a:ln/>
        </p:spPr>
      </p:sp>
      <p:sp>
        <p:nvSpPr>
          <p:cNvPr id="51" name="Shape 49"/>
          <p:cNvSpPr/>
          <p:nvPr/>
        </p:nvSpPr>
        <p:spPr>
          <a:xfrm>
            <a:off x="0" y="5250656"/>
            <a:ext cx="320040" cy="116300"/>
          </a:xfrm>
          <a:prstGeom prst="rect">
            <a:avLst/>
          </a:prstGeom>
          <a:solidFill>
            <a:srgbClr val="265EC6"/>
          </a:solidFill>
          <a:ln/>
        </p:spPr>
      </p:sp>
      <p:sp>
        <p:nvSpPr>
          <p:cNvPr id="52" name="Shape 50"/>
          <p:cNvSpPr/>
          <p:nvPr/>
        </p:nvSpPr>
        <p:spPr>
          <a:xfrm>
            <a:off x="0" y="5357813"/>
            <a:ext cx="320040" cy="116300"/>
          </a:xfrm>
          <a:prstGeom prst="rect">
            <a:avLst/>
          </a:prstGeom>
          <a:solidFill>
            <a:srgbClr val="255FC5"/>
          </a:solidFill>
          <a:ln/>
        </p:spPr>
      </p:sp>
      <p:sp>
        <p:nvSpPr>
          <p:cNvPr id="53" name="Shape 51"/>
          <p:cNvSpPr/>
          <p:nvPr/>
        </p:nvSpPr>
        <p:spPr>
          <a:xfrm>
            <a:off x="0" y="5464969"/>
            <a:ext cx="320040" cy="116300"/>
          </a:xfrm>
          <a:prstGeom prst="rect">
            <a:avLst/>
          </a:prstGeom>
          <a:solidFill>
            <a:srgbClr val="2460C5"/>
          </a:solidFill>
          <a:ln/>
        </p:spPr>
      </p:sp>
      <p:sp>
        <p:nvSpPr>
          <p:cNvPr id="54" name="Shape 52"/>
          <p:cNvSpPr/>
          <p:nvPr/>
        </p:nvSpPr>
        <p:spPr>
          <a:xfrm>
            <a:off x="0" y="5572125"/>
            <a:ext cx="320040" cy="116300"/>
          </a:xfrm>
          <a:prstGeom prst="rect">
            <a:avLst/>
          </a:prstGeom>
          <a:solidFill>
            <a:srgbClr val="2361C4"/>
          </a:solidFill>
          <a:ln/>
        </p:spPr>
      </p:sp>
      <p:sp>
        <p:nvSpPr>
          <p:cNvPr id="55" name="Shape 53"/>
          <p:cNvSpPr/>
          <p:nvPr/>
        </p:nvSpPr>
        <p:spPr>
          <a:xfrm>
            <a:off x="0" y="5679281"/>
            <a:ext cx="320040" cy="116300"/>
          </a:xfrm>
          <a:prstGeom prst="rect">
            <a:avLst/>
          </a:prstGeom>
          <a:solidFill>
            <a:srgbClr val="2363C4"/>
          </a:solidFill>
          <a:ln/>
        </p:spPr>
      </p:sp>
      <p:sp>
        <p:nvSpPr>
          <p:cNvPr id="56" name="Shape 54"/>
          <p:cNvSpPr/>
          <p:nvPr/>
        </p:nvSpPr>
        <p:spPr>
          <a:xfrm>
            <a:off x="0" y="5786438"/>
            <a:ext cx="320040" cy="116300"/>
          </a:xfrm>
          <a:prstGeom prst="rect">
            <a:avLst/>
          </a:prstGeom>
          <a:solidFill>
            <a:srgbClr val="2264C3"/>
          </a:solidFill>
          <a:ln/>
        </p:spPr>
      </p:sp>
      <p:sp>
        <p:nvSpPr>
          <p:cNvPr id="57" name="Shape 55"/>
          <p:cNvSpPr/>
          <p:nvPr/>
        </p:nvSpPr>
        <p:spPr>
          <a:xfrm>
            <a:off x="0" y="5893594"/>
            <a:ext cx="320040" cy="116300"/>
          </a:xfrm>
          <a:prstGeom prst="rect">
            <a:avLst/>
          </a:prstGeom>
          <a:solidFill>
            <a:srgbClr val="2165C3"/>
          </a:solidFill>
          <a:ln/>
        </p:spPr>
      </p:sp>
      <p:sp>
        <p:nvSpPr>
          <p:cNvPr id="58" name="Shape 56"/>
          <p:cNvSpPr/>
          <p:nvPr/>
        </p:nvSpPr>
        <p:spPr>
          <a:xfrm>
            <a:off x="0" y="6000750"/>
            <a:ext cx="320040" cy="116300"/>
          </a:xfrm>
          <a:prstGeom prst="rect">
            <a:avLst/>
          </a:prstGeom>
          <a:solidFill>
            <a:srgbClr val="2066C2"/>
          </a:solidFill>
          <a:ln/>
        </p:spPr>
      </p:sp>
      <p:sp>
        <p:nvSpPr>
          <p:cNvPr id="59" name="Shape 57"/>
          <p:cNvSpPr/>
          <p:nvPr/>
        </p:nvSpPr>
        <p:spPr>
          <a:xfrm>
            <a:off x="0" y="6107906"/>
            <a:ext cx="320040" cy="116300"/>
          </a:xfrm>
          <a:prstGeom prst="rect">
            <a:avLst/>
          </a:prstGeom>
          <a:solidFill>
            <a:srgbClr val="1F68C1"/>
          </a:solidFill>
          <a:ln/>
        </p:spPr>
      </p:sp>
      <p:sp>
        <p:nvSpPr>
          <p:cNvPr id="60" name="Shape 58"/>
          <p:cNvSpPr/>
          <p:nvPr/>
        </p:nvSpPr>
        <p:spPr>
          <a:xfrm>
            <a:off x="0" y="6215063"/>
            <a:ext cx="320040" cy="116300"/>
          </a:xfrm>
          <a:prstGeom prst="rect">
            <a:avLst/>
          </a:prstGeom>
          <a:solidFill>
            <a:srgbClr val="1E69C1"/>
          </a:solidFill>
          <a:ln/>
        </p:spPr>
      </p:sp>
      <p:sp>
        <p:nvSpPr>
          <p:cNvPr id="61" name="Shape 59"/>
          <p:cNvSpPr/>
          <p:nvPr/>
        </p:nvSpPr>
        <p:spPr>
          <a:xfrm>
            <a:off x="0" y="6322219"/>
            <a:ext cx="320040" cy="116300"/>
          </a:xfrm>
          <a:prstGeom prst="rect">
            <a:avLst/>
          </a:prstGeom>
          <a:solidFill>
            <a:srgbClr val="1D6AC0"/>
          </a:solidFill>
          <a:ln/>
        </p:spPr>
      </p:sp>
      <p:sp>
        <p:nvSpPr>
          <p:cNvPr id="62" name="Shape 60"/>
          <p:cNvSpPr/>
          <p:nvPr/>
        </p:nvSpPr>
        <p:spPr>
          <a:xfrm>
            <a:off x="0" y="6429375"/>
            <a:ext cx="320040" cy="116300"/>
          </a:xfrm>
          <a:prstGeom prst="rect">
            <a:avLst/>
          </a:prstGeom>
          <a:solidFill>
            <a:srgbClr val="1D6BC0"/>
          </a:solidFill>
          <a:ln/>
        </p:spPr>
      </p:sp>
      <p:sp>
        <p:nvSpPr>
          <p:cNvPr id="63" name="Shape 61"/>
          <p:cNvSpPr/>
          <p:nvPr/>
        </p:nvSpPr>
        <p:spPr>
          <a:xfrm>
            <a:off x="0" y="6536531"/>
            <a:ext cx="320040" cy="116300"/>
          </a:xfrm>
          <a:prstGeom prst="rect">
            <a:avLst/>
          </a:prstGeom>
          <a:solidFill>
            <a:srgbClr val="1C6DBF"/>
          </a:solidFill>
          <a:ln/>
        </p:spPr>
      </p:sp>
      <p:sp>
        <p:nvSpPr>
          <p:cNvPr id="64" name="Shape 62"/>
          <p:cNvSpPr/>
          <p:nvPr/>
        </p:nvSpPr>
        <p:spPr>
          <a:xfrm>
            <a:off x="0" y="6643688"/>
            <a:ext cx="320040" cy="116300"/>
          </a:xfrm>
          <a:prstGeom prst="rect">
            <a:avLst/>
          </a:prstGeom>
          <a:solidFill>
            <a:srgbClr val="1B6EBF"/>
          </a:solidFill>
          <a:ln/>
        </p:spPr>
      </p:sp>
      <p:sp>
        <p:nvSpPr>
          <p:cNvPr id="65" name="Shape 63"/>
          <p:cNvSpPr/>
          <p:nvPr/>
        </p:nvSpPr>
        <p:spPr>
          <a:xfrm>
            <a:off x="0" y="6750844"/>
            <a:ext cx="320040" cy="116300"/>
          </a:xfrm>
          <a:prstGeom prst="rect">
            <a:avLst/>
          </a:prstGeom>
          <a:solidFill>
            <a:srgbClr val="1A6FBE"/>
          </a:solidFill>
          <a:ln/>
        </p:spPr>
      </p:sp>
      <p:sp>
        <p:nvSpPr>
          <p:cNvPr id="66" name="Text 64"/>
          <p:cNvSpPr/>
          <p:nvPr/>
        </p:nvSpPr>
        <p:spPr>
          <a:xfrm>
            <a:off x="73152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TAM SIGNAL</a:t>
            </a:r>
            <a:endParaRPr lang="en-US" sz="1100" dirty="0"/>
          </a:p>
        </p:txBody>
      </p:sp>
      <p:sp>
        <p:nvSpPr>
          <p:cNvPr id="67" name="Text 65"/>
          <p:cNvSpPr/>
          <p:nvPr/>
        </p:nvSpPr>
        <p:spPr>
          <a:xfrm>
            <a:off x="548640" y="1554480"/>
            <a:ext cx="11094415" cy="3200400"/>
          </a:xfrm>
          <a:prstGeom prst="rect">
            <a:avLst/>
          </a:prstGeom>
          <a:noFill/>
          <a:ln/>
        </p:spPr>
        <p:txBody>
          <a:bodyPr wrap="square" lIns="0" tIns="0" rIns="0" bIns="0" rtlCol="0" anchor="ctr"/>
          <a:lstStyle/>
          <a:p>
            <a:pPr algn="l" indent="0" marL="0">
              <a:buNone/>
            </a:pPr>
            <a:r>
              <a:rPr lang="en-US" sz="22000" b="1" spc="-600" kern="0" dirty="0">
                <a:solidFill>
                  <a:srgbClr val="5028C2"/>
                </a:solidFill>
                <a:latin typeface="Calibri" pitchFamily="34" charset="0"/>
                <a:ea typeface="Calibri" pitchFamily="34" charset="-122"/>
                <a:cs typeface="Calibri" pitchFamily="34" charset="-120"/>
              </a:rPr>
              <a:t>40K</a:t>
            </a:r>
            <a:endParaRPr lang="en-US" sz="22000" dirty="0"/>
          </a:p>
        </p:txBody>
      </p:sp>
      <p:sp>
        <p:nvSpPr>
          <p:cNvPr id="68" name="Text 66"/>
          <p:cNvSpPr/>
          <p:nvPr/>
        </p:nvSpPr>
        <p:spPr>
          <a:xfrm>
            <a:off x="548640" y="4983480"/>
            <a:ext cx="11094415" cy="457200"/>
          </a:xfrm>
          <a:prstGeom prst="rect">
            <a:avLst/>
          </a:prstGeom>
          <a:noFill/>
          <a:ln/>
        </p:spPr>
        <p:txBody>
          <a:bodyPr wrap="square" lIns="0" tIns="0" rIns="0" bIns="0" rtlCol="0" anchor="t"/>
          <a:lstStyle/>
          <a:p>
            <a:pPr algn="l" indent="0" marL="0">
              <a:buNone/>
            </a:pPr>
            <a:r>
              <a:rPr lang="en-US" sz="2200" b="1" dirty="0">
                <a:solidFill>
                  <a:srgbClr val="0F1733"/>
                </a:solidFill>
                <a:latin typeface="Calibri" pitchFamily="34" charset="0"/>
                <a:ea typeface="Calibri" pitchFamily="34" charset="-122"/>
                <a:cs typeface="Calibri" pitchFamily="34" charset="-120"/>
              </a:rPr>
              <a:t>Series A–C B2B SaaS companies in the US alone.</a:t>
            </a:r>
            <a:endParaRPr lang="en-US" sz="2200" dirty="0"/>
          </a:p>
        </p:txBody>
      </p:sp>
      <p:sp>
        <p:nvSpPr>
          <p:cNvPr id="69" name="Text 67"/>
          <p:cNvSpPr/>
          <p:nvPr/>
        </p:nvSpPr>
        <p:spPr>
          <a:xfrm>
            <a:off x="548640" y="5486400"/>
            <a:ext cx="10637215" cy="640080"/>
          </a:xfrm>
          <a:prstGeom prst="rect">
            <a:avLst/>
          </a:prstGeom>
          <a:noFill/>
          <a:ln/>
        </p:spPr>
        <p:txBody>
          <a:bodyPr wrap="square" lIns="0" tIns="0" rIns="0" bIns="0" rtlCol="0" anchor="t"/>
          <a:lstStyle/>
          <a:p>
            <a:pPr algn="l" indent="0" marL="0">
              <a:buNone/>
            </a:pPr>
            <a:r>
              <a:rPr lang="en-US" sz="1300" dirty="0">
                <a:solidFill>
                  <a:srgbClr val="2A3358"/>
                </a:solidFill>
                <a:latin typeface="Calibri" pitchFamily="34" charset="0"/>
                <a:ea typeface="Calibri" pitchFamily="34" charset="-122"/>
                <a:cs typeface="Calibri" pitchFamily="34" charset="-120"/>
              </a:rPr>
              <a:t>Every one of them has the same creator outreach problem. Every one of them has the same workflow gap. Even a 2% conversion rate to a $99 Scale plan represents a $9.5M ARR opportunity — before we count partnerships managers, growth operators, or international expansion.</a:t>
            </a:r>
            <a:endParaRPr lang="en-US" sz="13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13 · Who it's for  ·  vD</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088 / 126</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1ECFF"/>
        </a:solidFill>
      </p:bgPr>
    </p:bg>
    <p:spTree>
      <p:nvGrpSpPr>
        <p:cNvPr id="1" name=""/>
        <p:cNvGrpSpPr/>
        <p:nvPr/>
      </p:nvGrpSpPr>
      <p:grpSpPr>
        <a:xfrm>
          <a:off x="0" y="0"/>
          <a:ext cx="0" cy="0"/>
          <a:chOff x="0" y="0"/>
          <a:chExt cx="0" cy="0"/>
        </a:xfrm>
      </p:grpSpPr>
      <p:sp>
        <p:nvSpPr>
          <p:cNvPr id="2" name="Text 0"/>
          <p:cNvSpPr/>
          <p:nvPr/>
        </p:nvSpPr>
        <p:spPr>
          <a:xfrm>
            <a:off x="457200" y="365760"/>
            <a:ext cx="2286000" cy="2286000"/>
          </a:xfrm>
          <a:prstGeom prst="rect">
            <a:avLst/>
          </a:prstGeom>
          <a:noFill/>
          <a:ln/>
        </p:spPr>
        <p:txBody>
          <a:bodyPr wrap="square" lIns="0" tIns="0" rIns="0" bIns="0" rtlCol="0" anchor="t"/>
          <a:lstStyle/>
          <a:p>
            <a:pPr algn="l" indent="0" marL="0">
              <a:buNone/>
            </a:pPr>
            <a:r>
              <a:rPr lang="en-US" sz="24000" b="1" dirty="0">
                <a:solidFill>
                  <a:srgbClr val="5028C2"/>
                </a:solidFill>
                <a:latin typeface="Georgia" pitchFamily="34" charset="0"/>
                <a:ea typeface="Georgia" pitchFamily="34" charset="-122"/>
                <a:cs typeface="Georgia" pitchFamily="34" charset="-120"/>
              </a:rPr>
              <a:t>"</a:t>
            </a:r>
            <a:endParaRPr lang="en-US" sz="24000" dirty="0"/>
          </a:p>
        </p:txBody>
      </p:sp>
      <p:sp>
        <p:nvSpPr>
          <p:cNvPr id="3" name="Text 1"/>
          <p:cNvSpPr/>
          <p:nvPr/>
        </p:nvSpPr>
        <p:spPr>
          <a:xfrm>
            <a:off x="1920240" y="1737360"/>
            <a:ext cx="9722815" cy="3108960"/>
          </a:xfrm>
          <a:prstGeom prst="rect">
            <a:avLst/>
          </a:prstGeom>
          <a:noFill/>
          <a:ln/>
        </p:spPr>
        <p:txBody>
          <a:bodyPr wrap="square" lIns="0" tIns="0" rIns="0" bIns="0" rtlCol="0" anchor="t"/>
          <a:lstStyle/>
          <a:p>
            <a:pPr algn="l" indent="0" marL="0">
              <a:buNone/>
            </a:pPr>
            <a:r>
              <a:rPr lang="en-US" sz="3000" i="1" dirty="0">
                <a:solidFill>
                  <a:srgbClr val="0F1733"/>
                </a:solidFill>
                <a:latin typeface="Georgia" pitchFamily="34" charset="0"/>
                <a:ea typeface="Georgia" pitchFamily="34" charset="-122"/>
                <a:cs typeface="Georgia" pitchFamily="34" charset="-120"/>
              </a:rPr>
              <a:t>This is the tool I would have built for myself two years ago when I was doing this manually. That's the entire ICP statement.</a:t>
            </a:r>
            <a:endParaRPr lang="en-US" sz="3000" dirty="0"/>
          </a:p>
        </p:txBody>
      </p:sp>
      <p:sp>
        <p:nvSpPr>
          <p:cNvPr id="4" name="Shape 2"/>
          <p:cNvSpPr/>
          <p:nvPr/>
        </p:nvSpPr>
        <p:spPr>
          <a:xfrm>
            <a:off x="1920240" y="5120640"/>
            <a:ext cx="640080" cy="0"/>
          </a:xfrm>
          <a:prstGeom prst="line">
            <a:avLst/>
          </a:prstGeom>
          <a:noFill/>
          <a:ln w="25400">
            <a:solidFill>
              <a:srgbClr val="5028C2"/>
            </a:solidFill>
            <a:prstDash val="solid"/>
          </a:ln>
        </p:spPr>
      </p:sp>
      <p:sp>
        <p:nvSpPr>
          <p:cNvPr id="5" name="Text 3"/>
          <p:cNvSpPr/>
          <p:nvPr/>
        </p:nvSpPr>
        <p:spPr>
          <a:xfrm>
            <a:off x="1920240" y="5212080"/>
            <a:ext cx="9722815" cy="457200"/>
          </a:xfrm>
          <a:prstGeom prst="rect">
            <a:avLst/>
          </a:prstGeom>
          <a:noFill/>
          <a:ln/>
        </p:spPr>
        <p:txBody>
          <a:bodyPr wrap="square" lIns="0" tIns="0" rIns="0" bIns="0" rtlCol="0" anchor="t"/>
          <a:lstStyle/>
          <a:p>
            <a:pPr algn="l" indent="0" marL="0">
              <a:buNone/>
            </a:pPr>
            <a:r>
              <a:rPr lang="en-US" sz="1400" b="1" spc="100" kern="0" dirty="0">
                <a:solidFill>
                  <a:srgbClr val="3D1E96"/>
                </a:solidFill>
                <a:latin typeface="Calibri" pitchFamily="34" charset="0"/>
                <a:ea typeface="Calibri" pitchFamily="34" charset="-122"/>
                <a:cs typeface="Calibri" pitchFamily="34" charset="-120"/>
              </a:rPr>
              <a:t>Dylan Meehan</a:t>
            </a:r>
            <a:endParaRPr lang="en-US" sz="1400" dirty="0"/>
          </a:p>
        </p:txBody>
      </p:sp>
      <p:sp>
        <p:nvSpPr>
          <p:cNvPr id="6" name="Text 4"/>
          <p:cNvSpPr/>
          <p:nvPr/>
        </p:nvSpPr>
        <p:spPr>
          <a:xfrm>
            <a:off x="1920240" y="5532120"/>
            <a:ext cx="9722815" cy="365760"/>
          </a:xfrm>
          <a:prstGeom prst="rect">
            <a:avLst/>
          </a:prstGeom>
          <a:noFill/>
          <a:ln/>
        </p:spPr>
        <p:txBody>
          <a:bodyPr wrap="square" lIns="0" tIns="0" rIns="0" bIns="0" rtlCol="0" anchor="t"/>
          <a:lstStyle/>
          <a:p>
            <a:pPr algn="l" indent="0" marL="0">
              <a:buNone/>
            </a:pPr>
            <a:r>
              <a:rPr lang="en-US" sz="1200" dirty="0">
                <a:solidFill>
                  <a:srgbClr val="6B7493"/>
                </a:solidFill>
                <a:latin typeface="Calibri" pitchFamily="34" charset="0"/>
                <a:ea typeface="Calibri" pitchFamily="34" charset="-122"/>
                <a:cs typeface="Calibri" pitchFamily="34" charset="-120"/>
              </a:rPr>
              <a:t>Founder, Creator Outreach</a:t>
            </a:r>
            <a:endParaRPr lang="en-US" sz="1200" dirty="0"/>
          </a:p>
        </p:txBody>
      </p:sp>
      <p:sp>
        <p:nvSpPr>
          <p:cNvPr id="7" name="Shape 5"/>
          <p:cNvSpPr/>
          <p:nvPr/>
        </p:nvSpPr>
        <p:spPr>
          <a:xfrm>
            <a:off x="548640" y="502920"/>
            <a:ext cx="292608" cy="292608"/>
          </a:xfrm>
          <a:prstGeom prst="roundRect">
            <a:avLst>
              <a:gd name="adj" fmla="val 25000"/>
            </a:avLst>
          </a:prstGeom>
          <a:solidFill>
            <a:srgbClr val="5028C2"/>
          </a:solidFill>
          <a:ln/>
        </p:spPr>
      </p:sp>
      <p:sp>
        <p:nvSpPr>
          <p:cNvPr id="8" name="Shape 6"/>
          <p:cNvSpPr/>
          <p:nvPr/>
        </p:nvSpPr>
        <p:spPr>
          <a:xfrm>
            <a:off x="548640" y="502920"/>
            <a:ext cx="292608" cy="292608"/>
          </a:xfrm>
          <a:prstGeom prst="roundRect">
            <a:avLst>
              <a:gd name="adj" fmla="val 25000"/>
            </a:avLst>
          </a:prstGeom>
          <a:solidFill>
            <a:srgbClr val="1A6FBE">
              <a:alpha val="50000"/>
            </a:srgbClr>
          </a:solidFill>
          <a:ln/>
        </p:spPr>
      </p:sp>
      <p:sp>
        <p:nvSpPr>
          <p:cNvPr id="9" name="Text 7"/>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0" name="Text 8"/>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1" name="Text 9"/>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13 · Who it's for  ·  vE</a:t>
            </a:r>
            <a:endParaRPr lang="en-US" sz="900" dirty="0"/>
          </a:p>
        </p:txBody>
      </p:sp>
      <p:sp>
        <p:nvSpPr>
          <p:cNvPr id="12" name="Text 10"/>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3" name="Text 11"/>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089 / 126</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a:off x="3047924" y="0"/>
            <a:ext cx="9143771" cy="6858000"/>
          </a:xfrm>
          <a:prstGeom prst="rtTriangle">
            <a:avLst/>
          </a:prstGeom>
          <a:solidFill>
            <a:srgbClr val="5028C2"/>
          </a:solidFill>
          <a:ln/>
        </p:spPr>
      </p:sp>
      <p:sp>
        <p:nvSpPr>
          <p:cNvPr id="3" name="Shape 1"/>
          <p:cNvSpPr/>
          <p:nvPr/>
        </p:nvSpPr>
        <p:spPr>
          <a:xfrm flipH="1">
            <a:off x="4876678" y="1028700"/>
            <a:ext cx="7924602" cy="6515100"/>
          </a:xfrm>
          <a:prstGeom prst="rtTriangle">
            <a:avLst/>
          </a:prstGeom>
          <a:solidFill>
            <a:srgbClr val="1A6FBE">
              <a:alpha val="75000"/>
            </a:srgbClr>
          </a:solidFill>
          <a:ln/>
        </p:spPr>
      </p:sp>
      <p:sp>
        <p:nvSpPr>
          <p:cNvPr id="4" name="Text 2"/>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WHO IT'S FOR</a:t>
            </a:r>
            <a:endParaRPr lang="en-US" sz="1100" dirty="0"/>
          </a:p>
        </p:txBody>
      </p:sp>
      <p:sp>
        <p:nvSpPr>
          <p:cNvPr id="5" name="Text 3"/>
          <p:cNvSpPr/>
          <p:nvPr/>
        </p:nvSpPr>
        <p:spPr>
          <a:xfrm>
            <a:off x="548640" y="1417320"/>
            <a:ext cx="6095848" cy="2286000"/>
          </a:xfrm>
          <a:prstGeom prst="rect">
            <a:avLst/>
          </a:prstGeom>
          <a:noFill/>
          <a:ln/>
        </p:spPr>
        <p:txBody>
          <a:bodyPr wrap="square" lIns="0" tIns="0" rIns="0" bIns="0" rtlCol="0" anchor="t"/>
          <a:lstStyle/>
          <a:p>
            <a:pPr algn="l" indent="0" marL="0">
              <a:buNone/>
            </a:pPr>
            <a:r>
              <a:rPr lang="en-US" sz="4000" b="1" spc="-50" kern="0" dirty="0">
                <a:solidFill>
                  <a:srgbClr val="0F1733"/>
                </a:solidFill>
                <a:latin typeface="Calibri" pitchFamily="34" charset="0"/>
                <a:ea typeface="Calibri" pitchFamily="34" charset="-122"/>
                <a:cs typeface="Calibri" pitchFamily="34" charset="-120"/>
              </a:rPr>
              <a:t>The operator doing this work today — without the tool.</a:t>
            </a:r>
            <a:endParaRPr lang="en-US" sz="4000" dirty="0"/>
          </a:p>
        </p:txBody>
      </p:sp>
      <p:sp>
        <p:nvSpPr>
          <p:cNvPr id="6" name="Text 4"/>
          <p:cNvSpPr/>
          <p:nvPr/>
        </p:nvSpPr>
        <p:spPr>
          <a:xfrm>
            <a:off x="548640" y="3840480"/>
            <a:ext cx="5821528" cy="2103120"/>
          </a:xfrm>
          <a:prstGeom prst="rect">
            <a:avLst/>
          </a:prstGeom>
          <a:noFill/>
          <a:ln/>
        </p:spPr>
        <p:txBody>
          <a:bodyPr wrap="square" lIns="0" tIns="0" rIns="0" bIns="0" rtlCol="0" anchor="t"/>
          <a:lstStyle/>
          <a:p>
            <a:pPr algn="l" indent="0" marL="0">
              <a:spcAft>
                <a:spcPts val="600"/>
              </a:spcAft>
              <a:buNone/>
            </a:pPr>
            <a:r>
              <a:rPr lang="en-US" sz="1400" dirty="0">
                <a:solidFill>
                  <a:srgbClr val="2A3358"/>
                </a:solidFill>
                <a:latin typeface="Calibri" pitchFamily="34" charset="0"/>
                <a:ea typeface="Calibri" pitchFamily="34" charset="-122"/>
                <a:cs typeface="Calibri" pitchFamily="34" charset="-120"/>
              </a:rPr>
              <a:t>You already do creator outreach. You already have a spreadsheet. You already know the work matters. You're missing the workflow that makes it leverageable. That's the entire ICP, in one sentence.</a:t>
            </a:r>
            <a:endParaRPr lang="en-US" sz="1400" dirty="0"/>
          </a:p>
        </p:txBody>
      </p:sp>
      <p:sp>
        <p:nvSpPr>
          <p:cNvPr id="7" name="Text 5"/>
          <p:cNvSpPr/>
          <p:nvPr/>
        </p:nvSpPr>
        <p:spPr>
          <a:xfrm>
            <a:off x="6705432" y="2926080"/>
            <a:ext cx="4876678" cy="3291840"/>
          </a:xfrm>
          <a:prstGeom prst="rect">
            <a:avLst/>
          </a:prstGeom>
          <a:noFill/>
          <a:ln/>
        </p:spPr>
        <p:txBody>
          <a:bodyPr wrap="square" lIns="0" tIns="0" rIns="0" bIns="0" rtlCol="0" anchor="ctr"/>
          <a:lstStyle/>
          <a:p>
            <a:pPr algn="r" indent="0" marL="0">
              <a:buNone/>
            </a:pPr>
            <a:r>
              <a:rPr lang="en-US" sz="3200" b="1" spc="-50" kern="0" dirty="0">
                <a:solidFill>
                  <a:srgbClr val="FFFFFF"/>
                </a:solidFill>
                <a:latin typeface="Calibri" pitchFamily="34" charset="0"/>
                <a:ea typeface="Calibri" pitchFamily="34" charset="-122"/>
                <a:cs typeface="Calibri" pitchFamily="34" charset="-120"/>
              </a:rPr>
              <a:t>Already</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doing</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the work.</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Missing</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the tool.</a:t>
            </a:r>
            <a:endParaRPr lang="en-US" sz="3200" dirty="0"/>
          </a:p>
        </p:txBody>
      </p:sp>
      <p:sp>
        <p:nvSpPr>
          <p:cNvPr id="8" name="Shape 6"/>
          <p:cNvSpPr/>
          <p:nvPr/>
        </p:nvSpPr>
        <p:spPr>
          <a:xfrm>
            <a:off x="548640" y="502920"/>
            <a:ext cx="292608" cy="292608"/>
          </a:xfrm>
          <a:prstGeom prst="roundRect">
            <a:avLst>
              <a:gd name="adj" fmla="val 25000"/>
            </a:avLst>
          </a:prstGeom>
          <a:solidFill>
            <a:srgbClr val="5028C2"/>
          </a:solidFill>
          <a:ln/>
        </p:spPr>
      </p:sp>
      <p:sp>
        <p:nvSpPr>
          <p:cNvPr id="9" name="Shape 7"/>
          <p:cNvSpPr/>
          <p:nvPr/>
        </p:nvSpPr>
        <p:spPr>
          <a:xfrm>
            <a:off x="548640" y="502920"/>
            <a:ext cx="292608" cy="292608"/>
          </a:xfrm>
          <a:prstGeom prst="roundRect">
            <a:avLst>
              <a:gd name="adj" fmla="val 25000"/>
            </a:avLst>
          </a:prstGeom>
          <a:solidFill>
            <a:srgbClr val="1A6FBE">
              <a:alpha val="50000"/>
            </a:srgbClr>
          </a:solidFill>
          <a:ln/>
        </p:spPr>
      </p:sp>
      <p:sp>
        <p:nvSpPr>
          <p:cNvPr id="10" name="Text 8"/>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1" name="Text 9"/>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2" name="Text 10"/>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13 · Who it's for  ·  vF</a:t>
            </a:r>
            <a:endParaRPr lang="en-US" sz="900" dirty="0"/>
          </a:p>
        </p:txBody>
      </p:sp>
      <p:sp>
        <p:nvSpPr>
          <p:cNvPr id="13" name="Text 11"/>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4" name="Text 12"/>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090 / 126</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CFAF6"/>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ICP</a:t>
            </a:r>
            <a:endParaRPr lang="en-US" sz="1100" dirty="0"/>
          </a:p>
        </p:txBody>
      </p:sp>
      <p:sp>
        <p:nvSpPr>
          <p:cNvPr id="3" name="Text 1"/>
          <p:cNvSpPr/>
          <p:nvPr/>
        </p:nvSpPr>
        <p:spPr>
          <a:xfrm>
            <a:off x="548640" y="1417320"/>
            <a:ext cx="11094415" cy="914400"/>
          </a:xfrm>
          <a:prstGeom prst="rect">
            <a:avLst/>
          </a:prstGeom>
          <a:noFill/>
          <a:ln/>
        </p:spPr>
        <p:txBody>
          <a:bodyPr wrap="square" lIns="0" tIns="0" rIns="0" bIns="0" rtlCol="0" anchor="t"/>
          <a:lstStyle/>
          <a:p>
            <a:pPr algn="l" indent="0" marL="0">
              <a:buNone/>
            </a:pPr>
            <a:r>
              <a:rPr lang="en-US" sz="3400" b="1" spc="-50" kern="0" dirty="0">
                <a:solidFill>
                  <a:srgbClr val="0F1733"/>
                </a:solidFill>
                <a:latin typeface="Calibri" pitchFamily="34" charset="0"/>
                <a:ea typeface="Calibri" pitchFamily="34" charset="-122"/>
                <a:cs typeface="Calibri" pitchFamily="34" charset="-120"/>
              </a:rPr>
              <a:t>Three buyer types. One workflow gap.</a:t>
            </a:r>
            <a:endParaRPr lang="en-US" sz="3400" dirty="0"/>
          </a:p>
        </p:txBody>
      </p:sp>
      <p:sp>
        <p:nvSpPr>
          <p:cNvPr id="4" name="Shape 2"/>
          <p:cNvSpPr/>
          <p:nvPr/>
        </p:nvSpPr>
        <p:spPr>
          <a:xfrm>
            <a:off x="548640" y="2514600"/>
            <a:ext cx="5464912" cy="67008"/>
          </a:xfrm>
          <a:prstGeom prst="rect">
            <a:avLst/>
          </a:prstGeom>
          <a:solidFill>
            <a:srgbClr val="5028C2"/>
          </a:solidFill>
          <a:ln/>
        </p:spPr>
      </p:sp>
      <p:sp>
        <p:nvSpPr>
          <p:cNvPr id="5" name="Shape 3"/>
          <p:cNvSpPr/>
          <p:nvPr/>
        </p:nvSpPr>
        <p:spPr>
          <a:xfrm>
            <a:off x="548640" y="2572464"/>
            <a:ext cx="5464912" cy="67008"/>
          </a:xfrm>
          <a:prstGeom prst="rect">
            <a:avLst/>
          </a:prstGeom>
          <a:solidFill>
            <a:srgbClr val="4F29C2"/>
          </a:solidFill>
          <a:ln/>
        </p:spPr>
      </p:sp>
      <p:sp>
        <p:nvSpPr>
          <p:cNvPr id="6" name="Shape 4"/>
          <p:cNvSpPr/>
          <p:nvPr/>
        </p:nvSpPr>
        <p:spPr>
          <a:xfrm>
            <a:off x="548640" y="2630329"/>
            <a:ext cx="5464912" cy="67008"/>
          </a:xfrm>
          <a:prstGeom prst="rect">
            <a:avLst/>
          </a:prstGeom>
          <a:solidFill>
            <a:srgbClr val="4E2AC3"/>
          </a:solidFill>
          <a:ln/>
        </p:spPr>
      </p:sp>
      <p:sp>
        <p:nvSpPr>
          <p:cNvPr id="7" name="Shape 5"/>
          <p:cNvSpPr/>
          <p:nvPr/>
        </p:nvSpPr>
        <p:spPr>
          <a:xfrm>
            <a:off x="548640" y="2688193"/>
            <a:ext cx="5464912" cy="67008"/>
          </a:xfrm>
          <a:prstGeom prst="rect">
            <a:avLst/>
          </a:prstGeom>
          <a:solidFill>
            <a:srgbClr val="4D2BC3"/>
          </a:solidFill>
          <a:ln/>
        </p:spPr>
      </p:sp>
      <p:sp>
        <p:nvSpPr>
          <p:cNvPr id="8" name="Shape 6"/>
          <p:cNvSpPr/>
          <p:nvPr/>
        </p:nvSpPr>
        <p:spPr>
          <a:xfrm>
            <a:off x="548640" y="2746058"/>
            <a:ext cx="5464912" cy="67008"/>
          </a:xfrm>
          <a:prstGeom prst="rect">
            <a:avLst/>
          </a:prstGeom>
          <a:solidFill>
            <a:srgbClr val="4D2CC4"/>
          </a:solidFill>
          <a:ln/>
        </p:spPr>
      </p:sp>
      <p:sp>
        <p:nvSpPr>
          <p:cNvPr id="9" name="Shape 7"/>
          <p:cNvSpPr/>
          <p:nvPr/>
        </p:nvSpPr>
        <p:spPr>
          <a:xfrm>
            <a:off x="548640" y="2803922"/>
            <a:ext cx="5464912" cy="67008"/>
          </a:xfrm>
          <a:prstGeom prst="rect">
            <a:avLst/>
          </a:prstGeom>
          <a:solidFill>
            <a:srgbClr val="4C2DC4"/>
          </a:solidFill>
          <a:ln/>
        </p:spPr>
      </p:sp>
      <p:sp>
        <p:nvSpPr>
          <p:cNvPr id="10" name="Shape 8"/>
          <p:cNvSpPr/>
          <p:nvPr/>
        </p:nvSpPr>
        <p:spPr>
          <a:xfrm>
            <a:off x="548640" y="2861786"/>
            <a:ext cx="5464912" cy="67008"/>
          </a:xfrm>
          <a:prstGeom prst="rect">
            <a:avLst/>
          </a:prstGeom>
          <a:solidFill>
            <a:srgbClr val="4B2EC5"/>
          </a:solidFill>
          <a:ln/>
        </p:spPr>
      </p:sp>
      <p:sp>
        <p:nvSpPr>
          <p:cNvPr id="11" name="Shape 9"/>
          <p:cNvSpPr/>
          <p:nvPr/>
        </p:nvSpPr>
        <p:spPr>
          <a:xfrm>
            <a:off x="548640" y="2919651"/>
            <a:ext cx="5464912" cy="67008"/>
          </a:xfrm>
          <a:prstGeom prst="rect">
            <a:avLst/>
          </a:prstGeom>
          <a:solidFill>
            <a:srgbClr val="4A2FC5"/>
          </a:solidFill>
          <a:ln/>
        </p:spPr>
      </p:sp>
      <p:sp>
        <p:nvSpPr>
          <p:cNvPr id="12" name="Shape 10"/>
          <p:cNvSpPr/>
          <p:nvPr/>
        </p:nvSpPr>
        <p:spPr>
          <a:xfrm>
            <a:off x="548640" y="2977515"/>
            <a:ext cx="5464912" cy="67008"/>
          </a:xfrm>
          <a:prstGeom prst="rect">
            <a:avLst/>
          </a:prstGeom>
          <a:solidFill>
            <a:srgbClr val="4930C6"/>
          </a:solidFill>
          <a:ln/>
        </p:spPr>
      </p:sp>
      <p:sp>
        <p:nvSpPr>
          <p:cNvPr id="13" name="Shape 11"/>
          <p:cNvSpPr/>
          <p:nvPr/>
        </p:nvSpPr>
        <p:spPr>
          <a:xfrm>
            <a:off x="548640" y="3035379"/>
            <a:ext cx="5464912" cy="67008"/>
          </a:xfrm>
          <a:prstGeom prst="rect">
            <a:avLst/>
          </a:prstGeom>
          <a:solidFill>
            <a:srgbClr val="4831C6"/>
          </a:solidFill>
          <a:ln/>
        </p:spPr>
      </p:sp>
      <p:sp>
        <p:nvSpPr>
          <p:cNvPr id="14" name="Shape 12"/>
          <p:cNvSpPr/>
          <p:nvPr/>
        </p:nvSpPr>
        <p:spPr>
          <a:xfrm>
            <a:off x="548640" y="3093244"/>
            <a:ext cx="5464912" cy="67008"/>
          </a:xfrm>
          <a:prstGeom prst="rect">
            <a:avLst/>
          </a:prstGeom>
          <a:solidFill>
            <a:srgbClr val="4732C6"/>
          </a:solidFill>
          <a:ln/>
        </p:spPr>
      </p:sp>
      <p:sp>
        <p:nvSpPr>
          <p:cNvPr id="15" name="Shape 13"/>
          <p:cNvSpPr/>
          <p:nvPr/>
        </p:nvSpPr>
        <p:spPr>
          <a:xfrm>
            <a:off x="548640" y="3151108"/>
            <a:ext cx="5464912" cy="67008"/>
          </a:xfrm>
          <a:prstGeom prst="rect">
            <a:avLst/>
          </a:prstGeom>
          <a:solidFill>
            <a:srgbClr val="4733C7"/>
          </a:solidFill>
          <a:ln/>
        </p:spPr>
      </p:sp>
      <p:sp>
        <p:nvSpPr>
          <p:cNvPr id="16" name="Shape 14"/>
          <p:cNvSpPr/>
          <p:nvPr/>
        </p:nvSpPr>
        <p:spPr>
          <a:xfrm>
            <a:off x="548640" y="3208973"/>
            <a:ext cx="5464912" cy="67008"/>
          </a:xfrm>
          <a:prstGeom prst="rect">
            <a:avLst/>
          </a:prstGeom>
          <a:solidFill>
            <a:srgbClr val="4634C7"/>
          </a:solidFill>
          <a:ln/>
        </p:spPr>
      </p:sp>
      <p:sp>
        <p:nvSpPr>
          <p:cNvPr id="17" name="Shape 15"/>
          <p:cNvSpPr/>
          <p:nvPr/>
        </p:nvSpPr>
        <p:spPr>
          <a:xfrm>
            <a:off x="548640" y="3266837"/>
            <a:ext cx="5464912" cy="67008"/>
          </a:xfrm>
          <a:prstGeom prst="rect">
            <a:avLst/>
          </a:prstGeom>
          <a:solidFill>
            <a:srgbClr val="4535C8"/>
          </a:solidFill>
          <a:ln/>
        </p:spPr>
      </p:sp>
      <p:sp>
        <p:nvSpPr>
          <p:cNvPr id="18" name="Shape 16"/>
          <p:cNvSpPr/>
          <p:nvPr/>
        </p:nvSpPr>
        <p:spPr>
          <a:xfrm>
            <a:off x="548640" y="3324701"/>
            <a:ext cx="5464912" cy="67008"/>
          </a:xfrm>
          <a:prstGeom prst="rect">
            <a:avLst/>
          </a:prstGeom>
          <a:solidFill>
            <a:srgbClr val="4436C8"/>
          </a:solidFill>
          <a:ln/>
        </p:spPr>
      </p:sp>
      <p:sp>
        <p:nvSpPr>
          <p:cNvPr id="19" name="Shape 17"/>
          <p:cNvSpPr/>
          <p:nvPr/>
        </p:nvSpPr>
        <p:spPr>
          <a:xfrm>
            <a:off x="548640" y="3382566"/>
            <a:ext cx="5464912" cy="67008"/>
          </a:xfrm>
          <a:prstGeom prst="rect">
            <a:avLst/>
          </a:prstGeom>
          <a:solidFill>
            <a:srgbClr val="4337C9"/>
          </a:solidFill>
          <a:ln/>
        </p:spPr>
      </p:sp>
      <p:sp>
        <p:nvSpPr>
          <p:cNvPr id="20" name="Shape 18"/>
          <p:cNvSpPr/>
          <p:nvPr/>
        </p:nvSpPr>
        <p:spPr>
          <a:xfrm>
            <a:off x="548640" y="3440430"/>
            <a:ext cx="5464912" cy="67008"/>
          </a:xfrm>
          <a:prstGeom prst="rect">
            <a:avLst/>
          </a:prstGeom>
          <a:solidFill>
            <a:srgbClr val="4238C9"/>
          </a:solidFill>
          <a:ln/>
        </p:spPr>
      </p:sp>
      <p:sp>
        <p:nvSpPr>
          <p:cNvPr id="21" name="Shape 19"/>
          <p:cNvSpPr/>
          <p:nvPr/>
        </p:nvSpPr>
        <p:spPr>
          <a:xfrm>
            <a:off x="548640" y="3498294"/>
            <a:ext cx="5464912" cy="67008"/>
          </a:xfrm>
          <a:prstGeom prst="rect">
            <a:avLst/>
          </a:prstGeom>
          <a:solidFill>
            <a:srgbClr val="4139CA"/>
          </a:solidFill>
          <a:ln/>
        </p:spPr>
      </p:sp>
      <p:sp>
        <p:nvSpPr>
          <p:cNvPr id="22" name="Shape 20"/>
          <p:cNvSpPr/>
          <p:nvPr/>
        </p:nvSpPr>
        <p:spPr>
          <a:xfrm>
            <a:off x="548640" y="3556159"/>
            <a:ext cx="5464912" cy="67008"/>
          </a:xfrm>
          <a:prstGeom prst="rect">
            <a:avLst/>
          </a:prstGeom>
          <a:solidFill>
            <a:srgbClr val="413ACA"/>
          </a:solidFill>
          <a:ln/>
        </p:spPr>
      </p:sp>
      <p:sp>
        <p:nvSpPr>
          <p:cNvPr id="23" name="Shape 21"/>
          <p:cNvSpPr/>
          <p:nvPr/>
        </p:nvSpPr>
        <p:spPr>
          <a:xfrm>
            <a:off x="548640" y="3614023"/>
            <a:ext cx="5464912" cy="67008"/>
          </a:xfrm>
          <a:prstGeom prst="rect">
            <a:avLst/>
          </a:prstGeom>
          <a:solidFill>
            <a:srgbClr val="403BCA"/>
          </a:solidFill>
          <a:ln/>
        </p:spPr>
      </p:sp>
      <p:sp>
        <p:nvSpPr>
          <p:cNvPr id="24" name="Shape 22"/>
          <p:cNvSpPr/>
          <p:nvPr/>
        </p:nvSpPr>
        <p:spPr>
          <a:xfrm>
            <a:off x="548640" y="3671888"/>
            <a:ext cx="5464912" cy="67008"/>
          </a:xfrm>
          <a:prstGeom prst="rect">
            <a:avLst/>
          </a:prstGeom>
          <a:solidFill>
            <a:srgbClr val="3F3CCB"/>
          </a:solidFill>
          <a:ln/>
        </p:spPr>
      </p:sp>
      <p:sp>
        <p:nvSpPr>
          <p:cNvPr id="25" name="Shape 23"/>
          <p:cNvSpPr/>
          <p:nvPr/>
        </p:nvSpPr>
        <p:spPr>
          <a:xfrm>
            <a:off x="548640" y="3729752"/>
            <a:ext cx="5464912" cy="67008"/>
          </a:xfrm>
          <a:prstGeom prst="rect">
            <a:avLst/>
          </a:prstGeom>
          <a:solidFill>
            <a:srgbClr val="3E3DCB"/>
          </a:solidFill>
          <a:ln/>
        </p:spPr>
      </p:sp>
      <p:sp>
        <p:nvSpPr>
          <p:cNvPr id="26" name="Shape 24"/>
          <p:cNvSpPr/>
          <p:nvPr/>
        </p:nvSpPr>
        <p:spPr>
          <a:xfrm>
            <a:off x="548640" y="3787616"/>
            <a:ext cx="5464912" cy="67008"/>
          </a:xfrm>
          <a:prstGeom prst="rect">
            <a:avLst/>
          </a:prstGeom>
          <a:solidFill>
            <a:srgbClr val="3D3ECC"/>
          </a:solidFill>
          <a:ln/>
        </p:spPr>
      </p:sp>
      <p:sp>
        <p:nvSpPr>
          <p:cNvPr id="27" name="Shape 25"/>
          <p:cNvSpPr/>
          <p:nvPr/>
        </p:nvSpPr>
        <p:spPr>
          <a:xfrm>
            <a:off x="548640" y="3845481"/>
            <a:ext cx="5464912" cy="67008"/>
          </a:xfrm>
          <a:prstGeom prst="rect">
            <a:avLst/>
          </a:prstGeom>
          <a:solidFill>
            <a:srgbClr val="3C3FCC"/>
          </a:solidFill>
          <a:ln/>
        </p:spPr>
      </p:sp>
      <p:sp>
        <p:nvSpPr>
          <p:cNvPr id="28" name="Shape 26"/>
          <p:cNvSpPr/>
          <p:nvPr/>
        </p:nvSpPr>
        <p:spPr>
          <a:xfrm>
            <a:off x="548640" y="3903345"/>
            <a:ext cx="5464912" cy="67008"/>
          </a:xfrm>
          <a:prstGeom prst="rect">
            <a:avLst/>
          </a:prstGeom>
          <a:solidFill>
            <a:srgbClr val="3B40CD"/>
          </a:solidFill>
          <a:ln/>
        </p:spPr>
      </p:sp>
      <p:sp>
        <p:nvSpPr>
          <p:cNvPr id="29" name="Shape 27"/>
          <p:cNvSpPr/>
          <p:nvPr/>
        </p:nvSpPr>
        <p:spPr>
          <a:xfrm>
            <a:off x="548640" y="3961209"/>
            <a:ext cx="5464912" cy="67008"/>
          </a:xfrm>
          <a:prstGeom prst="rect">
            <a:avLst/>
          </a:prstGeom>
          <a:solidFill>
            <a:srgbClr val="3B41CD"/>
          </a:solidFill>
          <a:ln/>
        </p:spPr>
      </p:sp>
      <p:sp>
        <p:nvSpPr>
          <p:cNvPr id="30" name="Shape 28"/>
          <p:cNvSpPr/>
          <p:nvPr/>
        </p:nvSpPr>
        <p:spPr>
          <a:xfrm>
            <a:off x="548640" y="4019074"/>
            <a:ext cx="5464912" cy="67008"/>
          </a:xfrm>
          <a:prstGeom prst="rect">
            <a:avLst/>
          </a:prstGeom>
          <a:solidFill>
            <a:srgbClr val="3A42CE"/>
          </a:solidFill>
          <a:ln/>
        </p:spPr>
      </p:sp>
      <p:sp>
        <p:nvSpPr>
          <p:cNvPr id="31" name="Shape 29"/>
          <p:cNvSpPr/>
          <p:nvPr/>
        </p:nvSpPr>
        <p:spPr>
          <a:xfrm>
            <a:off x="548640" y="4076938"/>
            <a:ext cx="5464912" cy="67008"/>
          </a:xfrm>
          <a:prstGeom prst="rect">
            <a:avLst/>
          </a:prstGeom>
          <a:solidFill>
            <a:srgbClr val="3943CE"/>
          </a:solidFill>
          <a:ln/>
        </p:spPr>
      </p:sp>
      <p:sp>
        <p:nvSpPr>
          <p:cNvPr id="32" name="Shape 30"/>
          <p:cNvSpPr/>
          <p:nvPr/>
        </p:nvSpPr>
        <p:spPr>
          <a:xfrm>
            <a:off x="548640" y="4134802"/>
            <a:ext cx="5464912" cy="67008"/>
          </a:xfrm>
          <a:prstGeom prst="rect">
            <a:avLst/>
          </a:prstGeom>
          <a:solidFill>
            <a:srgbClr val="3844CE"/>
          </a:solidFill>
          <a:ln/>
        </p:spPr>
      </p:sp>
      <p:sp>
        <p:nvSpPr>
          <p:cNvPr id="33" name="Shape 31"/>
          <p:cNvSpPr/>
          <p:nvPr/>
        </p:nvSpPr>
        <p:spPr>
          <a:xfrm>
            <a:off x="548640" y="4192667"/>
            <a:ext cx="5464912" cy="67008"/>
          </a:xfrm>
          <a:prstGeom prst="rect">
            <a:avLst/>
          </a:prstGeom>
          <a:solidFill>
            <a:srgbClr val="3745CF"/>
          </a:solidFill>
          <a:ln/>
        </p:spPr>
      </p:sp>
      <p:sp>
        <p:nvSpPr>
          <p:cNvPr id="34" name="Shape 32"/>
          <p:cNvSpPr/>
          <p:nvPr/>
        </p:nvSpPr>
        <p:spPr>
          <a:xfrm>
            <a:off x="548640" y="4250531"/>
            <a:ext cx="5464912" cy="67008"/>
          </a:xfrm>
          <a:prstGeom prst="rect">
            <a:avLst/>
          </a:prstGeom>
          <a:solidFill>
            <a:srgbClr val="3646CF"/>
          </a:solidFill>
          <a:ln/>
        </p:spPr>
      </p:sp>
      <p:sp>
        <p:nvSpPr>
          <p:cNvPr id="35" name="Shape 33"/>
          <p:cNvSpPr/>
          <p:nvPr/>
        </p:nvSpPr>
        <p:spPr>
          <a:xfrm>
            <a:off x="548640" y="4308396"/>
            <a:ext cx="5464912" cy="67008"/>
          </a:xfrm>
          <a:prstGeom prst="rect">
            <a:avLst/>
          </a:prstGeom>
          <a:solidFill>
            <a:srgbClr val="3547D0"/>
          </a:solidFill>
          <a:ln/>
        </p:spPr>
      </p:sp>
      <p:sp>
        <p:nvSpPr>
          <p:cNvPr id="36" name="Shape 34"/>
          <p:cNvSpPr/>
          <p:nvPr/>
        </p:nvSpPr>
        <p:spPr>
          <a:xfrm>
            <a:off x="548640" y="4366260"/>
            <a:ext cx="5464912" cy="67008"/>
          </a:xfrm>
          <a:prstGeom prst="rect">
            <a:avLst/>
          </a:prstGeom>
          <a:solidFill>
            <a:srgbClr val="3549D0"/>
          </a:solidFill>
          <a:ln/>
        </p:spPr>
      </p:sp>
      <p:sp>
        <p:nvSpPr>
          <p:cNvPr id="37" name="Shape 35"/>
          <p:cNvSpPr/>
          <p:nvPr/>
        </p:nvSpPr>
        <p:spPr>
          <a:xfrm>
            <a:off x="548640" y="4424124"/>
            <a:ext cx="5464912" cy="67008"/>
          </a:xfrm>
          <a:prstGeom prst="rect">
            <a:avLst/>
          </a:prstGeom>
          <a:solidFill>
            <a:srgbClr val="344ACF"/>
          </a:solidFill>
          <a:ln/>
        </p:spPr>
      </p:sp>
      <p:sp>
        <p:nvSpPr>
          <p:cNvPr id="38" name="Shape 36"/>
          <p:cNvSpPr/>
          <p:nvPr/>
        </p:nvSpPr>
        <p:spPr>
          <a:xfrm>
            <a:off x="548640" y="4481989"/>
            <a:ext cx="5464912" cy="67008"/>
          </a:xfrm>
          <a:prstGeom prst="rect">
            <a:avLst/>
          </a:prstGeom>
          <a:solidFill>
            <a:srgbClr val="334BCF"/>
          </a:solidFill>
          <a:ln/>
        </p:spPr>
      </p:sp>
      <p:sp>
        <p:nvSpPr>
          <p:cNvPr id="39" name="Shape 37"/>
          <p:cNvSpPr/>
          <p:nvPr/>
        </p:nvSpPr>
        <p:spPr>
          <a:xfrm>
            <a:off x="548640" y="4539853"/>
            <a:ext cx="5464912" cy="67008"/>
          </a:xfrm>
          <a:prstGeom prst="rect">
            <a:avLst/>
          </a:prstGeom>
          <a:solidFill>
            <a:srgbClr val="324CCE"/>
          </a:solidFill>
          <a:ln/>
        </p:spPr>
      </p:sp>
      <p:sp>
        <p:nvSpPr>
          <p:cNvPr id="40" name="Shape 38"/>
          <p:cNvSpPr/>
          <p:nvPr/>
        </p:nvSpPr>
        <p:spPr>
          <a:xfrm>
            <a:off x="548640" y="4597717"/>
            <a:ext cx="5464912" cy="67008"/>
          </a:xfrm>
          <a:prstGeom prst="rect">
            <a:avLst/>
          </a:prstGeom>
          <a:solidFill>
            <a:srgbClr val="314ECD"/>
          </a:solidFill>
          <a:ln/>
        </p:spPr>
      </p:sp>
      <p:sp>
        <p:nvSpPr>
          <p:cNvPr id="41" name="Shape 39"/>
          <p:cNvSpPr/>
          <p:nvPr/>
        </p:nvSpPr>
        <p:spPr>
          <a:xfrm>
            <a:off x="548640" y="4655582"/>
            <a:ext cx="5464912" cy="67008"/>
          </a:xfrm>
          <a:prstGeom prst="rect">
            <a:avLst/>
          </a:prstGeom>
          <a:solidFill>
            <a:srgbClr val="304FCD"/>
          </a:solidFill>
          <a:ln/>
        </p:spPr>
      </p:sp>
      <p:sp>
        <p:nvSpPr>
          <p:cNvPr id="42" name="Shape 40"/>
          <p:cNvSpPr/>
          <p:nvPr/>
        </p:nvSpPr>
        <p:spPr>
          <a:xfrm>
            <a:off x="548640" y="4713446"/>
            <a:ext cx="5464912" cy="67008"/>
          </a:xfrm>
          <a:prstGeom prst="rect">
            <a:avLst/>
          </a:prstGeom>
          <a:solidFill>
            <a:srgbClr val="2F50CC"/>
          </a:solidFill>
          <a:ln/>
        </p:spPr>
      </p:sp>
      <p:sp>
        <p:nvSpPr>
          <p:cNvPr id="43" name="Shape 41"/>
          <p:cNvSpPr/>
          <p:nvPr/>
        </p:nvSpPr>
        <p:spPr>
          <a:xfrm>
            <a:off x="548640" y="4771311"/>
            <a:ext cx="5464912" cy="67008"/>
          </a:xfrm>
          <a:prstGeom prst="rect">
            <a:avLst/>
          </a:prstGeom>
          <a:solidFill>
            <a:srgbClr val="2F51CC"/>
          </a:solidFill>
          <a:ln/>
        </p:spPr>
      </p:sp>
      <p:sp>
        <p:nvSpPr>
          <p:cNvPr id="44" name="Shape 42"/>
          <p:cNvSpPr/>
          <p:nvPr/>
        </p:nvSpPr>
        <p:spPr>
          <a:xfrm>
            <a:off x="548640" y="4829175"/>
            <a:ext cx="5464912" cy="67008"/>
          </a:xfrm>
          <a:prstGeom prst="rect">
            <a:avLst/>
          </a:prstGeom>
          <a:solidFill>
            <a:srgbClr val="2E53CB"/>
          </a:solidFill>
          <a:ln/>
        </p:spPr>
      </p:sp>
      <p:sp>
        <p:nvSpPr>
          <p:cNvPr id="45" name="Shape 43"/>
          <p:cNvSpPr/>
          <p:nvPr/>
        </p:nvSpPr>
        <p:spPr>
          <a:xfrm>
            <a:off x="548640" y="4887039"/>
            <a:ext cx="5464912" cy="67008"/>
          </a:xfrm>
          <a:prstGeom prst="rect">
            <a:avLst/>
          </a:prstGeom>
          <a:solidFill>
            <a:srgbClr val="2D54CB"/>
          </a:solidFill>
          <a:ln/>
        </p:spPr>
      </p:sp>
      <p:sp>
        <p:nvSpPr>
          <p:cNvPr id="46" name="Shape 44"/>
          <p:cNvSpPr/>
          <p:nvPr/>
        </p:nvSpPr>
        <p:spPr>
          <a:xfrm>
            <a:off x="548640" y="4944904"/>
            <a:ext cx="5464912" cy="67008"/>
          </a:xfrm>
          <a:prstGeom prst="rect">
            <a:avLst/>
          </a:prstGeom>
          <a:solidFill>
            <a:srgbClr val="2C55CA"/>
          </a:solidFill>
          <a:ln/>
        </p:spPr>
      </p:sp>
      <p:sp>
        <p:nvSpPr>
          <p:cNvPr id="47" name="Shape 45"/>
          <p:cNvSpPr/>
          <p:nvPr/>
        </p:nvSpPr>
        <p:spPr>
          <a:xfrm>
            <a:off x="548640" y="5002768"/>
            <a:ext cx="5464912" cy="67008"/>
          </a:xfrm>
          <a:prstGeom prst="rect">
            <a:avLst/>
          </a:prstGeom>
          <a:solidFill>
            <a:srgbClr val="2B56C9"/>
          </a:solidFill>
          <a:ln/>
        </p:spPr>
      </p:sp>
      <p:sp>
        <p:nvSpPr>
          <p:cNvPr id="48" name="Shape 46"/>
          <p:cNvSpPr/>
          <p:nvPr/>
        </p:nvSpPr>
        <p:spPr>
          <a:xfrm>
            <a:off x="548640" y="5060633"/>
            <a:ext cx="5464912" cy="67008"/>
          </a:xfrm>
          <a:prstGeom prst="rect">
            <a:avLst/>
          </a:prstGeom>
          <a:solidFill>
            <a:srgbClr val="2A57C9"/>
          </a:solidFill>
          <a:ln/>
        </p:spPr>
      </p:sp>
      <p:sp>
        <p:nvSpPr>
          <p:cNvPr id="49" name="Shape 47"/>
          <p:cNvSpPr/>
          <p:nvPr/>
        </p:nvSpPr>
        <p:spPr>
          <a:xfrm>
            <a:off x="548640" y="5118497"/>
            <a:ext cx="5464912" cy="67008"/>
          </a:xfrm>
          <a:prstGeom prst="rect">
            <a:avLst/>
          </a:prstGeom>
          <a:solidFill>
            <a:srgbClr val="2959C8"/>
          </a:solidFill>
          <a:ln/>
        </p:spPr>
      </p:sp>
      <p:sp>
        <p:nvSpPr>
          <p:cNvPr id="50" name="Shape 48"/>
          <p:cNvSpPr/>
          <p:nvPr/>
        </p:nvSpPr>
        <p:spPr>
          <a:xfrm>
            <a:off x="548640" y="5176361"/>
            <a:ext cx="5464912" cy="67008"/>
          </a:xfrm>
          <a:prstGeom prst="rect">
            <a:avLst/>
          </a:prstGeom>
          <a:solidFill>
            <a:srgbClr val="295AC8"/>
          </a:solidFill>
          <a:ln/>
        </p:spPr>
      </p:sp>
      <p:sp>
        <p:nvSpPr>
          <p:cNvPr id="51" name="Shape 49"/>
          <p:cNvSpPr/>
          <p:nvPr/>
        </p:nvSpPr>
        <p:spPr>
          <a:xfrm>
            <a:off x="548640" y="5234226"/>
            <a:ext cx="5464912" cy="67008"/>
          </a:xfrm>
          <a:prstGeom prst="rect">
            <a:avLst/>
          </a:prstGeom>
          <a:solidFill>
            <a:srgbClr val="285BC7"/>
          </a:solidFill>
          <a:ln/>
        </p:spPr>
      </p:sp>
      <p:sp>
        <p:nvSpPr>
          <p:cNvPr id="52" name="Shape 50"/>
          <p:cNvSpPr/>
          <p:nvPr/>
        </p:nvSpPr>
        <p:spPr>
          <a:xfrm>
            <a:off x="548640" y="5292090"/>
            <a:ext cx="5464912" cy="67008"/>
          </a:xfrm>
          <a:prstGeom prst="rect">
            <a:avLst/>
          </a:prstGeom>
          <a:solidFill>
            <a:srgbClr val="275CC7"/>
          </a:solidFill>
          <a:ln/>
        </p:spPr>
      </p:sp>
      <p:sp>
        <p:nvSpPr>
          <p:cNvPr id="53" name="Shape 51"/>
          <p:cNvSpPr/>
          <p:nvPr/>
        </p:nvSpPr>
        <p:spPr>
          <a:xfrm>
            <a:off x="548640" y="5349954"/>
            <a:ext cx="5464912" cy="67008"/>
          </a:xfrm>
          <a:prstGeom prst="rect">
            <a:avLst/>
          </a:prstGeom>
          <a:solidFill>
            <a:srgbClr val="265EC6"/>
          </a:solidFill>
          <a:ln/>
        </p:spPr>
      </p:sp>
      <p:sp>
        <p:nvSpPr>
          <p:cNvPr id="54" name="Shape 52"/>
          <p:cNvSpPr/>
          <p:nvPr/>
        </p:nvSpPr>
        <p:spPr>
          <a:xfrm>
            <a:off x="548640" y="5407819"/>
            <a:ext cx="5464912" cy="67008"/>
          </a:xfrm>
          <a:prstGeom prst="rect">
            <a:avLst/>
          </a:prstGeom>
          <a:solidFill>
            <a:srgbClr val="255FC5"/>
          </a:solidFill>
          <a:ln/>
        </p:spPr>
      </p:sp>
      <p:sp>
        <p:nvSpPr>
          <p:cNvPr id="55" name="Shape 53"/>
          <p:cNvSpPr/>
          <p:nvPr/>
        </p:nvSpPr>
        <p:spPr>
          <a:xfrm>
            <a:off x="548640" y="5465683"/>
            <a:ext cx="5464912" cy="67008"/>
          </a:xfrm>
          <a:prstGeom prst="rect">
            <a:avLst/>
          </a:prstGeom>
          <a:solidFill>
            <a:srgbClr val="2460C5"/>
          </a:solidFill>
          <a:ln/>
        </p:spPr>
      </p:sp>
      <p:sp>
        <p:nvSpPr>
          <p:cNvPr id="56" name="Shape 54"/>
          <p:cNvSpPr/>
          <p:nvPr/>
        </p:nvSpPr>
        <p:spPr>
          <a:xfrm>
            <a:off x="548640" y="5523548"/>
            <a:ext cx="5464912" cy="67008"/>
          </a:xfrm>
          <a:prstGeom prst="rect">
            <a:avLst/>
          </a:prstGeom>
          <a:solidFill>
            <a:srgbClr val="2361C4"/>
          </a:solidFill>
          <a:ln/>
        </p:spPr>
      </p:sp>
      <p:sp>
        <p:nvSpPr>
          <p:cNvPr id="57" name="Shape 55"/>
          <p:cNvSpPr/>
          <p:nvPr/>
        </p:nvSpPr>
        <p:spPr>
          <a:xfrm>
            <a:off x="548640" y="5581412"/>
            <a:ext cx="5464912" cy="67008"/>
          </a:xfrm>
          <a:prstGeom prst="rect">
            <a:avLst/>
          </a:prstGeom>
          <a:solidFill>
            <a:srgbClr val="2363C4"/>
          </a:solidFill>
          <a:ln/>
        </p:spPr>
      </p:sp>
      <p:sp>
        <p:nvSpPr>
          <p:cNvPr id="58" name="Shape 56"/>
          <p:cNvSpPr/>
          <p:nvPr/>
        </p:nvSpPr>
        <p:spPr>
          <a:xfrm>
            <a:off x="548640" y="5639276"/>
            <a:ext cx="5464912" cy="67008"/>
          </a:xfrm>
          <a:prstGeom prst="rect">
            <a:avLst/>
          </a:prstGeom>
          <a:solidFill>
            <a:srgbClr val="2264C3"/>
          </a:solidFill>
          <a:ln/>
        </p:spPr>
      </p:sp>
      <p:sp>
        <p:nvSpPr>
          <p:cNvPr id="59" name="Shape 57"/>
          <p:cNvSpPr/>
          <p:nvPr/>
        </p:nvSpPr>
        <p:spPr>
          <a:xfrm>
            <a:off x="548640" y="5697141"/>
            <a:ext cx="5464912" cy="67008"/>
          </a:xfrm>
          <a:prstGeom prst="rect">
            <a:avLst/>
          </a:prstGeom>
          <a:solidFill>
            <a:srgbClr val="2165C3"/>
          </a:solidFill>
          <a:ln/>
        </p:spPr>
      </p:sp>
      <p:sp>
        <p:nvSpPr>
          <p:cNvPr id="60" name="Shape 58"/>
          <p:cNvSpPr/>
          <p:nvPr/>
        </p:nvSpPr>
        <p:spPr>
          <a:xfrm>
            <a:off x="548640" y="5755005"/>
            <a:ext cx="5464912" cy="67008"/>
          </a:xfrm>
          <a:prstGeom prst="rect">
            <a:avLst/>
          </a:prstGeom>
          <a:solidFill>
            <a:srgbClr val="2066C2"/>
          </a:solidFill>
          <a:ln/>
        </p:spPr>
      </p:sp>
      <p:sp>
        <p:nvSpPr>
          <p:cNvPr id="61" name="Shape 59"/>
          <p:cNvSpPr/>
          <p:nvPr/>
        </p:nvSpPr>
        <p:spPr>
          <a:xfrm>
            <a:off x="548640" y="5812869"/>
            <a:ext cx="5464912" cy="67008"/>
          </a:xfrm>
          <a:prstGeom prst="rect">
            <a:avLst/>
          </a:prstGeom>
          <a:solidFill>
            <a:srgbClr val="1F68C1"/>
          </a:solidFill>
          <a:ln/>
        </p:spPr>
      </p:sp>
      <p:sp>
        <p:nvSpPr>
          <p:cNvPr id="62" name="Shape 60"/>
          <p:cNvSpPr/>
          <p:nvPr/>
        </p:nvSpPr>
        <p:spPr>
          <a:xfrm>
            <a:off x="548640" y="5870734"/>
            <a:ext cx="5464912" cy="67008"/>
          </a:xfrm>
          <a:prstGeom prst="rect">
            <a:avLst/>
          </a:prstGeom>
          <a:solidFill>
            <a:srgbClr val="1E69C1"/>
          </a:solidFill>
          <a:ln/>
        </p:spPr>
      </p:sp>
      <p:sp>
        <p:nvSpPr>
          <p:cNvPr id="63" name="Shape 61"/>
          <p:cNvSpPr/>
          <p:nvPr/>
        </p:nvSpPr>
        <p:spPr>
          <a:xfrm>
            <a:off x="548640" y="5928598"/>
            <a:ext cx="5464912" cy="67008"/>
          </a:xfrm>
          <a:prstGeom prst="rect">
            <a:avLst/>
          </a:prstGeom>
          <a:solidFill>
            <a:srgbClr val="1D6AC0"/>
          </a:solidFill>
          <a:ln/>
        </p:spPr>
      </p:sp>
      <p:sp>
        <p:nvSpPr>
          <p:cNvPr id="64" name="Shape 62"/>
          <p:cNvSpPr/>
          <p:nvPr/>
        </p:nvSpPr>
        <p:spPr>
          <a:xfrm>
            <a:off x="548640" y="5986463"/>
            <a:ext cx="5464912" cy="67008"/>
          </a:xfrm>
          <a:prstGeom prst="rect">
            <a:avLst/>
          </a:prstGeom>
          <a:solidFill>
            <a:srgbClr val="1D6BC0"/>
          </a:solidFill>
          <a:ln/>
        </p:spPr>
      </p:sp>
      <p:sp>
        <p:nvSpPr>
          <p:cNvPr id="65" name="Shape 63"/>
          <p:cNvSpPr/>
          <p:nvPr/>
        </p:nvSpPr>
        <p:spPr>
          <a:xfrm>
            <a:off x="548640" y="6044327"/>
            <a:ext cx="5464912" cy="67008"/>
          </a:xfrm>
          <a:prstGeom prst="rect">
            <a:avLst/>
          </a:prstGeom>
          <a:solidFill>
            <a:srgbClr val="1C6DBF"/>
          </a:solidFill>
          <a:ln/>
        </p:spPr>
      </p:sp>
      <p:sp>
        <p:nvSpPr>
          <p:cNvPr id="66" name="Shape 64"/>
          <p:cNvSpPr/>
          <p:nvPr/>
        </p:nvSpPr>
        <p:spPr>
          <a:xfrm>
            <a:off x="548640" y="6102191"/>
            <a:ext cx="5464912" cy="67008"/>
          </a:xfrm>
          <a:prstGeom prst="rect">
            <a:avLst/>
          </a:prstGeom>
          <a:solidFill>
            <a:srgbClr val="1B6EBF"/>
          </a:solidFill>
          <a:ln/>
        </p:spPr>
      </p:sp>
      <p:sp>
        <p:nvSpPr>
          <p:cNvPr id="67" name="Shape 65"/>
          <p:cNvSpPr/>
          <p:nvPr/>
        </p:nvSpPr>
        <p:spPr>
          <a:xfrm>
            <a:off x="548640" y="6160056"/>
            <a:ext cx="5464912" cy="67008"/>
          </a:xfrm>
          <a:prstGeom prst="rect">
            <a:avLst/>
          </a:prstGeom>
          <a:solidFill>
            <a:srgbClr val="1A6FBE"/>
          </a:solidFill>
          <a:ln/>
        </p:spPr>
      </p:sp>
      <p:sp>
        <p:nvSpPr>
          <p:cNvPr id="68" name="Text 66"/>
          <p:cNvSpPr/>
          <p:nvPr/>
        </p:nvSpPr>
        <p:spPr>
          <a:xfrm>
            <a:off x="914400" y="2880360"/>
            <a:ext cx="4733392" cy="914400"/>
          </a:xfrm>
          <a:prstGeom prst="rect">
            <a:avLst/>
          </a:prstGeom>
          <a:noFill/>
          <a:ln/>
        </p:spPr>
        <p:txBody>
          <a:bodyPr wrap="square" lIns="0" tIns="0" rIns="0" bIns="0" rtlCol="0" anchor="t"/>
          <a:lstStyle/>
          <a:p>
            <a:pPr algn="l" indent="0" marL="0">
              <a:buNone/>
            </a:pPr>
            <a:r>
              <a:rPr lang="en-US" sz="1100" b="1" spc="300" kern="0" dirty="0">
                <a:solidFill>
                  <a:srgbClr val="FFFFFF"/>
                </a:solidFill>
                <a:latin typeface="Calibri" pitchFamily="34" charset="0"/>
                <a:ea typeface="Calibri" pitchFamily="34" charset="-122"/>
                <a:cs typeface="Calibri" pitchFamily="34" charset="-120"/>
              </a:rPr>
              <a:t>WHO IT'S FOR</a:t>
            </a:r>
            <a:endParaRPr lang="en-US" sz="1100" dirty="0"/>
          </a:p>
        </p:txBody>
      </p:sp>
      <p:sp>
        <p:nvSpPr>
          <p:cNvPr id="69" name="Text 67"/>
          <p:cNvSpPr/>
          <p:nvPr/>
        </p:nvSpPr>
        <p:spPr>
          <a:xfrm>
            <a:off x="914400" y="3383280"/>
            <a:ext cx="4733392" cy="2011680"/>
          </a:xfrm>
          <a:prstGeom prst="rect">
            <a:avLst/>
          </a:prstGeom>
          <a:noFill/>
          <a:ln/>
        </p:spPr>
        <p:txBody>
          <a:bodyPr wrap="square" lIns="0" tIns="0" rIns="0" bIns="0" rtlCol="0" anchor="t"/>
          <a:lstStyle/>
          <a:p>
            <a:pPr algn="l" indent="0" marL="0">
              <a:buNone/>
            </a:pPr>
            <a:r>
              <a:rPr lang="en-US" sz="3200" b="1" spc="-50" kern="0" dirty="0">
                <a:solidFill>
                  <a:srgbClr val="FFFFFF"/>
                </a:solidFill>
                <a:latin typeface="Calibri" pitchFamily="34" charset="0"/>
                <a:ea typeface="Calibri" pitchFamily="34" charset="-122"/>
                <a:cs typeface="Calibri" pitchFamily="34" charset="-120"/>
              </a:rPr>
              <a:t>B2B operators running creator outreach manually today.</a:t>
            </a:r>
            <a:endParaRPr lang="en-US" sz="3200" dirty="0"/>
          </a:p>
        </p:txBody>
      </p:sp>
      <p:sp>
        <p:nvSpPr>
          <p:cNvPr id="70" name="Text 68"/>
          <p:cNvSpPr/>
          <p:nvPr/>
        </p:nvSpPr>
        <p:spPr>
          <a:xfrm>
            <a:off x="914400" y="5166360"/>
            <a:ext cx="4733392" cy="10972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Series A–C founders, partnerships managers at 50–500 person companies, and growth contractors serving multiple accounts. All three share the same workflow gap.</a:t>
            </a:r>
            <a:endParaRPr lang="en-US" sz="1300" dirty="0"/>
          </a:p>
        </p:txBody>
      </p:sp>
      <p:sp>
        <p:nvSpPr>
          <p:cNvPr id="71" name="Shape 69"/>
          <p:cNvSpPr/>
          <p:nvPr/>
        </p:nvSpPr>
        <p:spPr>
          <a:xfrm>
            <a:off x="6178144" y="2514600"/>
            <a:ext cx="5464912" cy="1124712"/>
          </a:xfrm>
          <a:prstGeom prst="roundRect">
            <a:avLst>
              <a:gd name="adj" fmla="val 9756"/>
            </a:avLst>
          </a:prstGeom>
          <a:solidFill>
            <a:srgbClr val="FFFFFF"/>
          </a:solidFill>
          <a:ln w="9525">
            <a:solidFill>
              <a:srgbClr val="E5E7F0"/>
            </a:solidFill>
            <a:prstDash val="solid"/>
          </a:ln>
        </p:spPr>
      </p:sp>
      <p:sp>
        <p:nvSpPr>
          <p:cNvPr id="72" name="Shape 70"/>
          <p:cNvSpPr/>
          <p:nvPr/>
        </p:nvSpPr>
        <p:spPr>
          <a:xfrm>
            <a:off x="6178144" y="2514600"/>
            <a:ext cx="73152" cy="1124712"/>
          </a:xfrm>
          <a:prstGeom prst="rect">
            <a:avLst/>
          </a:prstGeom>
          <a:solidFill>
            <a:srgbClr val="5028C2"/>
          </a:solidFill>
          <a:ln/>
        </p:spPr>
      </p:sp>
      <p:sp>
        <p:nvSpPr>
          <p:cNvPr id="73" name="Text 71"/>
          <p:cNvSpPr/>
          <p:nvPr/>
        </p:nvSpPr>
        <p:spPr>
          <a:xfrm>
            <a:off x="6434176" y="2697480"/>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Founders</a:t>
            </a:r>
            <a:endParaRPr lang="en-US" sz="1600" dirty="0"/>
          </a:p>
        </p:txBody>
      </p:sp>
      <p:sp>
        <p:nvSpPr>
          <p:cNvPr id="74" name="Text 72"/>
          <p:cNvSpPr/>
          <p:nvPr/>
        </p:nvSpPr>
        <p:spPr>
          <a:xfrm>
            <a:off x="6434176" y="3081528"/>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Series A–C B2B SaaS. Need leverage.</a:t>
            </a:r>
            <a:endParaRPr lang="en-US" sz="1200" dirty="0"/>
          </a:p>
        </p:txBody>
      </p:sp>
      <p:sp>
        <p:nvSpPr>
          <p:cNvPr id="75" name="Shape 73"/>
          <p:cNvSpPr/>
          <p:nvPr/>
        </p:nvSpPr>
        <p:spPr>
          <a:xfrm>
            <a:off x="6178144" y="3803904"/>
            <a:ext cx="5464912" cy="1124712"/>
          </a:xfrm>
          <a:prstGeom prst="roundRect">
            <a:avLst>
              <a:gd name="adj" fmla="val 9756"/>
            </a:avLst>
          </a:prstGeom>
          <a:solidFill>
            <a:srgbClr val="FFFFFF"/>
          </a:solidFill>
          <a:ln w="9525">
            <a:solidFill>
              <a:srgbClr val="E5E7F0"/>
            </a:solidFill>
            <a:prstDash val="solid"/>
          </a:ln>
        </p:spPr>
      </p:sp>
      <p:sp>
        <p:nvSpPr>
          <p:cNvPr id="76" name="Shape 74"/>
          <p:cNvSpPr/>
          <p:nvPr/>
        </p:nvSpPr>
        <p:spPr>
          <a:xfrm>
            <a:off x="6178144" y="3803904"/>
            <a:ext cx="73152" cy="1124712"/>
          </a:xfrm>
          <a:prstGeom prst="rect">
            <a:avLst/>
          </a:prstGeom>
          <a:solidFill>
            <a:srgbClr val="3548D0"/>
          </a:solidFill>
          <a:ln/>
        </p:spPr>
      </p:sp>
      <p:sp>
        <p:nvSpPr>
          <p:cNvPr id="77" name="Text 75"/>
          <p:cNvSpPr/>
          <p:nvPr/>
        </p:nvSpPr>
        <p:spPr>
          <a:xfrm>
            <a:off x="6434176" y="3986784"/>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Partnerships</a:t>
            </a:r>
            <a:endParaRPr lang="en-US" sz="1600" dirty="0"/>
          </a:p>
        </p:txBody>
      </p:sp>
      <p:sp>
        <p:nvSpPr>
          <p:cNvPr id="78" name="Text 76"/>
          <p:cNvSpPr/>
          <p:nvPr/>
        </p:nvSpPr>
        <p:spPr>
          <a:xfrm>
            <a:off x="6434176" y="4370832"/>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50–500 ppl orgs. Need CRM + scale.</a:t>
            </a:r>
            <a:endParaRPr lang="en-US" sz="1200" dirty="0"/>
          </a:p>
        </p:txBody>
      </p:sp>
      <p:sp>
        <p:nvSpPr>
          <p:cNvPr id="79" name="Shape 77"/>
          <p:cNvSpPr/>
          <p:nvPr/>
        </p:nvSpPr>
        <p:spPr>
          <a:xfrm>
            <a:off x="6178144" y="5093208"/>
            <a:ext cx="5464912" cy="1124712"/>
          </a:xfrm>
          <a:prstGeom prst="roundRect">
            <a:avLst>
              <a:gd name="adj" fmla="val 9756"/>
            </a:avLst>
          </a:prstGeom>
          <a:solidFill>
            <a:srgbClr val="FFFFFF"/>
          </a:solidFill>
          <a:ln w="9525">
            <a:solidFill>
              <a:srgbClr val="E5E7F0"/>
            </a:solidFill>
            <a:prstDash val="solid"/>
          </a:ln>
        </p:spPr>
      </p:sp>
      <p:sp>
        <p:nvSpPr>
          <p:cNvPr id="80" name="Shape 78"/>
          <p:cNvSpPr/>
          <p:nvPr/>
        </p:nvSpPr>
        <p:spPr>
          <a:xfrm>
            <a:off x="6178144" y="5093208"/>
            <a:ext cx="73152" cy="1124712"/>
          </a:xfrm>
          <a:prstGeom prst="rect">
            <a:avLst/>
          </a:prstGeom>
          <a:solidFill>
            <a:srgbClr val="1A6FBE"/>
          </a:solidFill>
          <a:ln/>
        </p:spPr>
      </p:sp>
      <p:sp>
        <p:nvSpPr>
          <p:cNvPr id="81" name="Text 79"/>
          <p:cNvSpPr/>
          <p:nvPr/>
        </p:nvSpPr>
        <p:spPr>
          <a:xfrm>
            <a:off x="6434176" y="5276088"/>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Growth ops</a:t>
            </a:r>
            <a:endParaRPr lang="en-US" sz="1600" dirty="0"/>
          </a:p>
        </p:txBody>
      </p:sp>
      <p:sp>
        <p:nvSpPr>
          <p:cNvPr id="82" name="Text 80"/>
          <p:cNvSpPr/>
          <p:nvPr/>
        </p:nvSpPr>
        <p:spPr>
          <a:xfrm>
            <a:off x="6434176" y="5660136"/>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Multi-client contractors. Need a system.</a:t>
            </a:r>
            <a:endParaRPr lang="en-US" sz="1200" dirty="0"/>
          </a:p>
        </p:txBody>
      </p:sp>
      <p:sp>
        <p:nvSpPr>
          <p:cNvPr id="83" name="Shape 81"/>
          <p:cNvSpPr/>
          <p:nvPr/>
        </p:nvSpPr>
        <p:spPr>
          <a:xfrm>
            <a:off x="548640" y="502920"/>
            <a:ext cx="292608" cy="292608"/>
          </a:xfrm>
          <a:prstGeom prst="roundRect">
            <a:avLst>
              <a:gd name="adj" fmla="val 25000"/>
            </a:avLst>
          </a:prstGeom>
          <a:solidFill>
            <a:srgbClr val="5028C2"/>
          </a:solidFill>
          <a:ln/>
        </p:spPr>
      </p:sp>
      <p:sp>
        <p:nvSpPr>
          <p:cNvPr id="84" name="Shape 82"/>
          <p:cNvSpPr/>
          <p:nvPr/>
        </p:nvSpPr>
        <p:spPr>
          <a:xfrm>
            <a:off x="548640" y="502920"/>
            <a:ext cx="292608" cy="292608"/>
          </a:xfrm>
          <a:prstGeom prst="roundRect">
            <a:avLst>
              <a:gd name="adj" fmla="val 25000"/>
            </a:avLst>
          </a:prstGeom>
          <a:solidFill>
            <a:srgbClr val="1A6FBE">
              <a:alpha val="50000"/>
            </a:srgbClr>
          </a:solidFill>
          <a:ln/>
        </p:spPr>
      </p:sp>
      <p:sp>
        <p:nvSpPr>
          <p:cNvPr id="85" name="Text 83"/>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86" name="Text 84"/>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87" name="Text 85"/>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13 · Who it's for  ·  vG</a:t>
            </a:r>
            <a:endParaRPr lang="en-US" sz="900" dirty="0"/>
          </a:p>
        </p:txBody>
      </p:sp>
      <p:sp>
        <p:nvSpPr>
          <p:cNvPr id="88" name="Text 86"/>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89" name="Text 87"/>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091 / 126</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80015" y="-914400"/>
            <a:ext cx="3200400" cy="3200400"/>
          </a:xfrm>
          <a:prstGeom prst="ellipse">
            <a:avLst/>
          </a:prstGeom>
          <a:solidFill>
            <a:srgbClr val="F1ECFF"/>
          </a:solidFill>
          <a:ln/>
        </p:spPr>
      </p:sp>
      <p:sp>
        <p:nvSpPr>
          <p:cNvPr id="3" name="Shape 1"/>
          <p:cNvSpPr/>
          <p:nvPr/>
        </p:nvSpPr>
        <p:spPr>
          <a:xfrm>
            <a:off x="10820095" y="-548640"/>
            <a:ext cx="2194560" cy="2194560"/>
          </a:xfrm>
          <a:prstGeom prst="ellipse">
            <a:avLst/>
          </a:prstGeom>
          <a:solidFill>
            <a:srgbClr val="E8F1FB">
              <a:alpha val="60000"/>
            </a:srgbClr>
          </a:solidFill>
          <a:ln/>
        </p:spPr>
      </p:sp>
      <p:sp>
        <p:nvSpPr>
          <p:cNvPr id="4" name="Shape 2"/>
          <p:cNvSpPr/>
          <p:nvPr/>
        </p:nvSpPr>
        <p:spPr>
          <a:xfrm>
            <a:off x="548640" y="5486400"/>
            <a:ext cx="54864" cy="54864"/>
          </a:xfrm>
          <a:prstGeom prst="ellipse">
            <a:avLst/>
          </a:prstGeom>
          <a:solidFill>
            <a:srgbClr val="5028C2">
              <a:alpha val="30000"/>
            </a:srgbClr>
          </a:solidFill>
          <a:ln/>
        </p:spPr>
      </p:sp>
      <p:sp>
        <p:nvSpPr>
          <p:cNvPr id="5" name="Shape 3"/>
          <p:cNvSpPr/>
          <p:nvPr/>
        </p:nvSpPr>
        <p:spPr>
          <a:xfrm>
            <a:off x="548640" y="5650992"/>
            <a:ext cx="54864" cy="54864"/>
          </a:xfrm>
          <a:prstGeom prst="ellipse">
            <a:avLst/>
          </a:prstGeom>
          <a:solidFill>
            <a:srgbClr val="5028C2">
              <a:alpha val="30000"/>
            </a:srgbClr>
          </a:solidFill>
          <a:ln/>
        </p:spPr>
      </p:sp>
      <p:sp>
        <p:nvSpPr>
          <p:cNvPr id="6" name="Shape 4"/>
          <p:cNvSpPr/>
          <p:nvPr/>
        </p:nvSpPr>
        <p:spPr>
          <a:xfrm>
            <a:off x="548640" y="5815584"/>
            <a:ext cx="54864" cy="54864"/>
          </a:xfrm>
          <a:prstGeom prst="ellipse">
            <a:avLst/>
          </a:prstGeom>
          <a:solidFill>
            <a:srgbClr val="5028C2">
              <a:alpha val="30000"/>
            </a:srgbClr>
          </a:solidFill>
          <a:ln/>
        </p:spPr>
      </p:sp>
      <p:sp>
        <p:nvSpPr>
          <p:cNvPr id="7" name="Shape 5"/>
          <p:cNvSpPr/>
          <p:nvPr/>
        </p:nvSpPr>
        <p:spPr>
          <a:xfrm>
            <a:off x="713232" y="5486400"/>
            <a:ext cx="54864" cy="54864"/>
          </a:xfrm>
          <a:prstGeom prst="ellipse">
            <a:avLst/>
          </a:prstGeom>
          <a:solidFill>
            <a:srgbClr val="5028C2">
              <a:alpha val="30000"/>
            </a:srgbClr>
          </a:solidFill>
          <a:ln/>
        </p:spPr>
      </p:sp>
      <p:sp>
        <p:nvSpPr>
          <p:cNvPr id="8" name="Shape 6"/>
          <p:cNvSpPr/>
          <p:nvPr/>
        </p:nvSpPr>
        <p:spPr>
          <a:xfrm>
            <a:off x="713232" y="5650992"/>
            <a:ext cx="54864" cy="54864"/>
          </a:xfrm>
          <a:prstGeom prst="ellipse">
            <a:avLst/>
          </a:prstGeom>
          <a:solidFill>
            <a:srgbClr val="5028C2">
              <a:alpha val="30000"/>
            </a:srgbClr>
          </a:solidFill>
          <a:ln/>
        </p:spPr>
      </p:sp>
      <p:sp>
        <p:nvSpPr>
          <p:cNvPr id="9" name="Shape 7"/>
          <p:cNvSpPr/>
          <p:nvPr/>
        </p:nvSpPr>
        <p:spPr>
          <a:xfrm>
            <a:off x="713232" y="5815584"/>
            <a:ext cx="54864" cy="54864"/>
          </a:xfrm>
          <a:prstGeom prst="ellipse">
            <a:avLst/>
          </a:prstGeom>
          <a:solidFill>
            <a:srgbClr val="5028C2">
              <a:alpha val="30000"/>
            </a:srgbClr>
          </a:solidFill>
          <a:ln/>
        </p:spPr>
      </p:sp>
      <p:sp>
        <p:nvSpPr>
          <p:cNvPr id="10" name="Shape 8"/>
          <p:cNvSpPr/>
          <p:nvPr/>
        </p:nvSpPr>
        <p:spPr>
          <a:xfrm>
            <a:off x="877824" y="5486400"/>
            <a:ext cx="54864" cy="54864"/>
          </a:xfrm>
          <a:prstGeom prst="ellipse">
            <a:avLst/>
          </a:prstGeom>
          <a:solidFill>
            <a:srgbClr val="5028C2">
              <a:alpha val="30000"/>
            </a:srgbClr>
          </a:solidFill>
          <a:ln/>
        </p:spPr>
      </p:sp>
      <p:sp>
        <p:nvSpPr>
          <p:cNvPr id="11" name="Shape 9"/>
          <p:cNvSpPr/>
          <p:nvPr/>
        </p:nvSpPr>
        <p:spPr>
          <a:xfrm>
            <a:off x="877824" y="5650992"/>
            <a:ext cx="54864" cy="54864"/>
          </a:xfrm>
          <a:prstGeom prst="ellipse">
            <a:avLst/>
          </a:prstGeom>
          <a:solidFill>
            <a:srgbClr val="5028C2">
              <a:alpha val="30000"/>
            </a:srgbClr>
          </a:solidFill>
          <a:ln/>
        </p:spPr>
      </p:sp>
      <p:sp>
        <p:nvSpPr>
          <p:cNvPr id="12" name="Shape 10"/>
          <p:cNvSpPr/>
          <p:nvPr/>
        </p:nvSpPr>
        <p:spPr>
          <a:xfrm>
            <a:off x="877824" y="5815584"/>
            <a:ext cx="54864" cy="54864"/>
          </a:xfrm>
          <a:prstGeom prst="ellipse">
            <a:avLst/>
          </a:prstGeom>
          <a:solidFill>
            <a:srgbClr val="5028C2">
              <a:alpha val="30000"/>
            </a:srgbClr>
          </a:solidFill>
          <a:ln/>
        </p:spPr>
      </p:sp>
      <p:sp>
        <p:nvSpPr>
          <p:cNvPr id="13" name="Shape 11"/>
          <p:cNvSpPr/>
          <p:nvPr/>
        </p:nvSpPr>
        <p:spPr>
          <a:xfrm>
            <a:off x="1042416" y="5486400"/>
            <a:ext cx="54864" cy="54864"/>
          </a:xfrm>
          <a:prstGeom prst="ellipse">
            <a:avLst/>
          </a:prstGeom>
          <a:solidFill>
            <a:srgbClr val="5028C2">
              <a:alpha val="30000"/>
            </a:srgbClr>
          </a:solidFill>
          <a:ln/>
        </p:spPr>
      </p:sp>
      <p:sp>
        <p:nvSpPr>
          <p:cNvPr id="14" name="Shape 12"/>
          <p:cNvSpPr/>
          <p:nvPr/>
        </p:nvSpPr>
        <p:spPr>
          <a:xfrm>
            <a:off x="1042416" y="5650992"/>
            <a:ext cx="54864" cy="54864"/>
          </a:xfrm>
          <a:prstGeom prst="ellipse">
            <a:avLst/>
          </a:prstGeom>
          <a:solidFill>
            <a:srgbClr val="5028C2">
              <a:alpha val="30000"/>
            </a:srgbClr>
          </a:solidFill>
          <a:ln/>
        </p:spPr>
      </p:sp>
      <p:sp>
        <p:nvSpPr>
          <p:cNvPr id="15" name="Shape 13"/>
          <p:cNvSpPr/>
          <p:nvPr/>
        </p:nvSpPr>
        <p:spPr>
          <a:xfrm>
            <a:off x="1042416" y="5815584"/>
            <a:ext cx="54864" cy="54864"/>
          </a:xfrm>
          <a:prstGeom prst="ellipse">
            <a:avLst/>
          </a:prstGeom>
          <a:solidFill>
            <a:srgbClr val="5028C2">
              <a:alpha val="30000"/>
            </a:srgbClr>
          </a:solidFill>
          <a:ln/>
        </p:spPr>
      </p:sp>
      <p:sp>
        <p:nvSpPr>
          <p:cNvPr id="16" name="Shape 14"/>
          <p:cNvSpPr/>
          <p:nvPr/>
        </p:nvSpPr>
        <p:spPr>
          <a:xfrm>
            <a:off x="1207008" y="5486400"/>
            <a:ext cx="54864" cy="54864"/>
          </a:xfrm>
          <a:prstGeom prst="ellipse">
            <a:avLst/>
          </a:prstGeom>
          <a:solidFill>
            <a:srgbClr val="5028C2">
              <a:alpha val="30000"/>
            </a:srgbClr>
          </a:solidFill>
          <a:ln/>
        </p:spPr>
      </p:sp>
      <p:sp>
        <p:nvSpPr>
          <p:cNvPr id="17" name="Shape 15"/>
          <p:cNvSpPr/>
          <p:nvPr/>
        </p:nvSpPr>
        <p:spPr>
          <a:xfrm>
            <a:off x="1207008" y="5650992"/>
            <a:ext cx="54864" cy="54864"/>
          </a:xfrm>
          <a:prstGeom prst="ellipse">
            <a:avLst/>
          </a:prstGeom>
          <a:solidFill>
            <a:srgbClr val="5028C2">
              <a:alpha val="30000"/>
            </a:srgbClr>
          </a:solidFill>
          <a:ln/>
        </p:spPr>
      </p:sp>
      <p:sp>
        <p:nvSpPr>
          <p:cNvPr id="18" name="Shape 16"/>
          <p:cNvSpPr/>
          <p:nvPr/>
        </p:nvSpPr>
        <p:spPr>
          <a:xfrm>
            <a:off x="1207008" y="5815584"/>
            <a:ext cx="54864" cy="54864"/>
          </a:xfrm>
          <a:prstGeom prst="ellipse">
            <a:avLst/>
          </a:prstGeom>
          <a:solidFill>
            <a:srgbClr val="5028C2">
              <a:alpha val="30000"/>
            </a:srgbClr>
          </a:solidFill>
          <a:ln/>
        </p:spPr>
      </p:sp>
      <p:sp>
        <p:nvSpPr>
          <p:cNvPr id="19" name="Shape 17"/>
          <p:cNvSpPr/>
          <p:nvPr/>
        </p:nvSpPr>
        <p:spPr>
          <a:xfrm>
            <a:off x="1371600" y="5486400"/>
            <a:ext cx="54864" cy="54864"/>
          </a:xfrm>
          <a:prstGeom prst="ellipse">
            <a:avLst/>
          </a:prstGeom>
          <a:solidFill>
            <a:srgbClr val="5028C2">
              <a:alpha val="30000"/>
            </a:srgbClr>
          </a:solidFill>
          <a:ln/>
        </p:spPr>
      </p:sp>
      <p:sp>
        <p:nvSpPr>
          <p:cNvPr id="20" name="Shape 18"/>
          <p:cNvSpPr/>
          <p:nvPr/>
        </p:nvSpPr>
        <p:spPr>
          <a:xfrm>
            <a:off x="1371600" y="5650992"/>
            <a:ext cx="54864" cy="54864"/>
          </a:xfrm>
          <a:prstGeom prst="ellipse">
            <a:avLst/>
          </a:prstGeom>
          <a:solidFill>
            <a:srgbClr val="5028C2">
              <a:alpha val="30000"/>
            </a:srgbClr>
          </a:solidFill>
          <a:ln/>
        </p:spPr>
      </p:sp>
      <p:sp>
        <p:nvSpPr>
          <p:cNvPr id="21" name="Shape 19"/>
          <p:cNvSpPr/>
          <p:nvPr/>
        </p:nvSpPr>
        <p:spPr>
          <a:xfrm>
            <a:off x="1371600" y="5815584"/>
            <a:ext cx="54864" cy="54864"/>
          </a:xfrm>
          <a:prstGeom prst="ellipse">
            <a:avLst/>
          </a:prstGeom>
          <a:solidFill>
            <a:srgbClr val="5028C2">
              <a:alpha val="30000"/>
            </a:srgbClr>
          </a:solidFill>
          <a:ln/>
        </p:spPr>
      </p:sp>
      <p:sp>
        <p:nvSpPr>
          <p:cNvPr id="22" name="Text 20"/>
          <p:cNvSpPr/>
          <p:nvPr/>
        </p:nvSpPr>
        <p:spPr>
          <a:xfrm>
            <a:off x="548640" y="1097280"/>
            <a:ext cx="11094415"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WHY WE WIN</a:t>
            </a:r>
            <a:endParaRPr lang="en-US" sz="1100" dirty="0"/>
          </a:p>
        </p:txBody>
      </p:sp>
      <p:sp>
        <p:nvSpPr>
          <p:cNvPr id="23" name="Text 21"/>
          <p:cNvSpPr/>
          <p:nvPr/>
        </p:nvSpPr>
        <p:spPr>
          <a:xfrm>
            <a:off x="548640" y="1554480"/>
            <a:ext cx="11094415" cy="3108960"/>
          </a:xfrm>
          <a:prstGeom prst="rect">
            <a:avLst/>
          </a:prstGeom>
          <a:noFill/>
          <a:ln/>
        </p:spPr>
        <p:txBody>
          <a:bodyPr wrap="square" lIns="0" tIns="0" rIns="0" bIns="0" rtlCol="0" anchor="t"/>
          <a:lstStyle/>
          <a:p>
            <a:pPr algn="l" indent="0" marL="0">
              <a:buNone/>
            </a:pPr>
            <a:r>
              <a:rPr lang="en-US" sz="5000" b="1" spc="-100" kern="0" dirty="0">
                <a:solidFill>
                  <a:srgbClr val="0F1733"/>
                </a:solidFill>
                <a:latin typeface="Calibri" pitchFamily="34" charset="0"/>
                <a:ea typeface="Calibri" pitchFamily="34" charset="-122"/>
                <a:cs typeface="Calibri" pitchFamily="34" charset="-120"/>
              </a:rPr>
              <a:t>Built by the operator. Priced for the founder. Owned end-to-end.</a:t>
            </a:r>
            <a:endParaRPr lang="en-US" sz="5000" dirty="0"/>
          </a:p>
        </p:txBody>
      </p:sp>
      <p:sp>
        <p:nvSpPr>
          <p:cNvPr id="24" name="Text 22"/>
          <p:cNvSpPr/>
          <p:nvPr/>
        </p:nvSpPr>
        <p:spPr>
          <a:xfrm>
            <a:off x="548640" y="4754880"/>
            <a:ext cx="9265615" cy="1097280"/>
          </a:xfrm>
          <a:prstGeom prst="rect">
            <a:avLst/>
          </a:prstGeom>
          <a:noFill/>
          <a:ln/>
        </p:spPr>
        <p:txBody>
          <a:bodyPr wrap="square" lIns="0" tIns="0" rIns="0" bIns="0" rtlCol="0" anchor="t"/>
          <a:lstStyle/>
          <a:p>
            <a:pPr algn="l" indent="0" marL="0">
              <a:buNone/>
            </a:pPr>
            <a:r>
              <a:rPr lang="en-US" sz="1800" dirty="0">
                <a:solidFill>
                  <a:srgbClr val="2A3358"/>
                </a:solidFill>
                <a:latin typeface="Calibri" pitchFamily="34" charset="0"/>
                <a:ea typeface="Calibri" pitchFamily="34" charset="-122"/>
                <a:cs typeface="Calibri" pitchFamily="34" charset="-120"/>
              </a:rPr>
              <a:t>Three structural advantages that incumbents can't replicate without rebuilding their company.</a:t>
            </a:r>
            <a:endParaRPr lang="en-US" sz="1800" dirty="0"/>
          </a:p>
        </p:txBody>
      </p:sp>
      <p:sp>
        <p:nvSpPr>
          <p:cNvPr id="25" name="Shape 23"/>
          <p:cNvSpPr/>
          <p:nvPr/>
        </p:nvSpPr>
        <p:spPr>
          <a:xfrm>
            <a:off x="548640" y="502920"/>
            <a:ext cx="292608" cy="292608"/>
          </a:xfrm>
          <a:prstGeom prst="roundRect">
            <a:avLst>
              <a:gd name="adj" fmla="val 25000"/>
            </a:avLst>
          </a:prstGeom>
          <a:solidFill>
            <a:srgbClr val="5028C2"/>
          </a:solidFill>
          <a:ln/>
        </p:spPr>
      </p:sp>
      <p:sp>
        <p:nvSpPr>
          <p:cNvPr id="26" name="Shape 24"/>
          <p:cNvSpPr/>
          <p:nvPr/>
        </p:nvSpPr>
        <p:spPr>
          <a:xfrm>
            <a:off x="548640" y="502920"/>
            <a:ext cx="292608" cy="292608"/>
          </a:xfrm>
          <a:prstGeom prst="roundRect">
            <a:avLst>
              <a:gd name="adj" fmla="val 25000"/>
            </a:avLst>
          </a:prstGeom>
          <a:solidFill>
            <a:srgbClr val="1A6FBE">
              <a:alpha val="50000"/>
            </a:srgbClr>
          </a:solidFill>
          <a:ln/>
        </p:spPr>
      </p:sp>
      <p:sp>
        <p:nvSpPr>
          <p:cNvPr id="27" name="Text 25"/>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8" name="Text 26"/>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9" name="Text 27"/>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14 · Why we win  ·  vA</a:t>
            </a:r>
            <a:endParaRPr lang="en-US" sz="900" dirty="0"/>
          </a:p>
        </p:txBody>
      </p:sp>
      <p:sp>
        <p:nvSpPr>
          <p:cNvPr id="30" name="Text 28"/>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31" name="Text 29"/>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092 / 126</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071183" y="0"/>
            <a:ext cx="5120512" cy="116300"/>
          </a:xfrm>
          <a:prstGeom prst="rect">
            <a:avLst/>
          </a:prstGeom>
          <a:solidFill>
            <a:srgbClr val="5028C2"/>
          </a:solidFill>
          <a:ln/>
        </p:spPr>
      </p:sp>
      <p:sp>
        <p:nvSpPr>
          <p:cNvPr id="3" name="Shape 1"/>
          <p:cNvSpPr/>
          <p:nvPr/>
        </p:nvSpPr>
        <p:spPr>
          <a:xfrm>
            <a:off x="7071183" y="107156"/>
            <a:ext cx="5120512" cy="116300"/>
          </a:xfrm>
          <a:prstGeom prst="rect">
            <a:avLst/>
          </a:prstGeom>
          <a:solidFill>
            <a:srgbClr val="4F29C2"/>
          </a:solidFill>
          <a:ln/>
        </p:spPr>
      </p:sp>
      <p:sp>
        <p:nvSpPr>
          <p:cNvPr id="4" name="Shape 2"/>
          <p:cNvSpPr/>
          <p:nvPr/>
        </p:nvSpPr>
        <p:spPr>
          <a:xfrm>
            <a:off x="7071183" y="214313"/>
            <a:ext cx="5120512" cy="116300"/>
          </a:xfrm>
          <a:prstGeom prst="rect">
            <a:avLst/>
          </a:prstGeom>
          <a:solidFill>
            <a:srgbClr val="4E2AC3"/>
          </a:solidFill>
          <a:ln/>
        </p:spPr>
      </p:sp>
      <p:sp>
        <p:nvSpPr>
          <p:cNvPr id="5" name="Shape 3"/>
          <p:cNvSpPr/>
          <p:nvPr/>
        </p:nvSpPr>
        <p:spPr>
          <a:xfrm>
            <a:off x="7071183" y="321469"/>
            <a:ext cx="5120512" cy="116300"/>
          </a:xfrm>
          <a:prstGeom prst="rect">
            <a:avLst/>
          </a:prstGeom>
          <a:solidFill>
            <a:srgbClr val="4D2BC3"/>
          </a:solidFill>
          <a:ln/>
        </p:spPr>
      </p:sp>
      <p:sp>
        <p:nvSpPr>
          <p:cNvPr id="6" name="Shape 4"/>
          <p:cNvSpPr/>
          <p:nvPr/>
        </p:nvSpPr>
        <p:spPr>
          <a:xfrm>
            <a:off x="7071183" y="428625"/>
            <a:ext cx="5120512" cy="116300"/>
          </a:xfrm>
          <a:prstGeom prst="rect">
            <a:avLst/>
          </a:prstGeom>
          <a:solidFill>
            <a:srgbClr val="4D2CC4"/>
          </a:solidFill>
          <a:ln/>
        </p:spPr>
      </p:sp>
      <p:sp>
        <p:nvSpPr>
          <p:cNvPr id="7" name="Shape 5"/>
          <p:cNvSpPr/>
          <p:nvPr/>
        </p:nvSpPr>
        <p:spPr>
          <a:xfrm>
            <a:off x="7071183" y="535781"/>
            <a:ext cx="5120512" cy="116300"/>
          </a:xfrm>
          <a:prstGeom prst="rect">
            <a:avLst/>
          </a:prstGeom>
          <a:solidFill>
            <a:srgbClr val="4C2DC4"/>
          </a:solidFill>
          <a:ln/>
        </p:spPr>
      </p:sp>
      <p:sp>
        <p:nvSpPr>
          <p:cNvPr id="8" name="Shape 6"/>
          <p:cNvSpPr/>
          <p:nvPr/>
        </p:nvSpPr>
        <p:spPr>
          <a:xfrm>
            <a:off x="7071183" y="642938"/>
            <a:ext cx="5120512" cy="116300"/>
          </a:xfrm>
          <a:prstGeom prst="rect">
            <a:avLst/>
          </a:prstGeom>
          <a:solidFill>
            <a:srgbClr val="4B2EC5"/>
          </a:solidFill>
          <a:ln/>
        </p:spPr>
      </p:sp>
      <p:sp>
        <p:nvSpPr>
          <p:cNvPr id="9" name="Shape 7"/>
          <p:cNvSpPr/>
          <p:nvPr/>
        </p:nvSpPr>
        <p:spPr>
          <a:xfrm>
            <a:off x="7071183" y="750094"/>
            <a:ext cx="5120512" cy="116300"/>
          </a:xfrm>
          <a:prstGeom prst="rect">
            <a:avLst/>
          </a:prstGeom>
          <a:solidFill>
            <a:srgbClr val="4A2FC5"/>
          </a:solidFill>
          <a:ln/>
        </p:spPr>
      </p:sp>
      <p:sp>
        <p:nvSpPr>
          <p:cNvPr id="10" name="Shape 8"/>
          <p:cNvSpPr/>
          <p:nvPr/>
        </p:nvSpPr>
        <p:spPr>
          <a:xfrm>
            <a:off x="7071183" y="857250"/>
            <a:ext cx="5120512" cy="116300"/>
          </a:xfrm>
          <a:prstGeom prst="rect">
            <a:avLst/>
          </a:prstGeom>
          <a:solidFill>
            <a:srgbClr val="4930C6"/>
          </a:solidFill>
          <a:ln/>
        </p:spPr>
      </p:sp>
      <p:sp>
        <p:nvSpPr>
          <p:cNvPr id="11" name="Shape 9"/>
          <p:cNvSpPr/>
          <p:nvPr/>
        </p:nvSpPr>
        <p:spPr>
          <a:xfrm>
            <a:off x="7071183" y="964406"/>
            <a:ext cx="5120512" cy="116300"/>
          </a:xfrm>
          <a:prstGeom prst="rect">
            <a:avLst/>
          </a:prstGeom>
          <a:solidFill>
            <a:srgbClr val="4831C6"/>
          </a:solidFill>
          <a:ln/>
        </p:spPr>
      </p:sp>
      <p:sp>
        <p:nvSpPr>
          <p:cNvPr id="12" name="Shape 10"/>
          <p:cNvSpPr/>
          <p:nvPr/>
        </p:nvSpPr>
        <p:spPr>
          <a:xfrm>
            <a:off x="7071183" y="1071563"/>
            <a:ext cx="5120512" cy="116300"/>
          </a:xfrm>
          <a:prstGeom prst="rect">
            <a:avLst/>
          </a:prstGeom>
          <a:solidFill>
            <a:srgbClr val="4732C6"/>
          </a:solidFill>
          <a:ln/>
        </p:spPr>
      </p:sp>
      <p:sp>
        <p:nvSpPr>
          <p:cNvPr id="13" name="Shape 11"/>
          <p:cNvSpPr/>
          <p:nvPr/>
        </p:nvSpPr>
        <p:spPr>
          <a:xfrm>
            <a:off x="7071183" y="1178719"/>
            <a:ext cx="5120512" cy="116300"/>
          </a:xfrm>
          <a:prstGeom prst="rect">
            <a:avLst/>
          </a:prstGeom>
          <a:solidFill>
            <a:srgbClr val="4733C7"/>
          </a:solidFill>
          <a:ln/>
        </p:spPr>
      </p:sp>
      <p:sp>
        <p:nvSpPr>
          <p:cNvPr id="14" name="Shape 12"/>
          <p:cNvSpPr/>
          <p:nvPr/>
        </p:nvSpPr>
        <p:spPr>
          <a:xfrm>
            <a:off x="7071183" y="1285875"/>
            <a:ext cx="5120512" cy="116300"/>
          </a:xfrm>
          <a:prstGeom prst="rect">
            <a:avLst/>
          </a:prstGeom>
          <a:solidFill>
            <a:srgbClr val="4634C7"/>
          </a:solidFill>
          <a:ln/>
        </p:spPr>
      </p:sp>
      <p:sp>
        <p:nvSpPr>
          <p:cNvPr id="15" name="Shape 13"/>
          <p:cNvSpPr/>
          <p:nvPr/>
        </p:nvSpPr>
        <p:spPr>
          <a:xfrm>
            <a:off x="7071183" y="1393031"/>
            <a:ext cx="5120512" cy="116300"/>
          </a:xfrm>
          <a:prstGeom prst="rect">
            <a:avLst/>
          </a:prstGeom>
          <a:solidFill>
            <a:srgbClr val="4535C8"/>
          </a:solidFill>
          <a:ln/>
        </p:spPr>
      </p:sp>
      <p:sp>
        <p:nvSpPr>
          <p:cNvPr id="16" name="Shape 14"/>
          <p:cNvSpPr/>
          <p:nvPr/>
        </p:nvSpPr>
        <p:spPr>
          <a:xfrm>
            <a:off x="7071183" y="1500188"/>
            <a:ext cx="5120512" cy="116300"/>
          </a:xfrm>
          <a:prstGeom prst="rect">
            <a:avLst/>
          </a:prstGeom>
          <a:solidFill>
            <a:srgbClr val="4436C8"/>
          </a:solidFill>
          <a:ln/>
        </p:spPr>
      </p:sp>
      <p:sp>
        <p:nvSpPr>
          <p:cNvPr id="17" name="Shape 15"/>
          <p:cNvSpPr/>
          <p:nvPr/>
        </p:nvSpPr>
        <p:spPr>
          <a:xfrm>
            <a:off x="7071183" y="1607344"/>
            <a:ext cx="5120512" cy="116300"/>
          </a:xfrm>
          <a:prstGeom prst="rect">
            <a:avLst/>
          </a:prstGeom>
          <a:solidFill>
            <a:srgbClr val="4337C9"/>
          </a:solidFill>
          <a:ln/>
        </p:spPr>
      </p:sp>
      <p:sp>
        <p:nvSpPr>
          <p:cNvPr id="18" name="Shape 16"/>
          <p:cNvSpPr/>
          <p:nvPr/>
        </p:nvSpPr>
        <p:spPr>
          <a:xfrm>
            <a:off x="7071183" y="1714500"/>
            <a:ext cx="5120512" cy="116300"/>
          </a:xfrm>
          <a:prstGeom prst="rect">
            <a:avLst/>
          </a:prstGeom>
          <a:solidFill>
            <a:srgbClr val="4238C9"/>
          </a:solidFill>
          <a:ln/>
        </p:spPr>
      </p:sp>
      <p:sp>
        <p:nvSpPr>
          <p:cNvPr id="19" name="Shape 17"/>
          <p:cNvSpPr/>
          <p:nvPr/>
        </p:nvSpPr>
        <p:spPr>
          <a:xfrm>
            <a:off x="7071183" y="1821656"/>
            <a:ext cx="5120512" cy="116300"/>
          </a:xfrm>
          <a:prstGeom prst="rect">
            <a:avLst/>
          </a:prstGeom>
          <a:solidFill>
            <a:srgbClr val="4139CA"/>
          </a:solidFill>
          <a:ln/>
        </p:spPr>
      </p:sp>
      <p:sp>
        <p:nvSpPr>
          <p:cNvPr id="20" name="Shape 18"/>
          <p:cNvSpPr/>
          <p:nvPr/>
        </p:nvSpPr>
        <p:spPr>
          <a:xfrm>
            <a:off x="7071183" y="1928813"/>
            <a:ext cx="5120512" cy="116300"/>
          </a:xfrm>
          <a:prstGeom prst="rect">
            <a:avLst/>
          </a:prstGeom>
          <a:solidFill>
            <a:srgbClr val="413ACA"/>
          </a:solidFill>
          <a:ln/>
        </p:spPr>
      </p:sp>
      <p:sp>
        <p:nvSpPr>
          <p:cNvPr id="21" name="Shape 19"/>
          <p:cNvSpPr/>
          <p:nvPr/>
        </p:nvSpPr>
        <p:spPr>
          <a:xfrm>
            <a:off x="7071183" y="2035969"/>
            <a:ext cx="5120512" cy="116300"/>
          </a:xfrm>
          <a:prstGeom prst="rect">
            <a:avLst/>
          </a:prstGeom>
          <a:solidFill>
            <a:srgbClr val="403BCA"/>
          </a:solidFill>
          <a:ln/>
        </p:spPr>
      </p:sp>
      <p:sp>
        <p:nvSpPr>
          <p:cNvPr id="22" name="Shape 20"/>
          <p:cNvSpPr/>
          <p:nvPr/>
        </p:nvSpPr>
        <p:spPr>
          <a:xfrm>
            <a:off x="7071183" y="2143125"/>
            <a:ext cx="5120512" cy="116300"/>
          </a:xfrm>
          <a:prstGeom prst="rect">
            <a:avLst/>
          </a:prstGeom>
          <a:solidFill>
            <a:srgbClr val="3F3CCB"/>
          </a:solidFill>
          <a:ln/>
        </p:spPr>
      </p:sp>
      <p:sp>
        <p:nvSpPr>
          <p:cNvPr id="23" name="Shape 21"/>
          <p:cNvSpPr/>
          <p:nvPr/>
        </p:nvSpPr>
        <p:spPr>
          <a:xfrm>
            <a:off x="7071183" y="2250281"/>
            <a:ext cx="5120512" cy="116300"/>
          </a:xfrm>
          <a:prstGeom prst="rect">
            <a:avLst/>
          </a:prstGeom>
          <a:solidFill>
            <a:srgbClr val="3E3DCB"/>
          </a:solidFill>
          <a:ln/>
        </p:spPr>
      </p:sp>
      <p:sp>
        <p:nvSpPr>
          <p:cNvPr id="24" name="Shape 22"/>
          <p:cNvSpPr/>
          <p:nvPr/>
        </p:nvSpPr>
        <p:spPr>
          <a:xfrm>
            <a:off x="7071183" y="2357438"/>
            <a:ext cx="5120512" cy="116300"/>
          </a:xfrm>
          <a:prstGeom prst="rect">
            <a:avLst/>
          </a:prstGeom>
          <a:solidFill>
            <a:srgbClr val="3D3ECC"/>
          </a:solidFill>
          <a:ln/>
        </p:spPr>
      </p:sp>
      <p:sp>
        <p:nvSpPr>
          <p:cNvPr id="25" name="Shape 23"/>
          <p:cNvSpPr/>
          <p:nvPr/>
        </p:nvSpPr>
        <p:spPr>
          <a:xfrm>
            <a:off x="7071183" y="2464594"/>
            <a:ext cx="5120512" cy="116300"/>
          </a:xfrm>
          <a:prstGeom prst="rect">
            <a:avLst/>
          </a:prstGeom>
          <a:solidFill>
            <a:srgbClr val="3C3FCC"/>
          </a:solidFill>
          <a:ln/>
        </p:spPr>
      </p:sp>
      <p:sp>
        <p:nvSpPr>
          <p:cNvPr id="26" name="Shape 24"/>
          <p:cNvSpPr/>
          <p:nvPr/>
        </p:nvSpPr>
        <p:spPr>
          <a:xfrm>
            <a:off x="7071183" y="2571750"/>
            <a:ext cx="5120512" cy="116300"/>
          </a:xfrm>
          <a:prstGeom prst="rect">
            <a:avLst/>
          </a:prstGeom>
          <a:solidFill>
            <a:srgbClr val="3B40CD"/>
          </a:solidFill>
          <a:ln/>
        </p:spPr>
      </p:sp>
      <p:sp>
        <p:nvSpPr>
          <p:cNvPr id="27" name="Shape 25"/>
          <p:cNvSpPr/>
          <p:nvPr/>
        </p:nvSpPr>
        <p:spPr>
          <a:xfrm>
            <a:off x="7071183" y="2678906"/>
            <a:ext cx="5120512" cy="116300"/>
          </a:xfrm>
          <a:prstGeom prst="rect">
            <a:avLst/>
          </a:prstGeom>
          <a:solidFill>
            <a:srgbClr val="3B41CD"/>
          </a:solidFill>
          <a:ln/>
        </p:spPr>
      </p:sp>
      <p:sp>
        <p:nvSpPr>
          <p:cNvPr id="28" name="Shape 26"/>
          <p:cNvSpPr/>
          <p:nvPr/>
        </p:nvSpPr>
        <p:spPr>
          <a:xfrm>
            <a:off x="7071183" y="2786063"/>
            <a:ext cx="5120512" cy="116300"/>
          </a:xfrm>
          <a:prstGeom prst="rect">
            <a:avLst/>
          </a:prstGeom>
          <a:solidFill>
            <a:srgbClr val="3A42CE"/>
          </a:solidFill>
          <a:ln/>
        </p:spPr>
      </p:sp>
      <p:sp>
        <p:nvSpPr>
          <p:cNvPr id="29" name="Shape 27"/>
          <p:cNvSpPr/>
          <p:nvPr/>
        </p:nvSpPr>
        <p:spPr>
          <a:xfrm>
            <a:off x="7071183" y="2893219"/>
            <a:ext cx="5120512" cy="116300"/>
          </a:xfrm>
          <a:prstGeom prst="rect">
            <a:avLst/>
          </a:prstGeom>
          <a:solidFill>
            <a:srgbClr val="3943CE"/>
          </a:solidFill>
          <a:ln/>
        </p:spPr>
      </p:sp>
      <p:sp>
        <p:nvSpPr>
          <p:cNvPr id="30" name="Shape 28"/>
          <p:cNvSpPr/>
          <p:nvPr/>
        </p:nvSpPr>
        <p:spPr>
          <a:xfrm>
            <a:off x="7071183" y="3000375"/>
            <a:ext cx="5120512" cy="116300"/>
          </a:xfrm>
          <a:prstGeom prst="rect">
            <a:avLst/>
          </a:prstGeom>
          <a:solidFill>
            <a:srgbClr val="3844CE"/>
          </a:solidFill>
          <a:ln/>
        </p:spPr>
      </p:sp>
      <p:sp>
        <p:nvSpPr>
          <p:cNvPr id="31" name="Shape 29"/>
          <p:cNvSpPr/>
          <p:nvPr/>
        </p:nvSpPr>
        <p:spPr>
          <a:xfrm>
            <a:off x="7071183" y="3107531"/>
            <a:ext cx="5120512" cy="116300"/>
          </a:xfrm>
          <a:prstGeom prst="rect">
            <a:avLst/>
          </a:prstGeom>
          <a:solidFill>
            <a:srgbClr val="3745CF"/>
          </a:solidFill>
          <a:ln/>
        </p:spPr>
      </p:sp>
      <p:sp>
        <p:nvSpPr>
          <p:cNvPr id="32" name="Shape 30"/>
          <p:cNvSpPr/>
          <p:nvPr/>
        </p:nvSpPr>
        <p:spPr>
          <a:xfrm>
            <a:off x="7071183" y="3214688"/>
            <a:ext cx="5120512" cy="116300"/>
          </a:xfrm>
          <a:prstGeom prst="rect">
            <a:avLst/>
          </a:prstGeom>
          <a:solidFill>
            <a:srgbClr val="3646CF"/>
          </a:solidFill>
          <a:ln/>
        </p:spPr>
      </p:sp>
      <p:sp>
        <p:nvSpPr>
          <p:cNvPr id="33" name="Shape 31"/>
          <p:cNvSpPr/>
          <p:nvPr/>
        </p:nvSpPr>
        <p:spPr>
          <a:xfrm>
            <a:off x="7071183" y="3321844"/>
            <a:ext cx="5120512" cy="116300"/>
          </a:xfrm>
          <a:prstGeom prst="rect">
            <a:avLst/>
          </a:prstGeom>
          <a:solidFill>
            <a:srgbClr val="3547D0"/>
          </a:solidFill>
          <a:ln/>
        </p:spPr>
      </p:sp>
      <p:sp>
        <p:nvSpPr>
          <p:cNvPr id="34" name="Shape 32"/>
          <p:cNvSpPr/>
          <p:nvPr/>
        </p:nvSpPr>
        <p:spPr>
          <a:xfrm>
            <a:off x="7071183" y="3429000"/>
            <a:ext cx="5120512" cy="116300"/>
          </a:xfrm>
          <a:prstGeom prst="rect">
            <a:avLst/>
          </a:prstGeom>
          <a:solidFill>
            <a:srgbClr val="3549D0"/>
          </a:solidFill>
          <a:ln/>
        </p:spPr>
      </p:sp>
      <p:sp>
        <p:nvSpPr>
          <p:cNvPr id="35" name="Shape 33"/>
          <p:cNvSpPr/>
          <p:nvPr/>
        </p:nvSpPr>
        <p:spPr>
          <a:xfrm>
            <a:off x="7071183" y="3536156"/>
            <a:ext cx="5120512" cy="116300"/>
          </a:xfrm>
          <a:prstGeom prst="rect">
            <a:avLst/>
          </a:prstGeom>
          <a:solidFill>
            <a:srgbClr val="344ACF"/>
          </a:solidFill>
          <a:ln/>
        </p:spPr>
      </p:sp>
      <p:sp>
        <p:nvSpPr>
          <p:cNvPr id="36" name="Shape 34"/>
          <p:cNvSpPr/>
          <p:nvPr/>
        </p:nvSpPr>
        <p:spPr>
          <a:xfrm>
            <a:off x="7071183" y="3643313"/>
            <a:ext cx="5120512" cy="116300"/>
          </a:xfrm>
          <a:prstGeom prst="rect">
            <a:avLst/>
          </a:prstGeom>
          <a:solidFill>
            <a:srgbClr val="334BCF"/>
          </a:solidFill>
          <a:ln/>
        </p:spPr>
      </p:sp>
      <p:sp>
        <p:nvSpPr>
          <p:cNvPr id="37" name="Shape 35"/>
          <p:cNvSpPr/>
          <p:nvPr/>
        </p:nvSpPr>
        <p:spPr>
          <a:xfrm>
            <a:off x="7071183" y="3750469"/>
            <a:ext cx="5120512" cy="116300"/>
          </a:xfrm>
          <a:prstGeom prst="rect">
            <a:avLst/>
          </a:prstGeom>
          <a:solidFill>
            <a:srgbClr val="324CCE"/>
          </a:solidFill>
          <a:ln/>
        </p:spPr>
      </p:sp>
      <p:sp>
        <p:nvSpPr>
          <p:cNvPr id="38" name="Shape 36"/>
          <p:cNvSpPr/>
          <p:nvPr/>
        </p:nvSpPr>
        <p:spPr>
          <a:xfrm>
            <a:off x="7071183" y="3857625"/>
            <a:ext cx="5120512" cy="116300"/>
          </a:xfrm>
          <a:prstGeom prst="rect">
            <a:avLst/>
          </a:prstGeom>
          <a:solidFill>
            <a:srgbClr val="314ECD"/>
          </a:solidFill>
          <a:ln/>
        </p:spPr>
      </p:sp>
      <p:sp>
        <p:nvSpPr>
          <p:cNvPr id="39" name="Shape 37"/>
          <p:cNvSpPr/>
          <p:nvPr/>
        </p:nvSpPr>
        <p:spPr>
          <a:xfrm>
            <a:off x="7071183" y="3964781"/>
            <a:ext cx="5120512" cy="116300"/>
          </a:xfrm>
          <a:prstGeom prst="rect">
            <a:avLst/>
          </a:prstGeom>
          <a:solidFill>
            <a:srgbClr val="304FCD"/>
          </a:solidFill>
          <a:ln/>
        </p:spPr>
      </p:sp>
      <p:sp>
        <p:nvSpPr>
          <p:cNvPr id="40" name="Shape 38"/>
          <p:cNvSpPr/>
          <p:nvPr/>
        </p:nvSpPr>
        <p:spPr>
          <a:xfrm>
            <a:off x="7071183" y="4071938"/>
            <a:ext cx="5120512" cy="116300"/>
          </a:xfrm>
          <a:prstGeom prst="rect">
            <a:avLst/>
          </a:prstGeom>
          <a:solidFill>
            <a:srgbClr val="2F50CC"/>
          </a:solidFill>
          <a:ln/>
        </p:spPr>
      </p:sp>
      <p:sp>
        <p:nvSpPr>
          <p:cNvPr id="41" name="Shape 39"/>
          <p:cNvSpPr/>
          <p:nvPr/>
        </p:nvSpPr>
        <p:spPr>
          <a:xfrm>
            <a:off x="7071183" y="4179094"/>
            <a:ext cx="5120512" cy="116300"/>
          </a:xfrm>
          <a:prstGeom prst="rect">
            <a:avLst/>
          </a:prstGeom>
          <a:solidFill>
            <a:srgbClr val="2F51CC"/>
          </a:solidFill>
          <a:ln/>
        </p:spPr>
      </p:sp>
      <p:sp>
        <p:nvSpPr>
          <p:cNvPr id="42" name="Shape 40"/>
          <p:cNvSpPr/>
          <p:nvPr/>
        </p:nvSpPr>
        <p:spPr>
          <a:xfrm>
            <a:off x="7071183" y="4286250"/>
            <a:ext cx="5120512" cy="116300"/>
          </a:xfrm>
          <a:prstGeom prst="rect">
            <a:avLst/>
          </a:prstGeom>
          <a:solidFill>
            <a:srgbClr val="2E53CB"/>
          </a:solidFill>
          <a:ln/>
        </p:spPr>
      </p:sp>
      <p:sp>
        <p:nvSpPr>
          <p:cNvPr id="43" name="Shape 41"/>
          <p:cNvSpPr/>
          <p:nvPr/>
        </p:nvSpPr>
        <p:spPr>
          <a:xfrm>
            <a:off x="7071183" y="4393406"/>
            <a:ext cx="5120512" cy="116300"/>
          </a:xfrm>
          <a:prstGeom prst="rect">
            <a:avLst/>
          </a:prstGeom>
          <a:solidFill>
            <a:srgbClr val="2D54CB"/>
          </a:solidFill>
          <a:ln/>
        </p:spPr>
      </p:sp>
      <p:sp>
        <p:nvSpPr>
          <p:cNvPr id="44" name="Shape 42"/>
          <p:cNvSpPr/>
          <p:nvPr/>
        </p:nvSpPr>
        <p:spPr>
          <a:xfrm>
            <a:off x="7071183" y="4500563"/>
            <a:ext cx="5120512" cy="116300"/>
          </a:xfrm>
          <a:prstGeom prst="rect">
            <a:avLst/>
          </a:prstGeom>
          <a:solidFill>
            <a:srgbClr val="2C55CA"/>
          </a:solidFill>
          <a:ln/>
        </p:spPr>
      </p:sp>
      <p:sp>
        <p:nvSpPr>
          <p:cNvPr id="45" name="Shape 43"/>
          <p:cNvSpPr/>
          <p:nvPr/>
        </p:nvSpPr>
        <p:spPr>
          <a:xfrm>
            <a:off x="7071183" y="4607719"/>
            <a:ext cx="5120512" cy="116300"/>
          </a:xfrm>
          <a:prstGeom prst="rect">
            <a:avLst/>
          </a:prstGeom>
          <a:solidFill>
            <a:srgbClr val="2B56C9"/>
          </a:solidFill>
          <a:ln/>
        </p:spPr>
      </p:sp>
      <p:sp>
        <p:nvSpPr>
          <p:cNvPr id="46" name="Shape 44"/>
          <p:cNvSpPr/>
          <p:nvPr/>
        </p:nvSpPr>
        <p:spPr>
          <a:xfrm>
            <a:off x="7071183" y="4714875"/>
            <a:ext cx="5120512" cy="116300"/>
          </a:xfrm>
          <a:prstGeom prst="rect">
            <a:avLst/>
          </a:prstGeom>
          <a:solidFill>
            <a:srgbClr val="2A57C9"/>
          </a:solidFill>
          <a:ln/>
        </p:spPr>
      </p:sp>
      <p:sp>
        <p:nvSpPr>
          <p:cNvPr id="47" name="Shape 45"/>
          <p:cNvSpPr/>
          <p:nvPr/>
        </p:nvSpPr>
        <p:spPr>
          <a:xfrm>
            <a:off x="7071183" y="4822031"/>
            <a:ext cx="5120512" cy="116300"/>
          </a:xfrm>
          <a:prstGeom prst="rect">
            <a:avLst/>
          </a:prstGeom>
          <a:solidFill>
            <a:srgbClr val="2959C8"/>
          </a:solidFill>
          <a:ln/>
        </p:spPr>
      </p:sp>
      <p:sp>
        <p:nvSpPr>
          <p:cNvPr id="48" name="Shape 46"/>
          <p:cNvSpPr/>
          <p:nvPr/>
        </p:nvSpPr>
        <p:spPr>
          <a:xfrm>
            <a:off x="7071183" y="4929188"/>
            <a:ext cx="5120512" cy="116300"/>
          </a:xfrm>
          <a:prstGeom prst="rect">
            <a:avLst/>
          </a:prstGeom>
          <a:solidFill>
            <a:srgbClr val="295AC8"/>
          </a:solidFill>
          <a:ln/>
        </p:spPr>
      </p:sp>
      <p:sp>
        <p:nvSpPr>
          <p:cNvPr id="49" name="Shape 47"/>
          <p:cNvSpPr/>
          <p:nvPr/>
        </p:nvSpPr>
        <p:spPr>
          <a:xfrm>
            <a:off x="7071183" y="5036344"/>
            <a:ext cx="5120512" cy="116300"/>
          </a:xfrm>
          <a:prstGeom prst="rect">
            <a:avLst/>
          </a:prstGeom>
          <a:solidFill>
            <a:srgbClr val="285BC7"/>
          </a:solidFill>
          <a:ln/>
        </p:spPr>
      </p:sp>
      <p:sp>
        <p:nvSpPr>
          <p:cNvPr id="50" name="Shape 48"/>
          <p:cNvSpPr/>
          <p:nvPr/>
        </p:nvSpPr>
        <p:spPr>
          <a:xfrm>
            <a:off x="7071183" y="5143500"/>
            <a:ext cx="5120512" cy="116300"/>
          </a:xfrm>
          <a:prstGeom prst="rect">
            <a:avLst/>
          </a:prstGeom>
          <a:solidFill>
            <a:srgbClr val="275CC7"/>
          </a:solidFill>
          <a:ln/>
        </p:spPr>
      </p:sp>
      <p:sp>
        <p:nvSpPr>
          <p:cNvPr id="51" name="Shape 49"/>
          <p:cNvSpPr/>
          <p:nvPr/>
        </p:nvSpPr>
        <p:spPr>
          <a:xfrm>
            <a:off x="7071183" y="5250656"/>
            <a:ext cx="5120512" cy="116300"/>
          </a:xfrm>
          <a:prstGeom prst="rect">
            <a:avLst/>
          </a:prstGeom>
          <a:solidFill>
            <a:srgbClr val="265EC6"/>
          </a:solidFill>
          <a:ln/>
        </p:spPr>
      </p:sp>
      <p:sp>
        <p:nvSpPr>
          <p:cNvPr id="52" name="Shape 50"/>
          <p:cNvSpPr/>
          <p:nvPr/>
        </p:nvSpPr>
        <p:spPr>
          <a:xfrm>
            <a:off x="7071183" y="5357813"/>
            <a:ext cx="5120512" cy="116300"/>
          </a:xfrm>
          <a:prstGeom prst="rect">
            <a:avLst/>
          </a:prstGeom>
          <a:solidFill>
            <a:srgbClr val="255FC5"/>
          </a:solidFill>
          <a:ln/>
        </p:spPr>
      </p:sp>
      <p:sp>
        <p:nvSpPr>
          <p:cNvPr id="53" name="Shape 51"/>
          <p:cNvSpPr/>
          <p:nvPr/>
        </p:nvSpPr>
        <p:spPr>
          <a:xfrm>
            <a:off x="7071183" y="5464969"/>
            <a:ext cx="5120512" cy="116300"/>
          </a:xfrm>
          <a:prstGeom prst="rect">
            <a:avLst/>
          </a:prstGeom>
          <a:solidFill>
            <a:srgbClr val="2460C5"/>
          </a:solidFill>
          <a:ln/>
        </p:spPr>
      </p:sp>
      <p:sp>
        <p:nvSpPr>
          <p:cNvPr id="54" name="Shape 52"/>
          <p:cNvSpPr/>
          <p:nvPr/>
        </p:nvSpPr>
        <p:spPr>
          <a:xfrm>
            <a:off x="7071183" y="5572125"/>
            <a:ext cx="5120512" cy="116300"/>
          </a:xfrm>
          <a:prstGeom prst="rect">
            <a:avLst/>
          </a:prstGeom>
          <a:solidFill>
            <a:srgbClr val="2361C4"/>
          </a:solidFill>
          <a:ln/>
        </p:spPr>
      </p:sp>
      <p:sp>
        <p:nvSpPr>
          <p:cNvPr id="55" name="Shape 53"/>
          <p:cNvSpPr/>
          <p:nvPr/>
        </p:nvSpPr>
        <p:spPr>
          <a:xfrm>
            <a:off x="7071183" y="5679281"/>
            <a:ext cx="5120512" cy="116300"/>
          </a:xfrm>
          <a:prstGeom prst="rect">
            <a:avLst/>
          </a:prstGeom>
          <a:solidFill>
            <a:srgbClr val="2363C4"/>
          </a:solidFill>
          <a:ln/>
        </p:spPr>
      </p:sp>
      <p:sp>
        <p:nvSpPr>
          <p:cNvPr id="56" name="Shape 54"/>
          <p:cNvSpPr/>
          <p:nvPr/>
        </p:nvSpPr>
        <p:spPr>
          <a:xfrm>
            <a:off x="7071183" y="5786438"/>
            <a:ext cx="5120512" cy="116300"/>
          </a:xfrm>
          <a:prstGeom prst="rect">
            <a:avLst/>
          </a:prstGeom>
          <a:solidFill>
            <a:srgbClr val="2264C3"/>
          </a:solidFill>
          <a:ln/>
        </p:spPr>
      </p:sp>
      <p:sp>
        <p:nvSpPr>
          <p:cNvPr id="57" name="Shape 55"/>
          <p:cNvSpPr/>
          <p:nvPr/>
        </p:nvSpPr>
        <p:spPr>
          <a:xfrm>
            <a:off x="7071183" y="5893594"/>
            <a:ext cx="5120512" cy="116300"/>
          </a:xfrm>
          <a:prstGeom prst="rect">
            <a:avLst/>
          </a:prstGeom>
          <a:solidFill>
            <a:srgbClr val="2165C3"/>
          </a:solidFill>
          <a:ln/>
        </p:spPr>
      </p:sp>
      <p:sp>
        <p:nvSpPr>
          <p:cNvPr id="58" name="Shape 56"/>
          <p:cNvSpPr/>
          <p:nvPr/>
        </p:nvSpPr>
        <p:spPr>
          <a:xfrm>
            <a:off x="7071183" y="6000750"/>
            <a:ext cx="5120512" cy="116300"/>
          </a:xfrm>
          <a:prstGeom prst="rect">
            <a:avLst/>
          </a:prstGeom>
          <a:solidFill>
            <a:srgbClr val="2066C2"/>
          </a:solidFill>
          <a:ln/>
        </p:spPr>
      </p:sp>
      <p:sp>
        <p:nvSpPr>
          <p:cNvPr id="59" name="Shape 57"/>
          <p:cNvSpPr/>
          <p:nvPr/>
        </p:nvSpPr>
        <p:spPr>
          <a:xfrm>
            <a:off x="7071183" y="6107906"/>
            <a:ext cx="5120512" cy="116300"/>
          </a:xfrm>
          <a:prstGeom prst="rect">
            <a:avLst/>
          </a:prstGeom>
          <a:solidFill>
            <a:srgbClr val="1F68C1"/>
          </a:solidFill>
          <a:ln/>
        </p:spPr>
      </p:sp>
      <p:sp>
        <p:nvSpPr>
          <p:cNvPr id="60" name="Shape 58"/>
          <p:cNvSpPr/>
          <p:nvPr/>
        </p:nvSpPr>
        <p:spPr>
          <a:xfrm>
            <a:off x="7071183" y="6215063"/>
            <a:ext cx="5120512" cy="116300"/>
          </a:xfrm>
          <a:prstGeom prst="rect">
            <a:avLst/>
          </a:prstGeom>
          <a:solidFill>
            <a:srgbClr val="1E69C1"/>
          </a:solidFill>
          <a:ln/>
        </p:spPr>
      </p:sp>
      <p:sp>
        <p:nvSpPr>
          <p:cNvPr id="61" name="Shape 59"/>
          <p:cNvSpPr/>
          <p:nvPr/>
        </p:nvSpPr>
        <p:spPr>
          <a:xfrm>
            <a:off x="7071183" y="6322219"/>
            <a:ext cx="5120512" cy="116300"/>
          </a:xfrm>
          <a:prstGeom prst="rect">
            <a:avLst/>
          </a:prstGeom>
          <a:solidFill>
            <a:srgbClr val="1D6AC0"/>
          </a:solidFill>
          <a:ln/>
        </p:spPr>
      </p:sp>
      <p:sp>
        <p:nvSpPr>
          <p:cNvPr id="62" name="Shape 60"/>
          <p:cNvSpPr/>
          <p:nvPr/>
        </p:nvSpPr>
        <p:spPr>
          <a:xfrm>
            <a:off x="7071183" y="6429375"/>
            <a:ext cx="5120512" cy="116300"/>
          </a:xfrm>
          <a:prstGeom prst="rect">
            <a:avLst/>
          </a:prstGeom>
          <a:solidFill>
            <a:srgbClr val="1D6BC0"/>
          </a:solidFill>
          <a:ln/>
        </p:spPr>
      </p:sp>
      <p:sp>
        <p:nvSpPr>
          <p:cNvPr id="63" name="Shape 61"/>
          <p:cNvSpPr/>
          <p:nvPr/>
        </p:nvSpPr>
        <p:spPr>
          <a:xfrm>
            <a:off x="7071183" y="6536531"/>
            <a:ext cx="5120512" cy="116300"/>
          </a:xfrm>
          <a:prstGeom prst="rect">
            <a:avLst/>
          </a:prstGeom>
          <a:solidFill>
            <a:srgbClr val="1C6DBF"/>
          </a:solidFill>
          <a:ln/>
        </p:spPr>
      </p:sp>
      <p:sp>
        <p:nvSpPr>
          <p:cNvPr id="64" name="Shape 62"/>
          <p:cNvSpPr/>
          <p:nvPr/>
        </p:nvSpPr>
        <p:spPr>
          <a:xfrm>
            <a:off x="7071183" y="6643688"/>
            <a:ext cx="5120512" cy="116300"/>
          </a:xfrm>
          <a:prstGeom prst="rect">
            <a:avLst/>
          </a:prstGeom>
          <a:solidFill>
            <a:srgbClr val="1B6EBF"/>
          </a:solidFill>
          <a:ln/>
        </p:spPr>
      </p:sp>
      <p:sp>
        <p:nvSpPr>
          <p:cNvPr id="65" name="Shape 63"/>
          <p:cNvSpPr/>
          <p:nvPr/>
        </p:nvSpPr>
        <p:spPr>
          <a:xfrm>
            <a:off x="7071183" y="6750844"/>
            <a:ext cx="5120512" cy="116300"/>
          </a:xfrm>
          <a:prstGeom prst="rect">
            <a:avLst/>
          </a:prstGeom>
          <a:solidFill>
            <a:srgbClr val="1A6FBE"/>
          </a:solidFill>
          <a:ln/>
        </p:spPr>
      </p:sp>
      <p:sp>
        <p:nvSpPr>
          <p:cNvPr id="66" name="Text 64"/>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THE MOAT</a:t>
            </a:r>
            <a:endParaRPr lang="en-US" sz="1100" dirty="0"/>
          </a:p>
        </p:txBody>
      </p:sp>
      <p:sp>
        <p:nvSpPr>
          <p:cNvPr id="67" name="Text 65"/>
          <p:cNvSpPr/>
          <p:nvPr/>
        </p:nvSpPr>
        <p:spPr>
          <a:xfrm>
            <a:off x="548640" y="1417320"/>
            <a:ext cx="6156783" cy="2194560"/>
          </a:xfrm>
          <a:prstGeom prst="rect">
            <a:avLst/>
          </a:prstGeom>
          <a:noFill/>
          <a:ln/>
        </p:spPr>
        <p:txBody>
          <a:bodyPr wrap="square" lIns="0" tIns="0" rIns="0" bIns="0" rtlCol="0" anchor="t"/>
          <a:lstStyle/>
          <a:p>
            <a:pPr algn="l" indent="0" marL="0">
              <a:buNone/>
            </a:pPr>
            <a:r>
              <a:rPr lang="en-US" sz="4200" b="1" spc="-50" kern="0" dirty="0">
                <a:solidFill>
                  <a:srgbClr val="0F1733"/>
                </a:solidFill>
                <a:latin typeface="Calibri" pitchFamily="34" charset="0"/>
                <a:ea typeface="Calibri" pitchFamily="34" charset="-122"/>
                <a:cs typeface="Calibri" pitchFamily="34" charset="-120"/>
              </a:rPr>
              <a:t>Three structural reasons we win — and they compound.</a:t>
            </a:r>
            <a:endParaRPr lang="en-US" sz="4200" dirty="0"/>
          </a:p>
        </p:txBody>
      </p:sp>
      <p:sp>
        <p:nvSpPr>
          <p:cNvPr id="68" name="Text 66"/>
          <p:cNvSpPr/>
          <p:nvPr/>
        </p:nvSpPr>
        <p:spPr>
          <a:xfrm>
            <a:off x="548640" y="3657600"/>
            <a:ext cx="6156783" cy="1097280"/>
          </a:xfrm>
          <a:prstGeom prst="rect">
            <a:avLst/>
          </a:prstGeom>
          <a:noFill/>
          <a:ln/>
        </p:spPr>
        <p:txBody>
          <a:bodyPr wrap="square" lIns="0" tIns="0" rIns="0" bIns="0" rtlCol="0" anchor="t"/>
          <a:lstStyle/>
          <a:p>
            <a:pPr algn="l" indent="0" marL="0">
              <a:spcAft>
                <a:spcPts val="600"/>
              </a:spcAft>
              <a:buNone/>
            </a:pPr>
            <a:r>
              <a:rPr lang="en-US" sz="1400" dirty="0">
                <a:solidFill>
                  <a:srgbClr val="2A3358"/>
                </a:solidFill>
                <a:latin typeface="Calibri" pitchFamily="34" charset="0"/>
                <a:ea typeface="Calibri" pitchFamily="34" charset="-122"/>
                <a:cs typeface="Calibri" pitchFamily="34" charset="-120"/>
              </a:rPr>
              <a:t>We built around the operator's exact workflow because the founder lived it. We price for founders because we know their tool budget. And because we own the entire workflow — discovery, scoring, send, CRM — we capture closed-loop analytics that no point tool can.</a:t>
            </a:r>
            <a:endParaRPr lang="en-US" sz="1400" dirty="0"/>
          </a:p>
        </p:txBody>
      </p:sp>
      <p:sp>
        <p:nvSpPr>
          <p:cNvPr id="69" name="Text 67"/>
          <p:cNvSpPr/>
          <p:nvPr/>
        </p:nvSpPr>
        <p:spPr>
          <a:xfrm>
            <a:off x="548640" y="4846320"/>
            <a:ext cx="6156783" cy="1463040"/>
          </a:xfrm>
          <a:prstGeom prst="rect">
            <a:avLst/>
          </a:prstGeom>
          <a:noFill/>
          <a:ln/>
        </p:spPr>
        <p:txBody>
          <a:bodyPr wrap="square" lIns="0" tIns="0" rIns="0" bIns="0" rtlCol="0" anchor="t"/>
          <a:lstStyle/>
          <a:p>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Operator-built — every UI decision traces to real workflow pain</a:t>
            </a:r>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Founder-priced — $39 entry vs. $300+ for incumbents</a:t>
            </a:r>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End-to-end ownership — closed-loop analytics nobody else can produce</a:t>
            </a:r>
            <a:endParaRPr lang="en-US" sz="13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14 · Why we win  ·  vB</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093 / 126</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THREE MOATS</a:t>
            </a:r>
            <a:endParaRPr lang="en-US" sz="1100" dirty="0"/>
          </a:p>
        </p:txBody>
      </p:sp>
      <p:sp>
        <p:nvSpPr>
          <p:cNvPr id="3" name="Text 1"/>
          <p:cNvSpPr/>
          <p:nvPr/>
        </p:nvSpPr>
        <p:spPr>
          <a:xfrm>
            <a:off x="548640" y="1417320"/>
            <a:ext cx="11094415" cy="1188720"/>
          </a:xfrm>
          <a:prstGeom prst="rect">
            <a:avLst/>
          </a:prstGeom>
          <a:noFill/>
          <a:ln/>
        </p:spPr>
        <p:txBody>
          <a:bodyPr wrap="square" lIns="0" tIns="0" rIns="0" bIns="0" rtlCol="0" anchor="t"/>
          <a:lstStyle/>
          <a:p>
            <a:pPr algn="l" indent="0" marL="0">
              <a:buNone/>
            </a:pPr>
            <a:r>
              <a:rPr lang="en-US" sz="3800" b="1" spc="-50" kern="0" dirty="0">
                <a:solidFill>
                  <a:srgbClr val="0F1733"/>
                </a:solidFill>
                <a:latin typeface="Calibri" pitchFamily="34" charset="0"/>
                <a:ea typeface="Calibri" pitchFamily="34" charset="-122"/>
                <a:cs typeface="Calibri" pitchFamily="34" charset="-120"/>
              </a:rPr>
              <a:t>Each one is durable. Together they're a wedge.</a:t>
            </a:r>
            <a:endParaRPr lang="en-US" sz="3800" dirty="0"/>
          </a:p>
        </p:txBody>
      </p:sp>
      <p:sp>
        <p:nvSpPr>
          <p:cNvPr id="4" name="Shape 2"/>
          <p:cNvSpPr/>
          <p:nvPr/>
        </p:nvSpPr>
        <p:spPr>
          <a:xfrm>
            <a:off x="548640" y="3108960"/>
            <a:ext cx="3545738" cy="3017520"/>
          </a:xfrm>
          <a:prstGeom prst="roundRect">
            <a:avLst>
              <a:gd name="adj" fmla="val 3636"/>
            </a:avLst>
          </a:prstGeom>
          <a:solidFill>
            <a:srgbClr val="FFFFFF"/>
          </a:solidFill>
          <a:ln w="9525">
            <a:solidFill>
              <a:srgbClr val="E5E7F0"/>
            </a:solidFill>
            <a:prstDash val="solid"/>
          </a:ln>
        </p:spPr>
      </p:sp>
      <p:sp>
        <p:nvSpPr>
          <p:cNvPr id="5" name="Shape 3"/>
          <p:cNvSpPr/>
          <p:nvPr/>
        </p:nvSpPr>
        <p:spPr>
          <a:xfrm>
            <a:off x="548640" y="3108960"/>
            <a:ext cx="3545738" cy="73152"/>
          </a:xfrm>
          <a:prstGeom prst="rect">
            <a:avLst/>
          </a:prstGeom>
          <a:solidFill>
            <a:srgbClr val="5028C2"/>
          </a:solidFill>
          <a:ln/>
        </p:spPr>
      </p:sp>
      <p:sp>
        <p:nvSpPr>
          <p:cNvPr id="6" name="Shape 4"/>
          <p:cNvSpPr/>
          <p:nvPr/>
        </p:nvSpPr>
        <p:spPr>
          <a:xfrm>
            <a:off x="868680" y="3474720"/>
            <a:ext cx="457200" cy="457200"/>
          </a:xfrm>
          <a:prstGeom prst="ellipse">
            <a:avLst/>
          </a:prstGeom>
          <a:solidFill>
            <a:srgbClr val="5028C2"/>
          </a:solidFill>
          <a:ln/>
        </p:spPr>
      </p:sp>
      <p:sp>
        <p:nvSpPr>
          <p:cNvPr id="7" name="Text 5"/>
          <p:cNvSpPr/>
          <p:nvPr/>
        </p:nvSpPr>
        <p:spPr>
          <a:xfrm>
            <a:off x="868680"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8" name="Text 6"/>
          <p:cNvSpPr/>
          <p:nvPr/>
        </p:nvSpPr>
        <p:spPr>
          <a:xfrm>
            <a:off x="868680"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Operator origin</a:t>
            </a:r>
            <a:endParaRPr lang="en-US" sz="1800" dirty="0"/>
          </a:p>
        </p:txBody>
      </p:sp>
      <p:sp>
        <p:nvSpPr>
          <p:cNvPr id="9" name="Text 7"/>
          <p:cNvSpPr/>
          <p:nvPr/>
        </p:nvSpPr>
        <p:spPr>
          <a:xfrm>
            <a:off x="868680"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Founder ran creator partnerships before building this. The UI reflects real workflow — not analyst slideware.</a:t>
            </a:r>
            <a:endParaRPr lang="en-US" sz="1300" dirty="0"/>
          </a:p>
        </p:txBody>
      </p:sp>
      <p:sp>
        <p:nvSpPr>
          <p:cNvPr id="10" name="Shape 8"/>
          <p:cNvSpPr/>
          <p:nvPr/>
        </p:nvSpPr>
        <p:spPr>
          <a:xfrm>
            <a:off x="4322978" y="3108960"/>
            <a:ext cx="3545738" cy="3017520"/>
          </a:xfrm>
          <a:prstGeom prst="roundRect">
            <a:avLst>
              <a:gd name="adj" fmla="val 3636"/>
            </a:avLst>
          </a:prstGeom>
          <a:solidFill>
            <a:srgbClr val="FFFFFF"/>
          </a:solidFill>
          <a:ln w="9525">
            <a:solidFill>
              <a:srgbClr val="E5E7F0"/>
            </a:solidFill>
            <a:prstDash val="solid"/>
          </a:ln>
        </p:spPr>
      </p:sp>
      <p:sp>
        <p:nvSpPr>
          <p:cNvPr id="11" name="Shape 9"/>
          <p:cNvSpPr/>
          <p:nvPr/>
        </p:nvSpPr>
        <p:spPr>
          <a:xfrm>
            <a:off x="4322978" y="3108960"/>
            <a:ext cx="3545738" cy="73152"/>
          </a:xfrm>
          <a:prstGeom prst="rect">
            <a:avLst/>
          </a:prstGeom>
          <a:solidFill>
            <a:srgbClr val="3548D0"/>
          </a:solidFill>
          <a:ln/>
        </p:spPr>
      </p:sp>
      <p:sp>
        <p:nvSpPr>
          <p:cNvPr id="12" name="Shape 10"/>
          <p:cNvSpPr/>
          <p:nvPr/>
        </p:nvSpPr>
        <p:spPr>
          <a:xfrm>
            <a:off x="4643018" y="3474720"/>
            <a:ext cx="457200" cy="457200"/>
          </a:xfrm>
          <a:prstGeom prst="ellipse">
            <a:avLst/>
          </a:prstGeom>
          <a:solidFill>
            <a:srgbClr val="3548D0"/>
          </a:solidFill>
          <a:ln/>
        </p:spPr>
      </p:sp>
      <p:sp>
        <p:nvSpPr>
          <p:cNvPr id="13" name="Text 11"/>
          <p:cNvSpPr/>
          <p:nvPr/>
        </p:nvSpPr>
        <p:spPr>
          <a:xfrm>
            <a:off x="4643018"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4" name="Text 12"/>
          <p:cNvSpPr/>
          <p:nvPr/>
        </p:nvSpPr>
        <p:spPr>
          <a:xfrm>
            <a:off x="4643018"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Pricing position</a:t>
            </a:r>
            <a:endParaRPr lang="en-US" sz="1800" dirty="0"/>
          </a:p>
        </p:txBody>
      </p:sp>
      <p:sp>
        <p:nvSpPr>
          <p:cNvPr id="15" name="Text 13"/>
          <p:cNvSpPr/>
          <p:nvPr/>
        </p:nvSpPr>
        <p:spPr>
          <a:xfrm>
            <a:off x="4643018"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8–25x cheaper than incumbents at entry. Founder budgets clear easily. We grow into accounts the incumbents lose.</a:t>
            </a:r>
            <a:endParaRPr lang="en-US" sz="1300" dirty="0"/>
          </a:p>
        </p:txBody>
      </p:sp>
      <p:sp>
        <p:nvSpPr>
          <p:cNvPr id="16" name="Shape 14"/>
          <p:cNvSpPr/>
          <p:nvPr/>
        </p:nvSpPr>
        <p:spPr>
          <a:xfrm>
            <a:off x="8097317" y="3108960"/>
            <a:ext cx="3545738" cy="3017520"/>
          </a:xfrm>
          <a:prstGeom prst="roundRect">
            <a:avLst>
              <a:gd name="adj" fmla="val 3636"/>
            </a:avLst>
          </a:prstGeom>
          <a:solidFill>
            <a:srgbClr val="FFFFFF"/>
          </a:solidFill>
          <a:ln w="9525">
            <a:solidFill>
              <a:srgbClr val="E5E7F0"/>
            </a:solidFill>
            <a:prstDash val="solid"/>
          </a:ln>
        </p:spPr>
      </p:sp>
      <p:sp>
        <p:nvSpPr>
          <p:cNvPr id="17" name="Shape 15"/>
          <p:cNvSpPr/>
          <p:nvPr/>
        </p:nvSpPr>
        <p:spPr>
          <a:xfrm>
            <a:off x="8097317" y="3108960"/>
            <a:ext cx="3545738" cy="73152"/>
          </a:xfrm>
          <a:prstGeom prst="rect">
            <a:avLst/>
          </a:prstGeom>
          <a:solidFill>
            <a:srgbClr val="1A6FBE"/>
          </a:solidFill>
          <a:ln/>
        </p:spPr>
      </p:sp>
      <p:sp>
        <p:nvSpPr>
          <p:cNvPr id="18" name="Shape 16"/>
          <p:cNvSpPr/>
          <p:nvPr/>
        </p:nvSpPr>
        <p:spPr>
          <a:xfrm>
            <a:off x="8417357" y="3474720"/>
            <a:ext cx="457200" cy="457200"/>
          </a:xfrm>
          <a:prstGeom prst="ellipse">
            <a:avLst/>
          </a:prstGeom>
          <a:solidFill>
            <a:srgbClr val="1A6FBE"/>
          </a:solidFill>
          <a:ln/>
        </p:spPr>
      </p:sp>
      <p:sp>
        <p:nvSpPr>
          <p:cNvPr id="19" name="Text 17"/>
          <p:cNvSpPr/>
          <p:nvPr/>
        </p:nvSpPr>
        <p:spPr>
          <a:xfrm>
            <a:off x="8417357"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0" name="Text 18"/>
          <p:cNvSpPr/>
          <p:nvPr/>
        </p:nvSpPr>
        <p:spPr>
          <a:xfrm>
            <a:off x="8417357"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Workflow ownership</a:t>
            </a:r>
            <a:endParaRPr lang="en-US" sz="1800" dirty="0"/>
          </a:p>
        </p:txBody>
      </p:sp>
      <p:sp>
        <p:nvSpPr>
          <p:cNvPr id="21" name="Text 19"/>
          <p:cNvSpPr/>
          <p:nvPr/>
        </p:nvSpPr>
        <p:spPr>
          <a:xfrm>
            <a:off x="8417357"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Because we own discovery → CRM, we capture metrics no point tool can. The data layer compounds every quarter.</a:t>
            </a:r>
            <a:endParaRPr lang="en-US" sz="1300" dirty="0"/>
          </a:p>
        </p:txBody>
      </p:sp>
      <p:sp>
        <p:nvSpPr>
          <p:cNvPr id="22" name="Shape 20"/>
          <p:cNvSpPr/>
          <p:nvPr/>
        </p:nvSpPr>
        <p:spPr>
          <a:xfrm>
            <a:off x="548640" y="502920"/>
            <a:ext cx="292608" cy="292608"/>
          </a:xfrm>
          <a:prstGeom prst="roundRect">
            <a:avLst>
              <a:gd name="adj" fmla="val 25000"/>
            </a:avLst>
          </a:prstGeom>
          <a:solidFill>
            <a:srgbClr val="5028C2"/>
          </a:solidFill>
          <a:ln/>
        </p:spPr>
      </p:sp>
      <p:sp>
        <p:nvSpPr>
          <p:cNvPr id="23" name="Shape 21"/>
          <p:cNvSpPr/>
          <p:nvPr/>
        </p:nvSpPr>
        <p:spPr>
          <a:xfrm>
            <a:off x="548640" y="502920"/>
            <a:ext cx="292608" cy="292608"/>
          </a:xfrm>
          <a:prstGeom prst="roundRect">
            <a:avLst>
              <a:gd name="adj" fmla="val 25000"/>
            </a:avLst>
          </a:prstGeom>
          <a:solidFill>
            <a:srgbClr val="1A6FBE">
              <a:alpha val="50000"/>
            </a:srgbClr>
          </a:solidFill>
          <a:ln/>
        </p:spPr>
      </p:sp>
      <p:sp>
        <p:nvSpPr>
          <p:cNvPr id="24" name="Text 22"/>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5" name="Text 23"/>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6" name="Text 24"/>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14 · Why we win  ·  vC</a:t>
            </a:r>
            <a:endParaRPr lang="en-US" sz="900" dirty="0"/>
          </a:p>
        </p:txBody>
      </p:sp>
      <p:sp>
        <p:nvSpPr>
          <p:cNvPr id="27" name="Text 25"/>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28" name="Text 26"/>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094 / 126</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320040" cy="116300"/>
          </a:xfrm>
          <a:prstGeom prst="rect">
            <a:avLst/>
          </a:prstGeom>
          <a:solidFill>
            <a:srgbClr val="5028C2"/>
          </a:solidFill>
          <a:ln/>
        </p:spPr>
      </p:sp>
      <p:sp>
        <p:nvSpPr>
          <p:cNvPr id="3" name="Shape 1"/>
          <p:cNvSpPr/>
          <p:nvPr/>
        </p:nvSpPr>
        <p:spPr>
          <a:xfrm>
            <a:off x="0" y="107156"/>
            <a:ext cx="320040" cy="116300"/>
          </a:xfrm>
          <a:prstGeom prst="rect">
            <a:avLst/>
          </a:prstGeom>
          <a:solidFill>
            <a:srgbClr val="4F29C2"/>
          </a:solidFill>
          <a:ln/>
        </p:spPr>
      </p:sp>
      <p:sp>
        <p:nvSpPr>
          <p:cNvPr id="4" name="Shape 2"/>
          <p:cNvSpPr/>
          <p:nvPr/>
        </p:nvSpPr>
        <p:spPr>
          <a:xfrm>
            <a:off x="0" y="214313"/>
            <a:ext cx="320040" cy="116300"/>
          </a:xfrm>
          <a:prstGeom prst="rect">
            <a:avLst/>
          </a:prstGeom>
          <a:solidFill>
            <a:srgbClr val="4E2AC3"/>
          </a:solidFill>
          <a:ln/>
        </p:spPr>
      </p:sp>
      <p:sp>
        <p:nvSpPr>
          <p:cNvPr id="5" name="Shape 3"/>
          <p:cNvSpPr/>
          <p:nvPr/>
        </p:nvSpPr>
        <p:spPr>
          <a:xfrm>
            <a:off x="0" y="321469"/>
            <a:ext cx="320040" cy="116300"/>
          </a:xfrm>
          <a:prstGeom prst="rect">
            <a:avLst/>
          </a:prstGeom>
          <a:solidFill>
            <a:srgbClr val="4D2BC3"/>
          </a:solidFill>
          <a:ln/>
        </p:spPr>
      </p:sp>
      <p:sp>
        <p:nvSpPr>
          <p:cNvPr id="6" name="Shape 4"/>
          <p:cNvSpPr/>
          <p:nvPr/>
        </p:nvSpPr>
        <p:spPr>
          <a:xfrm>
            <a:off x="0" y="428625"/>
            <a:ext cx="320040" cy="116300"/>
          </a:xfrm>
          <a:prstGeom prst="rect">
            <a:avLst/>
          </a:prstGeom>
          <a:solidFill>
            <a:srgbClr val="4D2CC4"/>
          </a:solidFill>
          <a:ln/>
        </p:spPr>
      </p:sp>
      <p:sp>
        <p:nvSpPr>
          <p:cNvPr id="7" name="Shape 5"/>
          <p:cNvSpPr/>
          <p:nvPr/>
        </p:nvSpPr>
        <p:spPr>
          <a:xfrm>
            <a:off x="0" y="535781"/>
            <a:ext cx="320040" cy="116300"/>
          </a:xfrm>
          <a:prstGeom prst="rect">
            <a:avLst/>
          </a:prstGeom>
          <a:solidFill>
            <a:srgbClr val="4C2DC4"/>
          </a:solidFill>
          <a:ln/>
        </p:spPr>
      </p:sp>
      <p:sp>
        <p:nvSpPr>
          <p:cNvPr id="8" name="Shape 6"/>
          <p:cNvSpPr/>
          <p:nvPr/>
        </p:nvSpPr>
        <p:spPr>
          <a:xfrm>
            <a:off x="0" y="642938"/>
            <a:ext cx="320040" cy="116300"/>
          </a:xfrm>
          <a:prstGeom prst="rect">
            <a:avLst/>
          </a:prstGeom>
          <a:solidFill>
            <a:srgbClr val="4B2EC5"/>
          </a:solidFill>
          <a:ln/>
        </p:spPr>
      </p:sp>
      <p:sp>
        <p:nvSpPr>
          <p:cNvPr id="9" name="Shape 7"/>
          <p:cNvSpPr/>
          <p:nvPr/>
        </p:nvSpPr>
        <p:spPr>
          <a:xfrm>
            <a:off x="0" y="750094"/>
            <a:ext cx="320040" cy="116300"/>
          </a:xfrm>
          <a:prstGeom prst="rect">
            <a:avLst/>
          </a:prstGeom>
          <a:solidFill>
            <a:srgbClr val="4A2FC5"/>
          </a:solidFill>
          <a:ln/>
        </p:spPr>
      </p:sp>
      <p:sp>
        <p:nvSpPr>
          <p:cNvPr id="10" name="Shape 8"/>
          <p:cNvSpPr/>
          <p:nvPr/>
        </p:nvSpPr>
        <p:spPr>
          <a:xfrm>
            <a:off x="0" y="857250"/>
            <a:ext cx="320040" cy="116300"/>
          </a:xfrm>
          <a:prstGeom prst="rect">
            <a:avLst/>
          </a:prstGeom>
          <a:solidFill>
            <a:srgbClr val="4930C6"/>
          </a:solidFill>
          <a:ln/>
        </p:spPr>
      </p:sp>
      <p:sp>
        <p:nvSpPr>
          <p:cNvPr id="11" name="Shape 9"/>
          <p:cNvSpPr/>
          <p:nvPr/>
        </p:nvSpPr>
        <p:spPr>
          <a:xfrm>
            <a:off x="0" y="964406"/>
            <a:ext cx="320040" cy="116300"/>
          </a:xfrm>
          <a:prstGeom prst="rect">
            <a:avLst/>
          </a:prstGeom>
          <a:solidFill>
            <a:srgbClr val="4831C6"/>
          </a:solidFill>
          <a:ln/>
        </p:spPr>
      </p:sp>
      <p:sp>
        <p:nvSpPr>
          <p:cNvPr id="12" name="Shape 10"/>
          <p:cNvSpPr/>
          <p:nvPr/>
        </p:nvSpPr>
        <p:spPr>
          <a:xfrm>
            <a:off x="0" y="1071563"/>
            <a:ext cx="320040" cy="116300"/>
          </a:xfrm>
          <a:prstGeom prst="rect">
            <a:avLst/>
          </a:prstGeom>
          <a:solidFill>
            <a:srgbClr val="4732C6"/>
          </a:solidFill>
          <a:ln/>
        </p:spPr>
      </p:sp>
      <p:sp>
        <p:nvSpPr>
          <p:cNvPr id="13" name="Shape 11"/>
          <p:cNvSpPr/>
          <p:nvPr/>
        </p:nvSpPr>
        <p:spPr>
          <a:xfrm>
            <a:off x="0" y="1178719"/>
            <a:ext cx="320040" cy="116300"/>
          </a:xfrm>
          <a:prstGeom prst="rect">
            <a:avLst/>
          </a:prstGeom>
          <a:solidFill>
            <a:srgbClr val="4733C7"/>
          </a:solidFill>
          <a:ln/>
        </p:spPr>
      </p:sp>
      <p:sp>
        <p:nvSpPr>
          <p:cNvPr id="14" name="Shape 12"/>
          <p:cNvSpPr/>
          <p:nvPr/>
        </p:nvSpPr>
        <p:spPr>
          <a:xfrm>
            <a:off x="0" y="1285875"/>
            <a:ext cx="320040" cy="116300"/>
          </a:xfrm>
          <a:prstGeom prst="rect">
            <a:avLst/>
          </a:prstGeom>
          <a:solidFill>
            <a:srgbClr val="4634C7"/>
          </a:solidFill>
          <a:ln/>
        </p:spPr>
      </p:sp>
      <p:sp>
        <p:nvSpPr>
          <p:cNvPr id="15" name="Shape 13"/>
          <p:cNvSpPr/>
          <p:nvPr/>
        </p:nvSpPr>
        <p:spPr>
          <a:xfrm>
            <a:off x="0" y="1393031"/>
            <a:ext cx="320040" cy="116300"/>
          </a:xfrm>
          <a:prstGeom prst="rect">
            <a:avLst/>
          </a:prstGeom>
          <a:solidFill>
            <a:srgbClr val="4535C8"/>
          </a:solidFill>
          <a:ln/>
        </p:spPr>
      </p:sp>
      <p:sp>
        <p:nvSpPr>
          <p:cNvPr id="16" name="Shape 14"/>
          <p:cNvSpPr/>
          <p:nvPr/>
        </p:nvSpPr>
        <p:spPr>
          <a:xfrm>
            <a:off x="0" y="1500188"/>
            <a:ext cx="320040" cy="116300"/>
          </a:xfrm>
          <a:prstGeom prst="rect">
            <a:avLst/>
          </a:prstGeom>
          <a:solidFill>
            <a:srgbClr val="4436C8"/>
          </a:solidFill>
          <a:ln/>
        </p:spPr>
      </p:sp>
      <p:sp>
        <p:nvSpPr>
          <p:cNvPr id="17" name="Shape 15"/>
          <p:cNvSpPr/>
          <p:nvPr/>
        </p:nvSpPr>
        <p:spPr>
          <a:xfrm>
            <a:off x="0" y="1607344"/>
            <a:ext cx="320040" cy="116300"/>
          </a:xfrm>
          <a:prstGeom prst="rect">
            <a:avLst/>
          </a:prstGeom>
          <a:solidFill>
            <a:srgbClr val="4337C9"/>
          </a:solidFill>
          <a:ln/>
        </p:spPr>
      </p:sp>
      <p:sp>
        <p:nvSpPr>
          <p:cNvPr id="18" name="Shape 16"/>
          <p:cNvSpPr/>
          <p:nvPr/>
        </p:nvSpPr>
        <p:spPr>
          <a:xfrm>
            <a:off x="0" y="1714500"/>
            <a:ext cx="320040" cy="116300"/>
          </a:xfrm>
          <a:prstGeom prst="rect">
            <a:avLst/>
          </a:prstGeom>
          <a:solidFill>
            <a:srgbClr val="4238C9"/>
          </a:solidFill>
          <a:ln/>
        </p:spPr>
      </p:sp>
      <p:sp>
        <p:nvSpPr>
          <p:cNvPr id="19" name="Shape 17"/>
          <p:cNvSpPr/>
          <p:nvPr/>
        </p:nvSpPr>
        <p:spPr>
          <a:xfrm>
            <a:off x="0" y="1821656"/>
            <a:ext cx="320040" cy="116300"/>
          </a:xfrm>
          <a:prstGeom prst="rect">
            <a:avLst/>
          </a:prstGeom>
          <a:solidFill>
            <a:srgbClr val="4139CA"/>
          </a:solidFill>
          <a:ln/>
        </p:spPr>
      </p:sp>
      <p:sp>
        <p:nvSpPr>
          <p:cNvPr id="20" name="Shape 18"/>
          <p:cNvSpPr/>
          <p:nvPr/>
        </p:nvSpPr>
        <p:spPr>
          <a:xfrm>
            <a:off x="0" y="1928813"/>
            <a:ext cx="320040" cy="116300"/>
          </a:xfrm>
          <a:prstGeom prst="rect">
            <a:avLst/>
          </a:prstGeom>
          <a:solidFill>
            <a:srgbClr val="413ACA"/>
          </a:solidFill>
          <a:ln/>
        </p:spPr>
      </p:sp>
      <p:sp>
        <p:nvSpPr>
          <p:cNvPr id="21" name="Shape 19"/>
          <p:cNvSpPr/>
          <p:nvPr/>
        </p:nvSpPr>
        <p:spPr>
          <a:xfrm>
            <a:off x="0" y="2035969"/>
            <a:ext cx="320040" cy="116300"/>
          </a:xfrm>
          <a:prstGeom prst="rect">
            <a:avLst/>
          </a:prstGeom>
          <a:solidFill>
            <a:srgbClr val="403BCA"/>
          </a:solidFill>
          <a:ln/>
        </p:spPr>
      </p:sp>
      <p:sp>
        <p:nvSpPr>
          <p:cNvPr id="22" name="Shape 20"/>
          <p:cNvSpPr/>
          <p:nvPr/>
        </p:nvSpPr>
        <p:spPr>
          <a:xfrm>
            <a:off x="0" y="2143125"/>
            <a:ext cx="320040" cy="116300"/>
          </a:xfrm>
          <a:prstGeom prst="rect">
            <a:avLst/>
          </a:prstGeom>
          <a:solidFill>
            <a:srgbClr val="3F3CCB"/>
          </a:solidFill>
          <a:ln/>
        </p:spPr>
      </p:sp>
      <p:sp>
        <p:nvSpPr>
          <p:cNvPr id="23" name="Shape 21"/>
          <p:cNvSpPr/>
          <p:nvPr/>
        </p:nvSpPr>
        <p:spPr>
          <a:xfrm>
            <a:off x="0" y="2250281"/>
            <a:ext cx="320040" cy="116300"/>
          </a:xfrm>
          <a:prstGeom prst="rect">
            <a:avLst/>
          </a:prstGeom>
          <a:solidFill>
            <a:srgbClr val="3E3DCB"/>
          </a:solidFill>
          <a:ln/>
        </p:spPr>
      </p:sp>
      <p:sp>
        <p:nvSpPr>
          <p:cNvPr id="24" name="Shape 22"/>
          <p:cNvSpPr/>
          <p:nvPr/>
        </p:nvSpPr>
        <p:spPr>
          <a:xfrm>
            <a:off x="0" y="2357438"/>
            <a:ext cx="320040" cy="116300"/>
          </a:xfrm>
          <a:prstGeom prst="rect">
            <a:avLst/>
          </a:prstGeom>
          <a:solidFill>
            <a:srgbClr val="3D3ECC"/>
          </a:solidFill>
          <a:ln/>
        </p:spPr>
      </p:sp>
      <p:sp>
        <p:nvSpPr>
          <p:cNvPr id="25" name="Shape 23"/>
          <p:cNvSpPr/>
          <p:nvPr/>
        </p:nvSpPr>
        <p:spPr>
          <a:xfrm>
            <a:off x="0" y="2464594"/>
            <a:ext cx="320040" cy="116300"/>
          </a:xfrm>
          <a:prstGeom prst="rect">
            <a:avLst/>
          </a:prstGeom>
          <a:solidFill>
            <a:srgbClr val="3C3FCC"/>
          </a:solidFill>
          <a:ln/>
        </p:spPr>
      </p:sp>
      <p:sp>
        <p:nvSpPr>
          <p:cNvPr id="26" name="Shape 24"/>
          <p:cNvSpPr/>
          <p:nvPr/>
        </p:nvSpPr>
        <p:spPr>
          <a:xfrm>
            <a:off x="0" y="2571750"/>
            <a:ext cx="320040" cy="116300"/>
          </a:xfrm>
          <a:prstGeom prst="rect">
            <a:avLst/>
          </a:prstGeom>
          <a:solidFill>
            <a:srgbClr val="3B40CD"/>
          </a:solidFill>
          <a:ln/>
        </p:spPr>
      </p:sp>
      <p:sp>
        <p:nvSpPr>
          <p:cNvPr id="27" name="Shape 25"/>
          <p:cNvSpPr/>
          <p:nvPr/>
        </p:nvSpPr>
        <p:spPr>
          <a:xfrm>
            <a:off x="0" y="2678906"/>
            <a:ext cx="320040" cy="116300"/>
          </a:xfrm>
          <a:prstGeom prst="rect">
            <a:avLst/>
          </a:prstGeom>
          <a:solidFill>
            <a:srgbClr val="3B41CD"/>
          </a:solidFill>
          <a:ln/>
        </p:spPr>
      </p:sp>
      <p:sp>
        <p:nvSpPr>
          <p:cNvPr id="28" name="Shape 26"/>
          <p:cNvSpPr/>
          <p:nvPr/>
        </p:nvSpPr>
        <p:spPr>
          <a:xfrm>
            <a:off x="0" y="2786063"/>
            <a:ext cx="320040" cy="116300"/>
          </a:xfrm>
          <a:prstGeom prst="rect">
            <a:avLst/>
          </a:prstGeom>
          <a:solidFill>
            <a:srgbClr val="3A42CE"/>
          </a:solidFill>
          <a:ln/>
        </p:spPr>
      </p:sp>
      <p:sp>
        <p:nvSpPr>
          <p:cNvPr id="29" name="Shape 27"/>
          <p:cNvSpPr/>
          <p:nvPr/>
        </p:nvSpPr>
        <p:spPr>
          <a:xfrm>
            <a:off x="0" y="2893219"/>
            <a:ext cx="320040" cy="116300"/>
          </a:xfrm>
          <a:prstGeom prst="rect">
            <a:avLst/>
          </a:prstGeom>
          <a:solidFill>
            <a:srgbClr val="3943CE"/>
          </a:solidFill>
          <a:ln/>
        </p:spPr>
      </p:sp>
      <p:sp>
        <p:nvSpPr>
          <p:cNvPr id="30" name="Shape 28"/>
          <p:cNvSpPr/>
          <p:nvPr/>
        </p:nvSpPr>
        <p:spPr>
          <a:xfrm>
            <a:off x="0" y="3000375"/>
            <a:ext cx="320040" cy="116300"/>
          </a:xfrm>
          <a:prstGeom prst="rect">
            <a:avLst/>
          </a:prstGeom>
          <a:solidFill>
            <a:srgbClr val="3844CE"/>
          </a:solidFill>
          <a:ln/>
        </p:spPr>
      </p:sp>
      <p:sp>
        <p:nvSpPr>
          <p:cNvPr id="31" name="Shape 29"/>
          <p:cNvSpPr/>
          <p:nvPr/>
        </p:nvSpPr>
        <p:spPr>
          <a:xfrm>
            <a:off x="0" y="3107531"/>
            <a:ext cx="320040" cy="116300"/>
          </a:xfrm>
          <a:prstGeom prst="rect">
            <a:avLst/>
          </a:prstGeom>
          <a:solidFill>
            <a:srgbClr val="3745CF"/>
          </a:solidFill>
          <a:ln/>
        </p:spPr>
      </p:sp>
      <p:sp>
        <p:nvSpPr>
          <p:cNvPr id="32" name="Shape 30"/>
          <p:cNvSpPr/>
          <p:nvPr/>
        </p:nvSpPr>
        <p:spPr>
          <a:xfrm>
            <a:off x="0" y="3214688"/>
            <a:ext cx="320040" cy="116300"/>
          </a:xfrm>
          <a:prstGeom prst="rect">
            <a:avLst/>
          </a:prstGeom>
          <a:solidFill>
            <a:srgbClr val="3646CF"/>
          </a:solidFill>
          <a:ln/>
        </p:spPr>
      </p:sp>
      <p:sp>
        <p:nvSpPr>
          <p:cNvPr id="33" name="Shape 31"/>
          <p:cNvSpPr/>
          <p:nvPr/>
        </p:nvSpPr>
        <p:spPr>
          <a:xfrm>
            <a:off x="0" y="3321844"/>
            <a:ext cx="320040" cy="116300"/>
          </a:xfrm>
          <a:prstGeom prst="rect">
            <a:avLst/>
          </a:prstGeom>
          <a:solidFill>
            <a:srgbClr val="3547D0"/>
          </a:solidFill>
          <a:ln/>
        </p:spPr>
      </p:sp>
      <p:sp>
        <p:nvSpPr>
          <p:cNvPr id="34" name="Shape 32"/>
          <p:cNvSpPr/>
          <p:nvPr/>
        </p:nvSpPr>
        <p:spPr>
          <a:xfrm>
            <a:off x="0" y="3429000"/>
            <a:ext cx="320040" cy="116300"/>
          </a:xfrm>
          <a:prstGeom prst="rect">
            <a:avLst/>
          </a:prstGeom>
          <a:solidFill>
            <a:srgbClr val="3549D0"/>
          </a:solidFill>
          <a:ln/>
        </p:spPr>
      </p:sp>
      <p:sp>
        <p:nvSpPr>
          <p:cNvPr id="35" name="Shape 33"/>
          <p:cNvSpPr/>
          <p:nvPr/>
        </p:nvSpPr>
        <p:spPr>
          <a:xfrm>
            <a:off x="0" y="3536156"/>
            <a:ext cx="320040" cy="116300"/>
          </a:xfrm>
          <a:prstGeom prst="rect">
            <a:avLst/>
          </a:prstGeom>
          <a:solidFill>
            <a:srgbClr val="344ACF"/>
          </a:solidFill>
          <a:ln/>
        </p:spPr>
      </p:sp>
      <p:sp>
        <p:nvSpPr>
          <p:cNvPr id="36" name="Shape 34"/>
          <p:cNvSpPr/>
          <p:nvPr/>
        </p:nvSpPr>
        <p:spPr>
          <a:xfrm>
            <a:off x="0" y="3643313"/>
            <a:ext cx="320040" cy="116300"/>
          </a:xfrm>
          <a:prstGeom prst="rect">
            <a:avLst/>
          </a:prstGeom>
          <a:solidFill>
            <a:srgbClr val="334BCF"/>
          </a:solidFill>
          <a:ln/>
        </p:spPr>
      </p:sp>
      <p:sp>
        <p:nvSpPr>
          <p:cNvPr id="37" name="Shape 35"/>
          <p:cNvSpPr/>
          <p:nvPr/>
        </p:nvSpPr>
        <p:spPr>
          <a:xfrm>
            <a:off x="0" y="3750469"/>
            <a:ext cx="320040" cy="116300"/>
          </a:xfrm>
          <a:prstGeom prst="rect">
            <a:avLst/>
          </a:prstGeom>
          <a:solidFill>
            <a:srgbClr val="324CCE"/>
          </a:solidFill>
          <a:ln/>
        </p:spPr>
      </p:sp>
      <p:sp>
        <p:nvSpPr>
          <p:cNvPr id="38" name="Shape 36"/>
          <p:cNvSpPr/>
          <p:nvPr/>
        </p:nvSpPr>
        <p:spPr>
          <a:xfrm>
            <a:off x="0" y="3857625"/>
            <a:ext cx="320040" cy="116300"/>
          </a:xfrm>
          <a:prstGeom prst="rect">
            <a:avLst/>
          </a:prstGeom>
          <a:solidFill>
            <a:srgbClr val="314ECD"/>
          </a:solidFill>
          <a:ln/>
        </p:spPr>
      </p:sp>
      <p:sp>
        <p:nvSpPr>
          <p:cNvPr id="39" name="Shape 37"/>
          <p:cNvSpPr/>
          <p:nvPr/>
        </p:nvSpPr>
        <p:spPr>
          <a:xfrm>
            <a:off x="0" y="3964781"/>
            <a:ext cx="320040" cy="116300"/>
          </a:xfrm>
          <a:prstGeom prst="rect">
            <a:avLst/>
          </a:prstGeom>
          <a:solidFill>
            <a:srgbClr val="304FCD"/>
          </a:solidFill>
          <a:ln/>
        </p:spPr>
      </p:sp>
      <p:sp>
        <p:nvSpPr>
          <p:cNvPr id="40" name="Shape 38"/>
          <p:cNvSpPr/>
          <p:nvPr/>
        </p:nvSpPr>
        <p:spPr>
          <a:xfrm>
            <a:off x="0" y="4071938"/>
            <a:ext cx="320040" cy="116300"/>
          </a:xfrm>
          <a:prstGeom prst="rect">
            <a:avLst/>
          </a:prstGeom>
          <a:solidFill>
            <a:srgbClr val="2F50CC"/>
          </a:solidFill>
          <a:ln/>
        </p:spPr>
      </p:sp>
      <p:sp>
        <p:nvSpPr>
          <p:cNvPr id="41" name="Shape 39"/>
          <p:cNvSpPr/>
          <p:nvPr/>
        </p:nvSpPr>
        <p:spPr>
          <a:xfrm>
            <a:off x="0" y="4179094"/>
            <a:ext cx="320040" cy="116300"/>
          </a:xfrm>
          <a:prstGeom prst="rect">
            <a:avLst/>
          </a:prstGeom>
          <a:solidFill>
            <a:srgbClr val="2F51CC"/>
          </a:solidFill>
          <a:ln/>
        </p:spPr>
      </p:sp>
      <p:sp>
        <p:nvSpPr>
          <p:cNvPr id="42" name="Shape 40"/>
          <p:cNvSpPr/>
          <p:nvPr/>
        </p:nvSpPr>
        <p:spPr>
          <a:xfrm>
            <a:off x="0" y="4286250"/>
            <a:ext cx="320040" cy="116300"/>
          </a:xfrm>
          <a:prstGeom prst="rect">
            <a:avLst/>
          </a:prstGeom>
          <a:solidFill>
            <a:srgbClr val="2E53CB"/>
          </a:solidFill>
          <a:ln/>
        </p:spPr>
      </p:sp>
      <p:sp>
        <p:nvSpPr>
          <p:cNvPr id="43" name="Shape 41"/>
          <p:cNvSpPr/>
          <p:nvPr/>
        </p:nvSpPr>
        <p:spPr>
          <a:xfrm>
            <a:off x="0" y="4393406"/>
            <a:ext cx="320040" cy="116300"/>
          </a:xfrm>
          <a:prstGeom prst="rect">
            <a:avLst/>
          </a:prstGeom>
          <a:solidFill>
            <a:srgbClr val="2D54CB"/>
          </a:solidFill>
          <a:ln/>
        </p:spPr>
      </p:sp>
      <p:sp>
        <p:nvSpPr>
          <p:cNvPr id="44" name="Shape 42"/>
          <p:cNvSpPr/>
          <p:nvPr/>
        </p:nvSpPr>
        <p:spPr>
          <a:xfrm>
            <a:off x="0" y="4500563"/>
            <a:ext cx="320040" cy="116300"/>
          </a:xfrm>
          <a:prstGeom prst="rect">
            <a:avLst/>
          </a:prstGeom>
          <a:solidFill>
            <a:srgbClr val="2C55CA"/>
          </a:solidFill>
          <a:ln/>
        </p:spPr>
      </p:sp>
      <p:sp>
        <p:nvSpPr>
          <p:cNvPr id="45" name="Shape 43"/>
          <p:cNvSpPr/>
          <p:nvPr/>
        </p:nvSpPr>
        <p:spPr>
          <a:xfrm>
            <a:off x="0" y="4607719"/>
            <a:ext cx="320040" cy="116300"/>
          </a:xfrm>
          <a:prstGeom prst="rect">
            <a:avLst/>
          </a:prstGeom>
          <a:solidFill>
            <a:srgbClr val="2B56C9"/>
          </a:solidFill>
          <a:ln/>
        </p:spPr>
      </p:sp>
      <p:sp>
        <p:nvSpPr>
          <p:cNvPr id="46" name="Shape 44"/>
          <p:cNvSpPr/>
          <p:nvPr/>
        </p:nvSpPr>
        <p:spPr>
          <a:xfrm>
            <a:off x="0" y="4714875"/>
            <a:ext cx="320040" cy="116300"/>
          </a:xfrm>
          <a:prstGeom prst="rect">
            <a:avLst/>
          </a:prstGeom>
          <a:solidFill>
            <a:srgbClr val="2A57C9"/>
          </a:solidFill>
          <a:ln/>
        </p:spPr>
      </p:sp>
      <p:sp>
        <p:nvSpPr>
          <p:cNvPr id="47" name="Shape 45"/>
          <p:cNvSpPr/>
          <p:nvPr/>
        </p:nvSpPr>
        <p:spPr>
          <a:xfrm>
            <a:off x="0" y="4822031"/>
            <a:ext cx="320040" cy="116300"/>
          </a:xfrm>
          <a:prstGeom prst="rect">
            <a:avLst/>
          </a:prstGeom>
          <a:solidFill>
            <a:srgbClr val="2959C8"/>
          </a:solidFill>
          <a:ln/>
        </p:spPr>
      </p:sp>
      <p:sp>
        <p:nvSpPr>
          <p:cNvPr id="48" name="Shape 46"/>
          <p:cNvSpPr/>
          <p:nvPr/>
        </p:nvSpPr>
        <p:spPr>
          <a:xfrm>
            <a:off x="0" y="4929188"/>
            <a:ext cx="320040" cy="116300"/>
          </a:xfrm>
          <a:prstGeom prst="rect">
            <a:avLst/>
          </a:prstGeom>
          <a:solidFill>
            <a:srgbClr val="295AC8"/>
          </a:solidFill>
          <a:ln/>
        </p:spPr>
      </p:sp>
      <p:sp>
        <p:nvSpPr>
          <p:cNvPr id="49" name="Shape 47"/>
          <p:cNvSpPr/>
          <p:nvPr/>
        </p:nvSpPr>
        <p:spPr>
          <a:xfrm>
            <a:off x="0" y="5036344"/>
            <a:ext cx="320040" cy="116300"/>
          </a:xfrm>
          <a:prstGeom prst="rect">
            <a:avLst/>
          </a:prstGeom>
          <a:solidFill>
            <a:srgbClr val="285BC7"/>
          </a:solidFill>
          <a:ln/>
        </p:spPr>
      </p:sp>
      <p:sp>
        <p:nvSpPr>
          <p:cNvPr id="50" name="Shape 48"/>
          <p:cNvSpPr/>
          <p:nvPr/>
        </p:nvSpPr>
        <p:spPr>
          <a:xfrm>
            <a:off x="0" y="5143500"/>
            <a:ext cx="320040" cy="116300"/>
          </a:xfrm>
          <a:prstGeom prst="rect">
            <a:avLst/>
          </a:prstGeom>
          <a:solidFill>
            <a:srgbClr val="275CC7"/>
          </a:solidFill>
          <a:ln/>
        </p:spPr>
      </p:sp>
      <p:sp>
        <p:nvSpPr>
          <p:cNvPr id="51" name="Shape 49"/>
          <p:cNvSpPr/>
          <p:nvPr/>
        </p:nvSpPr>
        <p:spPr>
          <a:xfrm>
            <a:off x="0" y="5250656"/>
            <a:ext cx="320040" cy="116300"/>
          </a:xfrm>
          <a:prstGeom prst="rect">
            <a:avLst/>
          </a:prstGeom>
          <a:solidFill>
            <a:srgbClr val="265EC6"/>
          </a:solidFill>
          <a:ln/>
        </p:spPr>
      </p:sp>
      <p:sp>
        <p:nvSpPr>
          <p:cNvPr id="52" name="Shape 50"/>
          <p:cNvSpPr/>
          <p:nvPr/>
        </p:nvSpPr>
        <p:spPr>
          <a:xfrm>
            <a:off x="0" y="5357813"/>
            <a:ext cx="320040" cy="116300"/>
          </a:xfrm>
          <a:prstGeom prst="rect">
            <a:avLst/>
          </a:prstGeom>
          <a:solidFill>
            <a:srgbClr val="255FC5"/>
          </a:solidFill>
          <a:ln/>
        </p:spPr>
      </p:sp>
      <p:sp>
        <p:nvSpPr>
          <p:cNvPr id="53" name="Shape 51"/>
          <p:cNvSpPr/>
          <p:nvPr/>
        </p:nvSpPr>
        <p:spPr>
          <a:xfrm>
            <a:off x="0" y="5464969"/>
            <a:ext cx="320040" cy="116300"/>
          </a:xfrm>
          <a:prstGeom prst="rect">
            <a:avLst/>
          </a:prstGeom>
          <a:solidFill>
            <a:srgbClr val="2460C5"/>
          </a:solidFill>
          <a:ln/>
        </p:spPr>
      </p:sp>
      <p:sp>
        <p:nvSpPr>
          <p:cNvPr id="54" name="Shape 52"/>
          <p:cNvSpPr/>
          <p:nvPr/>
        </p:nvSpPr>
        <p:spPr>
          <a:xfrm>
            <a:off x="0" y="5572125"/>
            <a:ext cx="320040" cy="116300"/>
          </a:xfrm>
          <a:prstGeom prst="rect">
            <a:avLst/>
          </a:prstGeom>
          <a:solidFill>
            <a:srgbClr val="2361C4"/>
          </a:solidFill>
          <a:ln/>
        </p:spPr>
      </p:sp>
      <p:sp>
        <p:nvSpPr>
          <p:cNvPr id="55" name="Shape 53"/>
          <p:cNvSpPr/>
          <p:nvPr/>
        </p:nvSpPr>
        <p:spPr>
          <a:xfrm>
            <a:off x="0" y="5679281"/>
            <a:ext cx="320040" cy="116300"/>
          </a:xfrm>
          <a:prstGeom prst="rect">
            <a:avLst/>
          </a:prstGeom>
          <a:solidFill>
            <a:srgbClr val="2363C4"/>
          </a:solidFill>
          <a:ln/>
        </p:spPr>
      </p:sp>
      <p:sp>
        <p:nvSpPr>
          <p:cNvPr id="56" name="Shape 54"/>
          <p:cNvSpPr/>
          <p:nvPr/>
        </p:nvSpPr>
        <p:spPr>
          <a:xfrm>
            <a:off x="0" y="5786438"/>
            <a:ext cx="320040" cy="116300"/>
          </a:xfrm>
          <a:prstGeom prst="rect">
            <a:avLst/>
          </a:prstGeom>
          <a:solidFill>
            <a:srgbClr val="2264C3"/>
          </a:solidFill>
          <a:ln/>
        </p:spPr>
      </p:sp>
      <p:sp>
        <p:nvSpPr>
          <p:cNvPr id="57" name="Shape 55"/>
          <p:cNvSpPr/>
          <p:nvPr/>
        </p:nvSpPr>
        <p:spPr>
          <a:xfrm>
            <a:off x="0" y="5893594"/>
            <a:ext cx="320040" cy="116300"/>
          </a:xfrm>
          <a:prstGeom prst="rect">
            <a:avLst/>
          </a:prstGeom>
          <a:solidFill>
            <a:srgbClr val="2165C3"/>
          </a:solidFill>
          <a:ln/>
        </p:spPr>
      </p:sp>
      <p:sp>
        <p:nvSpPr>
          <p:cNvPr id="58" name="Shape 56"/>
          <p:cNvSpPr/>
          <p:nvPr/>
        </p:nvSpPr>
        <p:spPr>
          <a:xfrm>
            <a:off x="0" y="6000750"/>
            <a:ext cx="320040" cy="116300"/>
          </a:xfrm>
          <a:prstGeom prst="rect">
            <a:avLst/>
          </a:prstGeom>
          <a:solidFill>
            <a:srgbClr val="2066C2"/>
          </a:solidFill>
          <a:ln/>
        </p:spPr>
      </p:sp>
      <p:sp>
        <p:nvSpPr>
          <p:cNvPr id="59" name="Shape 57"/>
          <p:cNvSpPr/>
          <p:nvPr/>
        </p:nvSpPr>
        <p:spPr>
          <a:xfrm>
            <a:off x="0" y="6107906"/>
            <a:ext cx="320040" cy="116300"/>
          </a:xfrm>
          <a:prstGeom prst="rect">
            <a:avLst/>
          </a:prstGeom>
          <a:solidFill>
            <a:srgbClr val="1F68C1"/>
          </a:solidFill>
          <a:ln/>
        </p:spPr>
      </p:sp>
      <p:sp>
        <p:nvSpPr>
          <p:cNvPr id="60" name="Shape 58"/>
          <p:cNvSpPr/>
          <p:nvPr/>
        </p:nvSpPr>
        <p:spPr>
          <a:xfrm>
            <a:off x="0" y="6215063"/>
            <a:ext cx="320040" cy="116300"/>
          </a:xfrm>
          <a:prstGeom prst="rect">
            <a:avLst/>
          </a:prstGeom>
          <a:solidFill>
            <a:srgbClr val="1E69C1"/>
          </a:solidFill>
          <a:ln/>
        </p:spPr>
      </p:sp>
      <p:sp>
        <p:nvSpPr>
          <p:cNvPr id="61" name="Shape 59"/>
          <p:cNvSpPr/>
          <p:nvPr/>
        </p:nvSpPr>
        <p:spPr>
          <a:xfrm>
            <a:off x="0" y="6322219"/>
            <a:ext cx="320040" cy="116300"/>
          </a:xfrm>
          <a:prstGeom prst="rect">
            <a:avLst/>
          </a:prstGeom>
          <a:solidFill>
            <a:srgbClr val="1D6AC0"/>
          </a:solidFill>
          <a:ln/>
        </p:spPr>
      </p:sp>
      <p:sp>
        <p:nvSpPr>
          <p:cNvPr id="62" name="Shape 60"/>
          <p:cNvSpPr/>
          <p:nvPr/>
        </p:nvSpPr>
        <p:spPr>
          <a:xfrm>
            <a:off x="0" y="6429375"/>
            <a:ext cx="320040" cy="116300"/>
          </a:xfrm>
          <a:prstGeom prst="rect">
            <a:avLst/>
          </a:prstGeom>
          <a:solidFill>
            <a:srgbClr val="1D6BC0"/>
          </a:solidFill>
          <a:ln/>
        </p:spPr>
      </p:sp>
      <p:sp>
        <p:nvSpPr>
          <p:cNvPr id="63" name="Shape 61"/>
          <p:cNvSpPr/>
          <p:nvPr/>
        </p:nvSpPr>
        <p:spPr>
          <a:xfrm>
            <a:off x="0" y="6536531"/>
            <a:ext cx="320040" cy="116300"/>
          </a:xfrm>
          <a:prstGeom prst="rect">
            <a:avLst/>
          </a:prstGeom>
          <a:solidFill>
            <a:srgbClr val="1C6DBF"/>
          </a:solidFill>
          <a:ln/>
        </p:spPr>
      </p:sp>
      <p:sp>
        <p:nvSpPr>
          <p:cNvPr id="64" name="Shape 62"/>
          <p:cNvSpPr/>
          <p:nvPr/>
        </p:nvSpPr>
        <p:spPr>
          <a:xfrm>
            <a:off x="0" y="6643688"/>
            <a:ext cx="320040" cy="116300"/>
          </a:xfrm>
          <a:prstGeom prst="rect">
            <a:avLst/>
          </a:prstGeom>
          <a:solidFill>
            <a:srgbClr val="1B6EBF"/>
          </a:solidFill>
          <a:ln/>
        </p:spPr>
      </p:sp>
      <p:sp>
        <p:nvSpPr>
          <p:cNvPr id="65" name="Shape 63"/>
          <p:cNvSpPr/>
          <p:nvPr/>
        </p:nvSpPr>
        <p:spPr>
          <a:xfrm>
            <a:off x="0" y="6750844"/>
            <a:ext cx="320040" cy="116300"/>
          </a:xfrm>
          <a:prstGeom prst="rect">
            <a:avLst/>
          </a:prstGeom>
          <a:solidFill>
            <a:srgbClr val="1A6FBE"/>
          </a:solidFill>
          <a:ln/>
        </p:spPr>
      </p:sp>
      <p:sp>
        <p:nvSpPr>
          <p:cNvPr id="66" name="Text 64"/>
          <p:cNvSpPr/>
          <p:nvPr/>
        </p:nvSpPr>
        <p:spPr>
          <a:xfrm>
            <a:off x="73152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COMPETITIVE DELTA</a:t>
            </a:r>
            <a:endParaRPr lang="en-US" sz="1100" dirty="0"/>
          </a:p>
        </p:txBody>
      </p:sp>
      <p:sp>
        <p:nvSpPr>
          <p:cNvPr id="67" name="Text 65"/>
          <p:cNvSpPr/>
          <p:nvPr/>
        </p:nvSpPr>
        <p:spPr>
          <a:xfrm>
            <a:off x="548640" y="1554480"/>
            <a:ext cx="11094415" cy="3200400"/>
          </a:xfrm>
          <a:prstGeom prst="rect">
            <a:avLst/>
          </a:prstGeom>
          <a:noFill/>
          <a:ln/>
        </p:spPr>
        <p:txBody>
          <a:bodyPr wrap="square" lIns="0" tIns="0" rIns="0" bIns="0" rtlCol="0" anchor="ctr"/>
          <a:lstStyle/>
          <a:p>
            <a:pPr algn="l" indent="0" marL="0">
              <a:buNone/>
            </a:pPr>
            <a:r>
              <a:rPr lang="en-US" sz="22000" b="1" spc="-600" kern="0" dirty="0">
                <a:solidFill>
                  <a:srgbClr val="5028C2"/>
                </a:solidFill>
                <a:latin typeface="Calibri" pitchFamily="34" charset="0"/>
                <a:ea typeface="Calibri" pitchFamily="34" charset="-122"/>
                <a:cs typeface="Calibri" pitchFamily="34" charset="-120"/>
              </a:rPr>
              <a:t>8–25x</a:t>
            </a:r>
            <a:endParaRPr lang="en-US" sz="22000" dirty="0"/>
          </a:p>
        </p:txBody>
      </p:sp>
      <p:sp>
        <p:nvSpPr>
          <p:cNvPr id="68" name="Text 66"/>
          <p:cNvSpPr/>
          <p:nvPr/>
        </p:nvSpPr>
        <p:spPr>
          <a:xfrm>
            <a:off x="548640" y="4983480"/>
            <a:ext cx="11094415" cy="457200"/>
          </a:xfrm>
          <a:prstGeom prst="rect">
            <a:avLst/>
          </a:prstGeom>
          <a:noFill/>
          <a:ln/>
        </p:spPr>
        <p:txBody>
          <a:bodyPr wrap="square" lIns="0" tIns="0" rIns="0" bIns="0" rtlCol="0" anchor="t"/>
          <a:lstStyle/>
          <a:p>
            <a:pPr algn="l" indent="0" marL="0">
              <a:buNone/>
            </a:pPr>
            <a:r>
              <a:rPr lang="en-US" sz="2200" b="1" dirty="0">
                <a:solidFill>
                  <a:srgbClr val="0F1733"/>
                </a:solidFill>
                <a:latin typeface="Calibri" pitchFamily="34" charset="0"/>
                <a:ea typeface="Calibri" pitchFamily="34" charset="-122"/>
                <a:cs typeface="Calibri" pitchFamily="34" charset="-120"/>
              </a:rPr>
              <a:t>Cheaper than every B2B-capable incumbent at entry.</a:t>
            </a:r>
            <a:endParaRPr lang="en-US" sz="2200" dirty="0"/>
          </a:p>
        </p:txBody>
      </p:sp>
      <p:sp>
        <p:nvSpPr>
          <p:cNvPr id="69" name="Text 67"/>
          <p:cNvSpPr/>
          <p:nvPr/>
        </p:nvSpPr>
        <p:spPr>
          <a:xfrm>
            <a:off x="548640" y="5486400"/>
            <a:ext cx="10637215" cy="640080"/>
          </a:xfrm>
          <a:prstGeom prst="rect">
            <a:avLst/>
          </a:prstGeom>
          <a:noFill/>
          <a:ln/>
        </p:spPr>
        <p:txBody>
          <a:bodyPr wrap="square" lIns="0" tIns="0" rIns="0" bIns="0" rtlCol="0" anchor="t"/>
          <a:lstStyle/>
          <a:p>
            <a:pPr algn="l" indent="0" marL="0">
              <a:buNone/>
            </a:pPr>
            <a:r>
              <a:rPr lang="en-US" sz="1300" dirty="0">
                <a:solidFill>
                  <a:srgbClr val="2A3358"/>
                </a:solidFill>
                <a:latin typeface="Calibri" pitchFamily="34" charset="0"/>
                <a:ea typeface="Calibri" pitchFamily="34" charset="-122"/>
                <a:cs typeface="Calibri" pitchFamily="34" charset="-120"/>
              </a:rPr>
              <a:t>Modash starts at $300/mo. HypeAuditor at $400/mo. CreatorIQ at $10K+/yr. We start at $39/mo with the full workflow — including features none of them offer (AI fit score, native multi-platform send, closed-loop analytics).</a:t>
            </a:r>
            <a:endParaRPr lang="en-US" sz="13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14 · Why we win  ·  vD</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095 / 126</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1ECFF"/>
        </a:solidFill>
      </p:bgPr>
    </p:bg>
    <p:spTree>
      <p:nvGrpSpPr>
        <p:cNvPr id="1" name=""/>
        <p:cNvGrpSpPr/>
        <p:nvPr/>
      </p:nvGrpSpPr>
      <p:grpSpPr>
        <a:xfrm>
          <a:off x="0" y="0"/>
          <a:ext cx="0" cy="0"/>
          <a:chOff x="0" y="0"/>
          <a:chExt cx="0" cy="0"/>
        </a:xfrm>
      </p:grpSpPr>
      <p:sp>
        <p:nvSpPr>
          <p:cNvPr id="2" name="Text 0"/>
          <p:cNvSpPr/>
          <p:nvPr/>
        </p:nvSpPr>
        <p:spPr>
          <a:xfrm>
            <a:off x="457200" y="365760"/>
            <a:ext cx="2286000" cy="2286000"/>
          </a:xfrm>
          <a:prstGeom prst="rect">
            <a:avLst/>
          </a:prstGeom>
          <a:noFill/>
          <a:ln/>
        </p:spPr>
        <p:txBody>
          <a:bodyPr wrap="square" lIns="0" tIns="0" rIns="0" bIns="0" rtlCol="0" anchor="t"/>
          <a:lstStyle/>
          <a:p>
            <a:pPr algn="l" indent="0" marL="0">
              <a:buNone/>
            </a:pPr>
            <a:r>
              <a:rPr lang="en-US" sz="24000" b="1" dirty="0">
                <a:solidFill>
                  <a:srgbClr val="5028C2"/>
                </a:solidFill>
                <a:latin typeface="Georgia" pitchFamily="34" charset="0"/>
                <a:ea typeface="Georgia" pitchFamily="34" charset="-122"/>
                <a:cs typeface="Georgia" pitchFamily="34" charset="-120"/>
              </a:rPr>
              <a:t>"</a:t>
            </a:r>
            <a:endParaRPr lang="en-US" sz="24000" dirty="0"/>
          </a:p>
        </p:txBody>
      </p:sp>
      <p:sp>
        <p:nvSpPr>
          <p:cNvPr id="3" name="Text 1"/>
          <p:cNvSpPr/>
          <p:nvPr/>
        </p:nvSpPr>
        <p:spPr>
          <a:xfrm>
            <a:off x="1920240" y="1737360"/>
            <a:ext cx="9722815" cy="3108960"/>
          </a:xfrm>
          <a:prstGeom prst="rect">
            <a:avLst/>
          </a:prstGeom>
          <a:noFill/>
          <a:ln/>
        </p:spPr>
        <p:txBody>
          <a:bodyPr wrap="square" lIns="0" tIns="0" rIns="0" bIns="0" rtlCol="0" anchor="t"/>
          <a:lstStyle/>
          <a:p>
            <a:pPr algn="l" indent="0" marL="0">
              <a:buNone/>
            </a:pPr>
            <a:r>
              <a:rPr lang="en-US" sz="3000" i="1" dirty="0">
                <a:solidFill>
                  <a:srgbClr val="0F1733"/>
                </a:solidFill>
                <a:latin typeface="Georgia" pitchFamily="34" charset="0"/>
                <a:ea typeface="Georgia" pitchFamily="34" charset="-122"/>
                <a:cs typeface="Georgia" pitchFamily="34" charset="-120"/>
              </a:rPr>
              <a:t>They're not just cheaper — they're built differently. The workflow assumes you're the one doing the work, which Modash and HubSpot don't.</a:t>
            </a:r>
            <a:endParaRPr lang="en-US" sz="3000" dirty="0"/>
          </a:p>
        </p:txBody>
      </p:sp>
      <p:sp>
        <p:nvSpPr>
          <p:cNvPr id="4" name="Shape 2"/>
          <p:cNvSpPr/>
          <p:nvPr/>
        </p:nvSpPr>
        <p:spPr>
          <a:xfrm>
            <a:off x="1920240" y="5120640"/>
            <a:ext cx="640080" cy="0"/>
          </a:xfrm>
          <a:prstGeom prst="line">
            <a:avLst/>
          </a:prstGeom>
          <a:noFill/>
          <a:ln w="25400">
            <a:solidFill>
              <a:srgbClr val="5028C2"/>
            </a:solidFill>
            <a:prstDash val="solid"/>
          </a:ln>
        </p:spPr>
      </p:sp>
      <p:sp>
        <p:nvSpPr>
          <p:cNvPr id="5" name="Text 3"/>
          <p:cNvSpPr/>
          <p:nvPr/>
        </p:nvSpPr>
        <p:spPr>
          <a:xfrm>
            <a:off x="1920240" y="5212080"/>
            <a:ext cx="9722815" cy="457200"/>
          </a:xfrm>
          <a:prstGeom prst="rect">
            <a:avLst/>
          </a:prstGeom>
          <a:noFill/>
          <a:ln/>
        </p:spPr>
        <p:txBody>
          <a:bodyPr wrap="square" lIns="0" tIns="0" rIns="0" bIns="0" rtlCol="0" anchor="t"/>
          <a:lstStyle/>
          <a:p>
            <a:pPr algn="l" indent="0" marL="0">
              <a:buNone/>
            </a:pPr>
            <a:r>
              <a:rPr lang="en-US" sz="1400" b="1" spc="100" kern="0" dirty="0">
                <a:solidFill>
                  <a:srgbClr val="3D1E96"/>
                </a:solidFill>
                <a:latin typeface="Calibri" pitchFamily="34" charset="0"/>
                <a:ea typeface="Calibri" pitchFamily="34" charset="-122"/>
                <a:cs typeface="Calibri" pitchFamily="34" charset="-120"/>
              </a:rPr>
              <a:t>Beta user</a:t>
            </a:r>
            <a:endParaRPr lang="en-US" sz="1400" dirty="0"/>
          </a:p>
        </p:txBody>
      </p:sp>
      <p:sp>
        <p:nvSpPr>
          <p:cNvPr id="6" name="Text 4"/>
          <p:cNvSpPr/>
          <p:nvPr/>
        </p:nvSpPr>
        <p:spPr>
          <a:xfrm>
            <a:off x="1920240" y="5532120"/>
            <a:ext cx="9722815" cy="365760"/>
          </a:xfrm>
          <a:prstGeom prst="rect">
            <a:avLst/>
          </a:prstGeom>
          <a:noFill/>
          <a:ln/>
        </p:spPr>
        <p:txBody>
          <a:bodyPr wrap="square" lIns="0" tIns="0" rIns="0" bIns="0" rtlCol="0" anchor="t"/>
          <a:lstStyle/>
          <a:p>
            <a:pPr algn="l" indent="0" marL="0">
              <a:buNone/>
            </a:pPr>
            <a:r>
              <a:rPr lang="en-US" sz="1200" dirty="0">
                <a:solidFill>
                  <a:srgbClr val="6B7493"/>
                </a:solidFill>
                <a:latin typeface="Calibri" pitchFamily="34" charset="0"/>
                <a:ea typeface="Calibri" pitchFamily="34" charset="-122"/>
                <a:cs typeface="Calibri" pitchFamily="34" charset="-120"/>
              </a:rPr>
              <a:t>On product-market fit signal</a:t>
            </a:r>
            <a:endParaRPr lang="en-US" sz="1200" dirty="0"/>
          </a:p>
        </p:txBody>
      </p:sp>
      <p:sp>
        <p:nvSpPr>
          <p:cNvPr id="7" name="Shape 5"/>
          <p:cNvSpPr/>
          <p:nvPr/>
        </p:nvSpPr>
        <p:spPr>
          <a:xfrm>
            <a:off x="548640" y="502920"/>
            <a:ext cx="292608" cy="292608"/>
          </a:xfrm>
          <a:prstGeom prst="roundRect">
            <a:avLst>
              <a:gd name="adj" fmla="val 25000"/>
            </a:avLst>
          </a:prstGeom>
          <a:solidFill>
            <a:srgbClr val="5028C2"/>
          </a:solidFill>
          <a:ln/>
        </p:spPr>
      </p:sp>
      <p:sp>
        <p:nvSpPr>
          <p:cNvPr id="8" name="Shape 6"/>
          <p:cNvSpPr/>
          <p:nvPr/>
        </p:nvSpPr>
        <p:spPr>
          <a:xfrm>
            <a:off x="548640" y="502920"/>
            <a:ext cx="292608" cy="292608"/>
          </a:xfrm>
          <a:prstGeom prst="roundRect">
            <a:avLst>
              <a:gd name="adj" fmla="val 25000"/>
            </a:avLst>
          </a:prstGeom>
          <a:solidFill>
            <a:srgbClr val="1A6FBE">
              <a:alpha val="50000"/>
            </a:srgbClr>
          </a:solidFill>
          <a:ln/>
        </p:spPr>
      </p:sp>
      <p:sp>
        <p:nvSpPr>
          <p:cNvPr id="9" name="Text 7"/>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0" name="Text 8"/>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1" name="Text 9"/>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14 · Why we win  ·  vE</a:t>
            </a:r>
            <a:endParaRPr lang="en-US" sz="900" dirty="0"/>
          </a:p>
        </p:txBody>
      </p:sp>
      <p:sp>
        <p:nvSpPr>
          <p:cNvPr id="12" name="Text 10"/>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3" name="Text 11"/>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096 / 126</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a:off x="3047924" y="0"/>
            <a:ext cx="9143771" cy="6858000"/>
          </a:xfrm>
          <a:prstGeom prst="rtTriangle">
            <a:avLst/>
          </a:prstGeom>
          <a:solidFill>
            <a:srgbClr val="5028C2"/>
          </a:solidFill>
          <a:ln/>
        </p:spPr>
      </p:sp>
      <p:sp>
        <p:nvSpPr>
          <p:cNvPr id="3" name="Shape 1"/>
          <p:cNvSpPr/>
          <p:nvPr/>
        </p:nvSpPr>
        <p:spPr>
          <a:xfrm flipH="1">
            <a:off x="4876678" y="1028700"/>
            <a:ext cx="7924602" cy="6515100"/>
          </a:xfrm>
          <a:prstGeom prst="rtTriangle">
            <a:avLst/>
          </a:prstGeom>
          <a:solidFill>
            <a:srgbClr val="1A6FBE">
              <a:alpha val="75000"/>
            </a:srgbClr>
          </a:solidFill>
          <a:ln/>
        </p:spPr>
      </p:sp>
      <p:sp>
        <p:nvSpPr>
          <p:cNvPr id="4" name="Text 2"/>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WHY WE WIN</a:t>
            </a:r>
            <a:endParaRPr lang="en-US" sz="1100" dirty="0"/>
          </a:p>
        </p:txBody>
      </p:sp>
      <p:sp>
        <p:nvSpPr>
          <p:cNvPr id="5" name="Text 3"/>
          <p:cNvSpPr/>
          <p:nvPr/>
        </p:nvSpPr>
        <p:spPr>
          <a:xfrm>
            <a:off x="548640" y="1417320"/>
            <a:ext cx="6095848" cy="2286000"/>
          </a:xfrm>
          <a:prstGeom prst="rect">
            <a:avLst/>
          </a:prstGeom>
          <a:noFill/>
          <a:ln/>
        </p:spPr>
        <p:txBody>
          <a:bodyPr wrap="square" lIns="0" tIns="0" rIns="0" bIns="0" rtlCol="0" anchor="t"/>
          <a:lstStyle/>
          <a:p>
            <a:pPr algn="l" indent="0" marL="0">
              <a:buNone/>
            </a:pPr>
            <a:r>
              <a:rPr lang="en-US" sz="4000" b="1" spc="-50" kern="0" dirty="0">
                <a:solidFill>
                  <a:srgbClr val="0F1733"/>
                </a:solidFill>
                <a:latin typeface="Calibri" pitchFamily="34" charset="0"/>
                <a:ea typeface="Calibri" pitchFamily="34" charset="-122"/>
                <a:cs typeface="Calibri" pitchFamily="34" charset="-120"/>
              </a:rPr>
              <a:t>Three structural advantages. Each one compounds.</a:t>
            </a:r>
            <a:endParaRPr lang="en-US" sz="4000" dirty="0"/>
          </a:p>
        </p:txBody>
      </p:sp>
      <p:sp>
        <p:nvSpPr>
          <p:cNvPr id="6" name="Text 4"/>
          <p:cNvSpPr/>
          <p:nvPr/>
        </p:nvSpPr>
        <p:spPr>
          <a:xfrm>
            <a:off x="548640" y="3840480"/>
            <a:ext cx="5821528" cy="2103120"/>
          </a:xfrm>
          <a:prstGeom prst="rect">
            <a:avLst/>
          </a:prstGeom>
          <a:noFill/>
          <a:ln/>
        </p:spPr>
        <p:txBody>
          <a:bodyPr wrap="square" lIns="0" tIns="0" rIns="0" bIns="0" rtlCol="0" anchor="t"/>
          <a:lstStyle/>
          <a:p>
            <a:pPr algn="l" indent="0" marL="0">
              <a:spcAft>
                <a:spcPts val="600"/>
              </a:spcAft>
              <a:buNone/>
            </a:pPr>
            <a:r>
              <a:rPr lang="en-US" sz="1400" dirty="0">
                <a:solidFill>
                  <a:srgbClr val="2A3358"/>
                </a:solidFill>
                <a:latin typeface="Calibri" pitchFamily="34" charset="0"/>
                <a:ea typeface="Calibri" pitchFamily="34" charset="-122"/>
                <a:cs typeface="Calibri" pitchFamily="34" charset="-120"/>
              </a:rPr>
              <a:t>Operator origin gives us product-market fit unique to this category. Founder pricing gives us distribution incumbents can't match without cannibalizing their enterprise contracts. End-to-end ownership gives us a data moat the longer we run.</a:t>
            </a:r>
            <a:endParaRPr lang="en-US" sz="1400" dirty="0"/>
          </a:p>
        </p:txBody>
      </p:sp>
      <p:sp>
        <p:nvSpPr>
          <p:cNvPr id="7" name="Text 5"/>
          <p:cNvSpPr/>
          <p:nvPr/>
        </p:nvSpPr>
        <p:spPr>
          <a:xfrm>
            <a:off x="6705432" y="2926080"/>
            <a:ext cx="4876678" cy="3291840"/>
          </a:xfrm>
          <a:prstGeom prst="rect">
            <a:avLst/>
          </a:prstGeom>
          <a:noFill/>
          <a:ln/>
        </p:spPr>
        <p:txBody>
          <a:bodyPr wrap="square" lIns="0" tIns="0" rIns="0" bIns="0" rtlCol="0" anchor="ctr"/>
          <a:lstStyle/>
          <a:p>
            <a:pPr algn="r" indent="0" marL="0">
              <a:buNone/>
            </a:pPr>
            <a:r>
              <a:rPr lang="en-US" sz="3200" b="1" spc="-50" kern="0" dirty="0">
                <a:solidFill>
                  <a:srgbClr val="FFFFFF"/>
                </a:solidFill>
                <a:latin typeface="Calibri" pitchFamily="34" charset="0"/>
                <a:ea typeface="Calibri" pitchFamily="34" charset="-122"/>
                <a:cs typeface="Calibri" pitchFamily="34" charset="-120"/>
              </a:rPr>
              <a:t>Origin.</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Price.</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Data.</a:t>
            </a:r>
            <a:endParaRPr lang="en-US" sz="3200" dirty="0"/>
          </a:p>
        </p:txBody>
      </p:sp>
      <p:sp>
        <p:nvSpPr>
          <p:cNvPr id="8" name="Shape 6"/>
          <p:cNvSpPr/>
          <p:nvPr/>
        </p:nvSpPr>
        <p:spPr>
          <a:xfrm>
            <a:off x="548640" y="502920"/>
            <a:ext cx="292608" cy="292608"/>
          </a:xfrm>
          <a:prstGeom prst="roundRect">
            <a:avLst>
              <a:gd name="adj" fmla="val 25000"/>
            </a:avLst>
          </a:prstGeom>
          <a:solidFill>
            <a:srgbClr val="5028C2"/>
          </a:solidFill>
          <a:ln/>
        </p:spPr>
      </p:sp>
      <p:sp>
        <p:nvSpPr>
          <p:cNvPr id="9" name="Shape 7"/>
          <p:cNvSpPr/>
          <p:nvPr/>
        </p:nvSpPr>
        <p:spPr>
          <a:xfrm>
            <a:off x="548640" y="502920"/>
            <a:ext cx="292608" cy="292608"/>
          </a:xfrm>
          <a:prstGeom prst="roundRect">
            <a:avLst>
              <a:gd name="adj" fmla="val 25000"/>
            </a:avLst>
          </a:prstGeom>
          <a:solidFill>
            <a:srgbClr val="1A6FBE">
              <a:alpha val="50000"/>
            </a:srgbClr>
          </a:solidFill>
          <a:ln/>
        </p:spPr>
      </p:sp>
      <p:sp>
        <p:nvSpPr>
          <p:cNvPr id="10" name="Text 8"/>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1" name="Text 9"/>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2" name="Text 10"/>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14 · Why we win  ·  vF</a:t>
            </a:r>
            <a:endParaRPr lang="en-US" sz="900" dirty="0"/>
          </a:p>
        </p:txBody>
      </p:sp>
      <p:sp>
        <p:nvSpPr>
          <p:cNvPr id="13" name="Text 11"/>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4" name="Text 12"/>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097 / 126</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CFAF6"/>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WHY WE WIN</a:t>
            </a:r>
            <a:endParaRPr lang="en-US" sz="1100" dirty="0"/>
          </a:p>
        </p:txBody>
      </p:sp>
      <p:sp>
        <p:nvSpPr>
          <p:cNvPr id="3" name="Text 1"/>
          <p:cNvSpPr/>
          <p:nvPr/>
        </p:nvSpPr>
        <p:spPr>
          <a:xfrm>
            <a:off x="548640" y="1417320"/>
            <a:ext cx="11094415" cy="914400"/>
          </a:xfrm>
          <a:prstGeom prst="rect">
            <a:avLst/>
          </a:prstGeom>
          <a:noFill/>
          <a:ln/>
        </p:spPr>
        <p:txBody>
          <a:bodyPr wrap="square" lIns="0" tIns="0" rIns="0" bIns="0" rtlCol="0" anchor="t"/>
          <a:lstStyle/>
          <a:p>
            <a:pPr algn="l" indent="0" marL="0">
              <a:buNone/>
            </a:pPr>
            <a:r>
              <a:rPr lang="en-US" sz="3400" b="1" spc="-50" kern="0" dirty="0">
                <a:solidFill>
                  <a:srgbClr val="0F1733"/>
                </a:solidFill>
                <a:latin typeface="Calibri" pitchFamily="34" charset="0"/>
                <a:ea typeface="Calibri" pitchFamily="34" charset="-122"/>
                <a:cs typeface="Calibri" pitchFamily="34" charset="-120"/>
              </a:rPr>
              <a:t>Three durable advantages.</a:t>
            </a:r>
            <a:endParaRPr lang="en-US" sz="3400" dirty="0"/>
          </a:p>
        </p:txBody>
      </p:sp>
      <p:sp>
        <p:nvSpPr>
          <p:cNvPr id="4" name="Shape 2"/>
          <p:cNvSpPr/>
          <p:nvPr/>
        </p:nvSpPr>
        <p:spPr>
          <a:xfrm>
            <a:off x="548640" y="2514600"/>
            <a:ext cx="5464912" cy="67008"/>
          </a:xfrm>
          <a:prstGeom prst="rect">
            <a:avLst/>
          </a:prstGeom>
          <a:solidFill>
            <a:srgbClr val="5028C2"/>
          </a:solidFill>
          <a:ln/>
        </p:spPr>
      </p:sp>
      <p:sp>
        <p:nvSpPr>
          <p:cNvPr id="5" name="Shape 3"/>
          <p:cNvSpPr/>
          <p:nvPr/>
        </p:nvSpPr>
        <p:spPr>
          <a:xfrm>
            <a:off x="548640" y="2572464"/>
            <a:ext cx="5464912" cy="67008"/>
          </a:xfrm>
          <a:prstGeom prst="rect">
            <a:avLst/>
          </a:prstGeom>
          <a:solidFill>
            <a:srgbClr val="4F29C2"/>
          </a:solidFill>
          <a:ln/>
        </p:spPr>
      </p:sp>
      <p:sp>
        <p:nvSpPr>
          <p:cNvPr id="6" name="Shape 4"/>
          <p:cNvSpPr/>
          <p:nvPr/>
        </p:nvSpPr>
        <p:spPr>
          <a:xfrm>
            <a:off x="548640" y="2630329"/>
            <a:ext cx="5464912" cy="67008"/>
          </a:xfrm>
          <a:prstGeom prst="rect">
            <a:avLst/>
          </a:prstGeom>
          <a:solidFill>
            <a:srgbClr val="4E2AC3"/>
          </a:solidFill>
          <a:ln/>
        </p:spPr>
      </p:sp>
      <p:sp>
        <p:nvSpPr>
          <p:cNvPr id="7" name="Shape 5"/>
          <p:cNvSpPr/>
          <p:nvPr/>
        </p:nvSpPr>
        <p:spPr>
          <a:xfrm>
            <a:off x="548640" y="2688193"/>
            <a:ext cx="5464912" cy="67008"/>
          </a:xfrm>
          <a:prstGeom prst="rect">
            <a:avLst/>
          </a:prstGeom>
          <a:solidFill>
            <a:srgbClr val="4D2BC3"/>
          </a:solidFill>
          <a:ln/>
        </p:spPr>
      </p:sp>
      <p:sp>
        <p:nvSpPr>
          <p:cNvPr id="8" name="Shape 6"/>
          <p:cNvSpPr/>
          <p:nvPr/>
        </p:nvSpPr>
        <p:spPr>
          <a:xfrm>
            <a:off x="548640" y="2746058"/>
            <a:ext cx="5464912" cy="67008"/>
          </a:xfrm>
          <a:prstGeom prst="rect">
            <a:avLst/>
          </a:prstGeom>
          <a:solidFill>
            <a:srgbClr val="4D2CC4"/>
          </a:solidFill>
          <a:ln/>
        </p:spPr>
      </p:sp>
      <p:sp>
        <p:nvSpPr>
          <p:cNvPr id="9" name="Shape 7"/>
          <p:cNvSpPr/>
          <p:nvPr/>
        </p:nvSpPr>
        <p:spPr>
          <a:xfrm>
            <a:off x="548640" y="2803922"/>
            <a:ext cx="5464912" cy="67008"/>
          </a:xfrm>
          <a:prstGeom prst="rect">
            <a:avLst/>
          </a:prstGeom>
          <a:solidFill>
            <a:srgbClr val="4C2DC4"/>
          </a:solidFill>
          <a:ln/>
        </p:spPr>
      </p:sp>
      <p:sp>
        <p:nvSpPr>
          <p:cNvPr id="10" name="Shape 8"/>
          <p:cNvSpPr/>
          <p:nvPr/>
        </p:nvSpPr>
        <p:spPr>
          <a:xfrm>
            <a:off x="548640" y="2861786"/>
            <a:ext cx="5464912" cy="67008"/>
          </a:xfrm>
          <a:prstGeom prst="rect">
            <a:avLst/>
          </a:prstGeom>
          <a:solidFill>
            <a:srgbClr val="4B2EC5"/>
          </a:solidFill>
          <a:ln/>
        </p:spPr>
      </p:sp>
      <p:sp>
        <p:nvSpPr>
          <p:cNvPr id="11" name="Shape 9"/>
          <p:cNvSpPr/>
          <p:nvPr/>
        </p:nvSpPr>
        <p:spPr>
          <a:xfrm>
            <a:off x="548640" y="2919651"/>
            <a:ext cx="5464912" cy="67008"/>
          </a:xfrm>
          <a:prstGeom prst="rect">
            <a:avLst/>
          </a:prstGeom>
          <a:solidFill>
            <a:srgbClr val="4A2FC5"/>
          </a:solidFill>
          <a:ln/>
        </p:spPr>
      </p:sp>
      <p:sp>
        <p:nvSpPr>
          <p:cNvPr id="12" name="Shape 10"/>
          <p:cNvSpPr/>
          <p:nvPr/>
        </p:nvSpPr>
        <p:spPr>
          <a:xfrm>
            <a:off x="548640" y="2977515"/>
            <a:ext cx="5464912" cy="67008"/>
          </a:xfrm>
          <a:prstGeom prst="rect">
            <a:avLst/>
          </a:prstGeom>
          <a:solidFill>
            <a:srgbClr val="4930C6"/>
          </a:solidFill>
          <a:ln/>
        </p:spPr>
      </p:sp>
      <p:sp>
        <p:nvSpPr>
          <p:cNvPr id="13" name="Shape 11"/>
          <p:cNvSpPr/>
          <p:nvPr/>
        </p:nvSpPr>
        <p:spPr>
          <a:xfrm>
            <a:off x="548640" y="3035379"/>
            <a:ext cx="5464912" cy="67008"/>
          </a:xfrm>
          <a:prstGeom prst="rect">
            <a:avLst/>
          </a:prstGeom>
          <a:solidFill>
            <a:srgbClr val="4831C6"/>
          </a:solidFill>
          <a:ln/>
        </p:spPr>
      </p:sp>
      <p:sp>
        <p:nvSpPr>
          <p:cNvPr id="14" name="Shape 12"/>
          <p:cNvSpPr/>
          <p:nvPr/>
        </p:nvSpPr>
        <p:spPr>
          <a:xfrm>
            <a:off x="548640" y="3093244"/>
            <a:ext cx="5464912" cy="67008"/>
          </a:xfrm>
          <a:prstGeom prst="rect">
            <a:avLst/>
          </a:prstGeom>
          <a:solidFill>
            <a:srgbClr val="4732C6"/>
          </a:solidFill>
          <a:ln/>
        </p:spPr>
      </p:sp>
      <p:sp>
        <p:nvSpPr>
          <p:cNvPr id="15" name="Shape 13"/>
          <p:cNvSpPr/>
          <p:nvPr/>
        </p:nvSpPr>
        <p:spPr>
          <a:xfrm>
            <a:off x="548640" y="3151108"/>
            <a:ext cx="5464912" cy="67008"/>
          </a:xfrm>
          <a:prstGeom prst="rect">
            <a:avLst/>
          </a:prstGeom>
          <a:solidFill>
            <a:srgbClr val="4733C7"/>
          </a:solidFill>
          <a:ln/>
        </p:spPr>
      </p:sp>
      <p:sp>
        <p:nvSpPr>
          <p:cNvPr id="16" name="Shape 14"/>
          <p:cNvSpPr/>
          <p:nvPr/>
        </p:nvSpPr>
        <p:spPr>
          <a:xfrm>
            <a:off x="548640" y="3208973"/>
            <a:ext cx="5464912" cy="67008"/>
          </a:xfrm>
          <a:prstGeom prst="rect">
            <a:avLst/>
          </a:prstGeom>
          <a:solidFill>
            <a:srgbClr val="4634C7"/>
          </a:solidFill>
          <a:ln/>
        </p:spPr>
      </p:sp>
      <p:sp>
        <p:nvSpPr>
          <p:cNvPr id="17" name="Shape 15"/>
          <p:cNvSpPr/>
          <p:nvPr/>
        </p:nvSpPr>
        <p:spPr>
          <a:xfrm>
            <a:off x="548640" y="3266837"/>
            <a:ext cx="5464912" cy="67008"/>
          </a:xfrm>
          <a:prstGeom prst="rect">
            <a:avLst/>
          </a:prstGeom>
          <a:solidFill>
            <a:srgbClr val="4535C8"/>
          </a:solidFill>
          <a:ln/>
        </p:spPr>
      </p:sp>
      <p:sp>
        <p:nvSpPr>
          <p:cNvPr id="18" name="Shape 16"/>
          <p:cNvSpPr/>
          <p:nvPr/>
        </p:nvSpPr>
        <p:spPr>
          <a:xfrm>
            <a:off x="548640" y="3324701"/>
            <a:ext cx="5464912" cy="67008"/>
          </a:xfrm>
          <a:prstGeom prst="rect">
            <a:avLst/>
          </a:prstGeom>
          <a:solidFill>
            <a:srgbClr val="4436C8"/>
          </a:solidFill>
          <a:ln/>
        </p:spPr>
      </p:sp>
      <p:sp>
        <p:nvSpPr>
          <p:cNvPr id="19" name="Shape 17"/>
          <p:cNvSpPr/>
          <p:nvPr/>
        </p:nvSpPr>
        <p:spPr>
          <a:xfrm>
            <a:off x="548640" y="3382566"/>
            <a:ext cx="5464912" cy="67008"/>
          </a:xfrm>
          <a:prstGeom prst="rect">
            <a:avLst/>
          </a:prstGeom>
          <a:solidFill>
            <a:srgbClr val="4337C9"/>
          </a:solidFill>
          <a:ln/>
        </p:spPr>
      </p:sp>
      <p:sp>
        <p:nvSpPr>
          <p:cNvPr id="20" name="Shape 18"/>
          <p:cNvSpPr/>
          <p:nvPr/>
        </p:nvSpPr>
        <p:spPr>
          <a:xfrm>
            <a:off x="548640" y="3440430"/>
            <a:ext cx="5464912" cy="67008"/>
          </a:xfrm>
          <a:prstGeom prst="rect">
            <a:avLst/>
          </a:prstGeom>
          <a:solidFill>
            <a:srgbClr val="4238C9"/>
          </a:solidFill>
          <a:ln/>
        </p:spPr>
      </p:sp>
      <p:sp>
        <p:nvSpPr>
          <p:cNvPr id="21" name="Shape 19"/>
          <p:cNvSpPr/>
          <p:nvPr/>
        </p:nvSpPr>
        <p:spPr>
          <a:xfrm>
            <a:off x="548640" y="3498294"/>
            <a:ext cx="5464912" cy="67008"/>
          </a:xfrm>
          <a:prstGeom prst="rect">
            <a:avLst/>
          </a:prstGeom>
          <a:solidFill>
            <a:srgbClr val="4139CA"/>
          </a:solidFill>
          <a:ln/>
        </p:spPr>
      </p:sp>
      <p:sp>
        <p:nvSpPr>
          <p:cNvPr id="22" name="Shape 20"/>
          <p:cNvSpPr/>
          <p:nvPr/>
        </p:nvSpPr>
        <p:spPr>
          <a:xfrm>
            <a:off x="548640" y="3556159"/>
            <a:ext cx="5464912" cy="67008"/>
          </a:xfrm>
          <a:prstGeom prst="rect">
            <a:avLst/>
          </a:prstGeom>
          <a:solidFill>
            <a:srgbClr val="413ACA"/>
          </a:solidFill>
          <a:ln/>
        </p:spPr>
      </p:sp>
      <p:sp>
        <p:nvSpPr>
          <p:cNvPr id="23" name="Shape 21"/>
          <p:cNvSpPr/>
          <p:nvPr/>
        </p:nvSpPr>
        <p:spPr>
          <a:xfrm>
            <a:off x="548640" y="3614023"/>
            <a:ext cx="5464912" cy="67008"/>
          </a:xfrm>
          <a:prstGeom prst="rect">
            <a:avLst/>
          </a:prstGeom>
          <a:solidFill>
            <a:srgbClr val="403BCA"/>
          </a:solidFill>
          <a:ln/>
        </p:spPr>
      </p:sp>
      <p:sp>
        <p:nvSpPr>
          <p:cNvPr id="24" name="Shape 22"/>
          <p:cNvSpPr/>
          <p:nvPr/>
        </p:nvSpPr>
        <p:spPr>
          <a:xfrm>
            <a:off x="548640" y="3671888"/>
            <a:ext cx="5464912" cy="67008"/>
          </a:xfrm>
          <a:prstGeom prst="rect">
            <a:avLst/>
          </a:prstGeom>
          <a:solidFill>
            <a:srgbClr val="3F3CCB"/>
          </a:solidFill>
          <a:ln/>
        </p:spPr>
      </p:sp>
      <p:sp>
        <p:nvSpPr>
          <p:cNvPr id="25" name="Shape 23"/>
          <p:cNvSpPr/>
          <p:nvPr/>
        </p:nvSpPr>
        <p:spPr>
          <a:xfrm>
            <a:off x="548640" y="3729752"/>
            <a:ext cx="5464912" cy="67008"/>
          </a:xfrm>
          <a:prstGeom prst="rect">
            <a:avLst/>
          </a:prstGeom>
          <a:solidFill>
            <a:srgbClr val="3E3DCB"/>
          </a:solidFill>
          <a:ln/>
        </p:spPr>
      </p:sp>
      <p:sp>
        <p:nvSpPr>
          <p:cNvPr id="26" name="Shape 24"/>
          <p:cNvSpPr/>
          <p:nvPr/>
        </p:nvSpPr>
        <p:spPr>
          <a:xfrm>
            <a:off x="548640" y="3787616"/>
            <a:ext cx="5464912" cy="67008"/>
          </a:xfrm>
          <a:prstGeom prst="rect">
            <a:avLst/>
          </a:prstGeom>
          <a:solidFill>
            <a:srgbClr val="3D3ECC"/>
          </a:solidFill>
          <a:ln/>
        </p:spPr>
      </p:sp>
      <p:sp>
        <p:nvSpPr>
          <p:cNvPr id="27" name="Shape 25"/>
          <p:cNvSpPr/>
          <p:nvPr/>
        </p:nvSpPr>
        <p:spPr>
          <a:xfrm>
            <a:off x="548640" y="3845481"/>
            <a:ext cx="5464912" cy="67008"/>
          </a:xfrm>
          <a:prstGeom prst="rect">
            <a:avLst/>
          </a:prstGeom>
          <a:solidFill>
            <a:srgbClr val="3C3FCC"/>
          </a:solidFill>
          <a:ln/>
        </p:spPr>
      </p:sp>
      <p:sp>
        <p:nvSpPr>
          <p:cNvPr id="28" name="Shape 26"/>
          <p:cNvSpPr/>
          <p:nvPr/>
        </p:nvSpPr>
        <p:spPr>
          <a:xfrm>
            <a:off x="548640" y="3903345"/>
            <a:ext cx="5464912" cy="67008"/>
          </a:xfrm>
          <a:prstGeom prst="rect">
            <a:avLst/>
          </a:prstGeom>
          <a:solidFill>
            <a:srgbClr val="3B40CD"/>
          </a:solidFill>
          <a:ln/>
        </p:spPr>
      </p:sp>
      <p:sp>
        <p:nvSpPr>
          <p:cNvPr id="29" name="Shape 27"/>
          <p:cNvSpPr/>
          <p:nvPr/>
        </p:nvSpPr>
        <p:spPr>
          <a:xfrm>
            <a:off x="548640" y="3961209"/>
            <a:ext cx="5464912" cy="67008"/>
          </a:xfrm>
          <a:prstGeom prst="rect">
            <a:avLst/>
          </a:prstGeom>
          <a:solidFill>
            <a:srgbClr val="3B41CD"/>
          </a:solidFill>
          <a:ln/>
        </p:spPr>
      </p:sp>
      <p:sp>
        <p:nvSpPr>
          <p:cNvPr id="30" name="Shape 28"/>
          <p:cNvSpPr/>
          <p:nvPr/>
        </p:nvSpPr>
        <p:spPr>
          <a:xfrm>
            <a:off x="548640" y="4019074"/>
            <a:ext cx="5464912" cy="67008"/>
          </a:xfrm>
          <a:prstGeom prst="rect">
            <a:avLst/>
          </a:prstGeom>
          <a:solidFill>
            <a:srgbClr val="3A42CE"/>
          </a:solidFill>
          <a:ln/>
        </p:spPr>
      </p:sp>
      <p:sp>
        <p:nvSpPr>
          <p:cNvPr id="31" name="Shape 29"/>
          <p:cNvSpPr/>
          <p:nvPr/>
        </p:nvSpPr>
        <p:spPr>
          <a:xfrm>
            <a:off x="548640" y="4076938"/>
            <a:ext cx="5464912" cy="67008"/>
          </a:xfrm>
          <a:prstGeom prst="rect">
            <a:avLst/>
          </a:prstGeom>
          <a:solidFill>
            <a:srgbClr val="3943CE"/>
          </a:solidFill>
          <a:ln/>
        </p:spPr>
      </p:sp>
      <p:sp>
        <p:nvSpPr>
          <p:cNvPr id="32" name="Shape 30"/>
          <p:cNvSpPr/>
          <p:nvPr/>
        </p:nvSpPr>
        <p:spPr>
          <a:xfrm>
            <a:off x="548640" y="4134802"/>
            <a:ext cx="5464912" cy="67008"/>
          </a:xfrm>
          <a:prstGeom prst="rect">
            <a:avLst/>
          </a:prstGeom>
          <a:solidFill>
            <a:srgbClr val="3844CE"/>
          </a:solidFill>
          <a:ln/>
        </p:spPr>
      </p:sp>
      <p:sp>
        <p:nvSpPr>
          <p:cNvPr id="33" name="Shape 31"/>
          <p:cNvSpPr/>
          <p:nvPr/>
        </p:nvSpPr>
        <p:spPr>
          <a:xfrm>
            <a:off x="548640" y="4192667"/>
            <a:ext cx="5464912" cy="67008"/>
          </a:xfrm>
          <a:prstGeom prst="rect">
            <a:avLst/>
          </a:prstGeom>
          <a:solidFill>
            <a:srgbClr val="3745CF"/>
          </a:solidFill>
          <a:ln/>
        </p:spPr>
      </p:sp>
      <p:sp>
        <p:nvSpPr>
          <p:cNvPr id="34" name="Shape 32"/>
          <p:cNvSpPr/>
          <p:nvPr/>
        </p:nvSpPr>
        <p:spPr>
          <a:xfrm>
            <a:off x="548640" y="4250531"/>
            <a:ext cx="5464912" cy="67008"/>
          </a:xfrm>
          <a:prstGeom prst="rect">
            <a:avLst/>
          </a:prstGeom>
          <a:solidFill>
            <a:srgbClr val="3646CF"/>
          </a:solidFill>
          <a:ln/>
        </p:spPr>
      </p:sp>
      <p:sp>
        <p:nvSpPr>
          <p:cNvPr id="35" name="Shape 33"/>
          <p:cNvSpPr/>
          <p:nvPr/>
        </p:nvSpPr>
        <p:spPr>
          <a:xfrm>
            <a:off x="548640" y="4308396"/>
            <a:ext cx="5464912" cy="67008"/>
          </a:xfrm>
          <a:prstGeom prst="rect">
            <a:avLst/>
          </a:prstGeom>
          <a:solidFill>
            <a:srgbClr val="3547D0"/>
          </a:solidFill>
          <a:ln/>
        </p:spPr>
      </p:sp>
      <p:sp>
        <p:nvSpPr>
          <p:cNvPr id="36" name="Shape 34"/>
          <p:cNvSpPr/>
          <p:nvPr/>
        </p:nvSpPr>
        <p:spPr>
          <a:xfrm>
            <a:off x="548640" y="4366260"/>
            <a:ext cx="5464912" cy="67008"/>
          </a:xfrm>
          <a:prstGeom prst="rect">
            <a:avLst/>
          </a:prstGeom>
          <a:solidFill>
            <a:srgbClr val="3549D0"/>
          </a:solidFill>
          <a:ln/>
        </p:spPr>
      </p:sp>
      <p:sp>
        <p:nvSpPr>
          <p:cNvPr id="37" name="Shape 35"/>
          <p:cNvSpPr/>
          <p:nvPr/>
        </p:nvSpPr>
        <p:spPr>
          <a:xfrm>
            <a:off x="548640" y="4424124"/>
            <a:ext cx="5464912" cy="67008"/>
          </a:xfrm>
          <a:prstGeom prst="rect">
            <a:avLst/>
          </a:prstGeom>
          <a:solidFill>
            <a:srgbClr val="344ACF"/>
          </a:solidFill>
          <a:ln/>
        </p:spPr>
      </p:sp>
      <p:sp>
        <p:nvSpPr>
          <p:cNvPr id="38" name="Shape 36"/>
          <p:cNvSpPr/>
          <p:nvPr/>
        </p:nvSpPr>
        <p:spPr>
          <a:xfrm>
            <a:off x="548640" y="4481989"/>
            <a:ext cx="5464912" cy="67008"/>
          </a:xfrm>
          <a:prstGeom prst="rect">
            <a:avLst/>
          </a:prstGeom>
          <a:solidFill>
            <a:srgbClr val="334BCF"/>
          </a:solidFill>
          <a:ln/>
        </p:spPr>
      </p:sp>
      <p:sp>
        <p:nvSpPr>
          <p:cNvPr id="39" name="Shape 37"/>
          <p:cNvSpPr/>
          <p:nvPr/>
        </p:nvSpPr>
        <p:spPr>
          <a:xfrm>
            <a:off x="548640" y="4539853"/>
            <a:ext cx="5464912" cy="67008"/>
          </a:xfrm>
          <a:prstGeom prst="rect">
            <a:avLst/>
          </a:prstGeom>
          <a:solidFill>
            <a:srgbClr val="324CCE"/>
          </a:solidFill>
          <a:ln/>
        </p:spPr>
      </p:sp>
      <p:sp>
        <p:nvSpPr>
          <p:cNvPr id="40" name="Shape 38"/>
          <p:cNvSpPr/>
          <p:nvPr/>
        </p:nvSpPr>
        <p:spPr>
          <a:xfrm>
            <a:off x="548640" y="4597717"/>
            <a:ext cx="5464912" cy="67008"/>
          </a:xfrm>
          <a:prstGeom prst="rect">
            <a:avLst/>
          </a:prstGeom>
          <a:solidFill>
            <a:srgbClr val="314ECD"/>
          </a:solidFill>
          <a:ln/>
        </p:spPr>
      </p:sp>
      <p:sp>
        <p:nvSpPr>
          <p:cNvPr id="41" name="Shape 39"/>
          <p:cNvSpPr/>
          <p:nvPr/>
        </p:nvSpPr>
        <p:spPr>
          <a:xfrm>
            <a:off x="548640" y="4655582"/>
            <a:ext cx="5464912" cy="67008"/>
          </a:xfrm>
          <a:prstGeom prst="rect">
            <a:avLst/>
          </a:prstGeom>
          <a:solidFill>
            <a:srgbClr val="304FCD"/>
          </a:solidFill>
          <a:ln/>
        </p:spPr>
      </p:sp>
      <p:sp>
        <p:nvSpPr>
          <p:cNvPr id="42" name="Shape 40"/>
          <p:cNvSpPr/>
          <p:nvPr/>
        </p:nvSpPr>
        <p:spPr>
          <a:xfrm>
            <a:off x="548640" y="4713446"/>
            <a:ext cx="5464912" cy="67008"/>
          </a:xfrm>
          <a:prstGeom prst="rect">
            <a:avLst/>
          </a:prstGeom>
          <a:solidFill>
            <a:srgbClr val="2F50CC"/>
          </a:solidFill>
          <a:ln/>
        </p:spPr>
      </p:sp>
      <p:sp>
        <p:nvSpPr>
          <p:cNvPr id="43" name="Shape 41"/>
          <p:cNvSpPr/>
          <p:nvPr/>
        </p:nvSpPr>
        <p:spPr>
          <a:xfrm>
            <a:off x="548640" y="4771311"/>
            <a:ext cx="5464912" cy="67008"/>
          </a:xfrm>
          <a:prstGeom prst="rect">
            <a:avLst/>
          </a:prstGeom>
          <a:solidFill>
            <a:srgbClr val="2F51CC"/>
          </a:solidFill>
          <a:ln/>
        </p:spPr>
      </p:sp>
      <p:sp>
        <p:nvSpPr>
          <p:cNvPr id="44" name="Shape 42"/>
          <p:cNvSpPr/>
          <p:nvPr/>
        </p:nvSpPr>
        <p:spPr>
          <a:xfrm>
            <a:off x="548640" y="4829175"/>
            <a:ext cx="5464912" cy="67008"/>
          </a:xfrm>
          <a:prstGeom prst="rect">
            <a:avLst/>
          </a:prstGeom>
          <a:solidFill>
            <a:srgbClr val="2E53CB"/>
          </a:solidFill>
          <a:ln/>
        </p:spPr>
      </p:sp>
      <p:sp>
        <p:nvSpPr>
          <p:cNvPr id="45" name="Shape 43"/>
          <p:cNvSpPr/>
          <p:nvPr/>
        </p:nvSpPr>
        <p:spPr>
          <a:xfrm>
            <a:off x="548640" y="4887039"/>
            <a:ext cx="5464912" cy="67008"/>
          </a:xfrm>
          <a:prstGeom prst="rect">
            <a:avLst/>
          </a:prstGeom>
          <a:solidFill>
            <a:srgbClr val="2D54CB"/>
          </a:solidFill>
          <a:ln/>
        </p:spPr>
      </p:sp>
      <p:sp>
        <p:nvSpPr>
          <p:cNvPr id="46" name="Shape 44"/>
          <p:cNvSpPr/>
          <p:nvPr/>
        </p:nvSpPr>
        <p:spPr>
          <a:xfrm>
            <a:off x="548640" y="4944904"/>
            <a:ext cx="5464912" cy="67008"/>
          </a:xfrm>
          <a:prstGeom prst="rect">
            <a:avLst/>
          </a:prstGeom>
          <a:solidFill>
            <a:srgbClr val="2C55CA"/>
          </a:solidFill>
          <a:ln/>
        </p:spPr>
      </p:sp>
      <p:sp>
        <p:nvSpPr>
          <p:cNvPr id="47" name="Shape 45"/>
          <p:cNvSpPr/>
          <p:nvPr/>
        </p:nvSpPr>
        <p:spPr>
          <a:xfrm>
            <a:off x="548640" y="5002768"/>
            <a:ext cx="5464912" cy="67008"/>
          </a:xfrm>
          <a:prstGeom prst="rect">
            <a:avLst/>
          </a:prstGeom>
          <a:solidFill>
            <a:srgbClr val="2B56C9"/>
          </a:solidFill>
          <a:ln/>
        </p:spPr>
      </p:sp>
      <p:sp>
        <p:nvSpPr>
          <p:cNvPr id="48" name="Shape 46"/>
          <p:cNvSpPr/>
          <p:nvPr/>
        </p:nvSpPr>
        <p:spPr>
          <a:xfrm>
            <a:off x="548640" y="5060633"/>
            <a:ext cx="5464912" cy="67008"/>
          </a:xfrm>
          <a:prstGeom prst="rect">
            <a:avLst/>
          </a:prstGeom>
          <a:solidFill>
            <a:srgbClr val="2A57C9"/>
          </a:solidFill>
          <a:ln/>
        </p:spPr>
      </p:sp>
      <p:sp>
        <p:nvSpPr>
          <p:cNvPr id="49" name="Shape 47"/>
          <p:cNvSpPr/>
          <p:nvPr/>
        </p:nvSpPr>
        <p:spPr>
          <a:xfrm>
            <a:off x="548640" y="5118497"/>
            <a:ext cx="5464912" cy="67008"/>
          </a:xfrm>
          <a:prstGeom prst="rect">
            <a:avLst/>
          </a:prstGeom>
          <a:solidFill>
            <a:srgbClr val="2959C8"/>
          </a:solidFill>
          <a:ln/>
        </p:spPr>
      </p:sp>
      <p:sp>
        <p:nvSpPr>
          <p:cNvPr id="50" name="Shape 48"/>
          <p:cNvSpPr/>
          <p:nvPr/>
        </p:nvSpPr>
        <p:spPr>
          <a:xfrm>
            <a:off x="548640" y="5176361"/>
            <a:ext cx="5464912" cy="67008"/>
          </a:xfrm>
          <a:prstGeom prst="rect">
            <a:avLst/>
          </a:prstGeom>
          <a:solidFill>
            <a:srgbClr val="295AC8"/>
          </a:solidFill>
          <a:ln/>
        </p:spPr>
      </p:sp>
      <p:sp>
        <p:nvSpPr>
          <p:cNvPr id="51" name="Shape 49"/>
          <p:cNvSpPr/>
          <p:nvPr/>
        </p:nvSpPr>
        <p:spPr>
          <a:xfrm>
            <a:off x="548640" y="5234226"/>
            <a:ext cx="5464912" cy="67008"/>
          </a:xfrm>
          <a:prstGeom prst="rect">
            <a:avLst/>
          </a:prstGeom>
          <a:solidFill>
            <a:srgbClr val="285BC7"/>
          </a:solidFill>
          <a:ln/>
        </p:spPr>
      </p:sp>
      <p:sp>
        <p:nvSpPr>
          <p:cNvPr id="52" name="Shape 50"/>
          <p:cNvSpPr/>
          <p:nvPr/>
        </p:nvSpPr>
        <p:spPr>
          <a:xfrm>
            <a:off x="548640" y="5292090"/>
            <a:ext cx="5464912" cy="67008"/>
          </a:xfrm>
          <a:prstGeom prst="rect">
            <a:avLst/>
          </a:prstGeom>
          <a:solidFill>
            <a:srgbClr val="275CC7"/>
          </a:solidFill>
          <a:ln/>
        </p:spPr>
      </p:sp>
      <p:sp>
        <p:nvSpPr>
          <p:cNvPr id="53" name="Shape 51"/>
          <p:cNvSpPr/>
          <p:nvPr/>
        </p:nvSpPr>
        <p:spPr>
          <a:xfrm>
            <a:off x="548640" y="5349954"/>
            <a:ext cx="5464912" cy="67008"/>
          </a:xfrm>
          <a:prstGeom prst="rect">
            <a:avLst/>
          </a:prstGeom>
          <a:solidFill>
            <a:srgbClr val="265EC6"/>
          </a:solidFill>
          <a:ln/>
        </p:spPr>
      </p:sp>
      <p:sp>
        <p:nvSpPr>
          <p:cNvPr id="54" name="Shape 52"/>
          <p:cNvSpPr/>
          <p:nvPr/>
        </p:nvSpPr>
        <p:spPr>
          <a:xfrm>
            <a:off x="548640" y="5407819"/>
            <a:ext cx="5464912" cy="67008"/>
          </a:xfrm>
          <a:prstGeom prst="rect">
            <a:avLst/>
          </a:prstGeom>
          <a:solidFill>
            <a:srgbClr val="255FC5"/>
          </a:solidFill>
          <a:ln/>
        </p:spPr>
      </p:sp>
      <p:sp>
        <p:nvSpPr>
          <p:cNvPr id="55" name="Shape 53"/>
          <p:cNvSpPr/>
          <p:nvPr/>
        </p:nvSpPr>
        <p:spPr>
          <a:xfrm>
            <a:off x="548640" y="5465683"/>
            <a:ext cx="5464912" cy="67008"/>
          </a:xfrm>
          <a:prstGeom prst="rect">
            <a:avLst/>
          </a:prstGeom>
          <a:solidFill>
            <a:srgbClr val="2460C5"/>
          </a:solidFill>
          <a:ln/>
        </p:spPr>
      </p:sp>
      <p:sp>
        <p:nvSpPr>
          <p:cNvPr id="56" name="Shape 54"/>
          <p:cNvSpPr/>
          <p:nvPr/>
        </p:nvSpPr>
        <p:spPr>
          <a:xfrm>
            <a:off x="548640" y="5523548"/>
            <a:ext cx="5464912" cy="67008"/>
          </a:xfrm>
          <a:prstGeom prst="rect">
            <a:avLst/>
          </a:prstGeom>
          <a:solidFill>
            <a:srgbClr val="2361C4"/>
          </a:solidFill>
          <a:ln/>
        </p:spPr>
      </p:sp>
      <p:sp>
        <p:nvSpPr>
          <p:cNvPr id="57" name="Shape 55"/>
          <p:cNvSpPr/>
          <p:nvPr/>
        </p:nvSpPr>
        <p:spPr>
          <a:xfrm>
            <a:off x="548640" y="5581412"/>
            <a:ext cx="5464912" cy="67008"/>
          </a:xfrm>
          <a:prstGeom prst="rect">
            <a:avLst/>
          </a:prstGeom>
          <a:solidFill>
            <a:srgbClr val="2363C4"/>
          </a:solidFill>
          <a:ln/>
        </p:spPr>
      </p:sp>
      <p:sp>
        <p:nvSpPr>
          <p:cNvPr id="58" name="Shape 56"/>
          <p:cNvSpPr/>
          <p:nvPr/>
        </p:nvSpPr>
        <p:spPr>
          <a:xfrm>
            <a:off x="548640" y="5639276"/>
            <a:ext cx="5464912" cy="67008"/>
          </a:xfrm>
          <a:prstGeom prst="rect">
            <a:avLst/>
          </a:prstGeom>
          <a:solidFill>
            <a:srgbClr val="2264C3"/>
          </a:solidFill>
          <a:ln/>
        </p:spPr>
      </p:sp>
      <p:sp>
        <p:nvSpPr>
          <p:cNvPr id="59" name="Shape 57"/>
          <p:cNvSpPr/>
          <p:nvPr/>
        </p:nvSpPr>
        <p:spPr>
          <a:xfrm>
            <a:off x="548640" y="5697141"/>
            <a:ext cx="5464912" cy="67008"/>
          </a:xfrm>
          <a:prstGeom prst="rect">
            <a:avLst/>
          </a:prstGeom>
          <a:solidFill>
            <a:srgbClr val="2165C3"/>
          </a:solidFill>
          <a:ln/>
        </p:spPr>
      </p:sp>
      <p:sp>
        <p:nvSpPr>
          <p:cNvPr id="60" name="Shape 58"/>
          <p:cNvSpPr/>
          <p:nvPr/>
        </p:nvSpPr>
        <p:spPr>
          <a:xfrm>
            <a:off x="548640" y="5755005"/>
            <a:ext cx="5464912" cy="67008"/>
          </a:xfrm>
          <a:prstGeom prst="rect">
            <a:avLst/>
          </a:prstGeom>
          <a:solidFill>
            <a:srgbClr val="2066C2"/>
          </a:solidFill>
          <a:ln/>
        </p:spPr>
      </p:sp>
      <p:sp>
        <p:nvSpPr>
          <p:cNvPr id="61" name="Shape 59"/>
          <p:cNvSpPr/>
          <p:nvPr/>
        </p:nvSpPr>
        <p:spPr>
          <a:xfrm>
            <a:off x="548640" y="5812869"/>
            <a:ext cx="5464912" cy="67008"/>
          </a:xfrm>
          <a:prstGeom prst="rect">
            <a:avLst/>
          </a:prstGeom>
          <a:solidFill>
            <a:srgbClr val="1F68C1"/>
          </a:solidFill>
          <a:ln/>
        </p:spPr>
      </p:sp>
      <p:sp>
        <p:nvSpPr>
          <p:cNvPr id="62" name="Shape 60"/>
          <p:cNvSpPr/>
          <p:nvPr/>
        </p:nvSpPr>
        <p:spPr>
          <a:xfrm>
            <a:off x="548640" y="5870734"/>
            <a:ext cx="5464912" cy="67008"/>
          </a:xfrm>
          <a:prstGeom prst="rect">
            <a:avLst/>
          </a:prstGeom>
          <a:solidFill>
            <a:srgbClr val="1E69C1"/>
          </a:solidFill>
          <a:ln/>
        </p:spPr>
      </p:sp>
      <p:sp>
        <p:nvSpPr>
          <p:cNvPr id="63" name="Shape 61"/>
          <p:cNvSpPr/>
          <p:nvPr/>
        </p:nvSpPr>
        <p:spPr>
          <a:xfrm>
            <a:off x="548640" y="5928598"/>
            <a:ext cx="5464912" cy="67008"/>
          </a:xfrm>
          <a:prstGeom prst="rect">
            <a:avLst/>
          </a:prstGeom>
          <a:solidFill>
            <a:srgbClr val="1D6AC0"/>
          </a:solidFill>
          <a:ln/>
        </p:spPr>
      </p:sp>
      <p:sp>
        <p:nvSpPr>
          <p:cNvPr id="64" name="Shape 62"/>
          <p:cNvSpPr/>
          <p:nvPr/>
        </p:nvSpPr>
        <p:spPr>
          <a:xfrm>
            <a:off x="548640" y="5986463"/>
            <a:ext cx="5464912" cy="67008"/>
          </a:xfrm>
          <a:prstGeom prst="rect">
            <a:avLst/>
          </a:prstGeom>
          <a:solidFill>
            <a:srgbClr val="1D6BC0"/>
          </a:solidFill>
          <a:ln/>
        </p:spPr>
      </p:sp>
      <p:sp>
        <p:nvSpPr>
          <p:cNvPr id="65" name="Shape 63"/>
          <p:cNvSpPr/>
          <p:nvPr/>
        </p:nvSpPr>
        <p:spPr>
          <a:xfrm>
            <a:off x="548640" y="6044327"/>
            <a:ext cx="5464912" cy="67008"/>
          </a:xfrm>
          <a:prstGeom prst="rect">
            <a:avLst/>
          </a:prstGeom>
          <a:solidFill>
            <a:srgbClr val="1C6DBF"/>
          </a:solidFill>
          <a:ln/>
        </p:spPr>
      </p:sp>
      <p:sp>
        <p:nvSpPr>
          <p:cNvPr id="66" name="Shape 64"/>
          <p:cNvSpPr/>
          <p:nvPr/>
        </p:nvSpPr>
        <p:spPr>
          <a:xfrm>
            <a:off x="548640" y="6102191"/>
            <a:ext cx="5464912" cy="67008"/>
          </a:xfrm>
          <a:prstGeom prst="rect">
            <a:avLst/>
          </a:prstGeom>
          <a:solidFill>
            <a:srgbClr val="1B6EBF"/>
          </a:solidFill>
          <a:ln/>
        </p:spPr>
      </p:sp>
      <p:sp>
        <p:nvSpPr>
          <p:cNvPr id="67" name="Shape 65"/>
          <p:cNvSpPr/>
          <p:nvPr/>
        </p:nvSpPr>
        <p:spPr>
          <a:xfrm>
            <a:off x="548640" y="6160056"/>
            <a:ext cx="5464912" cy="67008"/>
          </a:xfrm>
          <a:prstGeom prst="rect">
            <a:avLst/>
          </a:prstGeom>
          <a:solidFill>
            <a:srgbClr val="1A6FBE"/>
          </a:solidFill>
          <a:ln/>
        </p:spPr>
      </p:sp>
      <p:sp>
        <p:nvSpPr>
          <p:cNvPr id="68" name="Text 66"/>
          <p:cNvSpPr/>
          <p:nvPr/>
        </p:nvSpPr>
        <p:spPr>
          <a:xfrm>
            <a:off x="914400" y="2880360"/>
            <a:ext cx="4733392" cy="914400"/>
          </a:xfrm>
          <a:prstGeom prst="rect">
            <a:avLst/>
          </a:prstGeom>
          <a:noFill/>
          <a:ln/>
        </p:spPr>
        <p:txBody>
          <a:bodyPr wrap="square" lIns="0" tIns="0" rIns="0" bIns="0" rtlCol="0" anchor="t"/>
          <a:lstStyle/>
          <a:p>
            <a:pPr algn="l" indent="0" marL="0">
              <a:buNone/>
            </a:pPr>
            <a:r>
              <a:rPr lang="en-US" sz="1100" b="1" spc="300" kern="0" dirty="0">
                <a:solidFill>
                  <a:srgbClr val="FFFFFF"/>
                </a:solidFill>
                <a:latin typeface="Calibri" pitchFamily="34" charset="0"/>
                <a:ea typeface="Calibri" pitchFamily="34" charset="-122"/>
                <a:cs typeface="Calibri" pitchFamily="34" charset="-120"/>
              </a:rPr>
              <a:t>WHY WE WIN</a:t>
            </a:r>
            <a:endParaRPr lang="en-US" sz="1100" dirty="0"/>
          </a:p>
        </p:txBody>
      </p:sp>
      <p:sp>
        <p:nvSpPr>
          <p:cNvPr id="69" name="Text 67"/>
          <p:cNvSpPr/>
          <p:nvPr/>
        </p:nvSpPr>
        <p:spPr>
          <a:xfrm>
            <a:off x="914400" y="3383280"/>
            <a:ext cx="4733392" cy="2011680"/>
          </a:xfrm>
          <a:prstGeom prst="rect">
            <a:avLst/>
          </a:prstGeom>
          <a:noFill/>
          <a:ln/>
        </p:spPr>
        <p:txBody>
          <a:bodyPr wrap="square" lIns="0" tIns="0" rIns="0" bIns="0" rtlCol="0" anchor="t"/>
          <a:lstStyle/>
          <a:p>
            <a:pPr algn="l" indent="0" marL="0">
              <a:buNone/>
            </a:pPr>
            <a:r>
              <a:rPr lang="en-US" sz="3200" b="1" spc="-50" kern="0" dirty="0">
                <a:solidFill>
                  <a:srgbClr val="FFFFFF"/>
                </a:solidFill>
                <a:latin typeface="Calibri" pitchFamily="34" charset="0"/>
                <a:ea typeface="Calibri" pitchFamily="34" charset="-122"/>
                <a:cs typeface="Calibri" pitchFamily="34" charset="-120"/>
              </a:rPr>
              <a:t>Operator origin. Founder pricing. End-to-end ownership.</a:t>
            </a:r>
            <a:endParaRPr lang="en-US" sz="3200" dirty="0"/>
          </a:p>
        </p:txBody>
      </p:sp>
      <p:sp>
        <p:nvSpPr>
          <p:cNvPr id="70" name="Text 68"/>
          <p:cNvSpPr/>
          <p:nvPr/>
        </p:nvSpPr>
        <p:spPr>
          <a:xfrm>
            <a:off x="914400" y="5166360"/>
            <a:ext cx="4733392" cy="10972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Built by someone who lived the pain. Priced for the budgets incumbents ignore. Owns the full workflow, which means closed-loop analytics no competitor can replicate.</a:t>
            </a:r>
            <a:endParaRPr lang="en-US" sz="1300" dirty="0"/>
          </a:p>
        </p:txBody>
      </p:sp>
      <p:sp>
        <p:nvSpPr>
          <p:cNvPr id="71" name="Shape 69"/>
          <p:cNvSpPr/>
          <p:nvPr/>
        </p:nvSpPr>
        <p:spPr>
          <a:xfrm>
            <a:off x="6178144" y="2514600"/>
            <a:ext cx="5464912" cy="1124712"/>
          </a:xfrm>
          <a:prstGeom prst="roundRect">
            <a:avLst>
              <a:gd name="adj" fmla="val 9756"/>
            </a:avLst>
          </a:prstGeom>
          <a:solidFill>
            <a:srgbClr val="FFFFFF"/>
          </a:solidFill>
          <a:ln w="9525">
            <a:solidFill>
              <a:srgbClr val="E5E7F0"/>
            </a:solidFill>
            <a:prstDash val="solid"/>
          </a:ln>
        </p:spPr>
      </p:sp>
      <p:sp>
        <p:nvSpPr>
          <p:cNvPr id="72" name="Shape 70"/>
          <p:cNvSpPr/>
          <p:nvPr/>
        </p:nvSpPr>
        <p:spPr>
          <a:xfrm>
            <a:off x="6178144" y="2514600"/>
            <a:ext cx="73152" cy="1124712"/>
          </a:xfrm>
          <a:prstGeom prst="rect">
            <a:avLst/>
          </a:prstGeom>
          <a:solidFill>
            <a:srgbClr val="5028C2"/>
          </a:solidFill>
          <a:ln/>
        </p:spPr>
      </p:sp>
      <p:sp>
        <p:nvSpPr>
          <p:cNvPr id="73" name="Text 71"/>
          <p:cNvSpPr/>
          <p:nvPr/>
        </p:nvSpPr>
        <p:spPr>
          <a:xfrm>
            <a:off x="6434176" y="2697480"/>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Origin</a:t>
            </a:r>
            <a:endParaRPr lang="en-US" sz="1600" dirty="0"/>
          </a:p>
        </p:txBody>
      </p:sp>
      <p:sp>
        <p:nvSpPr>
          <p:cNvPr id="74" name="Text 72"/>
          <p:cNvSpPr/>
          <p:nvPr/>
        </p:nvSpPr>
        <p:spPr>
          <a:xfrm>
            <a:off x="6434176" y="3081528"/>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Founder-built. Real workflow fidelity.</a:t>
            </a:r>
            <a:endParaRPr lang="en-US" sz="1200" dirty="0"/>
          </a:p>
        </p:txBody>
      </p:sp>
      <p:sp>
        <p:nvSpPr>
          <p:cNvPr id="75" name="Shape 73"/>
          <p:cNvSpPr/>
          <p:nvPr/>
        </p:nvSpPr>
        <p:spPr>
          <a:xfrm>
            <a:off x="6178144" y="3803904"/>
            <a:ext cx="5464912" cy="1124712"/>
          </a:xfrm>
          <a:prstGeom prst="roundRect">
            <a:avLst>
              <a:gd name="adj" fmla="val 9756"/>
            </a:avLst>
          </a:prstGeom>
          <a:solidFill>
            <a:srgbClr val="FFFFFF"/>
          </a:solidFill>
          <a:ln w="9525">
            <a:solidFill>
              <a:srgbClr val="E5E7F0"/>
            </a:solidFill>
            <a:prstDash val="solid"/>
          </a:ln>
        </p:spPr>
      </p:sp>
      <p:sp>
        <p:nvSpPr>
          <p:cNvPr id="76" name="Shape 74"/>
          <p:cNvSpPr/>
          <p:nvPr/>
        </p:nvSpPr>
        <p:spPr>
          <a:xfrm>
            <a:off x="6178144" y="3803904"/>
            <a:ext cx="73152" cy="1124712"/>
          </a:xfrm>
          <a:prstGeom prst="rect">
            <a:avLst/>
          </a:prstGeom>
          <a:solidFill>
            <a:srgbClr val="3548D0"/>
          </a:solidFill>
          <a:ln/>
        </p:spPr>
      </p:sp>
      <p:sp>
        <p:nvSpPr>
          <p:cNvPr id="77" name="Text 75"/>
          <p:cNvSpPr/>
          <p:nvPr/>
        </p:nvSpPr>
        <p:spPr>
          <a:xfrm>
            <a:off x="6434176" y="3986784"/>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Price</a:t>
            </a:r>
            <a:endParaRPr lang="en-US" sz="1600" dirty="0"/>
          </a:p>
        </p:txBody>
      </p:sp>
      <p:sp>
        <p:nvSpPr>
          <p:cNvPr id="78" name="Text 76"/>
          <p:cNvSpPr/>
          <p:nvPr/>
        </p:nvSpPr>
        <p:spPr>
          <a:xfrm>
            <a:off x="6434176" y="4370832"/>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$39 vs. $300+. 8–25x cheaper.</a:t>
            </a:r>
            <a:endParaRPr lang="en-US" sz="1200" dirty="0"/>
          </a:p>
        </p:txBody>
      </p:sp>
      <p:sp>
        <p:nvSpPr>
          <p:cNvPr id="79" name="Shape 77"/>
          <p:cNvSpPr/>
          <p:nvPr/>
        </p:nvSpPr>
        <p:spPr>
          <a:xfrm>
            <a:off x="6178144" y="5093208"/>
            <a:ext cx="5464912" cy="1124712"/>
          </a:xfrm>
          <a:prstGeom prst="roundRect">
            <a:avLst>
              <a:gd name="adj" fmla="val 9756"/>
            </a:avLst>
          </a:prstGeom>
          <a:solidFill>
            <a:srgbClr val="FFFFFF"/>
          </a:solidFill>
          <a:ln w="9525">
            <a:solidFill>
              <a:srgbClr val="E5E7F0"/>
            </a:solidFill>
            <a:prstDash val="solid"/>
          </a:ln>
        </p:spPr>
      </p:sp>
      <p:sp>
        <p:nvSpPr>
          <p:cNvPr id="80" name="Shape 78"/>
          <p:cNvSpPr/>
          <p:nvPr/>
        </p:nvSpPr>
        <p:spPr>
          <a:xfrm>
            <a:off x="6178144" y="5093208"/>
            <a:ext cx="73152" cy="1124712"/>
          </a:xfrm>
          <a:prstGeom prst="rect">
            <a:avLst/>
          </a:prstGeom>
          <a:solidFill>
            <a:srgbClr val="1A6FBE"/>
          </a:solidFill>
          <a:ln/>
        </p:spPr>
      </p:sp>
      <p:sp>
        <p:nvSpPr>
          <p:cNvPr id="81" name="Text 79"/>
          <p:cNvSpPr/>
          <p:nvPr/>
        </p:nvSpPr>
        <p:spPr>
          <a:xfrm>
            <a:off x="6434176" y="5276088"/>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Data moat</a:t>
            </a:r>
            <a:endParaRPr lang="en-US" sz="1600" dirty="0"/>
          </a:p>
        </p:txBody>
      </p:sp>
      <p:sp>
        <p:nvSpPr>
          <p:cNvPr id="82" name="Text 80"/>
          <p:cNvSpPr/>
          <p:nvPr/>
        </p:nvSpPr>
        <p:spPr>
          <a:xfrm>
            <a:off x="6434176" y="5660136"/>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Closed-loop analytics, by structure.</a:t>
            </a:r>
            <a:endParaRPr lang="en-US" sz="1200" dirty="0"/>
          </a:p>
        </p:txBody>
      </p:sp>
      <p:sp>
        <p:nvSpPr>
          <p:cNvPr id="83" name="Shape 81"/>
          <p:cNvSpPr/>
          <p:nvPr/>
        </p:nvSpPr>
        <p:spPr>
          <a:xfrm>
            <a:off x="548640" y="502920"/>
            <a:ext cx="292608" cy="292608"/>
          </a:xfrm>
          <a:prstGeom prst="roundRect">
            <a:avLst>
              <a:gd name="adj" fmla="val 25000"/>
            </a:avLst>
          </a:prstGeom>
          <a:solidFill>
            <a:srgbClr val="5028C2"/>
          </a:solidFill>
          <a:ln/>
        </p:spPr>
      </p:sp>
      <p:sp>
        <p:nvSpPr>
          <p:cNvPr id="84" name="Shape 82"/>
          <p:cNvSpPr/>
          <p:nvPr/>
        </p:nvSpPr>
        <p:spPr>
          <a:xfrm>
            <a:off x="548640" y="502920"/>
            <a:ext cx="292608" cy="292608"/>
          </a:xfrm>
          <a:prstGeom prst="roundRect">
            <a:avLst>
              <a:gd name="adj" fmla="val 25000"/>
            </a:avLst>
          </a:prstGeom>
          <a:solidFill>
            <a:srgbClr val="1A6FBE">
              <a:alpha val="50000"/>
            </a:srgbClr>
          </a:solidFill>
          <a:ln/>
        </p:spPr>
      </p:sp>
      <p:sp>
        <p:nvSpPr>
          <p:cNvPr id="85" name="Text 83"/>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86" name="Text 84"/>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87" name="Text 85"/>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14 · Why we win  ·  vG</a:t>
            </a:r>
            <a:endParaRPr lang="en-US" sz="900" dirty="0"/>
          </a:p>
        </p:txBody>
      </p:sp>
      <p:sp>
        <p:nvSpPr>
          <p:cNvPr id="88" name="Text 86"/>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89" name="Text 87"/>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098 / 126</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80015" y="-914400"/>
            <a:ext cx="3200400" cy="3200400"/>
          </a:xfrm>
          <a:prstGeom prst="ellipse">
            <a:avLst/>
          </a:prstGeom>
          <a:solidFill>
            <a:srgbClr val="F1ECFF"/>
          </a:solidFill>
          <a:ln/>
        </p:spPr>
      </p:sp>
      <p:sp>
        <p:nvSpPr>
          <p:cNvPr id="3" name="Shape 1"/>
          <p:cNvSpPr/>
          <p:nvPr/>
        </p:nvSpPr>
        <p:spPr>
          <a:xfrm>
            <a:off x="10820095" y="-548640"/>
            <a:ext cx="2194560" cy="2194560"/>
          </a:xfrm>
          <a:prstGeom prst="ellipse">
            <a:avLst/>
          </a:prstGeom>
          <a:solidFill>
            <a:srgbClr val="E8F1FB">
              <a:alpha val="60000"/>
            </a:srgbClr>
          </a:solidFill>
          <a:ln/>
        </p:spPr>
      </p:sp>
      <p:sp>
        <p:nvSpPr>
          <p:cNvPr id="4" name="Shape 2"/>
          <p:cNvSpPr/>
          <p:nvPr/>
        </p:nvSpPr>
        <p:spPr>
          <a:xfrm>
            <a:off x="548640" y="5486400"/>
            <a:ext cx="54864" cy="54864"/>
          </a:xfrm>
          <a:prstGeom prst="ellipse">
            <a:avLst/>
          </a:prstGeom>
          <a:solidFill>
            <a:srgbClr val="5028C2">
              <a:alpha val="30000"/>
            </a:srgbClr>
          </a:solidFill>
          <a:ln/>
        </p:spPr>
      </p:sp>
      <p:sp>
        <p:nvSpPr>
          <p:cNvPr id="5" name="Shape 3"/>
          <p:cNvSpPr/>
          <p:nvPr/>
        </p:nvSpPr>
        <p:spPr>
          <a:xfrm>
            <a:off x="548640" y="5650992"/>
            <a:ext cx="54864" cy="54864"/>
          </a:xfrm>
          <a:prstGeom prst="ellipse">
            <a:avLst/>
          </a:prstGeom>
          <a:solidFill>
            <a:srgbClr val="5028C2">
              <a:alpha val="30000"/>
            </a:srgbClr>
          </a:solidFill>
          <a:ln/>
        </p:spPr>
      </p:sp>
      <p:sp>
        <p:nvSpPr>
          <p:cNvPr id="6" name="Shape 4"/>
          <p:cNvSpPr/>
          <p:nvPr/>
        </p:nvSpPr>
        <p:spPr>
          <a:xfrm>
            <a:off x="548640" y="5815584"/>
            <a:ext cx="54864" cy="54864"/>
          </a:xfrm>
          <a:prstGeom prst="ellipse">
            <a:avLst/>
          </a:prstGeom>
          <a:solidFill>
            <a:srgbClr val="5028C2">
              <a:alpha val="30000"/>
            </a:srgbClr>
          </a:solidFill>
          <a:ln/>
        </p:spPr>
      </p:sp>
      <p:sp>
        <p:nvSpPr>
          <p:cNvPr id="7" name="Shape 5"/>
          <p:cNvSpPr/>
          <p:nvPr/>
        </p:nvSpPr>
        <p:spPr>
          <a:xfrm>
            <a:off x="713232" y="5486400"/>
            <a:ext cx="54864" cy="54864"/>
          </a:xfrm>
          <a:prstGeom prst="ellipse">
            <a:avLst/>
          </a:prstGeom>
          <a:solidFill>
            <a:srgbClr val="5028C2">
              <a:alpha val="30000"/>
            </a:srgbClr>
          </a:solidFill>
          <a:ln/>
        </p:spPr>
      </p:sp>
      <p:sp>
        <p:nvSpPr>
          <p:cNvPr id="8" name="Shape 6"/>
          <p:cNvSpPr/>
          <p:nvPr/>
        </p:nvSpPr>
        <p:spPr>
          <a:xfrm>
            <a:off x="713232" y="5650992"/>
            <a:ext cx="54864" cy="54864"/>
          </a:xfrm>
          <a:prstGeom prst="ellipse">
            <a:avLst/>
          </a:prstGeom>
          <a:solidFill>
            <a:srgbClr val="5028C2">
              <a:alpha val="30000"/>
            </a:srgbClr>
          </a:solidFill>
          <a:ln/>
        </p:spPr>
      </p:sp>
      <p:sp>
        <p:nvSpPr>
          <p:cNvPr id="9" name="Shape 7"/>
          <p:cNvSpPr/>
          <p:nvPr/>
        </p:nvSpPr>
        <p:spPr>
          <a:xfrm>
            <a:off x="713232" y="5815584"/>
            <a:ext cx="54864" cy="54864"/>
          </a:xfrm>
          <a:prstGeom prst="ellipse">
            <a:avLst/>
          </a:prstGeom>
          <a:solidFill>
            <a:srgbClr val="5028C2">
              <a:alpha val="30000"/>
            </a:srgbClr>
          </a:solidFill>
          <a:ln/>
        </p:spPr>
      </p:sp>
      <p:sp>
        <p:nvSpPr>
          <p:cNvPr id="10" name="Shape 8"/>
          <p:cNvSpPr/>
          <p:nvPr/>
        </p:nvSpPr>
        <p:spPr>
          <a:xfrm>
            <a:off x="877824" y="5486400"/>
            <a:ext cx="54864" cy="54864"/>
          </a:xfrm>
          <a:prstGeom prst="ellipse">
            <a:avLst/>
          </a:prstGeom>
          <a:solidFill>
            <a:srgbClr val="5028C2">
              <a:alpha val="30000"/>
            </a:srgbClr>
          </a:solidFill>
          <a:ln/>
        </p:spPr>
      </p:sp>
      <p:sp>
        <p:nvSpPr>
          <p:cNvPr id="11" name="Shape 9"/>
          <p:cNvSpPr/>
          <p:nvPr/>
        </p:nvSpPr>
        <p:spPr>
          <a:xfrm>
            <a:off x="877824" y="5650992"/>
            <a:ext cx="54864" cy="54864"/>
          </a:xfrm>
          <a:prstGeom prst="ellipse">
            <a:avLst/>
          </a:prstGeom>
          <a:solidFill>
            <a:srgbClr val="5028C2">
              <a:alpha val="30000"/>
            </a:srgbClr>
          </a:solidFill>
          <a:ln/>
        </p:spPr>
      </p:sp>
      <p:sp>
        <p:nvSpPr>
          <p:cNvPr id="12" name="Shape 10"/>
          <p:cNvSpPr/>
          <p:nvPr/>
        </p:nvSpPr>
        <p:spPr>
          <a:xfrm>
            <a:off x="877824" y="5815584"/>
            <a:ext cx="54864" cy="54864"/>
          </a:xfrm>
          <a:prstGeom prst="ellipse">
            <a:avLst/>
          </a:prstGeom>
          <a:solidFill>
            <a:srgbClr val="5028C2">
              <a:alpha val="30000"/>
            </a:srgbClr>
          </a:solidFill>
          <a:ln/>
        </p:spPr>
      </p:sp>
      <p:sp>
        <p:nvSpPr>
          <p:cNvPr id="13" name="Shape 11"/>
          <p:cNvSpPr/>
          <p:nvPr/>
        </p:nvSpPr>
        <p:spPr>
          <a:xfrm>
            <a:off x="1042416" y="5486400"/>
            <a:ext cx="54864" cy="54864"/>
          </a:xfrm>
          <a:prstGeom prst="ellipse">
            <a:avLst/>
          </a:prstGeom>
          <a:solidFill>
            <a:srgbClr val="5028C2">
              <a:alpha val="30000"/>
            </a:srgbClr>
          </a:solidFill>
          <a:ln/>
        </p:spPr>
      </p:sp>
      <p:sp>
        <p:nvSpPr>
          <p:cNvPr id="14" name="Shape 12"/>
          <p:cNvSpPr/>
          <p:nvPr/>
        </p:nvSpPr>
        <p:spPr>
          <a:xfrm>
            <a:off x="1042416" y="5650992"/>
            <a:ext cx="54864" cy="54864"/>
          </a:xfrm>
          <a:prstGeom prst="ellipse">
            <a:avLst/>
          </a:prstGeom>
          <a:solidFill>
            <a:srgbClr val="5028C2">
              <a:alpha val="30000"/>
            </a:srgbClr>
          </a:solidFill>
          <a:ln/>
        </p:spPr>
      </p:sp>
      <p:sp>
        <p:nvSpPr>
          <p:cNvPr id="15" name="Shape 13"/>
          <p:cNvSpPr/>
          <p:nvPr/>
        </p:nvSpPr>
        <p:spPr>
          <a:xfrm>
            <a:off x="1042416" y="5815584"/>
            <a:ext cx="54864" cy="54864"/>
          </a:xfrm>
          <a:prstGeom prst="ellipse">
            <a:avLst/>
          </a:prstGeom>
          <a:solidFill>
            <a:srgbClr val="5028C2">
              <a:alpha val="30000"/>
            </a:srgbClr>
          </a:solidFill>
          <a:ln/>
        </p:spPr>
      </p:sp>
      <p:sp>
        <p:nvSpPr>
          <p:cNvPr id="16" name="Shape 14"/>
          <p:cNvSpPr/>
          <p:nvPr/>
        </p:nvSpPr>
        <p:spPr>
          <a:xfrm>
            <a:off x="1207008" y="5486400"/>
            <a:ext cx="54864" cy="54864"/>
          </a:xfrm>
          <a:prstGeom prst="ellipse">
            <a:avLst/>
          </a:prstGeom>
          <a:solidFill>
            <a:srgbClr val="5028C2">
              <a:alpha val="30000"/>
            </a:srgbClr>
          </a:solidFill>
          <a:ln/>
        </p:spPr>
      </p:sp>
      <p:sp>
        <p:nvSpPr>
          <p:cNvPr id="17" name="Shape 15"/>
          <p:cNvSpPr/>
          <p:nvPr/>
        </p:nvSpPr>
        <p:spPr>
          <a:xfrm>
            <a:off x="1207008" y="5650992"/>
            <a:ext cx="54864" cy="54864"/>
          </a:xfrm>
          <a:prstGeom prst="ellipse">
            <a:avLst/>
          </a:prstGeom>
          <a:solidFill>
            <a:srgbClr val="5028C2">
              <a:alpha val="30000"/>
            </a:srgbClr>
          </a:solidFill>
          <a:ln/>
        </p:spPr>
      </p:sp>
      <p:sp>
        <p:nvSpPr>
          <p:cNvPr id="18" name="Shape 16"/>
          <p:cNvSpPr/>
          <p:nvPr/>
        </p:nvSpPr>
        <p:spPr>
          <a:xfrm>
            <a:off x="1207008" y="5815584"/>
            <a:ext cx="54864" cy="54864"/>
          </a:xfrm>
          <a:prstGeom prst="ellipse">
            <a:avLst/>
          </a:prstGeom>
          <a:solidFill>
            <a:srgbClr val="5028C2">
              <a:alpha val="30000"/>
            </a:srgbClr>
          </a:solidFill>
          <a:ln/>
        </p:spPr>
      </p:sp>
      <p:sp>
        <p:nvSpPr>
          <p:cNvPr id="19" name="Shape 17"/>
          <p:cNvSpPr/>
          <p:nvPr/>
        </p:nvSpPr>
        <p:spPr>
          <a:xfrm>
            <a:off x="1371600" y="5486400"/>
            <a:ext cx="54864" cy="54864"/>
          </a:xfrm>
          <a:prstGeom prst="ellipse">
            <a:avLst/>
          </a:prstGeom>
          <a:solidFill>
            <a:srgbClr val="5028C2">
              <a:alpha val="30000"/>
            </a:srgbClr>
          </a:solidFill>
          <a:ln/>
        </p:spPr>
      </p:sp>
      <p:sp>
        <p:nvSpPr>
          <p:cNvPr id="20" name="Shape 18"/>
          <p:cNvSpPr/>
          <p:nvPr/>
        </p:nvSpPr>
        <p:spPr>
          <a:xfrm>
            <a:off x="1371600" y="5650992"/>
            <a:ext cx="54864" cy="54864"/>
          </a:xfrm>
          <a:prstGeom prst="ellipse">
            <a:avLst/>
          </a:prstGeom>
          <a:solidFill>
            <a:srgbClr val="5028C2">
              <a:alpha val="30000"/>
            </a:srgbClr>
          </a:solidFill>
          <a:ln/>
        </p:spPr>
      </p:sp>
      <p:sp>
        <p:nvSpPr>
          <p:cNvPr id="21" name="Shape 19"/>
          <p:cNvSpPr/>
          <p:nvPr/>
        </p:nvSpPr>
        <p:spPr>
          <a:xfrm>
            <a:off x="1371600" y="5815584"/>
            <a:ext cx="54864" cy="54864"/>
          </a:xfrm>
          <a:prstGeom prst="ellipse">
            <a:avLst/>
          </a:prstGeom>
          <a:solidFill>
            <a:srgbClr val="5028C2">
              <a:alpha val="30000"/>
            </a:srgbClr>
          </a:solidFill>
          <a:ln/>
        </p:spPr>
      </p:sp>
      <p:sp>
        <p:nvSpPr>
          <p:cNvPr id="22" name="Text 20"/>
          <p:cNvSpPr/>
          <p:nvPr/>
        </p:nvSpPr>
        <p:spPr>
          <a:xfrm>
            <a:off x="548640" y="1097280"/>
            <a:ext cx="11094415"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THE TEAM</a:t>
            </a:r>
            <a:endParaRPr lang="en-US" sz="1100" dirty="0"/>
          </a:p>
        </p:txBody>
      </p:sp>
      <p:sp>
        <p:nvSpPr>
          <p:cNvPr id="23" name="Text 21"/>
          <p:cNvSpPr/>
          <p:nvPr/>
        </p:nvSpPr>
        <p:spPr>
          <a:xfrm>
            <a:off x="548640" y="1554480"/>
            <a:ext cx="11094415" cy="3108960"/>
          </a:xfrm>
          <a:prstGeom prst="rect">
            <a:avLst/>
          </a:prstGeom>
          <a:noFill/>
          <a:ln/>
        </p:spPr>
        <p:txBody>
          <a:bodyPr wrap="square" lIns="0" tIns="0" rIns="0" bIns="0" rtlCol="0" anchor="t"/>
          <a:lstStyle/>
          <a:p>
            <a:pPr algn="l" indent="0" marL="0">
              <a:buNone/>
            </a:pPr>
            <a:r>
              <a:rPr lang="en-US" sz="5200" b="1" spc="-100" kern="0" dirty="0">
                <a:solidFill>
                  <a:srgbClr val="0F1733"/>
                </a:solidFill>
                <a:latin typeface="Calibri" pitchFamily="34" charset="0"/>
                <a:ea typeface="Calibri" pitchFamily="34" charset="-122"/>
                <a:cs typeface="Calibri" pitchFamily="34" charset="-120"/>
              </a:rPr>
              <a:t>Two founders. Complementary roles. One product.</a:t>
            </a:r>
            <a:endParaRPr lang="en-US" sz="5200" dirty="0"/>
          </a:p>
        </p:txBody>
      </p:sp>
      <p:sp>
        <p:nvSpPr>
          <p:cNvPr id="24" name="Text 22"/>
          <p:cNvSpPr/>
          <p:nvPr/>
        </p:nvSpPr>
        <p:spPr>
          <a:xfrm>
            <a:off x="548640" y="4754880"/>
            <a:ext cx="9265615" cy="1097280"/>
          </a:xfrm>
          <a:prstGeom prst="rect">
            <a:avLst/>
          </a:prstGeom>
          <a:noFill/>
          <a:ln/>
        </p:spPr>
        <p:txBody>
          <a:bodyPr wrap="square" lIns="0" tIns="0" rIns="0" bIns="0" rtlCol="0" anchor="t"/>
          <a:lstStyle/>
          <a:p>
            <a:pPr algn="l" indent="0" marL="0">
              <a:buNone/>
            </a:pPr>
            <a:r>
              <a:rPr lang="en-US" sz="1800" dirty="0">
                <a:solidFill>
                  <a:srgbClr val="2A3358"/>
                </a:solidFill>
                <a:latin typeface="Calibri" pitchFamily="34" charset="0"/>
                <a:ea typeface="Calibri" pitchFamily="34" charset="-122"/>
                <a:cs typeface="Calibri" pitchFamily="34" charset="-120"/>
              </a:rPr>
              <a:t>Dylan builds. Ryan brings the industry. Together we cover product execution and the network needed to bring real B2B buyers in the door.</a:t>
            </a:r>
            <a:endParaRPr lang="en-US" sz="1800" dirty="0"/>
          </a:p>
        </p:txBody>
      </p:sp>
      <p:sp>
        <p:nvSpPr>
          <p:cNvPr id="25" name="Shape 23"/>
          <p:cNvSpPr/>
          <p:nvPr/>
        </p:nvSpPr>
        <p:spPr>
          <a:xfrm>
            <a:off x="548640" y="502920"/>
            <a:ext cx="292608" cy="292608"/>
          </a:xfrm>
          <a:prstGeom prst="roundRect">
            <a:avLst>
              <a:gd name="adj" fmla="val 25000"/>
            </a:avLst>
          </a:prstGeom>
          <a:solidFill>
            <a:srgbClr val="5028C2"/>
          </a:solidFill>
          <a:ln/>
        </p:spPr>
      </p:sp>
      <p:sp>
        <p:nvSpPr>
          <p:cNvPr id="26" name="Shape 24"/>
          <p:cNvSpPr/>
          <p:nvPr/>
        </p:nvSpPr>
        <p:spPr>
          <a:xfrm>
            <a:off x="548640" y="502920"/>
            <a:ext cx="292608" cy="292608"/>
          </a:xfrm>
          <a:prstGeom prst="roundRect">
            <a:avLst>
              <a:gd name="adj" fmla="val 25000"/>
            </a:avLst>
          </a:prstGeom>
          <a:solidFill>
            <a:srgbClr val="1A6FBE">
              <a:alpha val="50000"/>
            </a:srgbClr>
          </a:solidFill>
          <a:ln/>
        </p:spPr>
      </p:sp>
      <p:sp>
        <p:nvSpPr>
          <p:cNvPr id="27" name="Text 25"/>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8" name="Text 26"/>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9" name="Text 27"/>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15 · The Team  ·  vA</a:t>
            </a:r>
            <a:endParaRPr lang="en-US" sz="900" dirty="0"/>
          </a:p>
        </p:txBody>
      </p:sp>
      <p:sp>
        <p:nvSpPr>
          <p:cNvPr id="30" name="Text 28"/>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31" name="Text 29"/>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099 / 126</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071183" y="0"/>
            <a:ext cx="5120512" cy="116300"/>
          </a:xfrm>
          <a:prstGeom prst="rect">
            <a:avLst/>
          </a:prstGeom>
          <a:solidFill>
            <a:srgbClr val="5028C2"/>
          </a:solidFill>
          <a:ln/>
        </p:spPr>
      </p:sp>
      <p:sp>
        <p:nvSpPr>
          <p:cNvPr id="3" name="Shape 1"/>
          <p:cNvSpPr/>
          <p:nvPr/>
        </p:nvSpPr>
        <p:spPr>
          <a:xfrm>
            <a:off x="7071183" y="107156"/>
            <a:ext cx="5120512" cy="116300"/>
          </a:xfrm>
          <a:prstGeom prst="rect">
            <a:avLst/>
          </a:prstGeom>
          <a:solidFill>
            <a:srgbClr val="4F29C2"/>
          </a:solidFill>
          <a:ln/>
        </p:spPr>
      </p:sp>
      <p:sp>
        <p:nvSpPr>
          <p:cNvPr id="4" name="Shape 2"/>
          <p:cNvSpPr/>
          <p:nvPr/>
        </p:nvSpPr>
        <p:spPr>
          <a:xfrm>
            <a:off x="7071183" y="214313"/>
            <a:ext cx="5120512" cy="116300"/>
          </a:xfrm>
          <a:prstGeom prst="rect">
            <a:avLst/>
          </a:prstGeom>
          <a:solidFill>
            <a:srgbClr val="4E2AC3"/>
          </a:solidFill>
          <a:ln/>
        </p:spPr>
      </p:sp>
      <p:sp>
        <p:nvSpPr>
          <p:cNvPr id="5" name="Shape 3"/>
          <p:cNvSpPr/>
          <p:nvPr/>
        </p:nvSpPr>
        <p:spPr>
          <a:xfrm>
            <a:off x="7071183" y="321469"/>
            <a:ext cx="5120512" cy="116300"/>
          </a:xfrm>
          <a:prstGeom prst="rect">
            <a:avLst/>
          </a:prstGeom>
          <a:solidFill>
            <a:srgbClr val="4D2BC3"/>
          </a:solidFill>
          <a:ln/>
        </p:spPr>
      </p:sp>
      <p:sp>
        <p:nvSpPr>
          <p:cNvPr id="6" name="Shape 4"/>
          <p:cNvSpPr/>
          <p:nvPr/>
        </p:nvSpPr>
        <p:spPr>
          <a:xfrm>
            <a:off x="7071183" y="428625"/>
            <a:ext cx="5120512" cy="116300"/>
          </a:xfrm>
          <a:prstGeom prst="rect">
            <a:avLst/>
          </a:prstGeom>
          <a:solidFill>
            <a:srgbClr val="4D2CC4"/>
          </a:solidFill>
          <a:ln/>
        </p:spPr>
      </p:sp>
      <p:sp>
        <p:nvSpPr>
          <p:cNvPr id="7" name="Shape 5"/>
          <p:cNvSpPr/>
          <p:nvPr/>
        </p:nvSpPr>
        <p:spPr>
          <a:xfrm>
            <a:off x="7071183" y="535781"/>
            <a:ext cx="5120512" cy="116300"/>
          </a:xfrm>
          <a:prstGeom prst="rect">
            <a:avLst/>
          </a:prstGeom>
          <a:solidFill>
            <a:srgbClr val="4C2DC4"/>
          </a:solidFill>
          <a:ln/>
        </p:spPr>
      </p:sp>
      <p:sp>
        <p:nvSpPr>
          <p:cNvPr id="8" name="Shape 6"/>
          <p:cNvSpPr/>
          <p:nvPr/>
        </p:nvSpPr>
        <p:spPr>
          <a:xfrm>
            <a:off x="7071183" y="642938"/>
            <a:ext cx="5120512" cy="116300"/>
          </a:xfrm>
          <a:prstGeom prst="rect">
            <a:avLst/>
          </a:prstGeom>
          <a:solidFill>
            <a:srgbClr val="4B2EC5"/>
          </a:solidFill>
          <a:ln/>
        </p:spPr>
      </p:sp>
      <p:sp>
        <p:nvSpPr>
          <p:cNvPr id="9" name="Shape 7"/>
          <p:cNvSpPr/>
          <p:nvPr/>
        </p:nvSpPr>
        <p:spPr>
          <a:xfrm>
            <a:off x="7071183" y="750094"/>
            <a:ext cx="5120512" cy="116300"/>
          </a:xfrm>
          <a:prstGeom prst="rect">
            <a:avLst/>
          </a:prstGeom>
          <a:solidFill>
            <a:srgbClr val="4A2FC5"/>
          </a:solidFill>
          <a:ln/>
        </p:spPr>
      </p:sp>
      <p:sp>
        <p:nvSpPr>
          <p:cNvPr id="10" name="Shape 8"/>
          <p:cNvSpPr/>
          <p:nvPr/>
        </p:nvSpPr>
        <p:spPr>
          <a:xfrm>
            <a:off x="7071183" y="857250"/>
            <a:ext cx="5120512" cy="116300"/>
          </a:xfrm>
          <a:prstGeom prst="rect">
            <a:avLst/>
          </a:prstGeom>
          <a:solidFill>
            <a:srgbClr val="4930C6"/>
          </a:solidFill>
          <a:ln/>
        </p:spPr>
      </p:sp>
      <p:sp>
        <p:nvSpPr>
          <p:cNvPr id="11" name="Shape 9"/>
          <p:cNvSpPr/>
          <p:nvPr/>
        </p:nvSpPr>
        <p:spPr>
          <a:xfrm>
            <a:off x="7071183" y="964406"/>
            <a:ext cx="5120512" cy="116300"/>
          </a:xfrm>
          <a:prstGeom prst="rect">
            <a:avLst/>
          </a:prstGeom>
          <a:solidFill>
            <a:srgbClr val="4831C6"/>
          </a:solidFill>
          <a:ln/>
        </p:spPr>
      </p:sp>
      <p:sp>
        <p:nvSpPr>
          <p:cNvPr id="12" name="Shape 10"/>
          <p:cNvSpPr/>
          <p:nvPr/>
        </p:nvSpPr>
        <p:spPr>
          <a:xfrm>
            <a:off x="7071183" y="1071563"/>
            <a:ext cx="5120512" cy="116300"/>
          </a:xfrm>
          <a:prstGeom prst="rect">
            <a:avLst/>
          </a:prstGeom>
          <a:solidFill>
            <a:srgbClr val="4732C6"/>
          </a:solidFill>
          <a:ln/>
        </p:spPr>
      </p:sp>
      <p:sp>
        <p:nvSpPr>
          <p:cNvPr id="13" name="Shape 11"/>
          <p:cNvSpPr/>
          <p:nvPr/>
        </p:nvSpPr>
        <p:spPr>
          <a:xfrm>
            <a:off x="7071183" y="1178719"/>
            <a:ext cx="5120512" cy="116300"/>
          </a:xfrm>
          <a:prstGeom prst="rect">
            <a:avLst/>
          </a:prstGeom>
          <a:solidFill>
            <a:srgbClr val="4733C7"/>
          </a:solidFill>
          <a:ln/>
        </p:spPr>
      </p:sp>
      <p:sp>
        <p:nvSpPr>
          <p:cNvPr id="14" name="Shape 12"/>
          <p:cNvSpPr/>
          <p:nvPr/>
        </p:nvSpPr>
        <p:spPr>
          <a:xfrm>
            <a:off x="7071183" y="1285875"/>
            <a:ext cx="5120512" cy="116300"/>
          </a:xfrm>
          <a:prstGeom prst="rect">
            <a:avLst/>
          </a:prstGeom>
          <a:solidFill>
            <a:srgbClr val="4634C7"/>
          </a:solidFill>
          <a:ln/>
        </p:spPr>
      </p:sp>
      <p:sp>
        <p:nvSpPr>
          <p:cNvPr id="15" name="Shape 13"/>
          <p:cNvSpPr/>
          <p:nvPr/>
        </p:nvSpPr>
        <p:spPr>
          <a:xfrm>
            <a:off x="7071183" y="1393031"/>
            <a:ext cx="5120512" cy="116300"/>
          </a:xfrm>
          <a:prstGeom prst="rect">
            <a:avLst/>
          </a:prstGeom>
          <a:solidFill>
            <a:srgbClr val="4535C8"/>
          </a:solidFill>
          <a:ln/>
        </p:spPr>
      </p:sp>
      <p:sp>
        <p:nvSpPr>
          <p:cNvPr id="16" name="Shape 14"/>
          <p:cNvSpPr/>
          <p:nvPr/>
        </p:nvSpPr>
        <p:spPr>
          <a:xfrm>
            <a:off x="7071183" y="1500188"/>
            <a:ext cx="5120512" cy="116300"/>
          </a:xfrm>
          <a:prstGeom prst="rect">
            <a:avLst/>
          </a:prstGeom>
          <a:solidFill>
            <a:srgbClr val="4436C8"/>
          </a:solidFill>
          <a:ln/>
        </p:spPr>
      </p:sp>
      <p:sp>
        <p:nvSpPr>
          <p:cNvPr id="17" name="Shape 15"/>
          <p:cNvSpPr/>
          <p:nvPr/>
        </p:nvSpPr>
        <p:spPr>
          <a:xfrm>
            <a:off x="7071183" y="1607344"/>
            <a:ext cx="5120512" cy="116300"/>
          </a:xfrm>
          <a:prstGeom prst="rect">
            <a:avLst/>
          </a:prstGeom>
          <a:solidFill>
            <a:srgbClr val="4337C9"/>
          </a:solidFill>
          <a:ln/>
        </p:spPr>
      </p:sp>
      <p:sp>
        <p:nvSpPr>
          <p:cNvPr id="18" name="Shape 16"/>
          <p:cNvSpPr/>
          <p:nvPr/>
        </p:nvSpPr>
        <p:spPr>
          <a:xfrm>
            <a:off x="7071183" y="1714500"/>
            <a:ext cx="5120512" cy="116300"/>
          </a:xfrm>
          <a:prstGeom prst="rect">
            <a:avLst/>
          </a:prstGeom>
          <a:solidFill>
            <a:srgbClr val="4238C9"/>
          </a:solidFill>
          <a:ln/>
        </p:spPr>
      </p:sp>
      <p:sp>
        <p:nvSpPr>
          <p:cNvPr id="19" name="Shape 17"/>
          <p:cNvSpPr/>
          <p:nvPr/>
        </p:nvSpPr>
        <p:spPr>
          <a:xfrm>
            <a:off x="7071183" y="1821656"/>
            <a:ext cx="5120512" cy="116300"/>
          </a:xfrm>
          <a:prstGeom prst="rect">
            <a:avLst/>
          </a:prstGeom>
          <a:solidFill>
            <a:srgbClr val="4139CA"/>
          </a:solidFill>
          <a:ln/>
        </p:spPr>
      </p:sp>
      <p:sp>
        <p:nvSpPr>
          <p:cNvPr id="20" name="Shape 18"/>
          <p:cNvSpPr/>
          <p:nvPr/>
        </p:nvSpPr>
        <p:spPr>
          <a:xfrm>
            <a:off x="7071183" y="1928813"/>
            <a:ext cx="5120512" cy="116300"/>
          </a:xfrm>
          <a:prstGeom prst="rect">
            <a:avLst/>
          </a:prstGeom>
          <a:solidFill>
            <a:srgbClr val="413ACA"/>
          </a:solidFill>
          <a:ln/>
        </p:spPr>
      </p:sp>
      <p:sp>
        <p:nvSpPr>
          <p:cNvPr id="21" name="Shape 19"/>
          <p:cNvSpPr/>
          <p:nvPr/>
        </p:nvSpPr>
        <p:spPr>
          <a:xfrm>
            <a:off x="7071183" y="2035969"/>
            <a:ext cx="5120512" cy="116300"/>
          </a:xfrm>
          <a:prstGeom prst="rect">
            <a:avLst/>
          </a:prstGeom>
          <a:solidFill>
            <a:srgbClr val="403BCA"/>
          </a:solidFill>
          <a:ln/>
        </p:spPr>
      </p:sp>
      <p:sp>
        <p:nvSpPr>
          <p:cNvPr id="22" name="Shape 20"/>
          <p:cNvSpPr/>
          <p:nvPr/>
        </p:nvSpPr>
        <p:spPr>
          <a:xfrm>
            <a:off x="7071183" y="2143125"/>
            <a:ext cx="5120512" cy="116300"/>
          </a:xfrm>
          <a:prstGeom prst="rect">
            <a:avLst/>
          </a:prstGeom>
          <a:solidFill>
            <a:srgbClr val="3F3CCB"/>
          </a:solidFill>
          <a:ln/>
        </p:spPr>
      </p:sp>
      <p:sp>
        <p:nvSpPr>
          <p:cNvPr id="23" name="Shape 21"/>
          <p:cNvSpPr/>
          <p:nvPr/>
        </p:nvSpPr>
        <p:spPr>
          <a:xfrm>
            <a:off x="7071183" y="2250281"/>
            <a:ext cx="5120512" cy="116300"/>
          </a:xfrm>
          <a:prstGeom prst="rect">
            <a:avLst/>
          </a:prstGeom>
          <a:solidFill>
            <a:srgbClr val="3E3DCB"/>
          </a:solidFill>
          <a:ln/>
        </p:spPr>
      </p:sp>
      <p:sp>
        <p:nvSpPr>
          <p:cNvPr id="24" name="Shape 22"/>
          <p:cNvSpPr/>
          <p:nvPr/>
        </p:nvSpPr>
        <p:spPr>
          <a:xfrm>
            <a:off x="7071183" y="2357438"/>
            <a:ext cx="5120512" cy="116300"/>
          </a:xfrm>
          <a:prstGeom prst="rect">
            <a:avLst/>
          </a:prstGeom>
          <a:solidFill>
            <a:srgbClr val="3D3ECC"/>
          </a:solidFill>
          <a:ln/>
        </p:spPr>
      </p:sp>
      <p:sp>
        <p:nvSpPr>
          <p:cNvPr id="25" name="Shape 23"/>
          <p:cNvSpPr/>
          <p:nvPr/>
        </p:nvSpPr>
        <p:spPr>
          <a:xfrm>
            <a:off x="7071183" y="2464594"/>
            <a:ext cx="5120512" cy="116300"/>
          </a:xfrm>
          <a:prstGeom prst="rect">
            <a:avLst/>
          </a:prstGeom>
          <a:solidFill>
            <a:srgbClr val="3C3FCC"/>
          </a:solidFill>
          <a:ln/>
        </p:spPr>
      </p:sp>
      <p:sp>
        <p:nvSpPr>
          <p:cNvPr id="26" name="Shape 24"/>
          <p:cNvSpPr/>
          <p:nvPr/>
        </p:nvSpPr>
        <p:spPr>
          <a:xfrm>
            <a:off x="7071183" y="2571750"/>
            <a:ext cx="5120512" cy="116300"/>
          </a:xfrm>
          <a:prstGeom prst="rect">
            <a:avLst/>
          </a:prstGeom>
          <a:solidFill>
            <a:srgbClr val="3B40CD"/>
          </a:solidFill>
          <a:ln/>
        </p:spPr>
      </p:sp>
      <p:sp>
        <p:nvSpPr>
          <p:cNvPr id="27" name="Shape 25"/>
          <p:cNvSpPr/>
          <p:nvPr/>
        </p:nvSpPr>
        <p:spPr>
          <a:xfrm>
            <a:off x="7071183" y="2678906"/>
            <a:ext cx="5120512" cy="116300"/>
          </a:xfrm>
          <a:prstGeom prst="rect">
            <a:avLst/>
          </a:prstGeom>
          <a:solidFill>
            <a:srgbClr val="3B41CD"/>
          </a:solidFill>
          <a:ln/>
        </p:spPr>
      </p:sp>
      <p:sp>
        <p:nvSpPr>
          <p:cNvPr id="28" name="Shape 26"/>
          <p:cNvSpPr/>
          <p:nvPr/>
        </p:nvSpPr>
        <p:spPr>
          <a:xfrm>
            <a:off x="7071183" y="2786063"/>
            <a:ext cx="5120512" cy="116300"/>
          </a:xfrm>
          <a:prstGeom prst="rect">
            <a:avLst/>
          </a:prstGeom>
          <a:solidFill>
            <a:srgbClr val="3A42CE"/>
          </a:solidFill>
          <a:ln/>
        </p:spPr>
      </p:sp>
      <p:sp>
        <p:nvSpPr>
          <p:cNvPr id="29" name="Shape 27"/>
          <p:cNvSpPr/>
          <p:nvPr/>
        </p:nvSpPr>
        <p:spPr>
          <a:xfrm>
            <a:off x="7071183" y="2893219"/>
            <a:ext cx="5120512" cy="116300"/>
          </a:xfrm>
          <a:prstGeom prst="rect">
            <a:avLst/>
          </a:prstGeom>
          <a:solidFill>
            <a:srgbClr val="3943CE"/>
          </a:solidFill>
          <a:ln/>
        </p:spPr>
      </p:sp>
      <p:sp>
        <p:nvSpPr>
          <p:cNvPr id="30" name="Shape 28"/>
          <p:cNvSpPr/>
          <p:nvPr/>
        </p:nvSpPr>
        <p:spPr>
          <a:xfrm>
            <a:off x="7071183" y="3000375"/>
            <a:ext cx="5120512" cy="116300"/>
          </a:xfrm>
          <a:prstGeom prst="rect">
            <a:avLst/>
          </a:prstGeom>
          <a:solidFill>
            <a:srgbClr val="3844CE"/>
          </a:solidFill>
          <a:ln/>
        </p:spPr>
      </p:sp>
      <p:sp>
        <p:nvSpPr>
          <p:cNvPr id="31" name="Shape 29"/>
          <p:cNvSpPr/>
          <p:nvPr/>
        </p:nvSpPr>
        <p:spPr>
          <a:xfrm>
            <a:off x="7071183" y="3107531"/>
            <a:ext cx="5120512" cy="116300"/>
          </a:xfrm>
          <a:prstGeom prst="rect">
            <a:avLst/>
          </a:prstGeom>
          <a:solidFill>
            <a:srgbClr val="3745CF"/>
          </a:solidFill>
          <a:ln/>
        </p:spPr>
      </p:sp>
      <p:sp>
        <p:nvSpPr>
          <p:cNvPr id="32" name="Shape 30"/>
          <p:cNvSpPr/>
          <p:nvPr/>
        </p:nvSpPr>
        <p:spPr>
          <a:xfrm>
            <a:off x="7071183" y="3214688"/>
            <a:ext cx="5120512" cy="116300"/>
          </a:xfrm>
          <a:prstGeom prst="rect">
            <a:avLst/>
          </a:prstGeom>
          <a:solidFill>
            <a:srgbClr val="3646CF"/>
          </a:solidFill>
          <a:ln/>
        </p:spPr>
      </p:sp>
      <p:sp>
        <p:nvSpPr>
          <p:cNvPr id="33" name="Shape 31"/>
          <p:cNvSpPr/>
          <p:nvPr/>
        </p:nvSpPr>
        <p:spPr>
          <a:xfrm>
            <a:off x="7071183" y="3321844"/>
            <a:ext cx="5120512" cy="116300"/>
          </a:xfrm>
          <a:prstGeom prst="rect">
            <a:avLst/>
          </a:prstGeom>
          <a:solidFill>
            <a:srgbClr val="3547D0"/>
          </a:solidFill>
          <a:ln/>
        </p:spPr>
      </p:sp>
      <p:sp>
        <p:nvSpPr>
          <p:cNvPr id="34" name="Shape 32"/>
          <p:cNvSpPr/>
          <p:nvPr/>
        </p:nvSpPr>
        <p:spPr>
          <a:xfrm>
            <a:off x="7071183" y="3429000"/>
            <a:ext cx="5120512" cy="116300"/>
          </a:xfrm>
          <a:prstGeom prst="rect">
            <a:avLst/>
          </a:prstGeom>
          <a:solidFill>
            <a:srgbClr val="3549D0"/>
          </a:solidFill>
          <a:ln/>
        </p:spPr>
      </p:sp>
      <p:sp>
        <p:nvSpPr>
          <p:cNvPr id="35" name="Shape 33"/>
          <p:cNvSpPr/>
          <p:nvPr/>
        </p:nvSpPr>
        <p:spPr>
          <a:xfrm>
            <a:off x="7071183" y="3536156"/>
            <a:ext cx="5120512" cy="116300"/>
          </a:xfrm>
          <a:prstGeom prst="rect">
            <a:avLst/>
          </a:prstGeom>
          <a:solidFill>
            <a:srgbClr val="344ACF"/>
          </a:solidFill>
          <a:ln/>
        </p:spPr>
      </p:sp>
      <p:sp>
        <p:nvSpPr>
          <p:cNvPr id="36" name="Shape 34"/>
          <p:cNvSpPr/>
          <p:nvPr/>
        </p:nvSpPr>
        <p:spPr>
          <a:xfrm>
            <a:off x="7071183" y="3643313"/>
            <a:ext cx="5120512" cy="116300"/>
          </a:xfrm>
          <a:prstGeom prst="rect">
            <a:avLst/>
          </a:prstGeom>
          <a:solidFill>
            <a:srgbClr val="334BCF"/>
          </a:solidFill>
          <a:ln/>
        </p:spPr>
      </p:sp>
      <p:sp>
        <p:nvSpPr>
          <p:cNvPr id="37" name="Shape 35"/>
          <p:cNvSpPr/>
          <p:nvPr/>
        </p:nvSpPr>
        <p:spPr>
          <a:xfrm>
            <a:off x="7071183" y="3750469"/>
            <a:ext cx="5120512" cy="116300"/>
          </a:xfrm>
          <a:prstGeom prst="rect">
            <a:avLst/>
          </a:prstGeom>
          <a:solidFill>
            <a:srgbClr val="324CCE"/>
          </a:solidFill>
          <a:ln/>
        </p:spPr>
      </p:sp>
      <p:sp>
        <p:nvSpPr>
          <p:cNvPr id="38" name="Shape 36"/>
          <p:cNvSpPr/>
          <p:nvPr/>
        </p:nvSpPr>
        <p:spPr>
          <a:xfrm>
            <a:off x="7071183" y="3857625"/>
            <a:ext cx="5120512" cy="116300"/>
          </a:xfrm>
          <a:prstGeom prst="rect">
            <a:avLst/>
          </a:prstGeom>
          <a:solidFill>
            <a:srgbClr val="314ECD"/>
          </a:solidFill>
          <a:ln/>
        </p:spPr>
      </p:sp>
      <p:sp>
        <p:nvSpPr>
          <p:cNvPr id="39" name="Shape 37"/>
          <p:cNvSpPr/>
          <p:nvPr/>
        </p:nvSpPr>
        <p:spPr>
          <a:xfrm>
            <a:off x="7071183" y="3964781"/>
            <a:ext cx="5120512" cy="116300"/>
          </a:xfrm>
          <a:prstGeom prst="rect">
            <a:avLst/>
          </a:prstGeom>
          <a:solidFill>
            <a:srgbClr val="304FCD"/>
          </a:solidFill>
          <a:ln/>
        </p:spPr>
      </p:sp>
      <p:sp>
        <p:nvSpPr>
          <p:cNvPr id="40" name="Shape 38"/>
          <p:cNvSpPr/>
          <p:nvPr/>
        </p:nvSpPr>
        <p:spPr>
          <a:xfrm>
            <a:off x="7071183" y="4071938"/>
            <a:ext cx="5120512" cy="116300"/>
          </a:xfrm>
          <a:prstGeom prst="rect">
            <a:avLst/>
          </a:prstGeom>
          <a:solidFill>
            <a:srgbClr val="2F50CC"/>
          </a:solidFill>
          <a:ln/>
        </p:spPr>
      </p:sp>
      <p:sp>
        <p:nvSpPr>
          <p:cNvPr id="41" name="Shape 39"/>
          <p:cNvSpPr/>
          <p:nvPr/>
        </p:nvSpPr>
        <p:spPr>
          <a:xfrm>
            <a:off x="7071183" y="4179094"/>
            <a:ext cx="5120512" cy="116300"/>
          </a:xfrm>
          <a:prstGeom prst="rect">
            <a:avLst/>
          </a:prstGeom>
          <a:solidFill>
            <a:srgbClr val="2F51CC"/>
          </a:solidFill>
          <a:ln/>
        </p:spPr>
      </p:sp>
      <p:sp>
        <p:nvSpPr>
          <p:cNvPr id="42" name="Shape 40"/>
          <p:cNvSpPr/>
          <p:nvPr/>
        </p:nvSpPr>
        <p:spPr>
          <a:xfrm>
            <a:off x="7071183" y="4286250"/>
            <a:ext cx="5120512" cy="116300"/>
          </a:xfrm>
          <a:prstGeom prst="rect">
            <a:avLst/>
          </a:prstGeom>
          <a:solidFill>
            <a:srgbClr val="2E53CB"/>
          </a:solidFill>
          <a:ln/>
        </p:spPr>
      </p:sp>
      <p:sp>
        <p:nvSpPr>
          <p:cNvPr id="43" name="Shape 41"/>
          <p:cNvSpPr/>
          <p:nvPr/>
        </p:nvSpPr>
        <p:spPr>
          <a:xfrm>
            <a:off x="7071183" y="4393406"/>
            <a:ext cx="5120512" cy="116300"/>
          </a:xfrm>
          <a:prstGeom prst="rect">
            <a:avLst/>
          </a:prstGeom>
          <a:solidFill>
            <a:srgbClr val="2D54CB"/>
          </a:solidFill>
          <a:ln/>
        </p:spPr>
      </p:sp>
      <p:sp>
        <p:nvSpPr>
          <p:cNvPr id="44" name="Shape 42"/>
          <p:cNvSpPr/>
          <p:nvPr/>
        </p:nvSpPr>
        <p:spPr>
          <a:xfrm>
            <a:off x="7071183" y="4500563"/>
            <a:ext cx="5120512" cy="116300"/>
          </a:xfrm>
          <a:prstGeom prst="rect">
            <a:avLst/>
          </a:prstGeom>
          <a:solidFill>
            <a:srgbClr val="2C55CA"/>
          </a:solidFill>
          <a:ln/>
        </p:spPr>
      </p:sp>
      <p:sp>
        <p:nvSpPr>
          <p:cNvPr id="45" name="Shape 43"/>
          <p:cNvSpPr/>
          <p:nvPr/>
        </p:nvSpPr>
        <p:spPr>
          <a:xfrm>
            <a:off x="7071183" y="4607719"/>
            <a:ext cx="5120512" cy="116300"/>
          </a:xfrm>
          <a:prstGeom prst="rect">
            <a:avLst/>
          </a:prstGeom>
          <a:solidFill>
            <a:srgbClr val="2B56C9"/>
          </a:solidFill>
          <a:ln/>
        </p:spPr>
      </p:sp>
      <p:sp>
        <p:nvSpPr>
          <p:cNvPr id="46" name="Shape 44"/>
          <p:cNvSpPr/>
          <p:nvPr/>
        </p:nvSpPr>
        <p:spPr>
          <a:xfrm>
            <a:off x="7071183" y="4714875"/>
            <a:ext cx="5120512" cy="116300"/>
          </a:xfrm>
          <a:prstGeom prst="rect">
            <a:avLst/>
          </a:prstGeom>
          <a:solidFill>
            <a:srgbClr val="2A57C9"/>
          </a:solidFill>
          <a:ln/>
        </p:spPr>
      </p:sp>
      <p:sp>
        <p:nvSpPr>
          <p:cNvPr id="47" name="Shape 45"/>
          <p:cNvSpPr/>
          <p:nvPr/>
        </p:nvSpPr>
        <p:spPr>
          <a:xfrm>
            <a:off x="7071183" y="4822031"/>
            <a:ext cx="5120512" cy="116300"/>
          </a:xfrm>
          <a:prstGeom prst="rect">
            <a:avLst/>
          </a:prstGeom>
          <a:solidFill>
            <a:srgbClr val="2959C8"/>
          </a:solidFill>
          <a:ln/>
        </p:spPr>
      </p:sp>
      <p:sp>
        <p:nvSpPr>
          <p:cNvPr id="48" name="Shape 46"/>
          <p:cNvSpPr/>
          <p:nvPr/>
        </p:nvSpPr>
        <p:spPr>
          <a:xfrm>
            <a:off x="7071183" y="4929188"/>
            <a:ext cx="5120512" cy="116300"/>
          </a:xfrm>
          <a:prstGeom prst="rect">
            <a:avLst/>
          </a:prstGeom>
          <a:solidFill>
            <a:srgbClr val="295AC8"/>
          </a:solidFill>
          <a:ln/>
        </p:spPr>
      </p:sp>
      <p:sp>
        <p:nvSpPr>
          <p:cNvPr id="49" name="Shape 47"/>
          <p:cNvSpPr/>
          <p:nvPr/>
        </p:nvSpPr>
        <p:spPr>
          <a:xfrm>
            <a:off x="7071183" y="5036344"/>
            <a:ext cx="5120512" cy="116300"/>
          </a:xfrm>
          <a:prstGeom prst="rect">
            <a:avLst/>
          </a:prstGeom>
          <a:solidFill>
            <a:srgbClr val="285BC7"/>
          </a:solidFill>
          <a:ln/>
        </p:spPr>
      </p:sp>
      <p:sp>
        <p:nvSpPr>
          <p:cNvPr id="50" name="Shape 48"/>
          <p:cNvSpPr/>
          <p:nvPr/>
        </p:nvSpPr>
        <p:spPr>
          <a:xfrm>
            <a:off x="7071183" y="5143500"/>
            <a:ext cx="5120512" cy="116300"/>
          </a:xfrm>
          <a:prstGeom prst="rect">
            <a:avLst/>
          </a:prstGeom>
          <a:solidFill>
            <a:srgbClr val="275CC7"/>
          </a:solidFill>
          <a:ln/>
        </p:spPr>
      </p:sp>
      <p:sp>
        <p:nvSpPr>
          <p:cNvPr id="51" name="Shape 49"/>
          <p:cNvSpPr/>
          <p:nvPr/>
        </p:nvSpPr>
        <p:spPr>
          <a:xfrm>
            <a:off x="7071183" y="5250656"/>
            <a:ext cx="5120512" cy="116300"/>
          </a:xfrm>
          <a:prstGeom prst="rect">
            <a:avLst/>
          </a:prstGeom>
          <a:solidFill>
            <a:srgbClr val="265EC6"/>
          </a:solidFill>
          <a:ln/>
        </p:spPr>
      </p:sp>
      <p:sp>
        <p:nvSpPr>
          <p:cNvPr id="52" name="Shape 50"/>
          <p:cNvSpPr/>
          <p:nvPr/>
        </p:nvSpPr>
        <p:spPr>
          <a:xfrm>
            <a:off x="7071183" y="5357813"/>
            <a:ext cx="5120512" cy="116300"/>
          </a:xfrm>
          <a:prstGeom prst="rect">
            <a:avLst/>
          </a:prstGeom>
          <a:solidFill>
            <a:srgbClr val="255FC5"/>
          </a:solidFill>
          <a:ln/>
        </p:spPr>
      </p:sp>
      <p:sp>
        <p:nvSpPr>
          <p:cNvPr id="53" name="Shape 51"/>
          <p:cNvSpPr/>
          <p:nvPr/>
        </p:nvSpPr>
        <p:spPr>
          <a:xfrm>
            <a:off x="7071183" y="5464969"/>
            <a:ext cx="5120512" cy="116300"/>
          </a:xfrm>
          <a:prstGeom prst="rect">
            <a:avLst/>
          </a:prstGeom>
          <a:solidFill>
            <a:srgbClr val="2460C5"/>
          </a:solidFill>
          <a:ln/>
        </p:spPr>
      </p:sp>
      <p:sp>
        <p:nvSpPr>
          <p:cNvPr id="54" name="Shape 52"/>
          <p:cNvSpPr/>
          <p:nvPr/>
        </p:nvSpPr>
        <p:spPr>
          <a:xfrm>
            <a:off x="7071183" y="5572125"/>
            <a:ext cx="5120512" cy="116300"/>
          </a:xfrm>
          <a:prstGeom prst="rect">
            <a:avLst/>
          </a:prstGeom>
          <a:solidFill>
            <a:srgbClr val="2361C4"/>
          </a:solidFill>
          <a:ln/>
        </p:spPr>
      </p:sp>
      <p:sp>
        <p:nvSpPr>
          <p:cNvPr id="55" name="Shape 53"/>
          <p:cNvSpPr/>
          <p:nvPr/>
        </p:nvSpPr>
        <p:spPr>
          <a:xfrm>
            <a:off x="7071183" y="5679281"/>
            <a:ext cx="5120512" cy="116300"/>
          </a:xfrm>
          <a:prstGeom prst="rect">
            <a:avLst/>
          </a:prstGeom>
          <a:solidFill>
            <a:srgbClr val="2363C4"/>
          </a:solidFill>
          <a:ln/>
        </p:spPr>
      </p:sp>
      <p:sp>
        <p:nvSpPr>
          <p:cNvPr id="56" name="Shape 54"/>
          <p:cNvSpPr/>
          <p:nvPr/>
        </p:nvSpPr>
        <p:spPr>
          <a:xfrm>
            <a:off x="7071183" y="5786438"/>
            <a:ext cx="5120512" cy="116300"/>
          </a:xfrm>
          <a:prstGeom prst="rect">
            <a:avLst/>
          </a:prstGeom>
          <a:solidFill>
            <a:srgbClr val="2264C3"/>
          </a:solidFill>
          <a:ln/>
        </p:spPr>
      </p:sp>
      <p:sp>
        <p:nvSpPr>
          <p:cNvPr id="57" name="Shape 55"/>
          <p:cNvSpPr/>
          <p:nvPr/>
        </p:nvSpPr>
        <p:spPr>
          <a:xfrm>
            <a:off x="7071183" y="5893594"/>
            <a:ext cx="5120512" cy="116300"/>
          </a:xfrm>
          <a:prstGeom prst="rect">
            <a:avLst/>
          </a:prstGeom>
          <a:solidFill>
            <a:srgbClr val="2165C3"/>
          </a:solidFill>
          <a:ln/>
        </p:spPr>
      </p:sp>
      <p:sp>
        <p:nvSpPr>
          <p:cNvPr id="58" name="Shape 56"/>
          <p:cNvSpPr/>
          <p:nvPr/>
        </p:nvSpPr>
        <p:spPr>
          <a:xfrm>
            <a:off x="7071183" y="6000750"/>
            <a:ext cx="5120512" cy="116300"/>
          </a:xfrm>
          <a:prstGeom prst="rect">
            <a:avLst/>
          </a:prstGeom>
          <a:solidFill>
            <a:srgbClr val="2066C2"/>
          </a:solidFill>
          <a:ln/>
        </p:spPr>
      </p:sp>
      <p:sp>
        <p:nvSpPr>
          <p:cNvPr id="59" name="Shape 57"/>
          <p:cNvSpPr/>
          <p:nvPr/>
        </p:nvSpPr>
        <p:spPr>
          <a:xfrm>
            <a:off x="7071183" y="6107906"/>
            <a:ext cx="5120512" cy="116300"/>
          </a:xfrm>
          <a:prstGeom prst="rect">
            <a:avLst/>
          </a:prstGeom>
          <a:solidFill>
            <a:srgbClr val="1F68C1"/>
          </a:solidFill>
          <a:ln/>
        </p:spPr>
      </p:sp>
      <p:sp>
        <p:nvSpPr>
          <p:cNvPr id="60" name="Shape 58"/>
          <p:cNvSpPr/>
          <p:nvPr/>
        </p:nvSpPr>
        <p:spPr>
          <a:xfrm>
            <a:off x="7071183" y="6215063"/>
            <a:ext cx="5120512" cy="116300"/>
          </a:xfrm>
          <a:prstGeom prst="rect">
            <a:avLst/>
          </a:prstGeom>
          <a:solidFill>
            <a:srgbClr val="1E69C1"/>
          </a:solidFill>
          <a:ln/>
        </p:spPr>
      </p:sp>
      <p:sp>
        <p:nvSpPr>
          <p:cNvPr id="61" name="Shape 59"/>
          <p:cNvSpPr/>
          <p:nvPr/>
        </p:nvSpPr>
        <p:spPr>
          <a:xfrm>
            <a:off x="7071183" y="6322219"/>
            <a:ext cx="5120512" cy="116300"/>
          </a:xfrm>
          <a:prstGeom prst="rect">
            <a:avLst/>
          </a:prstGeom>
          <a:solidFill>
            <a:srgbClr val="1D6AC0"/>
          </a:solidFill>
          <a:ln/>
        </p:spPr>
      </p:sp>
      <p:sp>
        <p:nvSpPr>
          <p:cNvPr id="62" name="Shape 60"/>
          <p:cNvSpPr/>
          <p:nvPr/>
        </p:nvSpPr>
        <p:spPr>
          <a:xfrm>
            <a:off x="7071183" y="6429375"/>
            <a:ext cx="5120512" cy="116300"/>
          </a:xfrm>
          <a:prstGeom prst="rect">
            <a:avLst/>
          </a:prstGeom>
          <a:solidFill>
            <a:srgbClr val="1D6BC0"/>
          </a:solidFill>
          <a:ln/>
        </p:spPr>
      </p:sp>
      <p:sp>
        <p:nvSpPr>
          <p:cNvPr id="63" name="Shape 61"/>
          <p:cNvSpPr/>
          <p:nvPr/>
        </p:nvSpPr>
        <p:spPr>
          <a:xfrm>
            <a:off x="7071183" y="6536531"/>
            <a:ext cx="5120512" cy="116300"/>
          </a:xfrm>
          <a:prstGeom prst="rect">
            <a:avLst/>
          </a:prstGeom>
          <a:solidFill>
            <a:srgbClr val="1C6DBF"/>
          </a:solidFill>
          <a:ln/>
        </p:spPr>
      </p:sp>
      <p:sp>
        <p:nvSpPr>
          <p:cNvPr id="64" name="Shape 62"/>
          <p:cNvSpPr/>
          <p:nvPr/>
        </p:nvSpPr>
        <p:spPr>
          <a:xfrm>
            <a:off x="7071183" y="6643688"/>
            <a:ext cx="5120512" cy="116300"/>
          </a:xfrm>
          <a:prstGeom prst="rect">
            <a:avLst/>
          </a:prstGeom>
          <a:solidFill>
            <a:srgbClr val="1B6EBF"/>
          </a:solidFill>
          <a:ln/>
        </p:spPr>
      </p:sp>
      <p:sp>
        <p:nvSpPr>
          <p:cNvPr id="65" name="Shape 63"/>
          <p:cNvSpPr/>
          <p:nvPr/>
        </p:nvSpPr>
        <p:spPr>
          <a:xfrm>
            <a:off x="7071183" y="6750844"/>
            <a:ext cx="5120512" cy="116300"/>
          </a:xfrm>
          <a:prstGeom prst="rect">
            <a:avLst/>
          </a:prstGeom>
          <a:solidFill>
            <a:srgbClr val="1A6FBE"/>
          </a:solidFill>
          <a:ln/>
        </p:spPr>
      </p:sp>
      <p:sp>
        <p:nvSpPr>
          <p:cNvPr id="66" name="Text 64"/>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FOUNDERS</a:t>
            </a:r>
            <a:endParaRPr lang="en-US" sz="1100" dirty="0"/>
          </a:p>
        </p:txBody>
      </p:sp>
      <p:sp>
        <p:nvSpPr>
          <p:cNvPr id="67" name="Text 65"/>
          <p:cNvSpPr/>
          <p:nvPr/>
        </p:nvSpPr>
        <p:spPr>
          <a:xfrm>
            <a:off x="548640" y="1417320"/>
            <a:ext cx="6156783" cy="2194560"/>
          </a:xfrm>
          <a:prstGeom prst="rect">
            <a:avLst/>
          </a:prstGeom>
          <a:noFill/>
          <a:ln/>
        </p:spPr>
        <p:txBody>
          <a:bodyPr wrap="square" lIns="0" tIns="0" rIns="0" bIns="0" rtlCol="0" anchor="t"/>
          <a:lstStyle/>
          <a:p>
            <a:pPr algn="l" indent="0" marL="0">
              <a:buNone/>
            </a:pPr>
            <a:r>
              <a:rPr lang="en-US" sz="4200" b="1" spc="-50" kern="0" dirty="0">
                <a:solidFill>
                  <a:srgbClr val="0F1733"/>
                </a:solidFill>
                <a:latin typeface="Calibri" pitchFamily="34" charset="0"/>
                <a:ea typeface="Calibri" pitchFamily="34" charset="-122"/>
                <a:cs typeface="Calibri" pitchFamily="34" charset="-120"/>
              </a:rPr>
              <a:t>Built by an operator. Distributed by an industry insider.</a:t>
            </a:r>
            <a:endParaRPr lang="en-US" sz="4200" dirty="0"/>
          </a:p>
        </p:txBody>
      </p:sp>
      <p:sp>
        <p:nvSpPr>
          <p:cNvPr id="68" name="Text 66"/>
          <p:cNvSpPr/>
          <p:nvPr/>
        </p:nvSpPr>
        <p:spPr>
          <a:xfrm>
            <a:off x="548640" y="3657600"/>
            <a:ext cx="6156783" cy="2377440"/>
          </a:xfrm>
          <a:prstGeom prst="rect">
            <a:avLst/>
          </a:prstGeom>
          <a:noFill/>
          <a:ln/>
        </p:spPr>
        <p:txBody>
          <a:bodyPr wrap="square" lIns="0" tIns="0" rIns="0" bIns="0" rtlCol="0" anchor="t"/>
          <a:lstStyle/>
          <a:p>
            <a:pPr algn="l" indent="0" marL="0">
              <a:spcAft>
                <a:spcPts val="800"/>
              </a:spcAft>
              <a:buNone/>
            </a:pPr>
            <a:r>
              <a:rPr lang="en-US" sz="1500" dirty="0">
                <a:solidFill>
                  <a:srgbClr val="2A3358"/>
                </a:solidFill>
                <a:latin typeface="Calibri" pitchFamily="34" charset="0"/>
                <a:ea typeface="Calibri" pitchFamily="34" charset="-122"/>
                <a:cs typeface="Calibri" pitchFamily="34" charset="-120"/>
              </a:rPr>
              <a:t>Dylan Meehan — founder, product, engineering, and customer-facing operations. Ran creator partnerships before building this, so the product reflects real workflow. Ryan Gaynor — co-originator, industry network, warm introductions, and ongoing strategic advisory. Together they cover product fidelity and B2B distribution from day one.</a:t>
            </a:r>
            <a:endParaRPr lang="en-US" sz="1500" dirty="0"/>
          </a:p>
        </p:txBody>
      </p:sp>
      <p:sp>
        <p:nvSpPr>
          <p:cNvPr id="69" name="Text 67"/>
          <p:cNvSpPr/>
          <p:nvPr/>
        </p:nvSpPr>
        <p:spPr>
          <a:xfrm>
            <a:off x="7436943" y="1371600"/>
            <a:ext cx="4388992" cy="4114800"/>
          </a:xfrm>
          <a:prstGeom prst="rect">
            <a:avLst/>
          </a:prstGeom>
          <a:noFill/>
          <a:ln/>
        </p:spPr>
        <p:txBody>
          <a:bodyPr wrap="square" lIns="0" tIns="0" rIns="0" bIns="0" rtlCol="0" anchor="t"/>
          <a:lstStyle/>
          <a:p>
            <a:pPr algn="l" indent="0" marL="0">
              <a:buNone/>
            </a:pPr>
            <a:r>
              <a:rPr lang="en-US" sz="2800" i="1" dirty="0">
                <a:solidFill>
                  <a:srgbClr val="FFFFFF"/>
                </a:solidFill>
                <a:latin typeface="Calibri" pitchFamily="34" charset="0"/>
                <a:ea typeface="Calibri" pitchFamily="34" charset="-122"/>
                <a:cs typeface="Calibri" pitchFamily="34" charset="-120"/>
              </a:rPr>
              <a:t>Dylan</a:t>
            </a:r>
            <a:endParaRPr lang="en-US" sz="2800" dirty="0"/>
          </a:p>
          <a:p>
            <a:pPr algn="l" indent="0" marL="0">
              <a:buNone/>
            </a:pPr>
            <a:r>
              <a:rPr lang="en-US" sz="2800" i="1" dirty="0">
                <a:solidFill>
                  <a:srgbClr val="FFFFFF"/>
                </a:solidFill>
                <a:latin typeface="Calibri" pitchFamily="34" charset="0"/>
                <a:ea typeface="Calibri" pitchFamily="34" charset="-122"/>
                <a:cs typeface="Calibri" pitchFamily="34" charset="-120"/>
              </a:rPr>
              <a:t>builds.</a:t>
            </a:r>
            <a:endParaRPr lang="en-US" sz="2800" dirty="0"/>
          </a:p>
          <a:p>
            <a:pPr algn="l" indent="0" marL="0">
              <a:buNone/>
            </a:pPr>
            <a:r>
              <a:rPr lang="en-US" sz="2800" i="1" dirty="0">
                <a:solidFill>
                  <a:srgbClr val="FFFFFF"/>
                </a:solidFill>
                <a:latin typeface="Calibri" pitchFamily="34" charset="0"/>
                <a:ea typeface="Calibri" pitchFamily="34" charset="-122"/>
                <a:cs typeface="Calibri" pitchFamily="34" charset="-120"/>
              </a:rPr>
              <a:t>Ryan</a:t>
            </a:r>
            <a:endParaRPr lang="en-US" sz="2800" dirty="0"/>
          </a:p>
          <a:p>
            <a:pPr algn="l" indent="0" marL="0">
              <a:buNone/>
            </a:pPr>
            <a:r>
              <a:rPr lang="en-US" sz="2800" i="1" dirty="0">
                <a:solidFill>
                  <a:srgbClr val="FFFFFF"/>
                </a:solidFill>
                <a:latin typeface="Calibri" pitchFamily="34" charset="0"/>
                <a:ea typeface="Calibri" pitchFamily="34" charset="-122"/>
                <a:cs typeface="Calibri" pitchFamily="34" charset="-120"/>
              </a:rPr>
              <a:t>distributes.</a:t>
            </a:r>
            <a:endParaRPr lang="en-US" sz="28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15 · The Team  ·  vB</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100 / 126</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ROLES</a:t>
            </a:r>
            <a:endParaRPr lang="en-US" sz="1100" dirty="0"/>
          </a:p>
        </p:txBody>
      </p:sp>
      <p:sp>
        <p:nvSpPr>
          <p:cNvPr id="3" name="Text 1"/>
          <p:cNvSpPr/>
          <p:nvPr/>
        </p:nvSpPr>
        <p:spPr>
          <a:xfrm>
            <a:off x="548640" y="1417320"/>
            <a:ext cx="11094415" cy="1188720"/>
          </a:xfrm>
          <a:prstGeom prst="rect">
            <a:avLst/>
          </a:prstGeom>
          <a:noFill/>
          <a:ln/>
        </p:spPr>
        <p:txBody>
          <a:bodyPr wrap="square" lIns="0" tIns="0" rIns="0" bIns="0" rtlCol="0" anchor="t"/>
          <a:lstStyle/>
          <a:p>
            <a:pPr algn="l" indent="0" marL="0">
              <a:buNone/>
            </a:pPr>
            <a:r>
              <a:rPr lang="en-US" sz="3800" b="1" spc="-50" kern="0" dirty="0">
                <a:solidFill>
                  <a:srgbClr val="0F1733"/>
                </a:solidFill>
                <a:latin typeface="Calibri" pitchFamily="34" charset="0"/>
                <a:ea typeface="Calibri" pitchFamily="34" charset="-122"/>
                <a:cs typeface="Calibri" pitchFamily="34" charset="-120"/>
              </a:rPr>
              <a:t>Three pillars. Two founders. Zero overlap.</a:t>
            </a:r>
            <a:endParaRPr lang="en-US" sz="3800" dirty="0"/>
          </a:p>
        </p:txBody>
      </p:sp>
      <p:sp>
        <p:nvSpPr>
          <p:cNvPr id="4" name="Shape 2"/>
          <p:cNvSpPr/>
          <p:nvPr/>
        </p:nvSpPr>
        <p:spPr>
          <a:xfrm>
            <a:off x="548640" y="3108960"/>
            <a:ext cx="3545738" cy="3017520"/>
          </a:xfrm>
          <a:prstGeom prst="roundRect">
            <a:avLst>
              <a:gd name="adj" fmla="val 3636"/>
            </a:avLst>
          </a:prstGeom>
          <a:solidFill>
            <a:srgbClr val="FFFFFF"/>
          </a:solidFill>
          <a:ln w="9525">
            <a:solidFill>
              <a:srgbClr val="E5E7F0"/>
            </a:solidFill>
            <a:prstDash val="solid"/>
          </a:ln>
        </p:spPr>
      </p:sp>
      <p:sp>
        <p:nvSpPr>
          <p:cNvPr id="5" name="Shape 3"/>
          <p:cNvSpPr/>
          <p:nvPr/>
        </p:nvSpPr>
        <p:spPr>
          <a:xfrm>
            <a:off x="548640" y="3108960"/>
            <a:ext cx="3545738" cy="73152"/>
          </a:xfrm>
          <a:prstGeom prst="rect">
            <a:avLst/>
          </a:prstGeom>
          <a:solidFill>
            <a:srgbClr val="5028C2"/>
          </a:solidFill>
          <a:ln/>
        </p:spPr>
      </p:sp>
      <p:sp>
        <p:nvSpPr>
          <p:cNvPr id="6" name="Shape 4"/>
          <p:cNvSpPr/>
          <p:nvPr/>
        </p:nvSpPr>
        <p:spPr>
          <a:xfrm>
            <a:off x="868680" y="3474720"/>
            <a:ext cx="457200" cy="457200"/>
          </a:xfrm>
          <a:prstGeom prst="ellipse">
            <a:avLst/>
          </a:prstGeom>
          <a:solidFill>
            <a:srgbClr val="5028C2"/>
          </a:solidFill>
          <a:ln/>
        </p:spPr>
      </p:sp>
      <p:sp>
        <p:nvSpPr>
          <p:cNvPr id="7" name="Text 5"/>
          <p:cNvSpPr/>
          <p:nvPr/>
        </p:nvSpPr>
        <p:spPr>
          <a:xfrm>
            <a:off x="868680"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8" name="Text 6"/>
          <p:cNvSpPr/>
          <p:nvPr/>
        </p:nvSpPr>
        <p:spPr>
          <a:xfrm>
            <a:off x="868680"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Product · Dylan</a:t>
            </a:r>
            <a:endParaRPr lang="en-US" sz="1800" dirty="0"/>
          </a:p>
        </p:txBody>
      </p:sp>
      <p:sp>
        <p:nvSpPr>
          <p:cNvPr id="9" name="Text 7"/>
          <p:cNvSpPr/>
          <p:nvPr/>
        </p:nvSpPr>
        <p:spPr>
          <a:xfrm>
            <a:off x="868680"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Product, engineering, customer-facing operations, marketing. Day-to-day ownership of build and customer outcomes.</a:t>
            </a:r>
            <a:endParaRPr lang="en-US" sz="1300" dirty="0"/>
          </a:p>
        </p:txBody>
      </p:sp>
      <p:sp>
        <p:nvSpPr>
          <p:cNvPr id="10" name="Shape 8"/>
          <p:cNvSpPr/>
          <p:nvPr/>
        </p:nvSpPr>
        <p:spPr>
          <a:xfrm>
            <a:off x="4322978" y="3108960"/>
            <a:ext cx="3545738" cy="3017520"/>
          </a:xfrm>
          <a:prstGeom prst="roundRect">
            <a:avLst>
              <a:gd name="adj" fmla="val 3636"/>
            </a:avLst>
          </a:prstGeom>
          <a:solidFill>
            <a:srgbClr val="FFFFFF"/>
          </a:solidFill>
          <a:ln w="9525">
            <a:solidFill>
              <a:srgbClr val="E5E7F0"/>
            </a:solidFill>
            <a:prstDash val="solid"/>
          </a:ln>
        </p:spPr>
      </p:sp>
      <p:sp>
        <p:nvSpPr>
          <p:cNvPr id="11" name="Shape 9"/>
          <p:cNvSpPr/>
          <p:nvPr/>
        </p:nvSpPr>
        <p:spPr>
          <a:xfrm>
            <a:off x="4322978" y="3108960"/>
            <a:ext cx="3545738" cy="73152"/>
          </a:xfrm>
          <a:prstGeom prst="rect">
            <a:avLst/>
          </a:prstGeom>
          <a:solidFill>
            <a:srgbClr val="3548D0"/>
          </a:solidFill>
          <a:ln/>
        </p:spPr>
      </p:sp>
      <p:sp>
        <p:nvSpPr>
          <p:cNvPr id="12" name="Shape 10"/>
          <p:cNvSpPr/>
          <p:nvPr/>
        </p:nvSpPr>
        <p:spPr>
          <a:xfrm>
            <a:off x="4643018" y="3474720"/>
            <a:ext cx="457200" cy="457200"/>
          </a:xfrm>
          <a:prstGeom prst="ellipse">
            <a:avLst/>
          </a:prstGeom>
          <a:solidFill>
            <a:srgbClr val="3548D0"/>
          </a:solidFill>
          <a:ln/>
        </p:spPr>
      </p:sp>
      <p:sp>
        <p:nvSpPr>
          <p:cNvPr id="13" name="Text 11"/>
          <p:cNvSpPr/>
          <p:nvPr/>
        </p:nvSpPr>
        <p:spPr>
          <a:xfrm>
            <a:off x="4643018"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4" name="Text 12"/>
          <p:cNvSpPr/>
          <p:nvPr/>
        </p:nvSpPr>
        <p:spPr>
          <a:xfrm>
            <a:off x="4643018"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Industry · Ryan</a:t>
            </a:r>
            <a:endParaRPr lang="en-US" sz="1800" dirty="0"/>
          </a:p>
        </p:txBody>
      </p:sp>
      <p:sp>
        <p:nvSpPr>
          <p:cNvPr id="15" name="Text 13"/>
          <p:cNvSpPr/>
          <p:nvPr/>
        </p:nvSpPr>
        <p:spPr>
          <a:xfrm>
            <a:off x="4643018"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Co-originator of the concept. Network access, warm intros to ICP, ongoing industry advisory.</a:t>
            </a:r>
            <a:endParaRPr lang="en-US" sz="1300" dirty="0"/>
          </a:p>
        </p:txBody>
      </p:sp>
      <p:sp>
        <p:nvSpPr>
          <p:cNvPr id="16" name="Shape 14"/>
          <p:cNvSpPr/>
          <p:nvPr/>
        </p:nvSpPr>
        <p:spPr>
          <a:xfrm>
            <a:off x="8097317" y="3108960"/>
            <a:ext cx="3545738" cy="3017520"/>
          </a:xfrm>
          <a:prstGeom prst="roundRect">
            <a:avLst>
              <a:gd name="adj" fmla="val 3636"/>
            </a:avLst>
          </a:prstGeom>
          <a:solidFill>
            <a:srgbClr val="FFFFFF"/>
          </a:solidFill>
          <a:ln w="9525">
            <a:solidFill>
              <a:srgbClr val="E5E7F0"/>
            </a:solidFill>
            <a:prstDash val="solid"/>
          </a:ln>
        </p:spPr>
      </p:sp>
      <p:sp>
        <p:nvSpPr>
          <p:cNvPr id="17" name="Shape 15"/>
          <p:cNvSpPr/>
          <p:nvPr/>
        </p:nvSpPr>
        <p:spPr>
          <a:xfrm>
            <a:off x="8097317" y="3108960"/>
            <a:ext cx="3545738" cy="73152"/>
          </a:xfrm>
          <a:prstGeom prst="rect">
            <a:avLst/>
          </a:prstGeom>
          <a:solidFill>
            <a:srgbClr val="1A6FBE"/>
          </a:solidFill>
          <a:ln/>
        </p:spPr>
      </p:sp>
      <p:sp>
        <p:nvSpPr>
          <p:cNvPr id="18" name="Shape 16"/>
          <p:cNvSpPr/>
          <p:nvPr/>
        </p:nvSpPr>
        <p:spPr>
          <a:xfrm>
            <a:off x="8417357" y="3474720"/>
            <a:ext cx="457200" cy="457200"/>
          </a:xfrm>
          <a:prstGeom prst="ellipse">
            <a:avLst/>
          </a:prstGeom>
          <a:solidFill>
            <a:srgbClr val="1A6FBE"/>
          </a:solidFill>
          <a:ln/>
        </p:spPr>
      </p:sp>
      <p:sp>
        <p:nvSpPr>
          <p:cNvPr id="19" name="Text 17"/>
          <p:cNvSpPr/>
          <p:nvPr/>
        </p:nvSpPr>
        <p:spPr>
          <a:xfrm>
            <a:off x="8417357"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0" name="Text 18"/>
          <p:cNvSpPr/>
          <p:nvPr/>
        </p:nvSpPr>
        <p:spPr>
          <a:xfrm>
            <a:off x="8417357"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Strategy · Both</a:t>
            </a:r>
            <a:endParaRPr lang="en-US" sz="1800" dirty="0"/>
          </a:p>
        </p:txBody>
      </p:sp>
      <p:sp>
        <p:nvSpPr>
          <p:cNvPr id="21" name="Text 19"/>
          <p:cNvSpPr/>
          <p:nvPr/>
        </p:nvSpPr>
        <p:spPr>
          <a:xfrm>
            <a:off x="8417357"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Shared 50/50 oversight on direction, finances, and material decisions. Operating roles run independently.</a:t>
            </a:r>
            <a:endParaRPr lang="en-US" sz="1300" dirty="0"/>
          </a:p>
        </p:txBody>
      </p:sp>
      <p:sp>
        <p:nvSpPr>
          <p:cNvPr id="22" name="Shape 20"/>
          <p:cNvSpPr/>
          <p:nvPr/>
        </p:nvSpPr>
        <p:spPr>
          <a:xfrm>
            <a:off x="548640" y="502920"/>
            <a:ext cx="292608" cy="292608"/>
          </a:xfrm>
          <a:prstGeom prst="roundRect">
            <a:avLst>
              <a:gd name="adj" fmla="val 25000"/>
            </a:avLst>
          </a:prstGeom>
          <a:solidFill>
            <a:srgbClr val="5028C2"/>
          </a:solidFill>
          <a:ln/>
        </p:spPr>
      </p:sp>
      <p:sp>
        <p:nvSpPr>
          <p:cNvPr id="23" name="Shape 21"/>
          <p:cNvSpPr/>
          <p:nvPr/>
        </p:nvSpPr>
        <p:spPr>
          <a:xfrm>
            <a:off x="548640" y="502920"/>
            <a:ext cx="292608" cy="292608"/>
          </a:xfrm>
          <a:prstGeom prst="roundRect">
            <a:avLst>
              <a:gd name="adj" fmla="val 25000"/>
            </a:avLst>
          </a:prstGeom>
          <a:solidFill>
            <a:srgbClr val="1A6FBE">
              <a:alpha val="50000"/>
            </a:srgbClr>
          </a:solidFill>
          <a:ln/>
        </p:spPr>
      </p:sp>
      <p:sp>
        <p:nvSpPr>
          <p:cNvPr id="24" name="Text 22"/>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5" name="Text 23"/>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6" name="Text 24"/>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15 · The Team  ·  vC</a:t>
            </a:r>
            <a:endParaRPr lang="en-US" sz="900" dirty="0"/>
          </a:p>
        </p:txBody>
      </p:sp>
      <p:sp>
        <p:nvSpPr>
          <p:cNvPr id="27" name="Text 25"/>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28" name="Text 26"/>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101 / 126</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320040" cy="116300"/>
          </a:xfrm>
          <a:prstGeom prst="rect">
            <a:avLst/>
          </a:prstGeom>
          <a:solidFill>
            <a:srgbClr val="5028C2"/>
          </a:solidFill>
          <a:ln/>
        </p:spPr>
      </p:sp>
      <p:sp>
        <p:nvSpPr>
          <p:cNvPr id="3" name="Shape 1"/>
          <p:cNvSpPr/>
          <p:nvPr/>
        </p:nvSpPr>
        <p:spPr>
          <a:xfrm>
            <a:off x="0" y="107156"/>
            <a:ext cx="320040" cy="116300"/>
          </a:xfrm>
          <a:prstGeom prst="rect">
            <a:avLst/>
          </a:prstGeom>
          <a:solidFill>
            <a:srgbClr val="4F29C2"/>
          </a:solidFill>
          <a:ln/>
        </p:spPr>
      </p:sp>
      <p:sp>
        <p:nvSpPr>
          <p:cNvPr id="4" name="Shape 2"/>
          <p:cNvSpPr/>
          <p:nvPr/>
        </p:nvSpPr>
        <p:spPr>
          <a:xfrm>
            <a:off x="0" y="214313"/>
            <a:ext cx="320040" cy="116300"/>
          </a:xfrm>
          <a:prstGeom prst="rect">
            <a:avLst/>
          </a:prstGeom>
          <a:solidFill>
            <a:srgbClr val="4E2AC3"/>
          </a:solidFill>
          <a:ln/>
        </p:spPr>
      </p:sp>
      <p:sp>
        <p:nvSpPr>
          <p:cNvPr id="5" name="Shape 3"/>
          <p:cNvSpPr/>
          <p:nvPr/>
        </p:nvSpPr>
        <p:spPr>
          <a:xfrm>
            <a:off x="0" y="321469"/>
            <a:ext cx="320040" cy="116300"/>
          </a:xfrm>
          <a:prstGeom prst="rect">
            <a:avLst/>
          </a:prstGeom>
          <a:solidFill>
            <a:srgbClr val="4D2BC3"/>
          </a:solidFill>
          <a:ln/>
        </p:spPr>
      </p:sp>
      <p:sp>
        <p:nvSpPr>
          <p:cNvPr id="6" name="Shape 4"/>
          <p:cNvSpPr/>
          <p:nvPr/>
        </p:nvSpPr>
        <p:spPr>
          <a:xfrm>
            <a:off x="0" y="428625"/>
            <a:ext cx="320040" cy="116300"/>
          </a:xfrm>
          <a:prstGeom prst="rect">
            <a:avLst/>
          </a:prstGeom>
          <a:solidFill>
            <a:srgbClr val="4D2CC4"/>
          </a:solidFill>
          <a:ln/>
        </p:spPr>
      </p:sp>
      <p:sp>
        <p:nvSpPr>
          <p:cNvPr id="7" name="Shape 5"/>
          <p:cNvSpPr/>
          <p:nvPr/>
        </p:nvSpPr>
        <p:spPr>
          <a:xfrm>
            <a:off x="0" y="535781"/>
            <a:ext cx="320040" cy="116300"/>
          </a:xfrm>
          <a:prstGeom prst="rect">
            <a:avLst/>
          </a:prstGeom>
          <a:solidFill>
            <a:srgbClr val="4C2DC4"/>
          </a:solidFill>
          <a:ln/>
        </p:spPr>
      </p:sp>
      <p:sp>
        <p:nvSpPr>
          <p:cNvPr id="8" name="Shape 6"/>
          <p:cNvSpPr/>
          <p:nvPr/>
        </p:nvSpPr>
        <p:spPr>
          <a:xfrm>
            <a:off x="0" y="642938"/>
            <a:ext cx="320040" cy="116300"/>
          </a:xfrm>
          <a:prstGeom prst="rect">
            <a:avLst/>
          </a:prstGeom>
          <a:solidFill>
            <a:srgbClr val="4B2EC5"/>
          </a:solidFill>
          <a:ln/>
        </p:spPr>
      </p:sp>
      <p:sp>
        <p:nvSpPr>
          <p:cNvPr id="9" name="Shape 7"/>
          <p:cNvSpPr/>
          <p:nvPr/>
        </p:nvSpPr>
        <p:spPr>
          <a:xfrm>
            <a:off x="0" y="750094"/>
            <a:ext cx="320040" cy="116300"/>
          </a:xfrm>
          <a:prstGeom prst="rect">
            <a:avLst/>
          </a:prstGeom>
          <a:solidFill>
            <a:srgbClr val="4A2FC5"/>
          </a:solidFill>
          <a:ln/>
        </p:spPr>
      </p:sp>
      <p:sp>
        <p:nvSpPr>
          <p:cNvPr id="10" name="Shape 8"/>
          <p:cNvSpPr/>
          <p:nvPr/>
        </p:nvSpPr>
        <p:spPr>
          <a:xfrm>
            <a:off x="0" y="857250"/>
            <a:ext cx="320040" cy="116300"/>
          </a:xfrm>
          <a:prstGeom prst="rect">
            <a:avLst/>
          </a:prstGeom>
          <a:solidFill>
            <a:srgbClr val="4930C6"/>
          </a:solidFill>
          <a:ln/>
        </p:spPr>
      </p:sp>
      <p:sp>
        <p:nvSpPr>
          <p:cNvPr id="11" name="Shape 9"/>
          <p:cNvSpPr/>
          <p:nvPr/>
        </p:nvSpPr>
        <p:spPr>
          <a:xfrm>
            <a:off x="0" y="964406"/>
            <a:ext cx="320040" cy="116300"/>
          </a:xfrm>
          <a:prstGeom prst="rect">
            <a:avLst/>
          </a:prstGeom>
          <a:solidFill>
            <a:srgbClr val="4831C6"/>
          </a:solidFill>
          <a:ln/>
        </p:spPr>
      </p:sp>
      <p:sp>
        <p:nvSpPr>
          <p:cNvPr id="12" name="Shape 10"/>
          <p:cNvSpPr/>
          <p:nvPr/>
        </p:nvSpPr>
        <p:spPr>
          <a:xfrm>
            <a:off x="0" y="1071563"/>
            <a:ext cx="320040" cy="116300"/>
          </a:xfrm>
          <a:prstGeom prst="rect">
            <a:avLst/>
          </a:prstGeom>
          <a:solidFill>
            <a:srgbClr val="4732C6"/>
          </a:solidFill>
          <a:ln/>
        </p:spPr>
      </p:sp>
      <p:sp>
        <p:nvSpPr>
          <p:cNvPr id="13" name="Shape 11"/>
          <p:cNvSpPr/>
          <p:nvPr/>
        </p:nvSpPr>
        <p:spPr>
          <a:xfrm>
            <a:off x="0" y="1178719"/>
            <a:ext cx="320040" cy="116300"/>
          </a:xfrm>
          <a:prstGeom prst="rect">
            <a:avLst/>
          </a:prstGeom>
          <a:solidFill>
            <a:srgbClr val="4733C7"/>
          </a:solidFill>
          <a:ln/>
        </p:spPr>
      </p:sp>
      <p:sp>
        <p:nvSpPr>
          <p:cNvPr id="14" name="Shape 12"/>
          <p:cNvSpPr/>
          <p:nvPr/>
        </p:nvSpPr>
        <p:spPr>
          <a:xfrm>
            <a:off x="0" y="1285875"/>
            <a:ext cx="320040" cy="116300"/>
          </a:xfrm>
          <a:prstGeom prst="rect">
            <a:avLst/>
          </a:prstGeom>
          <a:solidFill>
            <a:srgbClr val="4634C7"/>
          </a:solidFill>
          <a:ln/>
        </p:spPr>
      </p:sp>
      <p:sp>
        <p:nvSpPr>
          <p:cNvPr id="15" name="Shape 13"/>
          <p:cNvSpPr/>
          <p:nvPr/>
        </p:nvSpPr>
        <p:spPr>
          <a:xfrm>
            <a:off x="0" y="1393031"/>
            <a:ext cx="320040" cy="116300"/>
          </a:xfrm>
          <a:prstGeom prst="rect">
            <a:avLst/>
          </a:prstGeom>
          <a:solidFill>
            <a:srgbClr val="4535C8"/>
          </a:solidFill>
          <a:ln/>
        </p:spPr>
      </p:sp>
      <p:sp>
        <p:nvSpPr>
          <p:cNvPr id="16" name="Shape 14"/>
          <p:cNvSpPr/>
          <p:nvPr/>
        </p:nvSpPr>
        <p:spPr>
          <a:xfrm>
            <a:off x="0" y="1500188"/>
            <a:ext cx="320040" cy="116300"/>
          </a:xfrm>
          <a:prstGeom prst="rect">
            <a:avLst/>
          </a:prstGeom>
          <a:solidFill>
            <a:srgbClr val="4436C8"/>
          </a:solidFill>
          <a:ln/>
        </p:spPr>
      </p:sp>
      <p:sp>
        <p:nvSpPr>
          <p:cNvPr id="17" name="Shape 15"/>
          <p:cNvSpPr/>
          <p:nvPr/>
        </p:nvSpPr>
        <p:spPr>
          <a:xfrm>
            <a:off x="0" y="1607344"/>
            <a:ext cx="320040" cy="116300"/>
          </a:xfrm>
          <a:prstGeom prst="rect">
            <a:avLst/>
          </a:prstGeom>
          <a:solidFill>
            <a:srgbClr val="4337C9"/>
          </a:solidFill>
          <a:ln/>
        </p:spPr>
      </p:sp>
      <p:sp>
        <p:nvSpPr>
          <p:cNvPr id="18" name="Shape 16"/>
          <p:cNvSpPr/>
          <p:nvPr/>
        </p:nvSpPr>
        <p:spPr>
          <a:xfrm>
            <a:off x="0" y="1714500"/>
            <a:ext cx="320040" cy="116300"/>
          </a:xfrm>
          <a:prstGeom prst="rect">
            <a:avLst/>
          </a:prstGeom>
          <a:solidFill>
            <a:srgbClr val="4238C9"/>
          </a:solidFill>
          <a:ln/>
        </p:spPr>
      </p:sp>
      <p:sp>
        <p:nvSpPr>
          <p:cNvPr id="19" name="Shape 17"/>
          <p:cNvSpPr/>
          <p:nvPr/>
        </p:nvSpPr>
        <p:spPr>
          <a:xfrm>
            <a:off x="0" y="1821656"/>
            <a:ext cx="320040" cy="116300"/>
          </a:xfrm>
          <a:prstGeom prst="rect">
            <a:avLst/>
          </a:prstGeom>
          <a:solidFill>
            <a:srgbClr val="4139CA"/>
          </a:solidFill>
          <a:ln/>
        </p:spPr>
      </p:sp>
      <p:sp>
        <p:nvSpPr>
          <p:cNvPr id="20" name="Shape 18"/>
          <p:cNvSpPr/>
          <p:nvPr/>
        </p:nvSpPr>
        <p:spPr>
          <a:xfrm>
            <a:off x="0" y="1928813"/>
            <a:ext cx="320040" cy="116300"/>
          </a:xfrm>
          <a:prstGeom prst="rect">
            <a:avLst/>
          </a:prstGeom>
          <a:solidFill>
            <a:srgbClr val="413ACA"/>
          </a:solidFill>
          <a:ln/>
        </p:spPr>
      </p:sp>
      <p:sp>
        <p:nvSpPr>
          <p:cNvPr id="21" name="Shape 19"/>
          <p:cNvSpPr/>
          <p:nvPr/>
        </p:nvSpPr>
        <p:spPr>
          <a:xfrm>
            <a:off x="0" y="2035969"/>
            <a:ext cx="320040" cy="116300"/>
          </a:xfrm>
          <a:prstGeom prst="rect">
            <a:avLst/>
          </a:prstGeom>
          <a:solidFill>
            <a:srgbClr val="403BCA"/>
          </a:solidFill>
          <a:ln/>
        </p:spPr>
      </p:sp>
      <p:sp>
        <p:nvSpPr>
          <p:cNvPr id="22" name="Shape 20"/>
          <p:cNvSpPr/>
          <p:nvPr/>
        </p:nvSpPr>
        <p:spPr>
          <a:xfrm>
            <a:off x="0" y="2143125"/>
            <a:ext cx="320040" cy="116300"/>
          </a:xfrm>
          <a:prstGeom prst="rect">
            <a:avLst/>
          </a:prstGeom>
          <a:solidFill>
            <a:srgbClr val="3F3CCB"/>
          </a:solidFill>
          <a:ln/>
        </p:spPr>
      </p:sp>
      <p:sp>
        <p:nvSpPr>
          <p:cNvPr id="23" name="Shape 21"/>
          <p:cNvSpPr/>
          <p:nvPr/>
        </p:nvSpPr>
        <p:spPr>
          <a:xfrm>
            <a:off x="0" y="2250281"/>
            <a:ext cx="320040" cy="116300"/>
          </a:xfrm>
          <a:prstGeom prst="rect">
            <a:avLst/>
          </a:prstGeom>
          <a:solidFill>
            <a:srgbClr val="3E3DCB"/>
          </a:solidFill>
          <a:ln/>
        </p:spPr>
      </p:sp>
      <p:sp>
        <p:nvSpPr>
          <p:cNvPr id="24" name="Shape 22"/>
          <p:cNvSpPr/>
          <p:nvPr/>
        </p:nvSpPr>
        <p:spPr>
          <a:xfrm>
            <a:off x="0" y="2357438"/>
            <a:ext cx="320040" cy="116300"/>
          </a:xfrm>
          <a:prstGeom prst="rect">
            <a:avLst/>
          </a:prstGeom>
          <a:solidFill>
            <a:srgbClr val="3D3ECC"/>
          </a:solidFill>
          <a:ln/>
        </p:spPr>
      </p:sp>
      <p:sp>
        <p:nvSpPr>
          <p:cNvPr id="25" name="Shape 23"/>
          <p:cNvSpPr/>
          <p:nvPr/>
        </p:nvSpPr>
        <p:spPr>
          <a:xfrm>
            <a:off x="0" y="2464594"/>
            <a:ext cx="320040" cy="116300"/>
          </a:xfrm>
          <a:prstGeom prst="rect">
            <a:avLst/>
          </a:prstGeom>
          <a:solidFill>
            <a:srgbClr val="3C3FCC"/>
          </a:solidFill>
          <a:ln/>
        </p:spPr>
      </p:sp>
      <p:sp>
        <p:nvSpPr>
          <p:cNvPr id="26" name="Shape 24"/>
          <p:cNvSpPr/>
          <p:nvPr/>
        </p:nvSpPr>
        <p:spPr>
          <a:xfrm>
            <a:off x="0" y="2571750"/>
            <a:ext cx="320040" cy="116300"/>
          </a:xfrm>
          <a:prstGeom prst="rect">
            <a:avLst/>
          </a:prstGeom>
          <a:solidFill>
            <a:srgbClr val="3B40CD"/>
          </a:solidFill>
          <a:ln/>
        </p:spPr>
      </p:sp>
      <p:sp>
        <p:nvSpPr>
          <p:cNvPr id="27" name="Shape 25"/>
          <p:cNvSpPr/>
          <p:nvPr/>
        </p:nvSpPr>
        <p:spPr>
          <a:xfrm>
            <a:off x="0" y="2678906"/>
            <a:ext cx="320040" cy="116300"/>
          </a:xfrm>
          <a:prstGeom prst="rect">
            <a:avLst/>
          </a:prstGeom>
          <a:solidFill>
            <a:srgbClr val="3B41CD"/>
          </a:solidFill>
          <a:ln/>
        </p:spPr>
      </p:sp>
      <p:sp>
        <p:nvSpPr>
          <p:cNvPr id="28" name="Shape 26"/>
          <p:cNvSpPr/>
          <p:nvPr/>
        </p:nvSpPr>
        <p:spPr>
          <a:xfrm>
            <a:off x="0" y="2786063"/>
            <a:ext cx="320040" cy="116300"/>
          </a:xfrm>
          <a:prstGeom prst="rect">
            <a:avLst/>
          </a:prstGeom>
          <a:solidFill>
            <a:srgbClr val="3A42CE"/>
          </a:solidFill>
          <a:ln/>
        </p:spPr>
      </p:sp>
      <p:sp>
        <p:nvSpPr>
          <p:cNvPr id="29" name="Shape 27"/>
          <p:cNvSpPr/>
          <p:nvPr/>
        </p:nvSpPr>
        <p:spPr>
          <a:xfrm>
            <a:off x="0" y="2893219"/>
            <a:ext cx="320040" cy="116300"/>
          </a:xfrm>
          <a:prstGeom prst="rect">
            <a:avLst/>
          </a:prstGeom>
          <a:solidFill>
            <a:srgbClr val="3943CE"/>
          </a:solidFill>
          <a:ln/>
        </p:spPr>
      </p:sp>
      <p:sp>
        <p:nvSpPr>
          <p:cNvPr id="30" name="Shape 28"/>
          <p:cNvSpPr/>
          <p:nvPr/>
        </p:nvSpPr>
        <p:spPr>
          <a:xfrm>
            <a:off x="0" y="3000375"/>
            <a:ext cx="320040" cy="116300"/>
          </a:xfrm>
          <a:prstGeom prst="rect">
            <a:avLst/>
          </a:prstGeom>
          <a:solidFill>
            <a:srgbClr val="3844CE"/>
          </a:solidFill>
          <a:ln/>
        </p:spPr>
      </p:sp>
      <p:sp>
        <p:nvSpPr>
          <p:cNvPr id="31" name="Shape 29"/>
          <p:cNvSpPr/>
          <p:nvPr/>
        </p:nvSpPr>
        <p:spPr>
          <a:xfrm>
            <a:off x="0" y="3107531"/>
            <a:ext cx="320040" cy="116300"/>
          </a:xfrm>
          <a:prstGeom prst="rect">
            <a:avLst/>
          </a:prstGeom>
          <a:solidFill>
            <a:srgbClr val="3745CF"/>
          </a:solidFill>
          <a:ln/>
        </p:spPr>
      </p:sp>
      <p:sp>
        <p:nvSpPr>
          <p:cNvPr id="32" name="Shape 30"/>
          <p:cNvSpPr/>
          <p:nvPr/>
        </p:nvSpPr>
        <p:spPr>
          <a:xfrm>
            <a:off x="0" y="3214688"/>
            <a:ext cx="320040" cy="116300"/>
          </a:xfrm>
          <a:prstGeom prst="rect">
            <a:avLst/>
          </a:prstGeom>
          <a:solidFill>
            <a:srgbClr val="3646CF"/>
          </a:solidFill>
          <a:ln/>
        </p:spPr>
      </p:sp>
      <p:sp>
        <p:nvSpPr>
          <p:cNvPr id="33" name="Shape 31"/>
          <p:cNvSpPr/>
          <p:nvPr/>
        </p:nvSpPr>
        <p:spPr>
          <a:xfrm>
            <a:off x="0" y="3321844"/>
            <a:ext cx="320040" cy="116300"/>
          </a:xfrm>
          <a:prstGeom prst="rect">
            <a:avLst/>
          </a:prstGeom>
          <a:solidFill>
            <a:srgbClr val="3547D0"/>
          </a:solidFill>
          <a:ln/>
        </p:spPr>
      </p:sp>
      <p:sp>
        <p:nvSpPr>
          <p:cNvPr id="34" name="Shape 32"/>
          <p:cNvSpPr/>
          <p:nvPr/>
        </p:nvSpPr>
        <p:spPr>
          <a:xfrm>
            <a:off x="0" y="3429000"/>
            <a:ext cx="320040" cy="116300"/>
          </a:xfrm>
          <a:prstGeom prst="rect">
            <a:avLst/>
          </a:prstGeom>
          <a:solidFill>
            <a:srgbClr val="3549D0"/>
          </a:solidFill>
          <a:ln/>
        </p:spPr>
      </p:sp>
      <p:sp>
        <p:nvSpPr>
          <p:cNvPr id="35" name="Shape 33"/>
          <p:cNvSpPr/>
          <p:nvPr/>
        </p:nvSpPr>
        <p:spPr>
          <a:xfrm>
            <a:off x="0" y="3536156"/>
            <a:ext cx="320040" cy="116300"/>
          </a:xfrm>
          <a:prstGeom prst="rect">
            <a:avLst/>
          </a:prstGeom>
          <a:solidFill>
            <a:srgbClr val="344ACF"/>
          </a:solidFill>
          <a:ln/>
        </p:spPr>
      </p:sp>
      <p:sp>
        <p:nvSpPr>
          <p:cNvPr id="36" name="Shape 34"/>
          <p:cNvSpPr/>
          <p:nvPr/>
        </p:nvSpPr>
        <p:spPr>
          <a:xfrm>
            <a:off x="0" y="3643313"/>
            <a:ext cx="320040" cy="116300"/>
          </a:xfrm>
          <a:prstGeom prst="rect">
            <a:avLst/>
          </a:prstGeom>
          <a:solidFill>
            <a:srgbClr val="334BCF"/>
          </a:solidFill>
          <a:ln/>
        </p:spPr>
      </p:sp>
      <p:sp>
        <p:nvSpPr>
          <p:cNvPr id="37" name="Shape 35"/>
          <p:cNvSpPr/>
          <p:nvPr/>
        </p:nvSpPr>
        <p:spPr>
          <a:xfrm>
            <a:off x="0" y="3750469"/>
            <a:ext cx="320040" cy="116300"/>
          </a:xfrm>
          <a:prstGeom prst="rect">
            <a:avLst/>
          </a:prstGeom>
          <a:solidFill>
            <a:srgbClr val="324CCE"/>
          </a:solidFill>
          <a:ln/>
        </p:spPr>
      </p:sp>
      <p:sp>
        <p:nvSpPr>
          <p:cNvPr id="38" name="Shape 36"/>
          <p:cNvSpPr/>
          <p:nvPr/>
        </p:nvSpPr>
        <p:spPr>
          <a:xfrm>
            <a:off x="0" y="3857625"/>
            <a:ext cx="320040" cy="116300"/>
          </a:xfrm>
          <a:prstGeom prst="rect">
            <a:avLst/>
          </a:prstGeom>
          <a:solidFill>
            <a:srgbClr val="314ECD"/>
          </a:solidFill>
          <a:ln/>
        </p:spPr>
      </p:sp>
      <p:sp>
        <p:nvSpPr>
          <p:cNvPr id="39" name="Shape 37"/>
          <p:cNvSpPr/>
          <p:nvPr/>
        </p:nvSpPr>
        <p:spPr>
          <a:xfrm>
            <a:off x="0" y="3964781"/>
            <a:ext cx="320040" cy="116300"/>
          </a:xfrm>
          <a:prstGeom prst="rect">
            <a:avLst/>
          </a:prstGeom>
          <a:solidFill>
            <a:srgbClr val="304FCD"/>
          </a:solidFill>
          <a:ln/>
        </p:spPr>
      </p:sp>
      <p:sp>
        <p:nvSpPr>
          <p:cNvPr id="40" name="Shape 38"/>
          <p:cNvSpPr/>
          <p:nvPr/>
        </p:nvSpPr>
        <p:spPr>
          <a:xfrm>
            <a:off x="0" y="4071938"/>
            <a:ext cx="320040" cy="116300"/>
          </a:xfrm>
          <a:prstGeom prst="rect">
            <a:avLst/>
          </a:prstGeom>
          <a:solidFill>
            <a:srgbClr val="2F50CC"/>
          </a:solidFill>
          <a:ln/>
        </p:spPr>
      </p:sp>
      <p:sp>
        <p:nvSpPr>
          <p:cNvPr id="41" name="Shape 39"/>
          <p:cNvSpPr/>
          <p:nvPr/>
        </p:nvSpPr>
        <p:spPr>
          <a:xfrm>
            <a:off x="0" y="4179094"/>
            <a:ext cx="320040" cy="116300"/>
          </a:xfrm>
          <a:prstGeom prst="rect">
            <a:avLst/>
          </a:prstGeom>
          <a:solidFill>
            <a:srgbClr val="2F51CC"/>
          </a:solidFill>
          <a:ln/>
        </p:spPr>
      </p:sp>
      <p:sp>
        <p:nvSpPr>
          <p:cNvPr id="42" name="Shape 40"/>
          <p:cNvSpPr/>
          <p:nvPr/>
        </p:nvSpPr>
        <p:spPr>
          <a:xfrm>
            <a:off x="0" y="4286250"/>
            <a:ext cx="320040" cy="116300"/>
          </a:xfrm>
          <a:prstGeom prst="rect">
            <a:avLst/>
          </a:prstGeom>
          <a:solidFill>
            <a:srgbClr val="2E53CB"/>
          </a:solidFill>
          <a:ln/>
        </p:spPr>
      </p:sp>
      <p:sp>
        <p:nvSpPr>
          <p:cNvPr id="43" name="Shape 41"/>
          <p:cNvSpPr/>
          <p:nvPr/>
        </p:nvSpPr>
        <p:spPr>
          <a:xfrm>
            <a:off x="0" y="4393406"/>
            <a:ext cx="320040" cy="116300"/>
          </a:xfrm>
          <a:prstGeom prst="rect">
            <a:avLst/>
          </a:prstGeom>
          <a:solidFill>
            <a:srgbClr val="2D54CB"/>
          </a:solidFill>
          <a:ln/>
        </p:spPr>
      </p:sp>
      <p:sp>
        <p:nvSpPr>
          <p:cNvPr id="44" name="Shape 42"/>
          <p:cNvSpPr/>
          <p:nvPr/>
        </p:nvSpPr>
        <p:spPr>
          <a:xfrm>
            <a:off x="0" y="4500563"/>
            <a:ext cx="320040" cy="116300"/>
          </a:xfrm>
          <a:prstGeom prst="rect">
            <a:avLst/>
          </a:prstGeom>
          <a:solidFill>
            <a:srgbClr val="2C55CA"/>
          </a:solidFill>
          <a:ln/>
        </p:spPr>
      </p:sp>
      <p:sp>
        <p:nvSpPr>
          <p:cNvPr id="45" name="Shape 43"/>
          <p:cNvSpPr/>
          <p:nvPr/>
        </p:nvSpPr>
        <p:spPr>
          <a:xfrm>
            <a:off x="0" y="4607719"/>
            <a:ext cx="320040" cy="116300"/>
          </a:xfrm>
          <a:prstGeom prst="rect">
            <a:avLst/>
          </a:prstGeom>
          <a:solidFill>
            <a:srgbClr val="2B56C9"/>
          </a:solidFill>
          <a:ln/>
        </p:spPr>
      </p:sp>
      <p:sp>
        <p:nvSpPr>
          <p:cNvPr id="46" name="Shape 44"/>
          <p:cNvSpPr/>
          <p:nvPr/>
        </p:nvSpPr>
        <p:spPr>
          <a:xfrm>
            <a:off x="0" y="4714875"/>
            <a:ext cx="320040" cy="116300"/>
          </a:xfrm>
          <a:prstGeom prst="rect">
            <a:avLst/>
          </a:prstGeom>
          <a:solidFill>
            <a:srgbClr val="2A57C9"/>
          </a:solidFill>
          <a:ln/>
        </p:spPr>
      </p:sp>
      <p:sp>
        <p:nvSpPr>
          <p:cNvPr id="47" name="Shape 45"/>
          <p:cNvSpPr/>
          <p:nvPr/>
        </p:nvSpPr>
        <p:spPr>
          <a:xfrm>
            <a:off x="0" y="4822031"/>
            <a:ext cx="320040" cy="116300"/>
          </a:xfrm>
          <a:prstGeom prst="rect">
            <a:avLst/>
          </a:prstGeom>
          <a:solidFill>
            <a:srgbClr val="2959C8"/>
          </a:solidFill>
          <a:ln/>
        </p:spPr>
      </p:sp>
      <p:sp>
        <p:nvSpPr>
          <p:cNvPr id="48" name="Shape 46"/>
          <p:cNvSpPr/>
          <p:nvPr/>
        </p:nvSpPr>
        <p:spPr>
          <a:xfrm>
            <a:off x="0" y="4929188"/>
            <a:ext cx="320040" cy="116300"/>
          </a:xfrm>
          <a:prstGeom prst="rect">
            <a:avLst/>
          </a:prstGeom>
          <a:solidFill>
            <a:srgbClr val="295AC8"/>
          </a:solidFill>
          <a:ln/>
        </p:spPr>
      </p:sp>
      <p:sp>
        <p:nvSpPr>
          <p:cNvPr id="49" name="Shape 47"/>
          <p:cNvSpPr/>
          <p:nvPr/>
        </p:nvSpPr>
        <p:spPr>
          <a:xfrm>
            <a:off x="0" y="5036344"/>
            <a:ext cx="320040" cy="116300"/>
          </a:xfrm>
          <a:prstGeom prst="rect">
            <a:avLst/>
          </a:prstGeom>
          <a:solidFill>
            <a:srgbClr val="285BC7"/>
          </a:solidFill>
          <a:ln/>
        </p:spPr>
      </p:sp>
      <p:sp>
        <p:nvSpPr>
          <p:cNvPr id="50" name="Shape 48"/>
          <p:cNvSpPr/>
          <p:nvPr/>
        </p:nvSpPr>
        <p:spPr>
          <a:xfrm>
            <a:off x="0" y="5143500"/>
            <a:ext cx="320040" cy="116300"/>
          </a:xfrm>
          <a:prstGeom prst="rect">
            <a:avLst/>
          </a:prstGeom>
          <a:solidFill>
            <a:srgbClr val="275CC7"/>
          </a:solidFill>
          <a:ln/>
        </p:spPr>
      </p:sp>
      <p:sp>
        <p:nvSpPr>
          <p:cNvPr id="51" name="Shape 49"/>
          <p:cNvSpPr/>
          <p:nvPr/>
        </p:nvSpPr>
        <p:spPr>
          <a:xfrm>
            <a:off x="0" y="5250656"/>
            <a:ext cx="320040" cy="116300"/>
          </a:xfrm>
          <a:prstGeom prst="rect">
            <a:avLst/>
          </a:prstGeom>
          <a:solidFill>
            <a:srgbClr val="265EC6"/>
          </a:solidFill>
          <a:ln/>
        </p:spPr>
      </p:sp>
      <p:sp>
        <p:nvSpPr>
          <p:cNvPr id="52" name="Shape 50"/>
          <p:cNvSpPr/>
          <p:nvPr/>
        </p:nvSpPr>
        <p:spPr>
          <a:xfrm>
            <a:off x="0" y="5357813"/>
            <a:ext cx="320040" cy="116300"/>
          </a:xfrm>
          <a:prstGeom prst="rect">
            <a:avLst/>
          </a:prstGeom>
          <a:solidFill>
            <a:srgbClr val="255FC5"/>
          </a:solidFill>
          <a:ln/>
        </p:spPr>
      </p:sp>
      <p:sp>
        <p:nvSpPr>
          <p:cNvPr id="53" name="Shape 51"/>
          <p:cNvSpPr/>
          <p:nvPr/>
        </p:nvSpPr>
        <p:spPr>
          <a:xfrm>
            <a:off x="0" y="5464969"/>
            <a:ext cx="320040" cy="116300"/>
          </a:xfrm>
          <a:prstGeom prst="rect">
            <a:avLst/>
          </a:prstGeom>
          <a:solidFill>
            <a:srgbClr val="2460C5"/>
          </a:solidFill>
          <a:ln/>
        </p:spPr>
      </p:sp>
      <p:sp>
        <p:nvSpPr>
          <p:cNvPr id="54" name="Shape 52"/>
          <p:cNvSpPr/>
          <p:nvPr/>
        </p:nvSpPr>
        <p:spPr>
          <a:xfrm>
            <a:off x="0" y="5572125"/>
            <a:ext cx="320040" cy="116300"/>
          </a:xfrm>
          <a:prstGeom prst="rect">
            <a:avLst/>
          </a:prstGeom>
          <a:solidFill>
            <a:srgbClr val="2361C4"/>
          </a:solidFill>
          <a:ln/>
        </p:spPr>
      </p:sp>
      <p:sp>
        <p:nvSpPr>
          <p:cNvPr id="55" name="Shape 53"/>
          <p:cNvSpPr/>
          <p:nvPr/>
        </p:nvSpPr>
        <p:spPr>
          <a:xfrm>
            <a:off x="0" y="5679281"/>
            <a:ext cx="320040" cy="116300"/>
          </a:xfrm>
          <a:prstGeom prst="rect">
            <a:avLst/>
          </a:prstGeom>
          <a:solidFill>
            <a:srgbClr val="2363C4"/>
          </a:solidFill>
          <a:ln/>
        </p:spPr>
      </p:sp>
      <p:sp>
        <p:nvSpPr>
          <p:cNvPr id="56" name="Shape 54"/>
          <p:cNvSpPr/>
          <p:nvPr/>
        </p:nvSpPr>
        <p:spPr>
          <a:xfrm>
            <a:off x="0" y="5786438"/>
            <a:ext cx="320040" cy="116300"/>
          </a:xfrm>
          <a:prstGeom prst="rect">
            <a:avLst/>
          </a:prstGeom>
          <a:solidFill>
            <a:srgbClr val="2264C3"/>
          </a:solidFill>
          <a:ln/>
        </p:spPr>
      </p:sp>
      <p:sp>
        <p:nvSpPr>
          <p:cNvPr id="57" name="Shape 55"/>
          <p:cNvSpPr/>
          <p:nvPr/>
        </p:nvSpPr>
        <p:spPr>
          <a:xfrm>
            <a:off x="0" y="5893594"/>
            <a:ext cx="320040" cy="116300"/>
          </a:xfrm>
          <a:prstGeom prst="rect">
            <a:avLst/>
          </a:prstGeom>
          <a:solidFill>
            <a:srgbClr val="2165C3"/>
          </a:solidFill>
          <a:ln/>
        </p:spPr>
      </p:sp>
      <p:sp>
        <p:nvSpPr>
          <p:cNvPr id="58" name="Shape 56"/>
          <p:cNvSpPr/>
          <p:nvPr/>
        </p:nvSpPr>
        <p:spPr>
          <a:xfrm>
            <a:off x="0" y="6000750"/>
            <a:ext cx="320040" cy="116300"/>
          </a:xfrm>
          <a:prstGeom prst="rect">
            <a:avLst/>
          </a:prstGeom>
          <a:solidFill>
            <a:srgbClr val="2066C2"/>
          </a:solidFill>
          <a:ln/>
        </p:spPr>
      </p:sp>
      <p:sp>
        <p:nvSpPr>
          <p:cNvPr id="59" name="Shape 57"/>
          <p:cNvSpPr/>
          <p:nvPr/>
        </p:nvSpPr>
        <p:spPr>
          <a:xfrm>
            <a:off x="0" y="6107906"/>
            <a:ext cx="320040" cy="116300"/>
          </a:xfrm>
          <a:prstGeom prst="rect">
            <a:avLst/>
          </a:prstGeom>
          <a:solidFill>
            <a:srgbClr val="1F68C1"/>
          </a:solidFill>
          <a:ln/>
        </p:spPr>
      </p:sp>
      <p:sp>
        <p:nvSpPr>
          <p:cNvPr id="60" name="Shape 58"/>
          <p:cNvSpPr/>
          <p:nvPr/>
        </p:nvSpPr>
        <p:spPr>
          <a:xfrm>
            <a:off x="0" y="6215063"/>
            <a:ext cx="320040" cy="116300"/>
          </a:xfrm>
          <a:prstGeom prst="rect">
            <a:avLst/>
          </a:prstGeom>
          <a:solidFill>
            <a:srgbClr val="1E69C1"/>
          </a:solidFill>
          <a:ln/>
        </p:spPr>
      </p:sp>
      <p:sp>
        <p:nvSpPr>
          <p:cNvPr id="61" name="Shape 59"/>
          <p:cNvSpPr/>
          <p:nvPr/>
        </p:nvSpPr>
        <p:spPr>
          <a:xfrm>
            <a:off x="0" y="6322219"/>
            <a:ext cx="320040" cy="116300"/>
          </a:xfrm>
          <a:prstGeom prst="rect">
            <a:avLst/>
          </a:prstGeom>
          <a:solidFill>
            <a:srgbClr val="1D6AC0"/>
          </a:solidFill>
          <a:ln/>
        </p:spPr>
      </p:sp>
      <p:sp>
        <p:nvSpPr>
          <p:cNvPr id="62" name="Shape 60"/>
          <p:cNvSpPr/>
          <p:nvPr/>
        </p:nvSpPr>
        <p:spPr>
          <a:xfrm>
            <a:off x="0" y="6429375"/>
            <a:ext cx="320040" cy="116300"/>
          </a:xfrm>
          <a:prstGeom prst="rect">
            <a:avLst/>
          </a:prstGeom>
          <a:solidFill>
            <a:srgbClr val="1D6BC0"/>
          </a:solidFill>
          <a:ln/>
        </p:spPr>
      </p:sp>
      <p:sp>
        <p:nvSpPr>
          <p:cNvPr id="63" name="Shape 61"/>
          <p:cNvSpPr/>
          <p:nvPr/>
        </p:nvSpPr>
        <p:spPr>
          <a:xfrm>
            <a:off x="0" y="6536531"/>
            <a:ext cx="320040" cy="116300"/>
          </a:xfrm>
          <a:prstGeom prst="rect">
            <a:avLst/>
          </a:prstGeom>
          <a:solidFill>
            <a:srgbClr val="1C6DBF"/>
          </a:solidFill>
          <a:ln/>
        </p:spPr>
      </p:sp>
      <p:sp>
        <p:nvSpPr>
          <p:cNvPr id="64" name="Shape 62"/>
          <p:cNvSpPr/>
          <p:nvPr/>
        </p:nvSpPr>
        <p:spPr>
          <a:xfrm>
            <a:off x="0" y="6643688"/>
            <a:ext cx="320040" cy="116300"/>
          </a:xfrm>
          <a:prstGeom prst="rect">
            <a:avLst/>
          </a:prstGeom>
          <a:solidFill>
            <a:srgbClr val="1B6EBF"/>
          </a:solidFill>
          <a:ln/>
        </p:spPr>
      </p:sp>
      <p:sp>
        <p:nvSpPr>
          <p:cNvPr id="65" name="Shape 63"/>
          <p:cNvSpPr/>
          <p:nvPr/>
        </p:nvSpPr>
        <p:spPr>
          <a:xfrm>
            <a:off x="0" y="6750844"/>
            <a:ext cx="320040" cy="116300"/>
          </a:xfrm>
          <a:prstGeom prst="rect">
            <a:avLst/>
          </a:prstGeom>
          <a:solidFill>
            <a:srgbClr val="1A6FBE"/>
          </a:solidFill>
          <a:ln/>
        </p:spPr>
      </p:sp>
      <p:sp>
        <p:nvSpPr>
          <p:cNvPr id="66" name="Text 64"/>
          <p:cNvSpPr/>
          <p:nvPr/>
        </p:nvSpPr>
        <p:spPr>
          <a:xfrm>
            <a:off x="73152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FOUNDERS</a:t>
            </a:r>
            <a:endParaRPr lang="en-US" sz="1100" dirty="0"/>
          </a:p>
        </p:txBody>
      </p:sp>
      <p:sp>
        <p:nvSpPr>
          <p:cNvPr id="67" name="Text 65"/>
          <p:cNvSpPr/>
          <p:nvPr/>
        </p:nvSpPr>
        <p:spPr>
          <a:xfrm>
            <a:off x="548640" y="1554480"/>
            <a:ext cx="11094415" cy="3200400"/>
          </a:xfrm>
          <a:prstGeom prst="rect">
            <a:avLst/>
          </a:prstGeom>
          <a:noFill/>
          <a:ln/>
        </p:spPr>
        <p:txBody>
          <a:bodyPr wrap="square" lIns="0" tIns="0" rIns="0" bIns="0" rtlCol="0" anchor="ctr"/>
          <a:lstStyle/>
          <a:p>
            <a:pPr algn="l" indent="0" marL="0">
              <a:buNone/>
            </a:pPr>
            <a:r>
              <a:rPr lang="en-US" sz="22000" b="1" spc="-600" kern="0" dirty="0">
                <a:solidFill>
                  <a:srgbClr val="5028C2"/>
                </a:solidFill>
                <a:latin typeface="Calibri" pitchFamily="34" charset="0"/>
                <a:ea typeface="Calibri" pitchFamily="34" charset="-122"/>
                <a:cs typeface="Calibri" pitchFamily="34" charset="-120"/>
              </a:rPr>
              <a:t>2</a:t>
            </a:r>
            <a:endParaRPr lang="en-US" sz="22000" dirty="0"/>
          </a:p>
        </p:txBody>
      </p:sp>
      <p:sp>
        <p:nvSpPr>
          <p:cNvPr id="68" name="Text 66"/>
          <p:cNvSpPr/>
          <p:nvPr/>
        </p:nvSpPr>
        <p:spPr>
          <a:xfrm>
            <a:off x="548640" y="4983480"/>
            <a:ext cx="11094415" cy="457200"/>
          </a:xfrm>
          <a:prstGeom prst="rect">
            <a:avLst/>
          </a:prstGeom>
          <a:noFill/>
          <a:ln/>
        </p:spPr>
        <p:txBody>
          <a:bodyPr wrap="square" lIns="0" tIns="0" rIns="0" bIns="0" rtlCol="0" anchor="t"/>
          <a:lstStyle/>
          <a:p>
            <a:pPr algn="l" indent="0" marL="0">
              <a:buNone/>
            </a:pPr>
            <a:r>
              <a:rPr lang="en-US" sz="2200" b="1" dirty="0">
                <a:solidFill>
                  <a:srgbClr val="0F1733"/>
                </a:solidFill>
                <a:latin typeface="Calibri" pitchFamily="34" charset="0"/>
                <a:ea typeface="Calibri" pitchFamily="34" charset="-122"/>
                <a:cs typeface="Calibri" pitchFamily="34" charset="-120"/>
              </a:rPr>
              <a:t>Founders. Complementary skill sets. No role overlap.</a:t>
            </a:r>
            <a:endParaRPr lang="en-US" sz="2200" dirty="0"/>
          </a:p>
        </p:txBody>
      </p:sp>
      <p:sp>
        <p:nvSpPr>
          <p:cNvPr id="69" name="Text 67"/>
          <p:cNvSpPr/>
          <p:nvPr/>
        </p:nvSpPr>
        <p:spPr>
          <a:xfrm>
            <a:off x="548640" y="5486400"/>
            <a:ext cx="10637215" cy="640080"/>
          </a:xfrm>
          <a:prstGeom prst="rect">
            <a:avLst/>
          </a:prstGeom>
          <a:noFill/>
          <a:ln/>
        </p:spPr>
        <p:txBody>
          <a:bodyPr wrap="square" lIns="0" tIns="0" rIns="0" bIns="0" rtlCol="0" anchor="t"/>
          <a:lstStyle/>
          <a:p>
            <a:pPr algn="l" indent="0" marL="0">
              <a:buNone/>
            </a:pPr>
            <a:r>
              <a:rPr lang="en-US" sz="1300" dirty="0">
                <a:solidFill>
                  <a:srgbClr val="2A3358"/>
                </a:solidFill>
                <a:latin typeface="Calibri" pitchFamily="34" charset="0"/>
                <a:ea typeface="Calibri" pitchFamily="34" charset="-122"/>
                <a:cs typeface="Calibri" pitchFamily="34" charset="-120"/>
              </a:rPr>
              <a:t>One founder builds and serves customers. One founder originates concept, brings industry knowledge, and opens doors. Each role essential. Neither replaceable. Both essential to the product existing at all.</a:t>
            </a:r>
            <a:endParaRPr lang="en-US" sz="13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15 · The Team  ·  vD</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102 / 126</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1ECFF"/>
        </a:solidFill>
      </p:bgPr>
    </p:bg>
    <p:spTree>
      <p:nvGrpSpPr>
        <p:cNvPr id="1" name=""/>
        <p:cNvGrpSpPr/>
        <p:nvPr/>
      </p:nvGrpSpPr>
      <p:grpSpPr>
        <a:xfrm>
          <a:off x="0" y="0"/>
          <a:ext cx="0" cy="0"/>
          <a:chOff x="0" y="0"/>
          <a:chExt cx="0" cy="0"/>
        </a:xfrm>
      </p:grpSpPr>
      <p:sp>
        <p:nvSpPr>
          <p:cNvPr id="2" name="Text 0"/>
          <p:cNvSpPr/>
          <p:nvPr/>
        </p:nvSpPr>
        <p:spPr>
          <a:xfrm>
            <a:off x="457200" y="365760"/>
            <a:ext cx="2286000" cy="2286000"/>
          </a:xfrm>
          <a:prstGeom prst="rect">
            <a:avLst/>
          </a:prstGeom>
          <a:noFill/>
          <a:ln/>
        </p:spPr>
        <p:txBody>
          <a:bodyPr wrap="square" lIns="0" tIns="0" rIns="0" bIns="0" rtlCol="0" anchor="t"/>
          <a:lstStyle/>
          <a:p>
            <a:pPr algn="l" indent="0" marL="0">
              <a:buNone/>
            </a:pPr>
            <a:r>
              <a:rPr lang="en-US" sz="24000" b="1" dirty="0">
                <a:solidFill>
                  <a:srgbClr val="5028C2"/>
                </a:solidFill>
                <a:latin typeface="Georgia" pitchFamily="34" charset="0"/>
                <a:ea typeface="Georgia" pitchFamily="34" charset="-122"/>
                <a:cs typeface="Georgia" pitchFamily="34" charset="-120"/>
              </a:rPr>
              <a:t>"</a:t>
            </a:r>
            <a:endParaRPr lang="en-US" sz="24000" dirty="0"/>
          </a:p>
        </p:txBody>
      </p:sp>
      <p:sp>
        <p:nvSpPr>
          <p:cNvPr id="3" name="Text 1"/>
          <p:cNvSpPr/>
          <p:nvPr/>
        </p:nvSpPr>
        <p:spPr>
          <a:xfrm>
            <a:off x="1920240" y="1737360"/>
            <a:ext cx="9722815" cy="3108960"/>
          </a:xfrm>
          <a:prstGeom prst="rect">
            <a:avLst/>
          </a:prstGeom>
          <a:noFill/>
          <a:ln/>
        </p:spPr>
        <p:txBody>
          <a:bodyPr wrap="square" lIns="0" tIns="0" rIns="0" bIns="0" rtlCol="0" anchor="t"/>
          <a:lstStyle/>
          <a:p>
            <a:pPr algn="l" indent="0" marL="0">
              <a:buNone/>
            </a:pPr>
            <a:r>
              <a:rPr lang="en-US" sz="2800" i="1" dirty="0">
                <a:solidFill>
                  <a:srgbClr val="0F1733"/>
                </a:solidFill>
                <a:latin typeface="Georgia" pitchFamily="34" charset="0"/>
                <a:ea typeface="Georgia" pitchFamily="34" charset="-122"/>
                <a:cs typeface="Georgia" pitchFamily="34" charset="-120"/>
              </a:rPr>
              <a:t>Creator Outreach wouldn't exist without the combination of Ryan's industry origin and Dylan's product execution. Neither role is greater. Both are essential.</a:t>
            </a:r>
            <a:endParaRPr lang="en-US" sz="2800" dirty="0"/>
          </a:p>
        </p:txBody>
      </p:sp>
      <p:sp>
        <p:nvSpPr>
          <p:cNvPr id="4" name="Shape 2"/>
          <p:cNvSpPr/>
          <p:nvPr/>
        </p:nvSpPr>
        <p:spPr>
          <a:xfrm>
            <a:off x="1920240" y="5120640"/>
            <a:ext cx="640080" cy="0"/>
          </a:xfrm>
          <a:prstGeom prst="line">
            <a:avLst/>
          </a:prstGeom>
          <a:noFill/>
          <a:ln w="25400">
            <a:solidFill>
              <a:srgbClr val="5028C2"/>
            </a:solidFill>
            <a:prstDash val="solid"/>
          </a:ln>
        </p:spPr>
      </p:sp>
      <p:sp>
        <p:nvSpPr>
          <p:cNvPr id="5" name="Text 3"/>
          <p:cNvSpPr/>
          <p:nvPr/>
        </p:nvSpPr>
        <p:spPr>
          <a:xfrm>
            <a:off x="1920240" y="5212080"/>
            <a:ext cx="9722815" cy="457200"/>
          </a:xfrm>
          <a:prstGeom prst="rect">
            <a:avLst/>
          </a:prstGeom>
          <a:noFill/>
          <a:ln/>
        </p:spPr>
        <p:txBody>
          <a:bodyPr wrap="square" lIns="0" tIns="0" rIns="0" bIns="0" rtlCol="0" anchor="t"/>
          <a:lstStyle/>
          <a:p>
            <a:pPr algn="l" indent="0" marL="0">
              <a:buNone/>
            </a:pPr>
            <a:r>
              <a:rPr lang="en-US" sz="1400" b="1" spc="100" kern="0" dirty="0">
                <a:solidFill>
                  <a:srgbClr val="3D1E96"/>
                </a:solidFill>
                <a:latin typeface="Calibri" pitchFamily="34" charset="0"/>
                <a:ea typeface="Calibri" pitchFamily="34" charset="-122"/>
                <a:cs typeface="Calibri" pitchFamily="34" charset="-120"/>
              </a:rPr>
              <a:t>Founders Agreement, Section 1</a:t>
            </a:r>
            <a:endParaRPr lang="en-US" sz="1400" dirty="0"/>
          </a:p>
        </p:txBody>
      </p:sp>
      <p:sp>
        <p:nvSpPr>
          <p:cNvPr id="6" name="Text 4"/>
          <p:cNvSpPr/>
          <p:nvPr/>
        </p:nvSpPr>
        <p:spPr>
          <a:xfrm>
            <a:off x="1920240" y="5532120"/>
            <a:ext cx="9722815" cy="365760"/>
          </a:xfrm>
          <a:prstGeom prst="rect">
            <a:avLst/>
          </a:prstGeom>
          <a:noFill/>
          <a:ln/>
        </p:spPr>
        <p:txBody>
          <a:bodyPr wrap="square" lIns="0" tIns="0" rIns="0" bIns="0" rtlCol="0" anchor="t"/>
          <a:lstStyle/>
          <a:p>
            <a:pPr algn="l" indent="0" marL="0">
              <a:buNone/>
            </a:pPr>
            <a:r>
              <a:rPr lang="en-US" sz="1200" dirty="0">
                <a:solidFill>
                  <a:srgbClr val="6B7493"/>
                </a:solidFill>
                <a:latin typeface="Calibri" pitchFamily="34" charset="0"/>
                <a:ea typeface="Calibri" pitchFamily="34" charset="-122"/>
                <a:cs typeface="Calibri" pitchFamily="34" charset="-120"/>
              </a:rPr>
              <a:t>Gaynor Media LLC · May 2026</a:t>
            </a:r>
            <a:endParaRPr lang="en-US" sz="1200" dirty="0"/>
          </a:p>
        </p:txBody>
      </p:sp>
      <p:sp>
        <p:nvSpPr>
          <p:cNvPr id="7" name="Shape 5"/>
          <p:cNvSpPr/>
          <p:nvPr/>
        </p:nvSpPr>
        <p:spPr>
          <a:xfrm>
            <a:off x="548640" y="502920"/>
            <a:ext cx="292608" cy="292608"/>
          </a:xfrm>
          <a:prstGeom prst="roundRect">
            <a:avLst>
              <a:gd name="adj" fmla="val 25000"/>
            </a:avLst>
          </a:prstGeom>
          <a:solidFill>
            <a:srgbClr val="5028C2"/>
          </a:solidFill>
          <a:ln/>
        </p:spPr>
      </p:sp>
      <p:sp>
        <p:nvSpPr>
          <p:cNvPr id="8" name="Shape 6"/>
          <p:cNvSpPr/>
          <p:nvPr/>
        </p:nvSpPr>
        <p:spPr>
          <a:xfrm>
            <a:off x="548640" y="502920"/>
            <a:ext cx="292608" cy="292608"/>
          </a:xfrm>
          <a:prstGeom prst="roundRect">
            <a:avLst>
              <a:gd name="adj" fmla="val 25000"/>
            </a:avLst>
          </a:prstGeom>
          <a:solidFill>
            <a:srgbClr val="1A6FBE">
              <a:alpha val="50000"/>
            </a:srgbClr>
          </a:solidFill>
          <a:ln/>
        </p:spPr>
      </p:sp>
      <p:sp>
        <p:nvSpPr>
          <p:cNvPr id="9" name="Text 7"/>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0" name="Text 8"/>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1" name="Text 9"/>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15 · The Team  ·  vE</a:t>
            </a:r>
            <a:endParaRPr lang="en-US" sz="900" dirty="0"/>
          </a:p>
        </p:txBody>
      </p:sp>
      <p:sp>
        <p:nvSpPr>
          <p:cNvPr id="12" name="Text 10"/>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3" name="Text 11"/>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103 / 126</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a:off x="3047924" y="0"/>
            <a:ext cx="9143771" cy="6858000"/>
          </a:xfrm>
          <a:prstGeom prst="rtTriangle">
            <a:avLst/>
          </a:prstGeom>
          <a:solidFill>
            <a:srgbClr val="5028C2"/>
          </a:solidFill>
          <a:ln/>
        </p:spPr>
      </p:sp>
      <p:sp>
        <p:nvSpPr>
          <p:cNvPr id="3" name="Shape 1"/>
          <p:cNvSpPr/>
          <p:nvPr/>
        </p:nvSpPr>
        <p:spPr>
          <a:xfrm flipH="1">
            <a:off x="4876678" y="1028700"/>
            <a:ext cx="7924602" cy="6515100"/>
          </a:xfrm>
          <a:prstGeom prst="rtTriangle">
            <a:avLst/>
          </a:prstGeom>
          <a:solidFill>
            <a:srgbClr val="1A6FBE">
              <a:alpha val="75000"/>
            </a:srgbClr>
          </a:solidFill>
          <a:ln/>
        </p:spPr>
      </p:sp>
      <p:sp>
        <p:nvSpPr>
          <p:cNvPr id="4" name="Text 2"/>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THE TEAM</a:t>
            </a:r>
            <a:endParaRPr lang="en-US" sz="1100" dirty="0"/>
          </a:p>
        </p:txBody>
      </p:sp>
      <p:sp>
        <p:nvSpPr>
          <p:cNvPr id="5" name="Text 3"/>
          <p:cNvSpPr/>
          <p:nvPr/>
        </p:nvSpPr>
        <p:spPr>
          <a:xfrm>
            <a:off x="548640" y="1417320"/>
            <a:ext cx="6095848" cy="2286000"/>
          </a:xfrm>
          <a:prstGeom prst="rect">
            <a:avLst/>
          </a:prstGeom>
          <a:noFill/>
          <a:ln/>
        </p:spPr>
        <p:txBody>
          <a:bodyPr wrap="square" lIns="0" tIns="0" rIns="0" bIns="0" rtlCol="0" anchor="t"/>
          <a:lstStyle/>
          <a:p>
            <a:pPr algn="l" indent="0" marL="0">
              <a:buNone/>
            </a:pPr>
            <a:r>
              <a:rPr lang="en-US" sz="4000" b="1" spc="-50" kern="0" dirty="0">
                <a:solidFill>
                  <a:srgbClr val="0F1733"/>
                </a:solidFill>
                <a:latin typeface="Calibri" pitchFamily="34" charset="0"/>
                <a:ea typeface="Calibri" pitchFamily="34" charset="-122"/>
                <a:cs typeface="Calibri" pitchFamily="34" charset="-120"/>
              </a:rPr>
              <a:t>Operator + insider. Build + distribute.</a:t>
            </a:r>
            <a:endParaRPr lang="en-US" sz="4000" dirty="0"/>
          </a:p>
        </p:txBody>
      </p:sp>
      <p:sp>
        <p:nvSpPr>
          <p:cNvPr id="6" name="Text 4"/>
          <p:cNvSpPr/>
          <p:nvPr/>
        </p:nvSpPr>
        <p:spPr>
          <a:xfrm>
            <a:off x="548640" y="3840480"/>
            <a:ext cx="5821528" cy="2103120"/>
          </a:xfrm>
          <a:prstGeom prst="rect">
            <a:avLst/>
          </a:prstGeom>
          <a:noFill/>
          <a:ln/>
        </p:spPr>
        <p:txBody>
          <a:bodyPr wrap="square" lIns="0" tIns="0" rIns="0" bIns="0" rtlCol="0" anchor="t"/>
          <a:lstStyle/>
          <a:p>
            <a:pPr algn="l" indent="0" marL="0">
              <a:spcAft>
                <a:spcPts val="600"/>
              </a:spcAft>
              <a:buNone/>
            </a:pPr>
            <a:r>
              <a:rPr lang="en-US" sz="1400" dirty="0">
                <a:solidFill>
                  <a:srgbClr val="2A3358"/>
                </a:solidFill>
                <a:latin typeface="Calibri" pitchFamily="34" charset="0"/>
                <a:ea typeface="Calibri" pitchFamily="34" charset="-122"/>
                <a:cs typeface="Calibri" pitchFamily="34" charset="-120"/>
              </a:rPr>
              <a:t>The two roles that matter most at this stage of a B2B SaaS — the person who can ship the product without compromise, and the person who can put it in front of the right buyers. We have both. We split the work cleanly. We made it durable in writing.</a:t>
            </a:r>
            <a:endParaRPr lang="en-US" sz="1400" dirty="0"/>
          </a:p>
        </p:txBody>
      </p:sp>
      <p:sp>
        <p:nvSpPr>
          <p:cNvPr id="7" name="Text 5"/>
          <p:cNvSpPr/>
          <p:nvPr/>
        </p:nvSpPr>
        <p:spPr>
          <a:xfrm>
            <a:off x="6705432" y="2926080"/>
            <a:ext cx="4876678" cy="3291840"/>
          </a:xfrm>
          <a:prstGeom prst="rect">
            <a:avLst/>
          </a:prstGeom>
          <a:noFill/>
          <a:ln/>
        </p:spPr>
        <p:txBody>
          <a:bodyPr wrap="square" lIns="0" tIns="0" rIns="0" bIns="0" rtlCol="0" anchor="ctr"/>
          <a:lstStyle/>
          <a:p>
            <a:pPr algn="r" indent="0" marL="0">
              <a:buNone/>
            </a:pPr>
            <a:r>
              <a:rPr lang="en-US" sz="3200" b="1" spc="-50" kern="0" dirty="0">
                <a:solidFill>
                  <a:srgbClr val="FFFFFF"/>
                </a:solidFill>
                <a:latin typeface="Calibri" pitchFamily="34" charset="0"/>
                <a:ea typeface="Calibri" pitchFamily="34" charset="-122"/>
                <a:cs typeface="Calibri" pitchFamily="34" charset="-120"/>
              </a:rPr>
              <a:t>Build +</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distribute.</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No gaps.</a:t>
            </a:r>
            <a:endParaRPr lang="en-US" sz="3200" dirty="0"/>
          </a:p>
        </p:txBody>
      </p:sp>
      <p:sp>
        <p:nvSpPr>
          <p:cNvPr id="8" name="Shape 6"/>
          <p:cNvSpPr/>
          <p:nvPr/>
        </p:nvSpPr>
        <p:spPr>
          <a:xfrm>
            <a:off x="548640" y="502920"/>
            <a:ext cx="292608" cy="292608"/>
          </a:xfrm>
          <a:prstGeom prst="roundRect">
            <a:avLst>
              <a:gd name="adj" fmla="val 25000"/>
            </a:avLst>
          </a:prstGeom>
          <a:solidFill>
            <a:srgbClr val="5028C2"/>
          </a:solidFill>
          <a:ln/>
        </p:spPr>
      </p:sp>
      <p:sp>
        <p:nvSpPr>
          <p:cNvPr id="9" name="Shape 7"/>
          <p:cNvSpPr/>
          <p:nvPr/>
        </p:nvSpPr>
        <p:spPr>
          <a:xfrm>
            <a:off x="548640" y="502920"/>
            <a:ext cx="292608" cy="292608"/>
          </a:xfrm>
          <a:prstGeom prst="roundRect">
            <a:avLst>
              <a:gd name="adj" fmla="val 25000"/>
            </a:avLst>
          </a:prstGeom>
          <a:solidFill>
            <a:srgbClr val="1A6FBE">
              <a:alpha val="50000"/>
            </a:srgbClr>
          </a:solidFill>
          <a:ln/>
        </p:spPr>
      </p:sp>
      <p:sp>
        <p:nvSpPr>
          <p:cNvPr id="10" name="Text 8"/>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1" name="Text 9"/>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2" name="Text 10"/>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15 · The Team  ·  vF</a:t>
            </a:r>
            <a:endParaRPr lang="en-US" sz="900" dirty="0"/>
          </a:p>
        </p:txBody>
      </p:sp>
      <p:sp>
        <p:nvSpPr>
          <p:cNvPr id="13" name="Text 11"/>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4" name="Text 12"/>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104 / 126</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CFAF6"/>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THE TEAM</a:t>
            </a:r>
            <a:endParaRPr lang="en-US" sz="1100" dirty="0"/>
          </a:p>
        </p:txBody>
      </p:sp>
      <p:sp>
        <p:nvSpPr>
          <p:cNvPr id="3" name="Text 1"/>
          <p:cNvSpPr/>
          <p:nvPr/>
        </p:nvSpPr>
        <p:spPr>
          <a:xfrm>
            <a:off x="548640" y="1417320"/>
            <a:ext cx="11094415" cy="914400"/>
          </a:xfrm>
          <a:prstGeom prst="rect">
            <a:avLst/>
          </a:prstGeom>
          <a:noFill/>
          <a:ln/>
        </p:spPr>
        <p:txBody>
          <a:bodyPr wrap="square" lIns="0" tIns="0" rIns="0" bIns="0" rtlCol="0" anchor="t"/>
          <a:lstStyle/>
          <a:p>
            <a:pPr algn="l" indent="0" marL="0">
              <a:buNone/>
            </a:pPr>
            <a:r>
              <a:rPr lang="en-US" sz="3400" b="1" spc="-50" kern="0" dirty="0">
                <a:solidFill>
                  <a:srgbClr val="0F1733"/>
                </a:solidFill>
                <a:latin typeface="Calibri" pitchFamily="34" charset="0"/>
                <a:ea typeface="Calibri" pitchFamily="34" charset="-122"/>
                <a:cs typeface="Calibri" pitchFamily="34" charset="-120"/>
              </a:rPr>
              <a:t>Two founders. Two roles. One company.</a:t>
            </a:r>
            <a:endParaRPr lang="en-US" sz="3400" dirty="0"/>
          </a:p>
        </p:txBody>
      </p:sp>
      <p:sp>
        <p:nvSpPr>
          <p:cNvPr id="4" name="Shape 2"/>
          <p:cNvSpPr/>
          <p:nvPr/>
        </p:nvSpPr>
        <p:spPr>
          <a:xfrm>
            <a:off x="548640" y="2514600"/>
            <a:ext cx="5464912" cy="67008"/>
          </a:xfrm>
          <a:prstGeom prst="rect">
            <a:avLst/>
          </a:prstGeom>
          <a:solidFill>
            <a:srgbClr val="5028C2"/>
          </a:solidFill>
          <a:ln/>
        </p:spPr>
      </p:sp>
      <p:sp>
        <p:nvSpPr>
          <p:cNvPr id="5" name="Shape 3"/>
          <p:cNvSpPr/>
          <p:nvPr/>
        </p:nvSpPr>
        <p:spPr>
          <a:xfrm>
            <a:off x="548640" y="2572464"/>
            <a:ext cx="5464912" cy="67008"/>
          </a:xfrm>
          <a:prstGeom prst="rect">
            <a:avLst/>
          </a:prstGeom>
          <a:solidFill>
            <a:srgbClr val="4F29C2"/>
          </a:solidFill>
          <a:ln/>
        </p:spPr>
      </p:sp>
      <p:sp>
        <p:nvSpPr>
          <p:cNvPr id="6" name="Shape 4"/>
          <p:cNvSpPr/>
          <p:nvPr/>
        </p:nvSpPr>
        <p:spPr>
          <a:xfrm>
            <a:off x="548640" y="2630329"/>
            <a:ext cx="5464912" cy="67008"/>
          </a:xfrm>
          <a:prstGeom prst="rect">
            <a:avLst/>
          </a:prstGeom>
          <a:solidFill>
            <a:srgbClr val="4E2AC3"/>
          </a:solidFill>
          <a:ln/>
        </p:spPr>
      </p:sp>
      <p:sp>
        <p:nvSpPr>
          <p:cNvPr id="7" name="Shape 5"/>
          <p:cNvSpPr/>
          <p:nvPr/>
        </p:nvSpPr>
        <p:spPr>
          <a:xfrm>
            <a:off x="548640" y="2688193"/>
            <a:ext cx="5464912" cy="67008"/>
          </a:xfrm>
          <a:prstGeom prst="rect">
            <a:avLst/>
          </a:prstGeom>
          <a:solidFill>
            <a:srgbClr val="4D2BC3"/>
          </a:solidFill>
          <a:ln/>
        </p:spPr>
      </p:sp>
      <p:sp>
        <p:nvSpPr>
          <p:cNvPr id="8" name="Shape 6"/>
          <p:cNvSpPr/>
          <p:nvPr/>
        </p:nvSpPr>
        <p:spPr>
          <a:xfrm>
            <a:off x="548640" y="2746058"/>
            <a:ext cx="5464912" cy="67008"/>
          </a:xfrm>
          <a:prstGeom prst="rect">
            <a:avLst/>
          </a:prstGeom>
          <a:solidFill>
            <a:srgbClr val="4D2CC4"/>
          </a:solidFill>
          <a:ln/>
        </p:spPr>
      </p:sp>
      <p:sp>
        <p:nvSpPr>
          <p:cNvPr id="9" name="Shape 7"/>
          <p:cNvSpPr/>
          <p:nvPr/>
        </p:nvSpPr>
        <p:spPr>
          <a:xfrm>
            <a:off x="548640" y="2803922"/>
            <a:ext cx="5464912" cy="67008"/>
          </a:xfrm>
          <a:prstGeom prst="rect">
            <a:avLst/>
          </a:prstGeom>
          <a:solidFill>
            <a:srgbClr val="4C2DC4"/>
          </a:solidFill>
          <a:ln/>
        </p:spPr>
      </p:sp>
      <p:sp>
        <p:nvSpPr>
          <p:cNvPr id="10" name="Shape 8"/>
          <p:cNvSpPr/>
          <p:nvPr/>
        </p:nvSpPr>
        <p:spPr>
          <a:xfrm>
            <a:off x="548640" y="2861786"/>
            <a:ext cx="5464912" cy="67008"/>
          </a:xfrm>
          <a:prstGeom prst="rect">
            <a:avLst/>
          </a:prstGeom>
          <a:solidFill>
            <a:srgbClr val="4B2EC5"/>
          </a:solidFill>
          <a:ln/>
        </p:spPr>
      </p:sp>
      <p:sp>
        <p:nvSpPr>
          <p:cNvPr id="11" name="Shape 9"/>
          <p:cNvSpPr/>
          <p:nvPr/>
        </p:nvSpPr>
        <p:spPr>
          <a:xfrm>
            <a:off x="548640" y="2919651"/>
            <a:ext cx="5464912" cy="67008"/>
          </a:xfrm>
          <a:prstGeom prst="rect">
            <a:avLst/>
          </a:prstGeom>
          <a:solidFill>
            <a:srgbClr val="4A2FC5"/>
          </a:solidFill>
          <a:ln/>
        </p:spPr>
      </p:sp>
      <p:sp>
        <p:nvSpPr>
          <p:cNvPr id="12" name="Shape 10"/>
          <p:cNvSpPr/>
          <p:nvPr/>
        </p:nvSpPr>
        <p:spPr>
          <a:xfrm>
            <a:off x="548640" y="2977515"/>
            <a:ext cx="5464912" cy="67008"/>
          </a:xfrm>
          <a:prstGeom prst="rect">
            <a:avLst/>
          </a:prstGeom>
          <a:solidFill>
            <a:srgbClr val="4930C6"/>
          </a:solidFill>
          <a:ln/>
        </p:spPr>
      </p:sp>
      <p:sp>
        <p:nvSpPr>
          <p:cNvPr id="13" name="Shape 11"/>
          <p:cNvSpPr/>
          <p:nvPr/>
        </p:nvSpPr>
        <p:spPr>
          <a:xfrm>
            <a:off x="548640" y="3035379"/>
            <a:ext cx="5464912" cy="67008"/>
          </a:xfrm>
          <a:prstGeom prst="rect">
            <a:avLst/>
          </a:prstGeom>
          <a:solidFill>
            <a:srgbClr val="4831C6"/>
          </a:solidFill>
          <a:ln/>
        </p:spPr>
      </p:sp>
      <p:sp>
        <p:nvSpPr>
          <p:cNvPr id="14" name="Shape 12"/>
          <p:cNvSpPr/>
          <p:nvPr/>
        </p:nvSpPr>
        <p:spPr>
          <a:xfrm>
            <a:off x="548640" y="3093244"/>
            <a:ext cx="5464912" cy="67008"/>
          </a:xfrm>
          <a:prstGeom prst="rect">
            <a:avLst/>
          </a:prstGeom>
          <a:solidFill>
            <a:srgbClr val="4732C6"/>
          </a:solidFill>
          <a:ln/>
        </p:spPr>
      </p:sp>
      <p:sp>
        <p:nvSpPr>
          <p:cNvPr id="15" name="Shape 13"/>
          <p:cNvSpPr/>
          <p:nvPr/>
        </p:nvSpPr>
        <p:spPr>
          <a:xfrm>
            <a:off x="548640" y="3151108"/>
            <a:ext cx="5464912" cy="67008"/>
          </a:xfrm>
          <a:prstGeom prst="rect">
            <a:avLst/>
          </a:prstGeom>
          <a:solidFill>
            <a:srgbClr val="4733C7"/>
          </a:solidFill>
          <a:ln/>
        </p:spPr>
      </p:sp>
      <p:sp>
        <p:nvSpPr>
          <p:cNvPr id="16" name="Shape 14"/>
          <p:cNvSpPr/>
          <p:nvPr/>
        </p:nvSpPr>
        <p:spPr>
          <a:xfrm>
            <a:off x="548640" y="3208973"/>
            <a:ext cx="5464912" cy="67008"/>
          </a:xfrm>
          <a:prstGeom prst="rect">
            <a:avLst/>
          </a:prstGeom>
          <a:solidFill>
            <a:srgbClr val="4634C7"/>
          </a:solidFill>
          <a:ln/>
        </p:spPr>
      </p:sp>
      <p:sp>
        <p:nvSpPr>
          <p:cNvPr id="17" name="Shape 15"/>
          <p:cNvSpPr/>
          <p:nvPr/>
        </p:nvSpPr>
        <p:spPr>
          <a:xfrm>
            <a:off x="548640" y="3266837"/>
            <a:ext cx="5464912" cy="67008"/>
          </a:xfrm>
          <a:prstGeom prst="rect">
            <a:avLst/>
          </a:prstGeom>
          <a:solidFill>
            <a:srgbClr val="4535C8"/>
          </a:solidFill>
          <a:ln/>
        </p:spPr>
      </p:sp>
      <p:sp>
        <p:nvSpPr>
          <p:cNvPr id="18" name="Shape 16"/>
          <p:cNvSpPr/>
          <p:nvPr/>
        </p:nvSpPr>
        <p:spPr>
          <a:xfrm>
            <a:off x="548640" y="3324701"/>
            <a:ext cx="5464912" cy="67008"/>
          </a:xfrm>
          <a:prstGeom prst="rect">
            <a:avLst/>
          </a:prstGeom>
          <a:solidFill>
            <a:srgbClr val="4436C8"/>
          </a:solidFill>
          <a:ln/>
        </p:spPr>
      </p:sp>
      <p:sp>
        <p:nvSpPr>
          <p:cNvPr id="19" name="Shape 17"/>
          <p:cNvSpPr/>
          <p:nvPr/>
        </p:nvSpPr>
        <p:spPr>
          <a:xfrm>
            <a:off x="548640" y="3382566"/>
            <a:ext cx="5464912" cy="67008"/>
          </a:xfrm>
          <a:prstGeom prst="rect">
            <a:avLst/>
          </a:prstGeom>
          <a:solidFill>
            <a:srgbClr val="4337C9"/>
          </a:solidFill>
          <a:ln/>
        </p:spPr>
      </p:sp>
      <p:sp>
        <p:nvSpPr>
          <p:cNvPr id="20" name="Shape 18"/>
          <p:cNvSpPr/>
          <p:nvPr/>
        </p:nvSpPr>
        <p:spPr>
          <a:xfrm>
            <a:off x="548640" y="3440430"/>
            <a:ext cx="5464912" cy="67008"/>
          </a:xfrm>
          <a:prstGeom prst="rect">
            <a:avLst/>
          </a:prstGeom>
          <a:solidFill>
            <a:srgbClr val="4238C9"/>
          </a:solidFill>
          <a:ln/>
        </p:spPr>
      </p:sp>
      <p:sp>
        <p:nvSpPr>
          <p:cNvPr id="21" name="Shape 19"/>
          <p:cNvSpPr/>
          <p:nvPr/>
        </p:nvSpPr>
        <p:spPr>
          <a:xfrm>
            <a:off x="548640" y="3498294"/>
            <a:ext cx="5464912" cy="67008"/>
          </a:xfrm>
          <a:prstGeom prst="rect">
            <a:avLst/>
          </a:prstGeom>
          <a:solidFill>
            <a:srgbClr val="4139CA"/>
          </a:solidFill>
          <a:ln/>
        </p:spPr>
      </p:sp>
      <p:sp>
        <p:nvSpPr>
          <p:cNvPr id="22" name="Shape 20"/>
          <p:cNvSpPr/>
          <p:nvPr/>
        </p:nvSpPr>
        <p:spPr>
          <a:xfrm>
            <a:off x="548640" y="3556159"/>
            <a:ext cx="5464912" cy="67008"/>
          </a:xfrm>
          <a:prstGeom prst="rect">
            <a:avLst/>
          </a:prstGeom>
          <a:solidFill>
            <a:srgbClr val="413ACA"/>
          </a:solidFill>
          <a:ln/>
        </p:spPr>
      </p:sp>
      <p:sp>
        <p:nvSpPr>
          <p:cNvPr id="23" name="Shape 21"/>
          <p:cNvSpPr/>
          <p:nvPr/>
        </p:nvSpPr>
        <p:spPr>
          <a:xfrm>
            <a:off x="548640" y="3614023"/>
            <a:ext cx="5464912" cy="67008"/>
          </a:xfrm>
          <a:prstGeom prst="rect">
            <a:avLst/>
          </a:prstGeom>
          <a:solidFill>
            <a:srgbClr val="403BCA"/>
          </a:solidFill>
          <a:ln/>
        </p:spPr>
      </p:sp>
      <p:sp>
        <p:nvSpPr>
          <p:cNvPr id="24" name="Shape 22"/>
          <p:cNvSpPr/>
          <p:nvPr/>
        </p:nvSpPr>
        <p:spPr>
          <a:xfrm>
            <a:off x="548640" y="3671888"/>
            <a:ext cx="5464912" cy="67008"/>
          </a:xfrm>
          <a:prstGeom prst="rect">
            <a:avLst/>
          </a:prstGeom>
          <a:solidFill>
            <a:srgbClr val="3F3CCB"/>
          </a:solidFill>
          <a:ln/>
        </p:spPr>
      </p:sp>
      <p:sp>
        <p:nvSpPr>
          <p:cNvPr id="25" name="Shape 23"/>
          <p:cNvSpPr/>
          <p:nvPr/>
        </p:nvSpPr>
        <p:spPr>
          <a:xfrm>
            <a:off x="548640" y="3729752"/>
            <a:ext cx="5464912" cy="67008"/>
          </a:xfrm>
          <a:prstGeom prst="rect">
            <a:avLst/>
          </a:prstGeom>
          <a:solidFill>
            <a:srgbClr val="3E3DCB"/>
          </a:solidFill>
          <a:ln/>
        </p:spPr>
      </p:sp>
      <p:sp>
        <p:nvSpPr>
          <p:cNvPr id="26" name="Shape 24"/>
          <p:cNvSpPr/>
          <p:nvPr/>
        </p:nvSpPr>
        <p:spPr>
          <a:xfrm>
            <a:off x="548640" y="3787616"/>
            <a:ext cx="5464912" cy="67008"/>
          </a:xfrm>
          <a:prstGeom prst="rect">
            <a:avLst/>
          </a:prstGeom>
          <a:solidFill>
            <a:srgbClr val="3D3ECC"/>
          </a:solidFill>
          <a:ln/>
        </p:spPr>
      </p:sp>
      <p:sp>
        <p:nvSpPr>
          <p:cNvPr id="27" name="Shape 25"/>
          <p:cNvSpPr/>
          <p:nvPr/>
        </p:nvSpPr>
        <p:spPr>
          <a:xfrm>
            <a:off x="548640" y="3845481"/>
            <a:ext cx="5464912" cy="67008"/>
          </a:xfrm>
          <a:prstGeom prst="rect">
            <a:avLst/>
          </a:prstGeom>
          <a:solidFill>
            <a:srgbClr val="3C3FCC"/>
          </a:solidFill>
          <a:ln/>
        </p:spPr>
      </p:sp>
      <p:sp>
        <p:nvSpPr>
          <p:cNvPr id="28" name="Shape 26"/>
          <p:cNvSpPr/>
          <p:nvPr/>
        </p:nvSpPr>
        <p:spPr>
          <a:xfrm>
            <a:off x="548640" y="3903345"/>
            <a:ext cx="5464912" cy="67008"/>
          </a:xfrm>
          <a:prstGeom prst="rect">
            <a:avLst/>
          </a:prstGeom>
          <a:solidFill>
            <a:srgbClr val="3B40CD"/>
          </a:solidFill>
          <a:ln/>
        </p:spPr>
      </p:sp>
      <p:sp>
        <p:nvSpPr>
          <p:cNvPr id="29" name="Shape 27"/>
          <p:cNvSpPr/>
          <p:nvPr/>
        </p:nvSpPr>
        <p:spPr>
          <a:xfrm>
            <a:off x="548640" y="3961209"/>
            <a:ext cx="5464912" cy="67008"/>
          </a:xfrm>
          <a:prstGeom prst="rect">
            <a:avLst/>
          </a:prstGeom>
          <a:solidFill>
            <a:srgbClr val="3B41CD"/>
          </a:solidFill>
          <a:ln/>
        </p:spPr>
      </p:sp>
      <p:sp>
        <p:nvSpPr>
          <p:cNvPr id="30" name="Shape 28"/>
          <p:cNvSpPr/>
          <p:nvPr/>
        </p:nvSpPr>
        <p:spPr>
          <a:xfrm>
            <a:off x="548640" y="4019074"/>
            <a:ext cx="5464912" cy="67008"/>
          </a:xfrm>
          <a:prstGeom prst="rect">
            <a:avLst/>
          </a:prstGeom>
          <a:solidFill>
            <a:srgbClr val="3A42CE"/>
          </a:solidFill>
          <a:ln/>
        </p:spPr>
      </p:sp>
      <p:sp>
        <p:nvSpPr>
          <p:cNvPr id="31" name="Shape 29"/>
          <p:cNvSpPr/>
          <p:nvPr/>
        </p:nvSpPr>
        <p:spPr>
          <a:xfrm>
            <a:off x="548640" y="4076938"/>
            <a:ext cx="5464912" cy="67008"/>
          </a:xfrm>
          <a:prstGeom prst="rect">
            <a:avLst/>
          </a:prstGeom>
          <a:solidFill>
            <a:srgbClr val="3943CE"/>
          </a:solidFill>
          <a:ln/>
        </p:spPr>
      </p:sp>
      <p:sp>
        <p:nvSpPr>
          <p:cNvPr id="32" name="Shape 30"/>
          <p:cNvSpPr/>
          <p:nvPr/>
        </p:nvSpPr>
        <p:spPr>
          <a:xfrm>
            <a:off x="548640" y="4134802"/>
            <a:ext cx="5464912" cy="67008"/>
          </a:xfrm>
          <a:prstGeom prst="rect">
            <a:avLst/>
          </a:prstGeom>
          <a:solidFill>
            <a:srgbClr val="3844CE"/>
          </a:solidFill>
          <a:ln/>
        </p:spPr>
      </p:sp>
      <p:sp>
        <p:nvSpPr>
          <p:cNvPr id="33" name="Shape 31"/>
          <p:cNvSpPr/>
          <p:nvPr/>
        </p:nvSpPr>
        <p:spPr>
          <a:xfrm>
            <a:off x="548640" y="4192667"/>
            <a:ext cx="5464912" cy="67008"/>
          </a:xfrm>
          <a:prstGeom prst="rect">
            <a:avLst/>
          </a:prstGeom>
          <a:solidFill>
            <a:srgbClr val="3745CF"/>
          </a:solidFill>
          <a:ln/>
        </p:spPr>
      </p:sp>
      <p:sp>
        <p:nvSpPr>
          <p:cNvPr id="34" name="Shape 32"/>
          <p:cNvSpPr/>
          <p:nvPr/>
        </p:nvSpPr>
        <p:spPr>
          <a:xfrm>
            <a:off x="548640" y="4250531"/>
            <a:ext cx="5464912" cy="67008"/>
          </a:xfrm>
          <a:prstGeom prst="rect">
            <a:avLst/>
          </a:prstGeom>
          <a:solidFill>
            <a:srgbClr val="3646CF"/>
          </a:solidFill>
          <a:ln/>
        </p:spPr>
      </p:sp>
      <p:sp>
        <p:nvSpPr>
          <p:cNvPr id="35" name="Shape 33"/>
          <p:cNvSpPr/>
          <p:nvPr/>
        </p:nvSpPr>
        <p:spPr>
          <a:xfrm>
            <a:off x="548640" y="4308396"/>
            <a:ext cx="5464912" cy="67008"/>
          </a:xfrm>
          <a:prstGeom prst="rect">
            <a:avLst/>
          </a:prstGeom>
          <a:solidFill>
            <a:srgbClr val="3547D0"/>
          </a:solidFill>
          <a:ln/>
        </p:spPr>
      </p:sp>
      <p:sp>
        <p:nvSpPr>
          <p:cNvPr id="36" name="Shape 34"/>
          <p:cNvSpPr/>
          <p:nvPr/>
        </p:nvSpPr>
        <p:spPr>
          <a:xfrm>
            <a:off x="548640" y="4366260"/>
            <a:ext cx="5464912" cy="67008"/>
          </a:xfrm>
          <a:prstGeom prst="rect">
            <a:avLst/>
          </a:prstGeom>
          <a:solidFill>
            <a:srgbClr val="3549D0"/>
          </a:solidFill>
          <a:ln/>
        </p:spPr>
      </p:sp>
      <p:sp>
        <p:nvSpPr>
          <p:cNvPr id="37" name="Shape 35"/>
          <p:cNvSpPr/>
          <p:nvPr/>
        </p:nvSpPr>
        <p:spPr>
          <a:xfrm>
            <a:off x="548640" y="4424124"/>
            <a:ext cx="5464912" cy="67008"/>
          </a:xfrm>
          <a:prstGeom prst="rect">
            <a:avLst/>
          </a:prstGeom>
          <a:solidFill>
            <a:srgbClr val="344ACF"/>
          </a:solidFill>
          <a:ln/>
        </p:spPr>
      </p:sp>
      <p:sp>
        <p:nvSpPr>
          <p:cNvPr id="38" name="Shape 36"/>
          <p:cNvSpPr/>
          <p:nvPr/>
        </p:nvSpPr>
        <p:spPr>
          <a:xfrm>
            <a:off x="548640" y="4481989"/>
            <a:ext cx="5464912" cy="67008"/>
          </a:xfrm>
          <a:prstGeom prst="rect">
            <a:avLst/>
          </a:prstGeom>
          <a:solidFill>
            <a:srgbClr val="334BCF"/>
          </a:solidFill>
          <a:ln/>
        </p:spPr>
      </p:sp>
      <p:sp>
        <p:nvSpPr>
          <p:cNvPr id="39" name="Shape 37"/>
          <p:cNvSpPr/>
          <p:nvPr/>
        </p:nvSpPr>
        <p:spPr>
          <a:xfrm>
            <a:off x="548640" y="4539853"/>
            <a:ext cx="5464912" cy="67008"/>
          </a:xfrm>
          <a:prstGeom prst="rect">
            <a:avLst/>
          </a:prstGeom>
          <a:solidFill>
            <a:srgbClr val="324CCE"/>
          </a:solidFill>
          <a:ln/>
        </p:spPr>
      </p:sp>
      <p:sp>
        <p:nvSpPr>
          <p:cNvPr id="40" name="Shape 38"/>
          <p:cNvSpPr/>
          <p:nvPr/>
        </p:nvSpPr>
        <p:spPr>
          <a:xfrm>
            <a:off x="548640" y="4597717"/>
            <a:ext cx="5464912" cy="67008"/>
          </a:xfrm>
          <a:prstGeom prst="rect">
            <a:avLst/>
          </a:prstGeom>
          <a:solidFill>
            <a:srgbClr val="314ECD"/>
          </a:solidFill>
          <a:ln/>
        </p:spPr>
      </p:sp>
      <p:sp>
        <p:nvSpPr>
          <p:cNvPr id="41" name="Shape 39"/>
          <p:cNvSpPr/>
          <p:nvPr/>
        </p:nvSpPr>
        <p:spPr>
          <a:xfrm>
            <a:off x="548640" y="4655582"/>
            <a:ext cx="5464912" cy="67008"/>
          </a:xfrm>
          <a:prstGeom prst="rect">
            <a:avLst/>
          </a:prstGeom>
          <a:solidFill>
            <a:srgbClr val="304FCD"/>
          </a:solidFill>
          <a:ln/>
        </p:spPr>
      </p:sp>
      <p:sp>
        <p:nvSpPr>
          <p:cNvPr id="42" name="Shape 40"/>
          <p:cNvSpPr/>
          <p:nvPr/>
        </p:nvSpPr>
        <p:spPr>
          <a:xfrm>
            <a:off x="548640" y="4713446"/>
            <a:ext cx="5464912" cy="67008"/>
          </a:xfrm>
          <a:prstGeom prst="rect">
            <a:avLst/>
          </a:prstGeom>
          <a:solidFill>
            <a:srgbClr val="2F50CC"/>
          </a:solidFill>
          <a:ln/>
        </p:spPr>
      </p:sp>
      <p:sp>
        <p:nvSpPr>
          <p:cNvPr id="43" name="Shape 41"/>
          <p:cNvSpPr/>
          <p:nvPr/>
        </p:nvSpPr>
        <p:spPr>
          <a:xfrm>
            <a:off x="548640" y="4771311"/>
            <a:ext cx="5464912" cy="67008"/>
          </a:xfrm>
          <a:prstGeom prst="rect">
            <a:avLst/>
          </a:prstGeom>
          <a:solidFill>
            <a:srgbClr val="2F51CC"/>
          </a:solidFill>
          <a:ln/>
        </p:spPr>
      </p:sp>
      <p:sp>
        <p:nvSpPr>
          <p:cNvPr id="44" name="Shape 42"/>
          <p:cNvSpPr/>
          <p:nvPr/>
        </p:nvSpPr>
        <p:spPr>
          <a:xfrm>
            <a:off x="548640" y="4829175"/>
            <a:ext cx="5464912" cy="67008"/>
          </a:xfrm>
          <a:prstGeom prst="rect">
            <a:avLst/>
          </a:prstGeom>
          <a:solidFill>
            <a:srgbClr val="2E53CB"/>
          </a:solidFill>
          <a:ln/>
        </p:spPr>
      </p:sp>
      <p:sp>
        <p:nvSpPr>
          <p:cNvPr id="45" name="Shape 43"/>
          <p:cNvSpPr/>
          <p:nvPr/>
        </p:nvSpPr>
        <p:spPr>
          <a:xfrm>
            <a:off x="548640" y="4887039"/>
            <a:ext cx="5464912" cy="67008"/>
          </a:xfrm>
          <a:prstGeom prst="rect">
            <a:avLst/>
          </a:prstGeom>
          <a:solidFill>
            <a:srgbClr val="2D54CB"/>
          </a:solidFill>
          <a:ln/>
        </p:spPr>
      </p:sp>
      <p:sp>
        <p:nvSpPr>
          <p:cNvPr id="46" name="Shape 44"/>
          <p:cNvSpPr/>
          <p:nvPr/>
        </p:nvSpPr>
        <p:spPr>
          <a:xfrm>
            <a:off x="548640" y="4944904"/>
            <a:ext cx="5464912" cy="67008"/>
          </a:xfrm>
          <a:prstGeom prst="rect">
            <a:avLst/>
          </a:prstGeom>
          <a:solidFill>
            <a:srgbClr val="2C55CA"/>
          </a:solidFill>
          <a:ln/>
        </p:spPr>
      </p:sp>
      <p:sp>
        <p:nvSpPr>
          <p:cNvPr id="47" name="Shape 45"/>
          <p:cNvSpPr/>
          <p:nvPr/>
        </p:nvSpPr>
        <p:spPr>
          <a:xfrm>
            <a:off x="548640" y="5002768"/>
            <a:ext cx="5464912" cy="67008"/>
          </a:xfrm>
          <a:prstGeom prst="rect">
            <a:avLst/>
          </a:prstGeom>
          <a:solidFill>
            <a:srgbClr val="2B56C9"/>
          </a:solidFill>
          <a:ln/>
        </p:spPr>
      </p:sp>
      <p:sp>
        <p:nvSpPr>
          <p:cNvPr id="48" name="Shape 46"/>
          <p:cNvSpPr/>
          <p:nvPr/>
        </p:nvSpPr>
        <p:spPr>
          <a:xfrm>
            <a:off x="548640" y="5060633"/>
            <a:ext cx="5464912" cy="67008"/>
          </a:xfrm>
          <a:prstGeom prst="rect">
            <a:avLst/>
          </a:prstGeom>
          <a:solidFill>
            <a:srgbClr val="2A57C9"/>
          </a:solidFill>
          <a:ln/>
        </p:spPr>
      </p:sp>
      <p:sp>
        <p:nvSpPr>
          <p:cNvPr id="49" name="Shape 47"/>
          <p:cNvSpPr/>
          <p:nvPr/>
        </p:nvSpPr>
        <p:spPr>
          <a:xfrm>
            <a:off x="548640" y="5118497"/>
            <a:ext cx="5464912" cy="67008"/>
          </a:xfrm>
          <a:prstGeom prst="rect">
            <a:avLst/>
          </a:prstGeom>
          <a:solidFill>
            <a:srgbClr val="2959C8"/>
          </a:solidFill>
          <a:ln/>
        </p:spPr>
      </p:sp>
      <p:sp>
        <p:nvSpPr>
          <p:cNvPr id="50" name="Shape 48"/>
          <p:cNvSpPr/>
          <p:nvPr/>
        </p:nvSpPr>
        <p:spPr>
          <a:xfrm>
            <a:off x="548640" y="5176361"/>
            <a:ext cx="5464912" cy="67008"/>
          </a:xfrm>
          <a:prstGeom prst="rect">
            <a:avLst/>
          </a:prstGeom>
          <a:solidFill>
            <a:srgbClr val="295AC8"/>
          </a:solidFill>
          <a:ln/>
        </p:spPr>
      </p:sp>
      <p:sp>
        <p:nvSpPr>
          <p:cNvPr id="51" name="Shape 49"/>
          <p:cNvSpPr/>
          <p:nvPr/>
        </p:nvSpPr>
        <p:spPr>
          <a:xfrm>
            <a:off x="548640" y="5234226"/>
            <a:ext cx="5464912" cy="67008"/>
          </a:xfrm>
          <a:prstGeom prst="rect">
            <a:avLst/>
          </a:prstGeom>
          <a:solidFill>
            <a:srgbClr val="285BC7"/>
          </a:solidFill>
          <a:ln/>
        </p:spPr>
      </p:sp>
      <p:sp>
        <p:nvSpPr>
          <p:cNvPr id="52" name="Shape 50"/>
          <p:cNvSpPr/>
          <p:nvPr/>
        </p:nvSpPr>
        <p:spPr>
          <a:xfrm>
            <a:off x="548640" y="5292090"/>
            <a:ext cx="5464912" cy="67008"/>
          </a:xfrm>
          <a:prstGeom prst="rect">
            <a:avLst/>
          </a:prstGeom>
          <a:solidFill>
            <a:srgbClr val="275CC7"/>
          </a:solidFill>
          <a:ln/>
        </p:spPr>
      </p:sp>
      <p:sp>
        <p:nvSpPr>
          <p:cNvPr id="53" name="Shape 51"/>
          <p:cNvSpPr/>
          <p:nvPr/>
        </p:nvSpPr>
        <p:spPr>
          <a:xfrm>
            <a:off x="548640" y="5349954"/>
            <a:ext cx="5464912" cy="67008"/>
          </a:xfrm>
          <a:prstGeom prst="rect">
            <a:avLst/>
          </a:prstGeom>
          <a:solidFill>
            <a:srgbClr val="265EC6"/>
          </a:solidFill>
          <a:ln/>
        </p:spPr>
      </p:sp>
      <p:sp>
        <p:nvSpPr>
          <p:cNvPr id="54" name="Shape 52"/>
          <p:cNvSpPr/>
          <p:nvPr/>
        </p:nvSpPr>
        <p:spPr>
          <a:xfrm>
            <a:off x="548640" y="5407819"/>
            <a:ext cx="5464912" cy="67008"/>
          </a:xfrm>
          <a:prstGeom prst="rect">
            <a:avLst/>
          </a:prstGeom>
          <a:solidFill>
            <a:srgbClr val="255FC5"/>
          </a:solidFill>
          <a:ln/>
        </p:spPr>
      </p:sp>
      <p:sp>
        <p:nvSpPr>
          <p:cNvPr id="55" name="Shape 53"/>
          <p:cNvSpPr/>
          <p:nvPr/>
        </p:nvSpPr>
        <p:spPr>
          <a:xfrm>
            <a:off x="548640" y="5465683"/>
            <a:ext cx="5464912" cy="67008"/>
          </a:xfrm>
          <a:prstGeom prst="rect">
            <a:avLst/>
          </a:prstGeom>
          <a:solidFill>
            <a:srgbClr val="2460C5"/>
          </a:solidFill>
          <a:ln/>
        </p:spPr>
      </p:sp>
      <p:sp>
        <p:nvSpPr>
          <p:cNvPr id="56" name="Shape 54"/>
          <p:cNvSpPr/>
          <p:nvPr/>
        </p:nvSpPr>
        <p:spPr>
          <a:xfrm>
            <a:off x="548640" y="5523548"/>
            <a:ext cx="5464912" cy="67008"/>
          </a:xfrm>
          <a:prstGeom prst="rect">
            <a:avLst/>
          </a:prstGeom>
          <a:solidFill>
            <a:srgbClr val="2361C4"/>
          </a:solidFill>
          <a:ln/>
        </p:spPr>
      </p:sp>
      <p:sp>
        <p:nvSpPr>
          <p:cNvPr id="57" name="Shape 55"/>
          <p:cNvSpPr/>
          <p:nvPr/>
        </p:nvSpPr>
        <p:spPr>
          <a:xfrm>
            <a:off x="548640" y="5581412"/>
            <a:ext cx="5464912" cy="67008"/>
          </a:xfrm>
          <a:prstGeom prst="rect">
            <a:avLst/>
          </a:prstGeom>
          <a:solidFill>
            <a:srgbClr val="2363C4"/>
          </a:solidFill>
          <a:ln/>
        </p:spPr>
      </p:sp>
      <p:sp>
        <p:nvSpPr>
          <p:cNvPr id="58" name="Shape 56"/>
          <p:cNvSpPr/>
          <p:nvPr/>
        </p:nvSpPr>
        <p:spPr>
          <a:xfrm>
            <a:off x="548640" y="5639276"/>
            <a:ext cx="5464912" cy="67008"/>
          </a:xfrm>
          <a:prstGeom prst="rect">
            <a:avLst/>
          </a:prstGeom>
          <a:solidFill>
            <a:srgbClr val="2264C3"/>
          </a:solidFill>
          <a:ln/>
        </p:spPr>
      </p:sp>
      <p:sp>
        <p:nvSpPr>
          <p:cNvPr id="59" name="Shape 57"/>
          <p:cNvSpPr/>
          <p:nvPr/>
        </p:nvSpPr>
        <p:spPr>
          <a:xfrm>
            <a:off x="548640" y="5697141"/>
            <a:ext cx="5464912" cy="67008"/>
          </a:xfrm>
          <a:prstGeom prst="rect">
            <a:avLst/>
          </a:prstGeom>
          <a:solidFill>
            <a:srgbClr val="2165C3"/>
          </a:solidFill>
          <a:ln/>
        </p:spPr>
      </p:sp>
      <p:sp>
        <p:nvSpPr>
          <p:cNvPr id="60" name="Shape 58"/>
          <p:cNvSpPr/>
          <p:nvPr/>
        </p:nvSpPr>
        <p:spPr>
          <a:xfrm>
            <a:off x="548640" y="5755005"/>
            <a:ext cx="5464912" cy="67008"/>
          </a:xfrm>
          <a:prstGeom prst="rect">
            <a:avLst/>
          </a:prstGeom>
          <a:solidFill>
            <a:srgbClr val="2066C2"/>
          </a:solidFill>
          <a:ln/>
        </p:spPr>
      </p:sp>
      <p:sp>
        <p:nvSpPr>
          <p:cNvPr id="61" name="Shape 59"/>
          <p:cNvSpPr/>
          <p:nvPr/>
        </p:nvSpPr>
        <p:spPr>
          <a:xfrm>
            <a:off x="548640" y="5812869"/>
            <a:ext cx="5464912" cy="67008"/>
          </a:xfrm>
          <a:prstGeom prst="rect">
            <a:avLst/>
          </a:prstGeom>
          <a:solidFill>
            <a:srgbClr val="1F68C1"/>
          </a:solidFill>
          <a:ln/>
        </p:spPr>
      </p:sp>
      <p:sp>
        <p:nvSpPr>
          <p:cNvPr id="62" name="Shape 60"/>
          <p:cNvSpPr/>
          <p:nvPr/>
        </p:nvSpPr>
        <p:spPr>
          <a:xfrm>
            <a:off x="548640" y="5870734"/>
            <a:ext cx="5464912" cy="67008"/>
          </a:xfrm>
          <a:prstGeom prst="rect">
            <a:avLst/>
          </a:prstGeom>
          <a:solidFill>
            <a:srgbClr val="1E69C1"/>
          </a:solidFill>
          <a:ln/>
        </p:spPr>
      </p:sp>
      <p:sp>
        <p:nvSpPr>
          <p:cNvPr id="63" name="Shape 61"/>
          <p:cNvSpPr/>
          <p:nvPr/>
        </p:nvSpPr>
        <p:spPr>
          <a:xfrm>
            <a:off x="548640" y="5928598"/>
            <a:ext cx="5464912" cy="67008"/>
          </a:xfrm>
          <a:prstGeom prst="rect">
            <a:avLst/>
          </a:prstGeom>
          <a:solidFill>
            <a:srgbClr val="1D6AC0"/>
          </a:solidFill>
          <a:ln/>
        </p:spPr>
      </p:sp>
      <p:sp>
        <p:nvSpPr>
          <p:cNvPr id="64" name="Shape 62"/>
          <p:cNvSpPr/>
          <p:nvPr/>
        </p:nvSpPr>
        <p:spPr>
          <a:xfrm>
            <a:off x="548640" y="5986463"/>
            <a:ext cx="5464912" cy="67008"/>
          </a:xfrm>
          <a:prstGeom prst="rect">
            <a:avLst/>
          </a:prstGeom>
          <a:solidFill>
            <a:srgbClr val="1D6BC0"/>
          </a:solidFill>
          <a:ln/>
        </p:spPr>
      </p:sp>
      <p:sp>
        <p:nvSpPr>
          <p:cNvPr id="65" name="Shape 63"/>
          <p:cNvSpPr/>
          <p:nvPr/>
        </p:nvSpPr>
        <p:spPr>
          <a:xfrm>
            <a:off x="548640" y="6044327"/>
            <a:ext cx="5464912" cy="67008"/>
          </a:xfrm>
          <a:prstGeom prst="rect">
            <a:avLst/>
          </a:prstGeom>
          <a:solidFill>
            <a:srgbClr val="1C6DBF"/>
          </a:solidFill>
          <a:ln/>
        </p:spPr>
      </p:sp>
      <p:sp>
        <p:nvSpPr>
          <p:cNvPr id="66" name="Shape 64"/>
          <p:cNvSpPr/>
          <p:nvPr/>
        </p:nvSpPr>
        <p:spPr>
          <a:xfrm>
            <a:off x="548640" y="6102191"/>
            <a:ext cx="5464912" cy="67008"/>
          </a:xfrm>
          <a:prstGeom prst="rect">
            <a:avLst/>
          </a:prstGeom>
          <a:solidFill>
            <a:srgbClr val="1B6EBF"/>
          </a:solidFill>
          <a:ln/>
        </p:spPr>
      </p:sp>
      <p:sp>
        <p:nvSpPr>
          <p:cNvPr id="67" name="Shape 65"/>
          <p:cNvSpPr/>
          <p:nvPr/>
        </p:nvSpPr>
        <p:spPr>
          <a:xfrm>
            <a:off x="548640" y="6160056"/>
            <a:ext cx="5464912" cy="67008"/>
          </a:xfrm>
          <a:prstGeom prst="rect">
            <a:avLst/>
          </a:prstGeom>
          <a:solidFill>
            <a:srgbClr val="1A6FBE"/>
          </a:solidFill>
          <a:ln/>
        </p:spPr>
      </p:sp>
      <p:sp>
        <p:nvSpPr>
          <p:cNvPr id="68" name="Text 66"/>
          <p:cNvSpPr/>
          <p:nvPr/>
        </p:nvSpPr>
        <p:spPr>
          <a:xfrm>
            <a:off x="914400" y="2880360"/>
            <a:ext cx="4733392" cy="914400"/>
          </a:xfrm>
          <a:prstGeom prst="rect">
            <a:avLst/>
          </a:prstGeom>
          <a:noFill/>
          <a:ln/>
        </p:spPr>
        <p:txBody>
          <a:bodyPr wrap="square" lIns="0" tIns="0" rIns="0" bIns="0" rtlCol="0" anchor="t"/>
          <a:lstStyle/>
          <a:p>
            <a:pPr algn="l" indent="0" marL="0">
              <a:buNone/>
            </a:pPr>
            <a:r>
              <a:rPr lang="en-US" sz="1100" b="1" spc="300" kern="0" dirty="0">
                <a:solidFill>
                  <a:srgbClr val="FFFFFF"/>
                </a:solidFill>
                <a:latin typeface="Calibri" pitchFamily="34" charset="0"/>
                <a:ea typeface="Calibri" pitchFamily="34" charset="-122"/>
                <a:cs typeface="Calibri" pitchFamily="34" charset="-120"/>
              </a:rPr>
              <a:t>TEAM</a:t>
            </a:r>
            <a:endParaRPr lang="en-US" sz="1100" dirty="0"/>
          </a:p>
        </p:txBody>
      </p:sp>
      <p:sp>
        <p:nvSpPr>
          <p:cNvPr id="69" name="Text 67"/>
          <p:cNvSpPr/>
          <p:nvPr/>
        </p:nvSpPr>
        <p:spPr>
          <a:xfrm>
            <a:off x="914400" y="3383280"/>
            <a:ext cx="4733392" cy="2011680"/>
          </a:xfrm>
          <a:prstGeom prst="rect">
            <a:avLst/>
          </a:prstGeom>
          <a:noFill/>
          <a:ln/>
        </p:spPr>
        <p:txBody>
          <a:bodyPr wrap="square" lIns="0" tIns="0" rIns="0" bIns="0" rtlCol="0" anchor="t"/>
          <a:lstStyle/>
          <a:p>
            <a:pPr algn="l" indent="0" marL="0">
              <a:buNone/>
            </a:pPr>
            <a:r>
              <a:rPr lang="en-US" sz="3200" b="1" spc="-50" kern="0" dirty="0">
                <a:solidFill>
                  <a:srgbClr val="FFFFFF"/>
                </a:solidFill>
                <a:latin typeface="Calibri" pitchFamily="34" charset="0"/>
                <a:ea typeface="Calibri" pitchFamily="34" charset="-122"/>
                <a:cs typeface="Calibri" pitchFamily="34" charset="-120"/>
              </a:rPr>
              <a:t>Operator-builder + industry insider.</a:t>
            </a:r>
            <a:endParaRPr lang="en-US" sz="3200" dirty="0"/>
          </a:p>
        </p:txBody>
      </p:sp>
      <p:sp>
        <p:nvSpPr>
          <p:cNvPr id="70" name="Text 68"/>
          <p:cNvSpPr/>
          <p:nvPr/>
        </p:nvSpPr>
        <p:spPr>
          <a:xfrm>
            <a:off x="914400" y="5166360"/>
            <a:ext cx="4733392" cy="10972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Dylan owns product, engineering, and customers. Ryan owns industry network, warm intros, and entity. 55/45 revenue split. 50/50 decisions. Written, signed, durable.</a:t>
            </a:r>
            <a:endParaRPr lang="en-US" sz="1300" dirty="0"/>
          </a:p>
        </p:txBody>
      </p:sp>
      <p:sp>
        <p:nvSpPr>
          <p:cNvPr id="71" name="Shape 69"/>
          <p:cNvSpPr/>
          <p:nvPr/>
        </p:nvSpPr>
        <p:spPr>
          <a:xfrm>
            <a:off x="6178144" y="2514600"/>
            <a:ext cx="5464912" cy="1124712"/>
          </a:xfrm>
          <a:prstGeom prst="roundRect">
            <a:avLst>
              <a:gd name="adj" fmla="val 9756"/>
            </a:avLst>
          </a:prstGeom>
          <a:solidFill>
            <a:srgbClr val="FFFFFF"/>
          </a:solidFill>
          <a:ln w="9525">
            <a:solidFill>
              <a:srgbClr val="E5E7F0"/>
            </a:solidFill>
            <a:prstDash val="solid"/>
          </a:ln>
        </p:spPr>
      </p:sp>
      <p:sp>
        <p:nvSpPr>
          <p:cNvPr id="72" name="Shape 70"/>
          <p:cNvSpPr/>
          <p:nvPr/>
        </p:nvSpPr>
        <p:spPr>
          <a:xfrm>
            <a:off x="6178144" y="2514600"/>
            <a:ext cx="73152" cy="1124712"/>
          </a:xfrm>
          <a:prstGeom prst="rect">
            <a:avLst/>
          </a:prstGeom>
          <a:solidFill>
            <a:srgbClr val="5028C2"/>
          </a:solidFill>
          <a:ln/>
        </p:spPr>
      </p:sp>
      <p:sp>
        <p:nvSpPr>
          <p:cNvPr id="73" name="Text 71"/>
          <p:cNvSpPr/>
          <p:nvPr/>
        </p:nvSpPr>
        <p:spPr>
          <a:xfrm>
            <a:off x="6434176" y="2697480"/>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Dylan Meehan</a:t>
            </a:r>
            <a:endParaRPr lang="en-US" sz="1600" dirty="0"/>
          </a:p>
        </p:txBody>
      </p:sp>
      <p:sp>
        <p:nvSpPr>
          <p:cNvPr id="74" name="Text 72"/>
          <p:cNvSpPr/>
          <p:nvPr/>
        </p:nvSpPr>
        <p:spPr>
          <a:xfrm>
            <a:off x="6434176" y="3081528"/>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Product, engineering, customers, marketing.</a:t>
            </a:r>
            <a:endParaRPr lang="en-US" sz="1200" dirty="0"/>
          </a:p>
        </p:txBody>
      </p:sp>
      <p:sp>
        <p:nvSpPr>
          <p:cNvPr id="75" name="Shape 73"/>
          <p:cNvSpPr/>
          <p:nvPr/>
        </p:nvSpPr>
        <p:spPr>
          <a:xfrm>
            <a:off x="6178144" y="3803904"/>
            <a:ext cx="5464912" cy="1124712"/>
          </a:xfrm>
          <a:prstGeom prst="roundRect">
            <a:avLst>
              <a:gd name="adj" fmla="val 9756"/>
            </a:avLst>
          </a:prstGeom>
          <a:solidFill>
            <a:srgbClr val="FFFFFF"/>
          </a:solidFill>
          <a:ln w="9525">
            <a:solidFill>
              <a:srgbClr val="E5E7F0"/>
            </a:solidFill>
            <a:prstDash val="solid"/>
          </a:ln>
        </p:spPr>
      </p:sp>
      <p:sp>
        <p:nvSpPr>
          <p:cNvPr id="76" name="Shape 74"/>
          <p:cNvSpPr/>
          <p:nvPr/>
        </p:nvSpPr>
        <p:spPr>
          <a:xfrm>
            <a:off x="6178144" y="3803904"/>
            <a:ext cx="73152" cy="1124712"/>
          </a:xfrm>
          <a:prstGeom prst="rect">
            <a:avLst/>
          </a:prstGeom>
          <a:solidFill>
            <a:srgbClr val="3548D0"/>
          </a:solidFill>
          <a:ln/>
        </p:spPr>
      </p:sp>
      <p:sp>
        <p:nvSpPr>
          <p:cNvPr id="77" name="Text 75"/>
          <p:cNvSpPr/>
          <p:nvPr/>
        </p:nvSpPr>
        <p:spPr>
          <a:xfrm>
            <a:off x="6434176" y="3986784"/>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Ryan Gaynor</a:t>
            </a:r>
            <a:endParaRPr lang="en-US" sz="1600" dirty="0"/>
          </a:p>
        </p:txBody>
      </p:sp>
      <p:sp>
        <p:nvSpPr>
          <p:cNvPr id="78" name="Text 76"/>
          <p:cNvSpPr/>
          <p:nvPr/>
        </p:nvSpPr>
        <p:spPr>
          <a:xfrm>
            <a:off x="6434176" y="4370832"/>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Co-origin, network, intros, advisory.</a:t>
            </a:r>
            <a:endParaRPr lang="en-US" sz="1200" dirty="0"/>
          </a:p>
        </p:txBody>
      </p:sp>
      <p:sp>
        <p:nvSpPr>
          <p:cNvPr id="79" name="Shape 77"/>
          <p:cNvSpPr/>
          <p:nvPr/>
        </p:nvSpPr>
        <p:spPr>
          <a:xfrm>
            <a:off x="6178144" y="5093208"/>
            <a:ext cx="5464912" cy="1124712"/>
          </a:xfrm>
          <a:prstGeom prst="roundRect">
            <a:avLst>
              <a:gd name="adj" fmla="val 9756"/>
            </a:avLst>
          </a:prstGeom>
          <a:solidFill>
            <a:srgbClr val="FFFFFF"/>
          </a:solidFill>
          <a:ln w="9525">
            <a:solidFill>
              <a:srgbClr val="E5E7F0"/>
            </a:solidFill>
            <a:prstDash val="solid"/>
          </a:ln>
        </p:spPr>
      </p:sp>
      <p:sp>
        <p:nvSpPr>
          <p:cNvPr id="80" name="Shape 78"/>
          <p:cNvSpPr/>
          <p:nvPr/>
        </p:nvSpPr>
        <p:spPr>
          <a:xfrm>
            <a:off x="6178144" y="5093208"/>
            <a:ext cx="73152" cy="1124712"/>
          </a:xfrm>
          <a:prstGeom prst="rect">
            <a:avLst/>
          </a:prstGeom>
          <a:solidFill>
            <a:srgbClr val="1A6FBE"/>
          </a:solidFill>
          <a:ln/>
        </p:spPr>
      </p:sp>
      <p:sp>
        <p:nvSpPr>
          <p:cNvPr id="81" name="Text 79"/>
          <p:cNvSpPr/>
          <p:nvPr/>
        </p:nvSpPr>
        <p:spPr>
          <a:xfrm>
            <a:off x="6434176" y="5276088"/>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Entity</a:t>
            </a:r>
            <a:endParaRPr lang="en-US" sz="1600" dirty="0"/>
          </a:p>
        </p:txBody>
      </p:sp>
      <p:sp>
        <p:nvSpPr>
          <p:cNvPr id="82" name="Text 80"/>
          <p:cNvSpPr/>
          <p:nvPr/>
        </p:nvSpPr>
        <p:spPr>
          <a:xfrm>
            <a:off x="6434176" y="5660136"/>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Gaynor Media LLC · founders agreement signed.</a:t>
            </a:r>
            <a:endParaRPr lang="en-US" sz="1200" dirty="0"/>
          </a:p>
        </p:txBody>
      </p:sp>
      <p:sp>
        <p:nvSpPr>
          <p:cNvPr id="83" name="Shape 81"/>
          <p:cNvSpPr/>
          <p:nvPr/>
        </p:nvSpPr>
        <p:spPr>
          <a:xfrm>
            <a:off x="548640" y="502920"/>
            <a:ext cx="292608" cy="292608"/>
          </a:xfrm>
          <a:prstGeom prst="roundRect">
            <a:avLst>
              <a:gd name="adj" fmla="val 25000"/>
            </a:avLst>
          </a:prstGeom>
          <a:solidFill>
            <a:srgbClr val="5028C2"/>
          </a:solidFill>
          <a:ln/>
        </p:spPr>
      </p:sp>
      <p:sp>
        <p:nvSpPr>
          <p:cNvPr id="84" name="Shape 82"/>
          <p:cNvSpPr/>
          <p:nvPr/>
        </p:nvSpPr>
        <p:spPr>
          <a:xfrm>
            <a:off x="548640" y="502920"/>
            <a:ext cx="292608" cy="292608"/>
          </a:xfrm>
          <a:prstGeom prst="roundRect">
            <a:avLst>
              <a:gd name="adj" fmla="val 25000"/>
            </a:avLst>
          </a:prstGeom>
          <a:solidFill>
            <a:srgbClr val="1A6FBE">
              <a:alpha val="50000"/>
            </a:srgbClr>
          </a:solidFill>
          <a:ln/>
        </p:spPr>
      </p:sp>
      <p:sp>
        <p:nvSpPr>
          <p:cNvPr id="85" name="Text 83"/>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86" name="Text 84"/>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87" name="Text 85"/>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15 · The Team  ·  vG</a:t>
            </a:r>
            <a:endParaRPr lang="en-US" sz="900" dirty="0"/>
          </a:p>
        </p:txBody>
      </p:sp>
      <p:sp>
        <p:nvSpPr>
          <p:cNvPr id="88" name="Text 86"/>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89" name="Text 87"/>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105 / 126</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80015" y="-914400"/>
            <a:ext cx="3200400" cy="3200400"/>
          </a:xfrm>
          <a:prstGeom prst="ellipse">
            <a:avLst/>
          </a:prstGeom>
          <a:solidFill>
            <a:srgbClr val="F1ECFF"/>
          </a:solidFill>
          <a:ln/>
        </p:spPr>
      </p:sp>
      <p:sp>
        <p:nvSpPr>
          <p:cNvPr id="3" name="Shape 1"/>
          <p:cNvSpPr/>
          <p:nvPr/>
        </p:nvSpPr>
        <p:spPr>
          <a:xfrm>
            <a:off x="10820095" y="-548640"/>
            <a:ext cx="2194560" cy="2194560"/>
          </a:xfrm>
          <a:prstGeom prst="ellipse">
            <a:avLst/>
          </a:prstGeom>
          <a:solidFill>
            <a:srgbClr val="E8F1FB">
              <a:alpha val="60000"/>
            </a:srgbClr>
          </a:solidFill>
          <a:ln/>
        </p:spPr>
      </p:sp>
      <p:sp>
        <p:nvSpPr>
          <p:cNvPr id="4" name="Shape 2"/>
          <p:cNvSpPr/>
          <p:nvPr/>
        </p:nvSpPr>
        <p:spPr>
          <a:xfrm>
            <a:off x="548640" y="5486400"/>
            <a:ext cx="54864" cy="54864"/>
          </a:xfrm>
          <a:prstGeom prst="ellipse">
            <a:avLst/>
          </a:prstGeom>
          <a:solidFill>
            <a:srgbClr val="5028C2">
              <a:alpha val="30000"/>
            </a:srgbClr>
          </a:solidFill>
          <a:ln/>
        </p:spPr>
      </p:sp>
      <p:sp>
        <p:nvSpPr>
          <p:cNvPr id="5" name="Shape 3"/>
          <p:cNvSpPr/>
          <p:nvPr/>
        </p:nvSpPr>
        <p:spPr>
          <a:xfrm>
            <a:off x="548640" y="5650992"/>
            <a:ext cx="54864" cy="54864"/>
          </a:xfrm>
          <a:prstGeom prst="ellipse">
            <a:avLst/>
          </a:prstGeom>
          <a:solidFill>
            <a:srgbClr val="5028C2">
              <a:alpha val="30000"/>
            </a:srgbClr>
          </a:solidFill>
          <a:ln/>
        </p:spPr>
      </p:sp>
      <p:sp>
        <p:nvSpPr>
          <p:cNvPr id="6" name="Shape 4"/>
          <p:cNvSpPr/>
          <p:nvPr/>
        </p:nvSpPr>
        <p:spPr>
          <a:xfrm>
            <a:off x="548640" y="5815584"/>
            <a:ext cx="54864" cy="54864"/>
          </a:xfrm>
          <a:prstGeom prst="ellipse">
            <a:avLst/>
          </a:prstGeom>
          <a:solidFill>
            <a:srgbClr val="5028C2">
              <a:alpha val="30000"/>
            </a:srgbClr>
          </a:solidFill>
          <a:ln/>
        </p:spPr>
      </p:sp>
      <p:sp>
        <p:nvSpPr>
          <p:cNvPr id="7" name="Shape 5"/>
          <p:cNvSpPr/>
          <p:nvPr/>
        </p:nvSpPr>
        <p:spPr>
          <a:xfrm>
            <a:off x="713232" y="5486400"/>
            <a:ext cx="54864" cy="54864"/>
          </a:xfrm>
          <a:prstGeom prst="ellipse">
            <a:avLst/>
          </a:prstGeom>
          <a:solidFill>
            <a:srgbClr val="5028C2">
              <a:alpha val="30000"/>
            </a:srgbClr>
          </a:solidFill>
          <a:ln/>
        </p:spPr>
      </p:sp>
      <p:sp>
        <p:nvSpPr>
          <p:cNvPr id="8" name="Shape 6"/>
          <p:cNvSpPr/>
          <p:nvPr/>
        </p:nvSpPr>
        <p:spPr>
          <a:xfrm>
            <a:off x="713232" y="5650992"/>
            <a:ext cx="54864" cy="54864"/>
          </a:xfrm>
          <a:prstGeom prst="ellipse">
            <a:avLst/>
          </a:prstGeom>
          <a:solidFill>
            <a:srgbClr val="5028C2">
              <a:alpha val="30000"/>
            </a:srgbClr>
          </a:solidFill>
          <a:ln/>
        </p:spPr>
      </p:sp>
      <p:sp>
        <p:nvSpPr>
          <p:cNvPr id="9" name="Shape 7"/>
          <p:cNvSpPr/>
          <p:nvPr/>
        </p:nvSpPr>
        <p:spPr>
          <a:xfrm>
            <a:off x="713232" y="5815584"/>
            <a:ext cx="54864" cy="54864"/>
          </a:xfrm>
          <a:prstGeom prst="ellipse">
            <a:avLst/>
          </a:prstGeom>
          <a:solidFill>
            <a:srgbClr val="5028C2">
              <a:alpha val="30000"/>
            </a:srgbClr>
          </a:solidFill>
          <a:ln/>
        </p:spPr>
      </p:sp>
      <p:sp>
        <p:nvSpPr>
          <p:cNvPr id="10" name="Shape 8"/>
          <p:cNvSpPr/>
          <p:nvPr/>
        </p:nvSpPr>
        <p:spPr>
          <a:xfrm>
            <a:off x="877824" y="5486400"/>
            <a:ext cx="54864" cy="54864"/>
          </a:xfrm>
          <a:prstGeom prst="ellipse">
            <a:avLst/>
          </a:prstGeom>
          <a:solidFill>
            <a:srgbClr val="5028C2">
              <a:alpha val="30000"/>
            </a:srgbClr>
          </a:solidFill>
          <a:ln/>
        </p:spPr>
      </p:sp>
      <p:sp>
        <p:nvSpPr>
          <p:cNvPr id="11" name="Shape 9"/>
          <p:cNvSpPr/>
          <p:nvPr/>
        </p:nvSpPr>
        <p:spPr>
          <a:xfrm>
            <a:off x="877824" y="5650992"/>
            <a:ext cx="54864" cy="54864"/>
          </a:xfrm>
          <a:prstGeom prst="ellipse">
            <a:avLst/>
          </a:prstGeom>
          <a:solidFill>
            <a:srgbClr val="5028C2">
              <a:alpha val="30000"/>
            </a:srgbClr>
          </a:solidFill>
          <a:ln/>
        </p:spPr>
      </p:sp>
      <p:sp>
        <p:nvSpPr>
          <p:cNvPr id="12" name="Shape 10"/>
          <p:cNvSpPr/>
          <p:nvPr/>
        </p:nvSpPr>
        <p:spPr>
          <a:xfrm>
            <a:off x="877824" y="5815584"/>
            <a:ext cx="54864" cy="54864"/>
          </a:xfrm>
          <a:prstGeom prst="ellipse">
            <a:avLst/>
          </a:prstGeom>
          <a:solidFill>
            <a:srgbClr val="5028C2">
              <a:alpha val="30000"/>
            </a:srgbClr>
          </a:solidFill>
          <a:ln/>
        </p:spPr>
      </p:sp>
      <p:sp>
        <p:nvSpPr>
          <p:cNvPr id="13" name="Shape 11"/>
          <p:cNvSpPr/>
          <p:nvPr/>
        </p:nvSpPr>
        <p:spPr>
          <a:xfrm>
            <a:off x="1042416" y="5486400"/>
            <a:ext cx="54864" cy="54864"/>
          </a:xfrm>
          <a:prstGeom prst="ellipse">
            <a:avLst/>
          </a:prstGeom>
          <a:solidFill>
            <a:srgbClr val="5028C2">
              <a:alpha val="30000"/>
            </a:srgbClr>
          </a:solidFill>
          <a:ln/>
        </p:spPr>
      </p:sp>
      <p:sp>
        <p:nvSpPr>
          <p:cNvPr id="14" name="Shape 12"/>
          <p:cNvSpPr/>
          <p:nvPr/>
        </p:nvSpPr>
        <p:spPr>
          <a:xfrm>
            <a:off x="1042416" y="5650992"/>
            <a:ext cx="54864" cy="54864"/>
          </a:xfrm>
          <a:prstGeom prst="ellipse">
            <a:avLst/>
          </a:prstGeom>
          <a:solidFill>
            <a:srgbClr val="5028C2">
              <a:alpha val="30000"/>
            </a:srgbClr>
          </a:solidFill>
          <a:ln/>
        </p:spPr>
      </p:sp>
      <p:sp>
        <p:nvSpPr>
          <p:cNvPr id="15" name="Shape 13"/>
          <p:cNvSpPr/>
          <p:nvPr/>
        </p:nvSpPr>
        <p:spPr>
          <a:xfrm>
            <a:off x="1042416" y="5815584"/>
            <a:ext cx="54864" cy="54864"/>
          </a:xfrm>
          <a:prstGeom prst="ellipse">
            <a:avLst/>
          </a:prstGeom>
          <a:solidFill>
            <a:srgbClr val="5028C2">
              <a:alpha val="30000"/>
            </a:srgbClr>
          </a:solidFill>
          <a:ln/>
        </p:spPr>
      </p:sp>
      <p:sp>
        <p:nvSpPr>
          <p:cNvPr id="16" name="Shape 14"/>
          <p:cNvSpPr/>
          <p:nvPr/>
        </p:nvSpPr>
        <p:spPr>
          <a:xfrm>
            <a:off x="1207008" y="5486400"/>
            <a:ext cx="54864" cy="54864"/>
          </a:xfrm>
          <a:prstGeom prst="ellipse">
            <a:avLst/>
          </a:prstGeom>
          <a:solidFill>
            <a:srgbClr val="5028C2">
              <a:alpha val="30000"/>
            </a:srgbClr>
          </a:solidFill>
          <a:ln/>
        </p:spPr>
      </p:sp>
      <p:sp>
        <p:nvSpPr>
          <p:cNvPr id="17" name="Shape 15"/>
          <p:cNvSpPr/>
          <p:nvPr/>
        </p:nvSpPr>
        <p:spPr>
          <a:xfrm>
            <a:off x="1207008" y="5650992"/>
            <a:ext cx="54864" cy="54864"/>
          </a:xfrm>
          <a:prstGeom prst="ellipse">
            <a:avLst/>
          </a:prstGeom>
          <a:solidFill>
            <a:srgbClr val="5028C2">
              <a:alpha val="30000"/>
            </a:srgbClr>
          </a:solidFill>
          <a:ln/>
        </p:spPr>
      </p:sp>
      <p:sp>
        <p:nvSpPr>
          <p:cNvPr id="18" name="Shape 16"/>
          <p:cNvSpPr/>
          <p:nvPr/>
        </p:nvSpPr>
        <p:spPr>
          <a:xfrm>
            <a:off x="1207008" y="5815584"/>
            <a:ext cx="54864" cy="54864"/>
          </a:xfrm>
          <a:prstGeom prst="ellipse">
            <a:avLst/>
          </a:prstGeom>
          <a:solidFill>
            <a:srgbClr val="5028C2">
              <a:alpha val="30000"/>
            </a:srgbClr>
          </a:solidFill>
          <a:ln/>
        </p:spPr>
      </p:sp>
      <p:sp>
        <p:nvSpPr>
          <p:cNvPr id="19" name="Shape 17"/>
          <p:cNvSpPr/>
          <p:nvPr/>
        </p:nvSpPr>
        <p:spPr>
          <a:xfrm>
            <a:off x="1371600" y="5486400"/>
            <a:ext cx="54864" cy="54864"/>
          </a:xfrm>
          <a:prstGeom prst="ellipse">
            <a:avLst/>
          </a:prstGeom>
          <a:solidFill>
            <a:srgbClr val="5028C2">
              <a:alpha val="30000"/>
            </a:srgbClr>
          </a:solidFill>
          <a:ln/>
        </p:spPr>
      </p:sp>
      <p:sp>
        <p:nvSpPr>
          <p:cNvPr id="20" name="Shape 18"/>
          <p:cNvSpPr/>
          <p:nvPr/>
        </p:nvSpPr>
        <p:spPr>
          <a:xfrm>
            <a:off x="1371600" y="5650992"/>
            <a:ext cx="54864" cy="54864"/>
          </a:xfrm>
          <a:prstGeom prst="ellipse">
            <a:avLst/>
          </a:prstGeom>
          <a:solidFill>
            <a:srgbClr val="5028C2">
              <a:alpha val="30000"/>
            </a:srgbClr>
          </a:solidFill>
          <a:ln/>
        </p:spPr>
      </p:sp>
      <p:sp>
        <p:nvSpPr>
          <p:cNvPr id="21" name="Shape 19"/>
          <p:cNvSpPr/>
          <p:nvPr/>
        </p:nvSpPr>
        <p:spPr>
          <a:xfrm>
            <a:off x="1371600" y="5815584"/>
            <a:ext cx="54864" cy="54864"/>
          </a:xfrm>
          <a:prstGeom prst="ellipse">
            <a:avLst/>
          </a:prstGeom>
          <a:solidFill>
            <a:srgbClr val="5028C2">
              <a:alpha val="30000"/>
            </a:srgbClr>
          </a:solidFill>
          <a:ln/>
        </p:spPr>
      </p:sp>
      <p:sp>
        <p:nvSpPr>
          <p:cNvPr id="22" name="Text 20"/>
          <p:cNvSpPr/>
          <p:nvPr/>
        </p:nvSpPr>
        <p:spPr>
          <a:xfrm>
            <a:off x="548640" y="1097280"/>
            <a:ext cx="11094415"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ROADMAP</a:t>
            </a:r>
            <a:endParaRPr lang="en-US" sz="1100" dirty="0"/>
          </a:p>
        </p:txBody>
      </p:sp>
      <p:sp>
        <p:nvSpPr>
          <p:cNvPr id="23" name="Text 21"/>
          <p:cNvSpPr/>
          <p:nvPr/>
        </p:nvSpPr>
        <p:spPr>
          <a:xfrm>
            <a:off x="548640" y="1554480"/>
            <a:ext cx="11094415" cy="3108960"/>
          </a:xfrm>
          <a:prstGeom prst="rect">
            <a:avLst/>
          </a:prstGeom>
          <a:noFill/>
          <a:ln/>
        </p:spPr>
        <p:txBody>
          <a:bodyPr wrap="square" lIns="0" tIns="0" rIns="0" bIns="0" rtlCol="0" anchor="t"/>
          <a:lstStyle/>
          <a:p>
            <a:pPr algn="l" indent="0" marL="0">
              <a:buNone/>
            </a:pPr>
            <a:r>
              <a:rPr lang="en-US" sz="4800" b="1" spc="-100" kern="0" dirty="0">
                <a:solidFill>
                  <a:srgbClr val="0F1733"/>
                </a:solidFill>
                <a:latin typeface="Calibri" pitchFamily="34" charset="0"/>
                <a:ea typeface="Calibri" pitchFamily="34" charset="-122"/>
                <a:cs typeface="Calibri" pitchFamily="34" charset="-120"/>
              </a:rPr>
              <a:t>What we shipped. What's next. What's in twelve months.</a:t>
            </a:r>
            <a:endParaRPr lang="en-US" sz="4800" dirty="0"/>
          </a:p>
        </p:txBody>
      </p:sp>
      <p:sp>
        <p:nvSpPr>
          <p:cNvPr id="24" name="Text 22"/>
          <p:cNvSpPr/>
          <p:nvPr/>
        </p:nvSpPr>
        <p:spPr>
          <a:xfrm>
            <a:off x="548640" y="4754880"/>
            <a:ext cx="9265615" cy="1097280"/>
          </a:xfrm>
          <a:prstGeom prst="rect">
            <a:avLst/>
          </a:prstGeom>
          <a:noFill/>
          <a:ln/>
        </p:spPr>
        <p:txBody>
          <a:bodyPr wrap="square" lIns="0" tIns="0" rIns="0" bIns="0" rtlCol="0" anchor="t"/>
          <a:lstStyle/>
          <a:p>
            <a:pPr algn="l" indent="0" marL="0">
              <a:buNone/>
            </a:pPr>
            <a:r>
              <a:rPr lang="en-US" sz="1800" dirty="0">
                <a:solidFill>
                  <a:srgbClr val="2A3358"/>
                </a:solidFill>
                <a:latin typeface="Calibri" pitchFamily="34" charset="0"/>
                <a:ea typeface="Calibri" pitchFamily="34" charset="-122"/>
                <a:cs typeface="Calibri" pitchFamily="34" charset="-120"/>
              </a:rPr>
              <a:t>A roadmap built around customer pull — not around what looks impressive in a deck.</a:t>
            </a:r>
            <a:endParaRPr lang="en-US" sz="1800" dirty="0"/>
          </a:p>
        </p:txBody>
      </p:sp>
      <p:sp>
        <p:nvSpPr>
          <p:cNvPr id="25" name="Shape 23"/>
          <p:cNvSpPr/>
          <p:nvPr/>
        </p:nvSpPr>
        <p:spPr>
          <a:xfrm>
            <a:off x="548640" y="502920"/>
            <a:ext cx="292608" cy="292608"/>
          </a:xfrm>
          <a:prstGeom prst="roundRect">
            <a:avLst>
              <a:gd name="adj" fmla="val 25000"/>
            </a:avLst>
          </a:prstGeom>
          <a:solidFill>
            <a:srgbClr val="5028C2"/>
          </a:solidFill>
          <a:ln/>
        </p:spPr>
      </p:sp>
      <p:sp>
        <p:nvSpPr>
          <p:cNvPr id="26" name="Shape 24"/>
          <p:cNvSpPr/>
          <p:nvPr/>
        </p:nvSpPr>
        <p:spPr>
          <a:xfrm>
            <a:off x="548640" y="502920"/>
            <a:ext cx="292608" cy="292608"/>
          </a:xfrm>
          <a:prstGeom prst="roundRect">
            <a:avLst>
              <a:gd name="adj" fmla="val 25000"/>
            </a:avLst>
          </a:prstGeom>
          <a:solidFill>
            <a:srgbClr val="1A6FBE">
              <a:alpha val="50000"/>
            </a:srgbClr>
          </a:solidFill>
          <a:ln/>
        </p:spPr>
      </p:sp>
      <p:sp>
        <p:nvSpPr>
          <p:cNvPr id="27" name="Text 25"/>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8" name="Text 26"/>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9" name="Text 27"/>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16 · Roadmap preview  ·  vA</a:t>
            </a:r>
            <a:endParaRPr lang="en-US" sz="900" dirty="0"/>
          </a:p>
        </p:txBody>
      </p:sp>
      <p:sp>
        <p:nvSpPr>
          <p:cNvPr id="30" name="Text 28"/>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31" name="Text 29"/>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106 / 126</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071183" y="0"/>
            <a:ext cx="5120512" cy="116300"/>
          </a:xfrm>
          <a:prstGeom prst="rect">
            <a:avLst/>
          </a:prstGeom>
          <a:solidFill>
            <a:srgbClr val="5028C2"/>
          </a:solidFill>
          <a:ln/>
        </p:spPr>
      </p:sp>
      <p:sp>
        <p:nvSpPr>
          <p:cNvPr id="3" name="Shape 1"/>
          <p:cNvSpPr/>
          <p:nvPr/>
        </p:nvSpPr>
        <p:spPr>
          <a:xfrm>
            <a:off x="7071183" y="107156"/>
            <a:ext cx="5120512" cy="116300"/>
          </a:xfrm>
          <a:prstGeom prst="rect">
            <a:avLst/>
          </a:prstGeom>
          <a:solidFill>
            <a:srgbClr val="4F29C2"/>
          </a:solidFill>
          <a:ln/>
        </p:spPr>
      </p:sp>
      <p:sp>
        <p:nvSpPr>
          <p:cNvPr id="4" name="Shape 2"/>
          <p:cNvSpPr/>
          <p:nvPr/>
        </p:nvSpPr>
        <p:spPr>
          <a:xfrm>
            <a:off x="7071183" y="214313"/>
            <a:ext cx="5120512" cy="116300"/>
          </a:xfrm>
          <a:prstGeom prst="rect">
            <a:avLst/>
          </a:prstGeom>
          <a:solidFill>
            <a:srgbClr val="4E2AC3"/>
          </a:solidFill>
          <a:ln/>
        </p:spPr>
      </p:sp>
      <p:sp>
        <p:nvSpPr>
          <p:cNvPr id="5" name="Shape 3"/>
          <p:cNvSpPr/>
          <p:nvPr/>
        </p:nvSpPr>
        <p:spPr>
          <a:xfrm>
            <a:off x="7071183" y="321469"/>
            <a:ext cx="5120512" cy="116300"/>
          </a:xfrm>
          <a:prstGeom prst="rect">
            <a:avLst/>
          </a:prstGeom>
          <a:solidFill>
            <a:srgbClr val="4D2BC3"/>
          </a:solidFill>
          <a:ln/>
        </p:spPr>
      </p:sp>
      <p:sp>
        <p:nvSpPr>
          <p:cNvPr id="6" name="Shape 4"/>
          <p:cNvSpPr/>
          <p:nvPr/>
        </p:nvSpPr>
        <p:spPr>
          <a:xfrm>
            <a:off x="7071183" y="428625"/>
            <a:ext cx="5120512" cy="116300"/>
          </a:xfrm>
          <a:prstGeom prst="rect">
            <a:avLst/>
          </a:prstGeom>
          <a:solidFill>
            <a:srgbClr val="4D2CC4"/>
          </a:solidFill>
          <a:ln/>
        </p:spPr>
      </p:sp>
      <p:sp>
        <p:nvSpPr>
          <p:cNvPr id="7" name="Shape 5"/>
          <p:cNvSpPr/>
          <p:nvPr/>
        </p:nvSpPr>
        <p:spPr>
          <a:xfrm>
            <a:off x="7071183" y="535781"/>
            <a:ext cx="5120512" cy="116300"/>
          </a:xfrm>
          <a:prstGeom prst="rect">
            <a:avLst/>
          </a:prstGeom>
          <a:solidFill>
            <a:srgbClr val="4C2DC4"/>
          </a:solidFill>
          <a:ln/>
        </p:spPr>
      </p:sp>
      <p:sp>
        <p:nvSpPr>
          <p:cNvPr id="8" name="Shape 6"/>
          <p:cNvSpPr/>
          <p:nvPr/>
        </p:nvSpPr>
        <p:spPr>
          <a:xfrm>
            <a:off x="7071183" y="642938"/>
            <a:ext cx="5120512" cy="116300"/>
          </a:xfrm>
          <a:prstGeom prst="rect">
            <a:avLst/>
          </a:prstGeom>
          <a:solidFill>
            <a:srgbClr val="4B2EC5"/>
          </a:solidFill>
          <a:ln/>
        </p:spPr>
      </p:sp>
      <p:sp>
        <p:nvSpPr>
          <p:cNvPr id="9" name="Shape 7"/>
          <p:cNvSpPr/>
          <p:nvPr/>
        </p:nvSpPr>
        <p:spPr>
          <a:xfrm>
            <a:off x="7071183" y="750094"/>
            <a:ext cx="5120512" cy="116300"/>
          </a:xfrm>
          <a:prstGeom prst="rect">
            <a:avLst/>
          </a:prstGeom>
          <a:solidFill>
            <a:srgbClr val="4A2FC5"/>
          </a:solidFill>
          <a:ln/>
        </p:spPr>
      </p:sp>
      <p:sp>
        <p:nvSpPr>
          <p:cNvPr id="10" name="Shape 8"/>
          <p:cNvSpPr/>
          <p:nvPr/>
        </p:nvSpPr>
        <p:spPr>
          <a:xfrm>
            <a:off x="7071183" y="857250"/>
            <a:ext cx="5120512" cy="116300"/>
          </a:xfrm>
          <a:prstGeom prst="rect">
            <a:avLst/>
          </a:prstGeom>
          <a:solidFill>
            <a:srgbClr val="4930C6"/>
          </a:solidFill>
          <a:ln/>
        </p:spPr>
      </p:sp>
      <p:sp>
        <p:nvSpPr>
          <p:cNvPr id="11" name="Shape 9"/>
          <p:cNvSpPr/>
          <p:nvPr/>
        </p:nvSpPr>
        <p:spPr>
          <a:xfrm>
            <a:off x="7071183" y="964406"/>
            <a:ext cx="5120512" cy="116300"/>
          </a:xfrm>
          <a:prstGeom prst="rect">
            <a:avLst/>
          </a:prstGeom>
          <a:solidFill>
            <a:srgbClr val="4831C6"/>
          </a:solidFill>
          <a:ln/>
        </p:spPr>
      </p:sp>
      <p:sp>
        <p:nvSpPr>
          <p:cNvPr id="12" name="Shape 10"/>
          <p:cNvSpPr/>
          <p:nvPr/>
        </p:nvSpPr>
        <p:spPr>
          <a:xfrm>
            <a:off x="7071183" y="1071563"/>
            <a:ext cx="5120512" cy="116300"/>
          </a:xfrm>
          <a:prstGeom prst="rect">
            <a:avLst/>
          </a:prstGeom>
          <a:solidFill>
            <a:srgbClr val="4732C6"/>
          </a:solidFill>
          <a:ln/>
        </p:spPr>
      </p:sp>
      <p:sp>
        <p:nvSpPr>
          <p:cNvPr id="13" name="Shape 11"/>
          <p:cNvSpPr/>
          <p:nvPr/>
        </p:nvSpPr>
        <p:spPr>
          <a:xfrm>
            <a:off x="7071183" y="1178719"/>
            <a:ext cx="5120512" cy="116300"/>
          </a:xfrm>
          <a:prstGeom prst="rect">
            <a:avLst/>
          </a:prstGeom>
          <a:solidFill>
            <a:srgbClr val="4733C7"/>
          </a:solidFill>
          <a:ln/>
        </p:spPr>
      </p:sp>
      <p:sp>
        <p:nvSpPr>
          <p:cNvPr id="14" name="Shape 12"/>
          <p:cNvSpPr/>
          <p:nvPr/>
        </p:nvSpPr>
        <p:spPr>
          <a:xfrm>
            <a:off x="7071183" y="1285875"/>
            <a:ext cx="5120512" cy="116300"/>
          </a:xfrm>
          <a:prstGeom prst="rect">
            <a:avLst/>
          </a:prstGeom>
          <a:solidFill>
            <a:srgbClr val="4634C7"/>
          </a:solidFill>
          <a:ln/>
        </p:spPr>
      </p:sp>
      <p:sp>
        <p:nvSpPr>
          <p:cNvPr id="15" name="Shape 13"/>
          <p:cNvSpPr/>
          <p:nvPr/>
        </p:nvSpPr>
        <p:spPr>
          <a:xfrm>
            <a:off x="7071183" y="1393031"/>
            <a:ext cx="5120512" cy="116300"/>
          </a:xfrm>
          <a:prstGeom prst="rect">
            <a:avLst/>
          </a:prstGeom>
          <a:solidFill>
            <a:srgbClr val="4535C8"/>
          </a:solidFill>
          <a:ln/>
        </p:spPr>
      </p:sp>
      <p:sp>
        <p:nvSpPr>
          <p:cNvPr id="16" name="Shape 14"/>
          <p:cNvSpPr/>
          <p:nvPr/>
        </p:nvSpPr>
        <p:spPr>
          <a:xfrm>
            <a:off x="7071183" y="1500188"/>
            <a:ext cx="5120512" cy="116300"/>
          </a:xfrm>
          <a:prstGeom prst="rect">
            <a:avLst/>
          </a:prstGeom>
          <a:solidFill>
            <a:srgbClr val="4436C8"/>
          </a:solidFill>
          <a:ln/>
        </p:spPr>
      </p:sp>
      <p:sp>
        <p:nvSpPr>
          <p:cNvPr id="17" name="Shape 15"/>
          <p:cNvSpPr/>
          <p:nvPr/>
        </p:nvSpPr>
        <p:spPr>
          <a:xfrm>
            <a:off x="7071183" y="1607344"/>
            <a:ext cx="5120512" cy="116300"/>
          </a:xfrm>
          <a:prstGeom prst="rect">
            <a:avLst/>
          </a:prstGeom>
          <a:solidFill>
            <a:srgbClr val="4337C9"/>
          </a:solidFill>
          <a:ln/>
        </p:spPr>
      </p:sp>
      <p:sp>
        <p:nvSpPr>
          <p:cNvPr id="18" name="Shape 16"/>
          <p:cNvSpPr/>
          <p:nvPr/>
        </p:nvSpPr>
        <p:spPr>
          <a:xfrm>
            <a:off x="7071183" y="1714500"/>
            <a:ext cx="5120512" cy="116300"/>
          </a:xfrm>
          <a:prstGeom prst="rect">
            <a:avLst/>
          </a:prstGeom>
          <a:solidFill>
            <a:srgbClr val="4238C9"/>
          </a:solidFill>
          <a:ln/>
        </p:spPr>
      </p:sp>
      <p:sp>
        <p:nvSpPr>
          <p:cNvPr id="19" name="Shape 17"/>
          <p:cNvSpPr/>
          <p:nvPr/>
        </p:nvSpPr>
        <p:spPr>
          <a:xfrm>
            <a:off x="7071183" y="1821656"/>
            <a:ext cx="5120512" cy="116300"/>
          </a:xfrm>
          <a:prstGeom prst="rect">
            <a:avLst/>
          </a:prstGeom>
          <a:solidFill>
            <a:srgbClr val="4139CA"/>
          </a:solidFill>
          <a:ln/>
        </p:spPr>
      </p:sp>
      <p:sp>
        <p:nvSpPr>
          <p:cNvPr id="20" name="Shape 18"/>
          <p:cNvSpPr/>
          <p:nvPr/>
        </p:nvSpPr>
        <p:spPr>
          <a:xfrm>
            <a:off x="7071183" y="1928813"/>
            <a:ext cx="5120512" cy="116300"/>
          </a:xfrm>
          <a:prstGeom prst="rect">
            <a:avLst/>
          </a:prstGeom>
          <a:solidFill>
            <a:srgbClr val="413ACA"/>
          </a:solidFill>
          <a:ln/>
        </p:spPr>
      </p:sp>
      <p:sp>
        <p:nvSpPr>
          <p:cNvPr id="21" name="Shape 19"/>
          <p:cNvSpPr/>
          <p:nvPr/>
        </p:nvSpPr>
        <p:spPr>
          <a:xfrm>
            <a:off x="7071183" y="2035969"/>
            <a:ext cx="5120512" cy="116300"/>
          </a:xfrm>
          <a:prstGeom prst="rect">
            <a:avLst/>
          </a:prstGeom>
          <a:solidFill>
            <a:srgbClr val="403BCA"/>
          </a:solidFill>
          <a:ln/>
        </p:spPr>
      </p:sp>
      <p:sp>
        <p:nvSpPr>
          <p:cNvPr id="22" name="Shape 20"/>
          <p:cNvSpPr/>
          <p:nvPr/>
        </p:nvSpPr>
        <p:spPr>
          <a:xfrm>
            <a:off x="7071183" y="2143125"/>
            <a:ext cx="5120512" cy="116300"/>
          </a:xfrm>
          <a:prstGeom prst="rect">
            <a:avLst/>
          </a:prstGeom>
          <a:solidFill>
            <a:srgbClr val="3F3CCB"/>
          </a:solidFill>
          <a:ln/>
        </p:spPr>
      </p:sp>
      <p:sp>
        <p:nvSpPr>
          <p:cNvPr id="23" name="Shape 21"/>
          <p:cNvSpPr/>
          <p:nvPr/>
        </p:nvSpPr>
        <p:spPr>
          <a:xfrm>
            <a:off x="7071183" y="2250281"/>
            <a:ext cx="5120512" cy="116300"/>
          </a:xfrm>
          <a:prstGeom prst="rect">
            <a:avLst/>
          </a:prstGeom>
          <a:solidFill>
            <a:srgbClr val="3E3DCB"/>
          </a:solidFill>
          <a:ln/>
        </p:spPr>
      </p:sp>
      <p:sp>
        <p:nvSpPr>
          <p:cNvPr id="24" name="Shape 22"/>
          <p:cNvSpPr/>
          <p:nvPr/>
        </p:nvSpPr>
        <p:spPr>
          <a:xfrm>
            <a:off x="7071183" y="2357438"/>
            <a:ext cx="5120512" cy="116300"/>
          </a:xfrm>
          <a:prstGeom prst="rect">
            <a:avLst/>
          </a:prstGeom>
          <a:solidFill>
            <a:srgbClr val="3D3ECC"/>
          </a:solidFill>
          <a:ln/>
        </p:spPr>
      </p:sp>
      <p:sp>
        <p:nvSpPr>
          <p:cNvPr id="25" name="Shape 23"/>
          <p:cNvSpPr/>
          <p:nvPr/>
        </p:nvSpPr>
        <p:spPr>
          <a:xfrm>
            <a:off x="7071183" y="2464594"/>
            <a:ext cx="5120512" cy="116300"/>
          </a:xfrm>
          <a:prstGeom prst="rect">
            <a:avLst/>
          </a:prstGeom>
          <a:solidFill>
            <a:srgbClr val="3C3FCC"/>
          </a:solidFill>
          <a:ln/>
        </p:spPr>
      </p:sp>
      <p:sp>
        <p:nvSpPr>
          <p:cNvPr id="26" name="Shape 24"/>
          <p:cNvSpPr/>
          <p:nvPr/>
        </p:nvSpPr>
        <p:spPr>
          <a:xfrm>
            <a:off x="7071183" y="2571750"/>
            <a:ext cx="5120512" cy="116300"/>
          </a:xfrm>
          <a:prstGeom prst="rect">
            <a:avLst/>
          </a:prstGeom>
          <a:solidFill>
            <a:srgbClr val="3B40CD"/>
          </a:solidFill>
          <a:ln/>
        </p:spPr>
      </p:sp>
      <p:sp>
        <p:nvSpPr>
          <p:cNvPr id="27" name="Shape 25"/>
          <p:cNvSpPr/>
          <p:nvPr/>
        </p:nvSpPr>
        <p:spPr>
          <a:xfrm>
            <a:off x="7071183" y="2678906"/>
            <a:ext cx="5120512" cy="116300"/>
          </a:xfrm>
          <a:prstGeom prst="rect">
            <a:avLst/>
          </a:prstGeom>
          <a:solidFill>
            <a:srgbClr val="3B41CD"/>
          </a:solidFill>
          <a:ln/>
        </p:spPr>
      </p:sp>
      <p:sp>
        <p:nvSpPr>
          <p:cNvPr id="28" name="Shape 26"/>
          <p:cNvSpPr/>
          <p:nvPr/>
        </p:nvSpPr>
        <p:spPr>
          <a:xfrm>
            <a:off x="7071183" y="2786063"/>
            <a:ext cx="5120512" cy="116300"/>
          </a:xfrm>
          <a:prstGeom prst="rect">
            <a:avLst/>
          </a:prstGeom>
          <a:solidFill>
            <a:srgbClr val="3A42CE"/>
          </a:solidFill>
          <a:ln/>
        </p:spPr>
      </p:sp>
      <p:sp>
        <p:nvSpPr>
          <p:cNvPr id="29" name="Shape 27"/>
          <p:cNvSpPr/>
          <p:nvPr/>
        </p:nvSpPr>
        <p:spPr>
          <a:xfrm>
            <a:off x="7071183" y="2893219"/>
            <a:ext cx="5120512" cy="116300"/>
          </a:xfrm>
          <a:prstGeom prst="rect">
            <a:avLst/>
          </a:prstGeom>
          <a:solidFill>
            <a:srgbClr val="3943CE"/>
          </a:solidFill>
          <a:ln/>
        </p:spPr>
      </p:sp>
      <p:sp>
        <p:nvSpPr>
          <p:cNvPr id="30" name="Shape 28"/>
          <p:cNvSpPr/>
          <p:nvPr/>
        </p:nvSpPr>
        <p:spPr>
          <a:xfrm>
            <a:off x="7071183" y="3000375"/>
            <a:ext cx="5120512" cy="116300"/>
          </a:xfrm>
          <a:prstGeom prst="rect">
            <a:avLst/>
          </a:prstGeom>
          <a:solidFill>
            <a:srgbClr val="3844CE"/>
          </a:solidFill>
          <a:ln/>
        </p:spPr>
      </p:sp>
      <p:sp>
        <p:nvSpPr>
          <p:cNvPr id="31" name="Shape 29"/>
          <p:cNvSpPr/>
          <p:nvPr/>
        </p:nvSpPr>
        <p:spPr>
          <a:xfrm>
            <a:off x="7071183" y="3107531"/>
            <a:ext cx="5120512" cy="116300"/>
          </a:xfrm>
          <a:prstGeom prst="rect">
            <a:avLst/>
          </a:prstGeom>
          <a:solidFill>
            <a:srgbClr val="3745CF"/>
          </a:solidFill>
          <a:ln/>
        </p:spPr>
      </p:sp>
      <p:sp>
        <p:nvSpPr>
          <p:cNvPr id="32" name="Shape 30"/>
          <p:cNvSpPr/>
          <p:nvPr/>
        </p:nvSpPr>
        <p:spPr>
          <a:xfrm>
            <a:off x="7071183" y="3214688"/>
            <a:ext cx="5120512" cy="116300"/>
          </a:xfrm>
          <a:prstGeom prst="rect">
            <a:avLst/>
          </a:prstGeom>
          <a:solidFill>
            <a:srgbClr val="3646CF"/>
          </a:solidFill>
          <a:ln/>
        </p:spPr>
      </p:sp>
      <p:sp>
        <p:nvSpPr>
          <p:cNvPr id="33" name="Shape 31"/>
          <p:cNvSpPr/>
          <p:nvPr/>
        </p:nvSpPr>
        <p:spPr>
          <a:xfrm>
            <a:off x="7071183" y="3321844"/>
            <a:ext cx="5120512" cy="116300"/>
          </a:xfrm>
          <a:prstGeom prst="rect">
            <a:avLst/>
          </a:prstGeom>
          <a:solidFill>
            <a:srgbClr val="3547D0"/>
          </a:solidFill>
          <a:ln/>
        </p:spPr>
      </p:sp>
      <p:sp>
        <p:nvSpPr>
          <p:cNvPr id="34" name="Shape 32"/>
          <p:cNvSpPr/>
          <p:nvPr/>
        </p:nvSpPr>
        <p:spPr>
          <a:xfrm>
            <a:off x="7071183" y="3429000"/>
            <a:ext cx="5120512" cy="116300"/>
          </a:xfrm>
          <a:prstGeom prst="rect">
            <a:avLst/>
          </a:prstGeom>
          <a:solidFill>
            <a:srgbClr val="3549D0"/>
          </a:solidFill>
          <a:ln/>
        </p:spPr>
      </p:sp>
      <p:sp>
        <p:nvSpPr>
          <p:cNvPr id="35" name="Shape 33"/>
          <p:cNvSpPr/>
          <p:nvPr/>
        </p:nvSpPr>
        <p:spPr>
          <a:xfrm>
            <a:off x="7071183" y="3536156"/>
            <a:ext cx="5120512" cy="116300"/>
          </a:xfrm>
          <a:prstGeom prst="rect">
            <a:avLst/>
          </a:prstGeom>
          <a:solidFill>
            <a:srgbClr val="344ACF"/>
          </a:solidFill>
          <a:ln/>
        </p:spPr>
      </p:sp>
      <p:sp>
        <p:nvSpPr>
          <p:cNvPr id="36" name="Shape 34"/>
          <p:cNvSpPr/>
          <p:nvPr/>
        </p:nvSpPr>
        <p:spPr>
          <a:xfrm>
            <a:off x="7071183" y="3643313"/>
            <a:ext cx="5120512" cy="116300"/>
          </a:xfrm>
          <a:prstGeom prst="rect">
            <a:avLst/>
          </a:prstGeom>
          <a:solidFill>
            <a:srgbClr val="334BCF"/>
          </a:solidFill>
          <a:ln/>
        </p:spPr>
      </p:sp>
      <p:sp>
        <p:nvSpPr>
          <p:cNvPr id="37" name="Shape 35"/>
          <p:cNvSpPr/>
          <p:nvPr/>
        </p:nvSpPr>
        <p:spPr>
          <a:xfrm>
            <a:off x="7071183" y="3750469"/>
            <a:ext cx="5120512" cy="116300"/>
          </a:xfrm>
          <a:prstGeom prst="rect">
            <a:avLst/>
          </a:prstGeom>
          <a:solidFill>
            <a:srgbClr val="324CCE"/>
          </a:solidFill>
          <a:ln/>
        </p:spPr>
      </p:sp>
      <p:sp>
        <p:nvSpPr>
          <p:cNvPr id="38" name="Shape 36"/>
          <p:cNvSpPr/>
          <p:nvPr/>
        </p:nvSpPr>
        <p:spPr>
          <a:xfrm>
            <a:off x="7071183" y="3857625"/>
            <a:ext cx="5120512" cy="116300"/>
          </a:xfrm>
          <a:prstGeom prst="rect">
            <a:avLst/>
          </a:prstGeom>
          <a:solidFill>
            <a:srgbClr val="314ECD"/>
          </a:solidFill>
          <a:ln/>
        </p:spPr>
      </p:sp>
      <p:sp>
        <p:nvSpPr>
          <p:cNvPr id="39" name="Shape 37"/>
          <p:cNvSpPr/>
          <p:nvPr/>
        </p:nvSpPr>
        <p:spPr>
          <a:xfrm>
            <a:off x="7071183" y="3964781"/>
            <a:ext cx="5120512" cy="116300"/>
          </a:xfrm>
          <a:prstGeom prst="rect">
            <a:avLst/>
          </a:prstGeom>
          <a:solidFill>
            <a:srgbClr val="304FCD"/>
          </a:solidFill>
          <a:ln/>
        </p:spPr>
      </p:sp>
      <p:sp>
        <p:nvSpPr>
          <p:cNvPr id="40" name="Shape 38"/>
          <p:cNvSpPr/>
          <p:nvPr/>
        </p:nvSpPr>
        <p:spPr>
          <a:xfrm>
            <a:off x="7071183" y="4071938"/>
            <a:ext cx="5120512" cy="116300"/>
          </a:xfrm>
          <a:prstGeom prst="rect">
            <a:avLst/>
          </a:prstGeom>
          <a:solidFill>
            <a:srgbClr val="2F50CC"/>
          </a:solidFill>
          <a:ln/>
        </p:spPr>
      </p:sp>
      <p:sp>
        <p:nvSpPr>
          <p:cNvPr id="41" name="Shape 39"/>
          <p:cNvSpPr/>
          <p:nvPr/>
        </p:nvSpPr>
        <p:spPr>
          <a:xfrm>
            <a:off x="7071183" y="4179094"/>
            <a:ext cx="5120512" cy="116300"/>
          </a:xfrm>
          <a:prstGeom prst="rect">
            <a:avLst/>
          </a:prstGeom>
          <a:solidFill>
            <a:srgbClr val="2F51CC"/>
          </a:solidFill>
          <a:ln/>
        </p:spPr>
      </p:sp>
      <p:sp>
        <p:nvSpPr>
          <p:cNvPr id="42" name="Shape 40"/>
          <p:cNvSpPr/>
          <p:nvPr/>
        </p:nvSpPr>
        <p:spPr>
          <a:xfrm>
            <a:off x="7071183" y="4286250"/>
            <a:ext cx="5120512" cy="116300"/>
          </a:xfrm>
          <a:prstGeom prst="rect">
            <a:avLst/>
          </a:prstGeom>
          <a:solidFill>
            <a:srgbClr val="2E53CB"/>
          </a:solidFill>
          <a:ln/>
        </p:spPr>
      </p:sp>
      <p:sp>
        <p:nvSpPr>
          <p:cNvPr id="43" name="Shape 41"/>
          <p:cNvSpPr/>
          <p:nvPr/>
        </p:nvSpPr>
        <p:spPr>
          <a:xfrm>
            <a:off x="7071183" y="4393406"/>
            <a:ext cx="5120512" cy="116300"/>
          </a:xfrm>
          <a:prstGeom prst="rect">
            <a:avLst/>
          </a:prstGeom>
          <a:solidFill>
            <a:srgbClr val="2D54CB"/>
          </a:solidFill>
          <a:ln/>
        </p:spPr>
      </p:sp>
      <p:sp>
        <p:nvSpPr>
          <p:cNvPr id="44" name="Shape 42"/>
          <p:cNvSpPr/>
          <p:nvPr/>
        </p:nvSpPr>
        <p:spPr>
          <a:xfrm>
            <a:off x="7071183" y="4500563"/>
            <a:ext cx="5120512" cy="116300"/>
          </a:xfrm>
          <a:prstGeom prst="rect">
            <a:avLst/>
          </a:prstGeom>
          <a:solidFill>
            <a:srgbClr val="2C55CA"/>
          </a:solidFill>
          <a:ln/>
        </p:spPr>
      </p:sp>
      <p:sp>
        <p:nvSpPr>
          <p:cNvPr id="45" name="Shape 43"/>
          <p:cNvSpPr/>
          <p:nvPr/>
        </p:nvSpPr>
        <p:spPr>
          <a:xfrm>
            <a:off x="7071183" y="4607719"/>
            <a:ext cx="5120512" cy="116300"/>
          </a:xfrm>
          <a:prstGeom prst="rect">
            <a:avLst/>
          </a:prstGeom>
          <a:solidFill>
            <a:srgbClr val="2B56C9"/>
          </a:solidFill>
          <a:ln/>
        </p:spPr>
      </p:sp>
      <p:sp>
        <p:nvSpPr>
          <p:cNvPr id="46" name="Shape 44"/>
          <p:cNvSpPr/>
          <p:nvPr/>
        </p:nvSpPr>
        <p:spPr>
          <a:xfrm>
            <a:off x="7071183" y="4714875"/>
            <a:ext cx="5120512" cy="116300"/>
          </a:xfrm>
          <a:prstGeom prst="rect">
            <a:avLst/>
          </a:prstGeom>
          <a:solidFill>
            <a:srgbClr val="2A57C9"/>
          </a:solidFill>
          <a:ln/>
        </p:spPr>
      </p:sp>
      <p:sp>
        <p:nvSpPr>
          <p:cNvPr id="47" name="Shape 45"/>
          <p:cNvSpPr/>
          <p:nvPr/>
        </p:nvSpPr>
        <p:spPr>
          <a:xfrm>
            <a:off x="7071183" y="4822031"/>
            <a:ext cx="5120512" cy="116300"/>
          </a:xfrm>
          <a:prstGeom prst="rect">
            <a:avLst/>
          </a:prstGeom>
          <a:solidFill>
            <a:srgbClr val="2959C8"/>
          </a:solidFill>
          <a:ln/>
        </p:spPr>
      </p:sp>
      <p:sp>
        <p:nvSpPr>
          <p:cNvPr id="48" name="Shape 46"/>
          <p:cNvSpPr/>
          <p:nvPr/>
        </p:nvSpPr>
        <p:spPr>
          <a:xfrm>
            <a:off x="7071183" y="4929188"/>
            <a:ext cx="5120512" cy="116300"/>
          </a:xfrm>
          <a:prstGeom prst="rect">
            <a:avLst/>
          </a:prstGeom>
          <a:solidFill>
            <a:srgbClr val="295AC8"/>
          </a:solidFill>
          <a:ln/>
        </p:spPr>
      </p:sp>
      <p:sp>
        <p:nvSpPr>
          <p:cNvPr id="49" name="Shape 47"/>
          <p:cNvSpPr/>
          <p:nvPr/>
        </p:nvSpPr>
        <p:spPr>
          <a:xfrm>
            <a:off x="7071183" y="5036344"/>
            <a:ext cx="5120512" cy="116300"/>
          </a:xfrm>
          <a:prstGeom prst="rect">
            <a:avLst/>
          </a:prstGeom>
          <a:solidFill>
            <a:srgbClr val="285BC7"/>
          </a:solidFill>
          <a:ln/>
        </p:spPr>
      </p:sp>
      <p:sp>
        <p:nvSpPr>
          <p:cNvPr id="50" name="Shape 48"/>
          <p:cNvSpPr/>
          <p:nvPr/>
        </p:nvSpPr>
        <p:spPr>
          <a:xfrm>
            <a:off x="7071183" y="5143500"/>
            <a:ext cx="5120512" cy="116300"/>
          </a:xfrm>
          <a:prstGeom prst="rect">
            <a:avLst/>
          </a:prstGeom>
          <a:solidFill>
            <a:srgbClr val="275CC7"/>
          </a:solidFill>
          <a:ln/>
        </p:spPr>
      </p:sp>
      <p:sp>
        <p:nvSpPr>
          <p:cNvPr id="51" name="Shape 49"/>
          <p:cNvSpPr/>
          <p:nvPr/>
        </p:nvSpPr>
        <p:spPr>
          <a:xfrm>
            <a:off x="7071183" y="5250656"/>
            <a:ext cx="5120512" cy="116300"/>
          </a:xfrm>
          <a:prstGeom prst="rect">
            <a:avLst/>
          </a:prstGeom>
          <a:solidFill>
            <a:srgbClr val="265EC6"/>
          </a:solidFill>
          <a:ln/>
        </p:spPr>
      </p:sp>
      <p:sp>
        <p:nvSpPr>
          <p:cNvPr id="52" name="Shape 50"/>
          <p:cNvSpPr/>
          <p:nvPr/>
        </p:nvSpPr>
        <p:spPr>
          <a:xfrm>
            <a:off x="7071183" y="5357813"/>
            <a:ext cx="5120512" cy="116300"/>
          </a:xfrm>
          <a:prstGeom prst="rect">
            <a:avLst/>
          </a:prstGeom>
          <a:solidFill>
            <a:srgbClr val="255FC5"/>
          </a:solidFill>
          <a:ln/>
        </p:spPr>
      </p:sp>
      <p:sp>
        <p:nvSpPr>
          <p:cNvPr id="53" name="Shape 51"/>
          <p:cNvSpPr/>
          <p:nvPr/>
        </p:nvSpPr>
        <p:spPr>
          <a:xfrm>
            <a:off x="7071183" y="5464969"/>
            <a:ext cx="5120512" cy="116300"/>
          </a:xfrm>
          <a:prstGeom prst="rect">
            <a:avLst/>
          </a:prstGeom>
          <a:solidFill>
            <a:srgbClr val="2460C5"/>
          </a:solidFill>
          <a:ln/>
        </p:spPr>
      </p:sp>
      <p:sp>
        <p:nvSpPr>
          <p:cNvPr id="54" name="Shape 52"/>
          <p:cNvSpPr/>
          <p:nvPr/>
        </p:nvSpPr>
        <p:spPr>
          <a:xfrm>
            <a:off x="7071183" y="5572125"/>
            <a:ext cx="5120512" cy="116300"/>
          </a:xfrm>
          <a:prstGeom prst="rect">
            <a:avLst/>
          </a:prstGeom>
          <a:solidFill>
            <a:srgbClr val="2361C4"/>
          </a:solidFill>
          <a:ln/>
        </p:spPr>
      </p:sp>
      <p:sp>
        <p:nvSpPr>
          <p:cNvPr id="55" name="Shape 53"/>
          <p:cNvSpPr/>
          <p:nvPr/>
        </p:nvSpPr>
        <p:spPr>
          <a:xfrm>
            <a:off x="7071183" y="5679281"/>
            <a:ext cx="5120512" cy="116300"/>
          </a:xfrm>
          <a:prstGeom prst="rect">
            <a:avLst/>
          </a:prstGeom>
          <a:solidFill>
            <a:srgbClr val="2363C4"/>
          </a:solidFill>
          <a:ln/>
        </p:spPr>
      </p:sp>
      <p:sp>
        <p:nvSpPr>
          <p:cNvPr id="56" name="Shape 54"/>
          <p:cNvSpPr/>
          <p:nvPr/>
        </p:nvSpPr>
        <p:spPr>
          <a:xfrm>
            <a:off x="7071183" y="5786438"/>
            <a:ext cx="5120512" cy="116300"/>
          </a:xfrm>
          <a:prstGeom prst="rect">
            <a:avLst/>
          </a:prstGeom>
          <a:solidFill>
            <a:srgbClr val="2264C3"/>
          </a:solidFill>
          <a:ln/>
        </p:spPr>
      </p:sp>
      <p:sp>
        <p:nvSpPr>
          <p:cNvPr id="57" name="Shape 55"/>
          <p:cNvSpPr/>
          <p:nvPr/>
        </p:nvSpPr>
        <p:spPr>
          <a:xfrm>
            <a:off x="7071183" y="5893594"/>
            <a:ext cx="5120512" cy="116300"/>
          </a:xfrm>
          <a:prstGeom prst="rect">
            <a:avLst/>
          </a:prstGeom>
          <a:solidFill>
            <a:srgbClr val="2165C3"/>
          </a:solidFill>
          <a:ln/>
        </p:spPr>
      </p:sp>
      <p:sp>
        <p:nvSpPr>
          <p:cNvPr id="58" name="Shape 56"/>
          <p:cNvSpPr/>
          <p:nvPr/>
        </p:nvSpPr>
        <p:spPr>
          <a:xfrm>
            <a:off x="7071183" y="6000750"/>
            <a:ext cx="5120512" cy="116300"/>
          </a:xfrm>
          <a:prstGeom prst="rect">
            <a:avLst/>
          </a:prstGeom>
          <a:solidFill>
            <a:srgbClr val="2066C2"/>
          </a:solidFill>
          <a:ln/>
        </p:spPr>
      </p:sp>
      <p:sp>
        <p:nvSpPr>
          <p:cNvPr id="59" name="Shape 57"/>
          <p:cNvSpPr/>
          <p:nvPr/>
        </p:nvSpPr>
        <p:spPr>
          <a:xfrm>
            <a:off x="7071183" y="6107906"/>
            <a:ext cx="5120512" cy="116300"/>
          </a:xfrm>
          <a:prstGeom prst="rect">
            <a:avLst/>
          </a:prstGeom>
          <a:solidFill>
            <a:srgbClr val="1F68C1"/>
          </a:solidFill>
          <a:ln/>
        </p:spPr>
      </p:sp>
      <p:sp>
        <p:nvSpPr>
          <p:cNvPr id="60" name="Shape 58"/>
          <p:cNvSpPr/>
          <p:nvPr/>
        </p:nvSpPr>
        <p:spPr>
          <a:xfrm>
            <a:off x="7071183" y="6215063"/>
            <a:ext cx="5120512" cy="116300"/>
          </a:xfrm>
          <a:prstGeom prst="rect">
            <a:avLst/>
          </a:prstGeom>
          <a:solidFill>
            <a:srgbClr val="1E69C1"/>
          </a:solidFill>
          <a:ln/>
        </p:spPr>
      </p:sp>
      <p:sp>
        <p:nvSpPr>
          <p:cNvPr id="61" name="Shape 59"/>
          <p:cNvSpPr/>
          <p:nvPr/>
        </p:nvSpPr>
        <p:spPr>
          <a:xfrm>
            <a:off x="7071183" y="6322219"/>
            <a:ext cx="5120512" cy="116300"/>
          </a:xfrm>
          <a:prstGeom prst="rect">
            <a:avLst/>
          </a:prstGeom>
          <a:solidFill>
            <a:srgbClr val="1D6AC0"/>
          </a:solidFill>
          <a:ln/>
        </p:spPr>
      </p:sp>
      <p:sp>
        <p:nvSpPr>
          <p:cNvPr id="62" name="Shape 60"/>
          <p:cNvSpPr/>
          <p:nvPr/>
        </p:nvSpPr>
        <p:spPr>
          <a:xfrm>
            <a:off x="7071183" y="6429375"/>
            <a:ext cx="5120512" cy="116300"/>
          </a:xfrm>
          <a:prstGeom prst="rect">
            <a:avLst/>
          </a:prstGeom>
          <a:solidFill>
            <a:srgbClr val="1D6BC0"/>
          </a:solidFill>
          <a:ln/>
        </p:spPr>
      </p:sp>
      <p:sp>
        <p:nvSpPr>
          <p:cNvPr id="63" name="Shape 61"/>
          <p:cNvSpPr/>
          <p:nvPr/>
        </p:nvSpPr>
        <p:spPr>
          <a:xfrm>
            <a:off x="7071183" y="6536531"/>
            <a:ext cx="5120512" cy="116300"/>
          </a:xfrm>
          <a:prstGeom prst="rect">
            <a:avLst/>
          </a:prstGeom>
          <a:solidFill>
            <a:srgbClr val="1C6DBF"/>
          </a:solidFill>
          <a:ln/>
        </p:spPr>
      </p:sp>
      <p:sp>
        <p:nvSpPr>
          <p:cNvPr id="64" name="Shape 62"/>
          <p:cNvSpPr/>
          <p:nvPr/>
        </p:nvSpPr>
        <p:spPr>
          <a:xfrm>
            <a:off x="7071183" y="6643688"/>
            <a:ext cx="5120512" cy="116300"/>
          </a:xfrm>
          <a:prstGeom prst="rect">
            <a:avLst/>
          </a:prstGeom>
          <a:solidFill>
            <a:srgbClr val="1B6EBF"/>
          </a:solidFill>
          <a:ln/>
        </p:spPr>
      </p:sp>
      <p:sp>
        <p:nvSpPr>
          <p:cNvPr id="65" name="Shape 63"/>
          <p:cNvSpPr/>
          <p:nvPr/>
        </p:nvSpPr>
        <p:spPr>
          <a:xfrm>
            <a:off x="7071183" y="6750844"/>
            <a:ext cx="5120512" cy="116300"/>
          </a:xfrm>
          <a:prstGeom prst="rect">
            <a:avLst/>
          </a:prstGeom>
          <a:solidFill>
            <a:srgbClr val="1A6FBE"/>
          </a:solidFill>
          <a:ln/>
        </p:spPr>
      </p:sp>
      <p:sp>
        <p:nvSpPr>
          <p:cNvPr id="66" name="Text 64"/>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NEXT 12 MONTHS</a:t>
            </a:r>
            <a:endParaRPr lang="en-US" sz="1100" dirty="0"/>
          </a:p>
        </p:txBody>
      </p:sp>
      <p:sp>
        <p:nvSpPr>
          <p:cNvPr id="67" name="Text 65"/>
          <p:cNvSpPr/>
          <p:nvPr/>
        </p:nvSpPr>
        <p:spPr>
          <a:xfrm>
            <a:off x="548640" y="1417320"/>
            <a:ext cx="6156783" cy="2194560"/>
          </a:xfrm>
          <a:prstGeom prst="rect">
            <a:avLst/>
          </a:prstGeom>
          <a:noFill/>
          <a:ln/>
        </p:spPr>
        <p:txBody>
          <a:bodyPr wrap="square" lIns="0" tIns="0" rIns="0" bIns="0" rtlCol="0" anchor="t"/>
          <a:lstStyle/>
          <a:p>
            <a:pPr algn="l" indent="0" marL="0">
              <a:buNone/>
            </a:pPr>
            <a:r>
              <a:rPr lang="en-US" sz="4200" b="1" spc="-50" kern="0" dirty="0">
                <a:solidFill>
                  <a:srgbClr val="0F1733"/>
                </a:solidFill>
                <a:latin typeface="Calibri" pitchFamily="34" charset="0"/>
                <a:ea typeface="Calibri" pitchFamily="34" charset="-122"/>
                <a:cs typeface="Calibri" pitchFamily="34" charset="-120"/>
              </a:rPr>
              <a:t>Three roadmap phases. All customer-driven.</a:t>
            </a:r>
            <a:endParaRPr lang="en-US" sz="4200" dirty="0"/>
          </a:p>
        </p:txBody>
      </p:sp>
      <p:sp>
        <p:nvSpPr>
          <p:cNvPr id="68" name="Text 66"/>
          <p:cNvSpPr/>
          <p:nvPr/>
        </p:nvSpPr>
        <p:spPr>
          <a:xfrm>
            <a:off x="548640" y="3657600"/>
            <a:ext cx="6156783" cy="1097280"/>
          </a:xfrm>
          <a:prstGeom prst="rect">
            <a:avLst/>
          </a:prstGeom>
          <a:noFill/>
          <a:ln/>
        </p:spPr>
        <p:txBody>
          <a:bodyPr wrap="square" lIns="0" tIns="0" rIns="0" bIns="0" rtlCol="0" anchor="t"/>
          <a:lstStyle/>
          <a:p>
            <a:pPr algn="l" indent="0" marL="0">
              <a:spcAft>
                <a:spcPts val="600"/>
              </a:spcAft>
              <a:buNone/>
            </a:pPr>
            <a:r>
              <a:rPr lang="en-US" sz="1400" dirty="0">
                <a:solidFill>
                  <a:srgbClr val="2A3358"/>
                </a:solidFill>
                <a:latin typeface="Calibri" pitchFamily="34" charset="0"/>
                <a:ea typeface="Calibri" pitchFamily="34" charset="-122"/>
                <a:cs typeface="Calibri" pitchFamily="34" charset="-120"/>
              </a:rPr>
              <a:t>Q3: deepen the AI scoring layer with custom criteria and ICP templates. Q4: build the team surface — shared CRM, role-based access, billing for orgs. Q1 2027: ship the analytics layer — full closed-loop reporting and benchmarks. Every milestone is locked to revenue, not vanity.</a:t>
            </a:r>
            <a:endParaRPr lang="en-US" sz="1400" dirty="0"/>
          </a:p>
        </p:txBody>
      </p:sp>
      <p:sp>
        <p:nvSpPr>
          <p:cNvPr id="69" name="Text 67"/>
          <p:cNvSpPr/>
          <p:nvPr/>
        </p:nvSpPr>
        <p:spPr>
          <a:xfrm>
            <a:off x="548640" y="4846320"/>
            <a:ext cx="6156783" cy="1463040"/>
          </a:xfrm>
          <a:prstGeom prst="rect">
            <a:avLst/>
          </a:prstGeom>
          <a:noFill/>
          <a:ln/>
        </p:spPr>
        <p:txBody>
          <a:bodyPr wrap="square" lIns="0" tIns="0" rIns="0" bIns="0" rtlCol="0" anchor="t"/>
          <a:lstStyle/>
          <a:p>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Q3 2026 — Custom ICP scoring, template library</a:t>
            </a:r>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Q4 2026 — Team plans, shared CRM, org billing</a:t>
            </a:r>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Q1 2027 — Full analytics layer, benchmarks</a:t>
            </a:r>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Q2 2027 — Two more platforms (Twitch + Substack)</a:t>
            </a:r>
            <a:endParaRPr lang="en-US" sz="13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16 · Roadmap preview  ·  vB</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107 / 126</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THREE MILESTONES</a:t>
            </a:r>
            <a:endParaRPr lang="en-US" sz="1100" dirty="0"/>
          </a:p>
        </p:txBody>
      </p:sp>
      <p:sp>
        <p:nvSpPr>
          <p:cNvPr id="3" name="Text 1"/>
          <p:cNvSpPr/>
          <p:nvPr/>
        </p:nvSpPr>
        <p:spPr>
          <a:xfrm>
            <a:off x="548640" y="1417320"/>
            <a:ext cx="11094415" cy="1188720"/>
          </a:xfrm>
          <a:prstGeom prst="rect">
            <a:avLst/>
          </a:prstGeom>
          <a:noFill/>
          <a:ln/>
        </p:spPr>
        <p:txBody>
          <a:bodyPr wrap="square" lIns="0" tIns="0" rIns="0" bIns="0" rtlCol="0" anchor="t"/>
          <a:lstStyle/>
          <a:p>
            <a:pPr algn="l" indent="0" marL="0">
              <a:buNone/>
            </a:pPr>
            <a:r>
              <a:rPr lang="en-US" sz="3800" b="1" spc="-50" kern="0" dirty="0">
                <a:solidFill>
                  <a:srgbClr val="0F1733"/>
                </a:solidFill>
                <a:latin typeface="Calibri" pitchFamily="34" charset="0"/>
                <a:ea typeface="Calibri" pitchFamily="34" charset="-122"/>
                <a:cs typeface="Calibri" pitchFamily="34" charset="-120"/>
              </a:rPr>
              <a:t>Customer-pulled. Revenue-gated. Honestly sequenced.</a:t>
            </a:r>
            <a:endParaRPr lang="en-US" sz="3800" dirty="0"/>
          </a:p>
        </p:txBody>
      </p:sp>
      <p:sp>
        <p:nvSpPr>
          <p:cNvPr id="4" name="Shape 2"/>
          <p:cNvSpPr/>
          <p:nvPr/>
        </p:nvSpPr>
        <p:spPr>
          <a:xfrm>
            <a:off x="548640" y="3108960"/>
            <a:ext cx="3545738" cy="3017520"/>
          </a:xfrm>
          <a:prstGeom prst="roundRect">
            <a:avLst>
              <a:gd name="adj" fmla="val 3636"/>
            </a:avLst>
          </a:prstGeom>
          <a:solidFill>
            <a:srgbClr val="FFFFFF"/>
          </a:solidFill>
          <a:ln w="9525">
            <a:solidFill>
              <a:srgbClr val="E5E7F0"/>
            </a:solidFill>
            <a:prstDash val="solid"/>
          </a:ln>
        </p:spPr>
      </p:sp>
      <p:sp>
        <p:nvSpPr>
          <p:cNvPr id="5" name="Shape 3"/>
          <p:cNvSpPr/>
          <p:nvPr/>
        </p:nvSpPr>
        <p:spPr>
          <a:xfrm>
            <a:off x="548640" y="3108960"/>
            <a:ext cx="3545738" cy="73152"/>
          </a:xfrm>
          <a:prstGeom prst="rect">
            <a:avLst/>
          </a:prstGeom>
          <a:solidFill>
            <a:srgbClr val="5028C2"/>
          </a:solidFill>
          <a:ln/>
        </p:spPr>
      </p:sp>
      <p:sp>
        <p:nvSpPr>
          <p:cNvPr id="6" name="Shape 4"/>
          <p:cNvSpPr/>
          <p:nvPr/>
        </p:nvSpPr>
        <p:spPr>
          <a:xfrm>
            <a:off x="868680" y="3474720"/>
            <a:ext cx="457200" cy="457200"/>
          </a:xfrm>
          <a:prstGeom prst="ellipse">
            <a:avLst/>
          </a:prstGeom>
          <a:solidFill>
            <a:srgbClr val="5028C2"/>
          </a:solidFill>
          <a:ln/>
        </p:spPr>
      </p:sp>
      <p:sp>
        <p:nvSpPr>
          <p:cNvPr id="7" name="Text 5"/>
          <p:cNvSpPr/>
          <p:nvPr/>
        </p:nvSpPr>
        <p:spPr>
          <a:xfrm>
            <a:off x="868680"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8" name="Text 6"/>
          <p:cNvSpPr/>
          <p:nvPr/>
        </p:nvSpPr>
        <p:spPr>
          <a:xfrm>
            <a:off x="868680"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Q3 2026 · Scoring depth</a:t>
            </a:r>
            <a:endParaRPr lang="en-US" sz="1800" dirty="0"/>
          </a:p>
        </p:txBody>
      </p:sp>
      <p:sp>
        <p:nvSpPr>
          <p:cNvPr id="9" name="Text 7"/>
          <p:cNvSpPr/>
          <p:nvPr/>
        </p:nvSpPr>
        <p:spPr>
          <a:xfrm>
            <a:off x="868680"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Custom ICP templates, score component tuning, saved searches. Unlocked by Pro-tier customers reaching repeat-campaign maturity.</a:t>
            </a:r>
            <a:endParaRPr lang="en-US" sz="1300" dirty="0"/>
          </a:p>
        </p:txBody>
      </p:sp>
      <p:sp>
        <p:nvSpPr>
          <p:cNvPr id="10" name="Shape 8"/>
          <p:cNvSpPr/>
          <p:nvPr/>
        </p:nvSpPr>
        <p:spPr>
          <a:xfrm>
            <a:off x="4322978" y="3108960"/>
            <a:ext cx="3545738" cy="3017520"/>
          </a:xfrm>
          <a:prstGeom prst="roundRect">
            <a:avLst>
              <a:gd name="adj" fmla="val 3636"/>
            </a:avLst>
          </a:prstGeom>
          <a:solidFill>
            <a:srgbClr val="FFFFFF"/>
          </a:solidFill>
          <a:ln w="9525">
            <a:solidFill>
              <a:srgbClr val="E5E7F0"/>
            </a:solidFill>
            <a:prstDash val="solid"/>
          </a:ln>
        </p:spPr>
      </p:sp>
      <p:sp>
        <p:nvSpPr>
          <p:cNvPr id="11" name="Shape 9"/>
          <p:cNvSpPr/>
          <p:nvPr/>
        </p:nvSpPr>
        <p:spPr>
          <a:xfrm>
            <a:off x="4322978" y="3108960"/>
            <a:ext cx="3545738" cy="73152"/>
          </a:xfrm>
          <a:prstGeom prst="rect">
            <a:avLst/>
          </a:prstGeom>
          <a:solidFill>
            <a:srgbClr val="3548D0"/>
          </a:solidFill>
          <a:ln/>
        </p:spPr>
      </p:sp>
      <p:sp>
        <p:nvSpPr>
          <p:cNvPr id="12" name="Shape 10"/>
          <p:cNvSpPr/>
          <p:nvPr/>
        </p:nvSpPr>
        <p:spPr>
          <a:xfrm>
            <a:off x="4643018" y="3474720"/>
            <a:ext cx="457200" cy="457200"/>
          </a:xfrm>
          <a:prstGeom prst="ellipse">
            <a:avLst/>
          </a:prstGeom>
          <a:solidFill>
            <a:srgbClr val="3548D0"/>
          </a:solidFill>
          <a:ln/>
        </p:spPr>
      </p:sp>
      <p:sp>
        <p:nvSpPr>
          <p:cNvPr id="13" name="Text 11"/>
          <p:cNvSpPr/>
          <p:nvPr/>
        </p:nvSpPr>
        <p:spPr>
          <a:xfrm>
            <a:off x="4643018"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4" name="Text 12"/>
          <p:cNvSpPr/>
          <p:nvPr/>
        </p:nvSpPr>
        <p:spPr>
          <a:xfrm>
            <a:off x="4643018"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Q4 2026 · Team layer</a:t>
            </a:r>
            <a:endParaRPr lang="en-US" sz="1800" dirty="0"/>
          </a:p>
        </p:txBody>
      </p:sp>
      <p:sp>
        <p:nvSpPr>
          <p:cNvPr id="15" name="Text 13"/>
          <p:cNvSpPr/>
          <p:nvPr/>
        </p:nvSpPr>
        <p:spPr>
          <a:xfrm>
            <a:off x="4643018"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Multi-seat plans, shared CRM views, role-based access, org-level billing. Unlocked by Scale-tier signal at ~$10K MRR.</a:t>
            </a:r>
            <a:endParaRPr lang="en-US" sz="1300" dirty="0"/>
          </a:p>
        </p:txBody>
      </p:sp>
      <p:sp>
        <p:nvSpPr>
          <p:cNvPr id="16" name="Shape 14"/>
          <p:cNvSpPr/>
          <p:nvPr/>
        </p:nvSpPr>
        <p:spPr>
          <a:xfrm>
            <a:off x="8097317" y="3108960"/>
            <a:ext cx="3545738" cy="3017520"/>
          </a:xfrm>
          <a:prstGeom prst="roundRect">
            <a:avLst>
              <a:gd name="adj" fmla="val 3636"/>
            </a:avLst>
          </a:prstGeom>
          <a:solidFill>
            <a:srgbClr val="FFFFFF"/>
          </a:solidFill>
          <a:ln w="9525">
            <a:solidFill>
              <a:srgbClr val="E5E7F0"/>
            </a:solidFill>
            <a:prstDash val="solid"/>
          </a:ln>
        </p:spPr>
      </p:sp>
      <p:sp>
        <p:nvSpPr>
          <p:cNvPr id="17" name="Shape 15"/>
          <p:cNvSpPr/>
          <p:nvPr/>
        </p:nvSpPr>
        <p:spPr>
          <a:xfrm>
            <a:off x="8097317" y="3108960"/>
            <a:ext cx="3545738" cy="73152"/>
          </a:xfrm>
          <a:prstGeom prst="rect">
            <a:avLst/>
          </a:prstGeom>
          <a:solidFill>
            <a:srgbClr val="1A6FBE"/>
          </a:solidFill>
          <a:ln/>
        </p:spPr>
      </p:sp>
      <p:sp>
        <p:nvSpPr>
          <p:cNvPr id="18" name="Shape 16"/>
          <p:cNvSpPr/>
          <p:nvPr/>
        </p:nvSpPr>
        <p:spPr>
          <a:xfrm>
            <a:off x="8417357" y="3474720"/>
            <a:ext cx="457200" cy="457200"/>
          </a:xfrm>
          <a:prstGeom prst="ellipse">
            <a:avLst/>
          </a:prstGeom>
          <a:solidFill>
            <a:srgbClr val="1A6FBE"/>
          </a:solidFill>
          <a:ln/>
        </p:spPr>
      </p:sp>
      <p:sp>
        <p:nvSpPr>
          <p:cNvPr id="19" name="Text 17"/>
          <p:cNvSpPr/>
          <p:nvPr/>
        </p:nvSpPr>
        <p:spPr>
          <a:xfrm>
            <a:off x="8417357"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0" name="Text 18"/>
          <p:cNvSpPr/>
          <p:nvPr/>
        </p:nvSpPr>
        <p:spPr>
          <a:xfrm>
            <a:off x="8417357"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Q1 2027 · Analytics</a:t>
            </a:r>
            <a:endParaRPr lang="en-US" sz="1800" dirty="0"/>
          </a:p>
        </p:txBody>
      </p:sp>
      <p:sp>
        <p:nvSpPr>
          <p:cNvPr id="21" name="Text 19"/>
          <p:cNvSpPr/>
          <p:nvPr/>
        </p:nvSpPr>
        <p:spPr>
          <a:xfrm>
            <a:off x="8417357"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Cross-customer benchmarks, full closed-loop reporting, exportable insights. Unlocked once the data layer has 6+ months of signal.</a:t>
            </a:r>
            <a:endParaRPr lang="en-US" sz="1300" dirty="0"/>
          </a:p>
        </p:txBody>
      </p:sp>
      <p:sp>
        <p:nvSpPr>
          <p:cNvPr id="22" name="Shape 20"/>
          <p:cNvSpPr/>
          <p:nvPr/>
        </p:nvSpPr>
        <p:spPr>
          <a:xfrm>
            <a:off x="548640" y="502920"/>
            <a:ext cx="292608" cy="292608"/>
          </a:xfrm>
          <a:prstGeom prst="roundRect">
            <a:avLst>
              <a:gd name="adj" fmla="val 25000"/>
            </a:avLst>
          </a:prstGeom>
          <a:solidFill>
            <a:srgbClr val="5028C2"/>
          </a:solidFill>
          <a:ln/>
        </p:spPr>
      </p:sp>
      <p:sp>
        <p:nvSpPr>
          <p:cNvPr id="23" name="Shape 21"/>
          <p:cNvSpPr/>
          <p:nvPr/>
        </p:nvSpPr>
        <p:spPr>
          <a:xfrm>
            <a:off x="548640" y="502920"/>
            <a:ext cx="292608" cy="292608"/>
          </a:xfrm>
          <a:prstGeom prst="roundRect">
            <a:avLst>
              <a:gd name="adj" fmla="val 25000"/>
            </a:avLst>
          </a:prstGeom>
          <a:solidFill>
            <a:srgbClr val="1A6FBE">
              <a:alpha val="50000"/>
            </a:srgbClr>
          </a:solidFill>
          <a:ln/>
        </p:spPr>
      </p:sp>
      <p:sp>
        <p:nvSpPr>
          <p:cNvPr id="24" name="Text 22"/>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5" name="Text 23"/>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6" name="Text 24"/>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16 · Roadmap preview  ·  vC</a:t>
            </a:r>
            <a:endParaRPr lang="en-US" sz="900" dirty="0"/>
          </a:p>
        </p:txBody>
      </p:sp>
      <p:sp>
        <p:nvSpPr>
          <p:cNvPr id="27" name="Text 25"/>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28" name="Text 26"/>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108 / 126</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320040" cy="116300"/>
          </a:xfrm>
          <a:prstGeom prst="rect">
            <a:avLst/>
          </a:prstGeom>
          <a:solidFill>
            <a:srgbClr val="5028C2"/>
          </a:solidFill>
          <a:ln/>
        </p:spPr>
      </p:sp>
      <p:sp>
        <p:nvSpPr>
          <p:cNvPr id="3" name="Shape 1"/>
          <p:cNvSpPr/>
          <p:nvPr/>
        </p:nvSpPr>
        <p:spPr>
          <a:xfrm>
            <a:off x="0" y="107156"/>
            <a:ext cx="320040" cy="116300"/>
          </a:xfrm>
          <a:prstGeom prst="rect">
            <a:avLst/>
          </a:prstGeom>
          <a:solidFill>
            <a:srgbClr val="4F29C2"/>
          </a:solidFill>
          <a:ln/>
        </p:spPr>
      </p:sp>
      <p:sp>
        <p:nvSpPr>
          <p:cNvPr id="4" name="Shape 2"/>
          <p:cNvSpPr/>
          <p:nvPr/>
        </p:nvSpPr>
        <p:spPr>
          <a:xfrm>
            <a:off x="0" y="214313"/>
            <a:ext cx="320040" cy="116300"/>
          </a:xfrm>
          <a:prstGeom prst="rect">
            <a:avLst/>
          </a:prstGeom>
          <a:solidFill>
            <a:srgbClr val="4E2AC3"/>
          </a:solidFill>
          <a:ln/>
        </p:spPr>
      </p:sp>
      <p:sp>
        <p:nvSpPr>
          <p:cNvPr id="5" name="Shape 3"/>
          <p:cNvSpPr/>
          <p:nvPr/>
        </p:nvSpPr>
        <p:spPr>
          <a:xfrm>
            <a:off x="0" y="321469"/>
            <a:ext cx="320040" cy="116300"/>
          </a:xfrm>
          <a:prstGeom prst="rect">
            <a:avLst/>
          </a:prstGeom>
          <a:solidFill>
            <a:srgbClr val="4D2BC3"/>
          </a:solidFill>
          <a:ln/>
        </p:spPr>
      </p:sp>
      <p:sp>
        <p:nvSpPr>
          <p:cNvPr id="6" name="Shape 4"/>
          <p:cNvSpPr/>
          <p:nvPr/>
        </p:nvSpPr>
        <p:spPr>
          <a:xfrm>
            <a:off x="0" y="428625"/>
            <a:ext cx="320040" cy="116300"/>
          </a:xfrm>
          <a:prstGeom prst="rect">
            <a:avLst/>
          </a:prstGeom>
          <a:solidFill>
            <a:srgbClr val="4D2CC4"/>
          </a:solidFill>
          <a:ln/>
        </p:spPr>
      </p:sp>
      <p:sp>
        <p:nvSpPr>
          <p:cNvPr id="7" name="Shape 5"/>
          <p:cNvSpPr/>
          <p:nvPr/>
        </p:nvSpPr>
        <p:spPr>
          <a:xfrm>
            <a:off x="0" y="535781"/>
            <a:ext cx="320040" cy="116300"/>
          </a:xfrm>
          <a:prstGeom prst="rect">
            <a:avLst/>
          </a:prstGeom>
          <a:solidFill>
            <a:srgbClr val="4C2DC4"/>
          </a:solidFill>
          <a:ln/>
        </p:spPr>
      </p:sp>
      <p:sp>
        <p:nvSpPr>
          <p:cNvPr id="8" name="Shape 6"/>
          <p:cNvSpPr/>
          <p:nvPr/>
        </p:nvSpPr>
        <p:spPr>
          <a:xfrm>
            <a:off x="0" y="642938"/>
            <a:ext cx="320040" cy="116300"/>
          </a:xfrm>
          <a:prstGeom prst="rect">
            <a:avLst/>
          </a:prstGeom>
          <a:solidFill>
            <a:srgbClr val="4B2EC5"/>
          </a:solidFill>
          <a:ln/>
        </p:spPr>
      </p:sp>
      <p:sp>
        <p:nvSpPr>
          <p:cNvPr id="9" name="Shape 7"/>
          <p:cNvSpPr/>
          <p:nvPr/>
        </p:nvSpPr>
        <p:spPr>
          <a:xfrm>
            <a:off x="0" y="750094"/>
            <a:ext cx="320040" cy="116300"/>
          </a:xfrm>
          <a:prstGeom prst="rect">
            <a:avLst/>
          </a:prstGeom>
          <a:solidFill>
            <a:srgbClr val="4A2FC5"/>
          </a:solidFill>
          <a:ln/>
        </p:spPr>
      </p:sp>
      <p:sp>
        <p:nvSpPr>
          <p:cNvPr id="10" name="Shape 8"/>
          <p:cNvSpPr/>
          <p:nvPr/>
        </p:nvSpPr>
        <p:spPr>
          <a:xfrm>
            <a:off x="0" y="857250"/>
            <a:ext cx="320040" cy="116300"/>
          </a:xfrm>
          <a:prstGeom prst="rect">
            <a:avLst/>
          </a:prstGeom>
          <a:solidFill>
            <a:srgbClr val="4930C6"/>
          </a:solidFill>
          <a:ln/>
        </p:spPr>
      </p:sp>
      <p:sp>
        <p:nvSpPr>
          <p:cNvPr id="11" name="Shape 9"/>
          <p:cNvSpPr/>
          <p:nvPr/>
        </p:nvSpPr>
        <p:spPr>
          <a:xfrm>
            <a:off x="0" y="964406"/>
            <a:ext cx="320040" cy="116300"/>
          </a:xfrm>
          <a:prstGeom prst="rect">
            <a:avLst/>
          </a:prstGeom>
          <a:solidFill>
            <a:srgbClr val="4831C6"/>
          </a:solidFill>
          <a:ln/>
        </p:spPr>
      </p:sp>
      <p:sp>
        <p:nvSpPr>
          <p:cNvPr id="12" name="Shape 10"/>
          <p:cNvSpPr/>
          <p:nvPr/>
        </p:nvSpPr>
        <p:spPr>
          <a:xfrm>
            <a:off x="0" y="1071563"/>
            <a:ext cx="320040" cy="116300"/>
          </a:xfrm>
          <a:prstGeom prst="rect">
            <a:avLst/>
          </a:prstGeom>
          <a:solidFill>
            <a:srgbClr val="4732C6"/>
          </a:solidFill>
          <a:ln/>
        </p:spPr>
      </p:sp>
      <p:sp>
        <p:nvSpPr>
          <p:cNvPr id="13" name="Shape 11"/>
          <p:cNvSpPr/>
          <p:nvPr/>
        </p:nvSpPr>
        <p:spPr>
          <a:xfrm>
            <a:off x="0" y="1178719"/>
            <a:ext cx="320040" cy="116300"/>
          </a:xfrm>
          <a:prstGeom prst="rect">
            <a:avLst/>
          </a:prstGeom>
          <a:solidFill>
            <a:srgbClr val="4733C7"/>
          </a:solidFill>
          <a:ln/>
        </p:spPr>
      </p:sp>
      <p:sp>
        <p:nvSpPr>
          <p:cNvPr id="14" name="Shape 12"/>
          <p:cNvSpPr/>
          <p:nvPr/>
        </p:nvSpPr>
        <p:spPr>
          <a:xfrm>
            <a:off x="0" y="1285875"/>
            <a:ext cx="320040" cy="116300"/>
          </a:xfrm>
          <a:prstGeom prst="rect">
            <a:avLst/>
          </a:prstGeom>
          <a:solidFill>
            <a:srgbClr val="4634C7"/>
          </a:solidFill>
          <a:ln/>
        </p:spPr>
      </p:sp>
      <p:sp>
        <p:nvSpPr>
          <p:cNvPr id="15" name="Shape 13"/>
          <p:cNvSpPr/>
          <p:nvPr/>
        </p:nvSpPr>
        <p:spPr>
          <a:xfrm>
            <a:off x="0" y="1393031"/>
            <a:ext cx="320040" cy="116300"/>
          </a:xfrm>
          <a:prstGeom prst="rect">
            <a:avLst/>
          </a:prstGeom>
          <a:solidFill>
            <a:srgbClr val="4535C8"/>
          </a:solidFill>
          <a:ln/>
        </p:spPr>
      </p:sp>
      <p:sp>
        <p:nvSpPr>
          <p:cNvPr id="16" name="Shape 14"/>
          <p:cNvSpPr/>
          <p:nvPr/>
        </p:nvSpPr>
        <p:spPr>
          <a:xfrm>
            <a:off x="0" y="1500188"/>
            <a:ext cx="320040" cy="116300"/>
          </a:xfrm>
          <a:prstGeom prst="rect">
            <a:avLst/>
          </a:prstGeom>
          <a:solidFill>
            <a:srgbClr val="4436C8"/>
          </a:solidFill>
          <a:ln/>
        </p:spPr>
      </p:sp>
      <p:sp>
        <p:nvSpPr>
          <p:cNvPr id="17" name="Shape 15"/>
          <p:cNvSpPr/>
          <p:nvPr/>
        </p:nvSpPr>
        <p:spPr>
          <a:xfrm>
            <a:off x="0" y="1607344"/>
            <a:ext cx="320040" cy="116300"/>
          </a:xfrm>
          <a:prstGeom prst="rect">
            <a:avLst/>
          </a:prstGeom>
          <a:solidFill>
            <a:srgbClr val="4337C9"/>
          </a:solidFill>
          <a:ln/>
        </p:spPr>
      </p:sp>
      <p:sp>
        <p:nvSpPr>
          <p:cNvPr id="18" name="Shape 16"/>
          <p:cNvSpPr/>
          <p:nvPr/>
        </p:nvSpPr>
        <p:spPr>
          <a:xfrm>
            <a:off x="0" y="1714500"/>
            <a:ext cx="320040" cy="116300"/>
          </a:xfrm>
          <a:prstGeom prst="rect">
            <a:avLst/>
          </a:prstGeom>
          <a:solidFill>
            <a:srgbClr val="4238C9"/>
          </a:solidFill>
          <a:ln/>
        </p:spPr>
      </p:sp>
      <p:sp>
        <p:nvSpPr>
          <p:cNvPr id="19" name="Shape 17"/>
          <p:cNvSpPr/>
          <p:nvPr/>
        </p:nvSpPr>
        <p:spPr>
          <a:xfrm>
            <a:off x="0" y="1821656"/>
            <a:ext cx="320040" cy="116300"/>
          </a:xfrm>
          <a:prstGeom prst="rect">
            <a:avLst/>
          </a:prstGeom>
          <a:solidFill>
            <a:srgbClr val="4139CA"/>
          </a:solidFill>
          <a:ln/>
        </p:spPr>
      </p:sp>
      <p:sp>
        <p:nvSpPr>
          <p:cNvPr id="20" name="Shape 18"/>
          <p:cNvSpPr/>
          <p:nvPr/>
        </p:nvSpPr>
        <p:spPr>
          <a:xfrm>
            <a:off x="0" y="1928813"/>
            <a:ext cx="320040" cy="116300"/>
          </a:xfrm>
          <a:prstGeom prst="rect">
            <a:avLst/>
          </a:prstGeom>
          <a:solidFill>
            <a:srgbClr val="413ACA"/>
          </a:solidFill>
          <a:ln/>
        </p:spPr>
      </p:sp>
      <p:sp>
        <p:nvSpPr>
          <p:cNvPr id="21" name="Shape 19"/>
          <p:cNvSpPr/>
          <p:nvPr/>
        </p:nvSpPr>
        <p:spPr>
          <a:xfrm>
            <a:off x="0" y="2035969"/>
            <a:ext cx="320040" cy="116300"/>
          </a:xfrm>
          <a:prstGeom prst="rect">
            <a:avLst/>
          </a:prstGeom>
          <a:solidFill>
            <a:srgbClr val="403BCA"/>
          </a:solidFill>
          <a:ln/>
        </p:spPr>
      </p:sp>
      <p:sp>
        <p:nvSpPr>
          <p:cNvPr id="22" name="Shape 20"/>
          <p:cNvSpPr/>
          <p:nvPr/>
        </p:nvSpPr>
        <p:spPr>
          <a:xfrm>
            <a:off x="0" y="2143125"/>
            <a:ext cx="320040" cy="116300"/>
          </a:xfrm>
          <a:prstGeom prst="rect">
            <a:avLst/>
          </a:prstGeom>
          <a:solidFill>
            <a:srgbClr val="3F3CCB"/>
          </a:solidFill>
          <a:ln/>
        </p:spPr>
      </p:sp>
      <p:sp>
        <p:nvSpPr>
          <p:cNvPr id="23" name="Shape 21"/>
          <p:cNvSpPr/>
          <p:nvPr/>
        </p:nvSpPr>
        <p:spPr>
          <a:xfrm>
            <a:off x="0" y="2250281"/>
            <a:ext cx="320040" cy="116300"/>
          </a:xfrm>
          <a:prstGeom prst="rect">
            <a:avLst/>
          </a:prstGeom>
          <a:solidFill>
            <a:srgbClr val="3E3DCB"/>
          </a:solidFill>
          <a:ln/>
        </p:spPr>
      </p:sp>
      <p:sp>
        <p:nvSpPr>
          <p:cNvPr id="24" name="Shape 22"/>
          <p:cNvSpPr/>
          <p:nvPr/>
        </p:nvSpPr>
        <p:spPr>
          <a:xfrm>
            <a:off x="0" y="2357438"/>
            <a:ext cx="320040" cy="116300"/>
          </a:xfrm>
          <a:prstGeom prst="rect">
            <a:avLst/>
          </a:prstGeom>
          <a:solidFill>
            <a:srgbClr val="3D3ECC"/>
          </a:solidFill>
          <a:ln/>
        </p:spPr>
      </p:sp>
      <p:sp>
        <p:nvSpPr>
          <p:cNvPr id="25" name="Shape 23"/>
          <p:cNvSpPr/>
          <p:nvPr/>
        </p:nvSpPr>
        <p:spPr>
          <a:xfrm>
            <a:off x="0" y="2464594"/>
            <a:ext cx="320040" cy="116300"/>
          </a:xfrm>
          <a:prstGeom prst="rect">
            <a:avLst/>
          </a:prstGeom>
          <a:solidFill>
            <a:srgbClr val="3C3FCC"/>
          </a:solidFill>
          <a:ln/>
        </p:spPr>
      </p:sp>
      <p:sp>
        <p:nvSpPr>
          <p:cNvPr id="26" name="Shape 24"/>
          <p:cNvSpPr/>
          <p:nvPr/>
        </p:nvSpPr>
        <p:spPr>
          <a:xfrm>
            <a:off x="0" y="2571750"/>
            <a:ext cx="320040" cy="116300"/>
          </a:xfrm>
          <a:prstGeom prst="rect">
            <a:avLst/>
          </a:prstGeom>
          <a:solidFill>
            <a:srgbClr val="3B40CD"/>
          </a:solidFill>
          <a:ln/>
        </p:spPr>
      </p:sp>
      <p:sp>
        <p:nvSpPr>
          <p:cNvPr id="27" name="Shape 25"/>
          <p:cNvSpPr/>
          <p:nvPr/>
        </p:nvSpPr>
        <p:spPr>
          <a:xfrm>
            <a:off x="0" y="2678906"/>
            <a:ext cx="320040" cy="116300"/>
          </a:xfrm>
          <a:prstGeom prst="rect">
            <a:avLst/>
          </a:prstGeom>
          <a:solidFill>
            <a:srgbClr val="3B41CD"/>
          </a:solidFill>
          <a:ln/>
        </p:spPr>
      </p:sp>
      <p:sp>
        <p:nvSpPr>
          <p:cNvPr id="28" name="Shape 26"/>
          <p:cNvSpPr/>
          <p:nvPr/>
        </p:nvSpPr>
        <p:spPr>
          <a:xfrm>
            <a:off x="0" y="2786063"/>
            <a:ext cx="320040" cy="116300"/>
          </a:xfrm>
          <a:prstGeom prst="rect">
            <a:avLst/>
          </a:prstGeom>
          <a:solidFill>
            <a:srgbClr val="3A42CE"/>
          </a:solidFill>
          <a:ln/>
        </p:spPr>
      </p:sp>
      <p:sp>
        <p:nvSpPr>
          <p:cNvPr id="29" name="Shape 27"/>
          <p:cNvSpPr/>
          <p:nvPr/>
        </p:nvSpPr>
        <p:spPr>
          <a:xfrm>
            <a:off x="0" y="2893219"/>
            <a:ext cx="320040" cy="116300"/>
          </a:xfrm>
          <a:prstGeom prst="rect">
            <a:avLst/>
          </a:prstGeom>
          <a:solidFill>
            <a:srgbClr val="3943CE"/>
          </a:solidFill>
          <a:ln/>
        </p:spPr>
      </p:sp>
      <p:sp>
        <p:nvSpPr>
          <p:cNvPr id="30" name="Shape 28"/>
          <p:cNvSpPr/>
          <p:nvPr/>
        </p:nvSpPr>
        <p:spPr>
          <a:xfrm>
            <a:off x="0" y="3000375"/>
            <a:ext cx="320040" cy="116300"/>
          </a:xfrm>
          <a:prstGeom prst="rect">
            <a:avLst/>
          </a:prstGeom>
          <a:solidFill>
            <a:srgbClr val="3844CE"/>
          </a:solidFill>
          <a:ln/>
        </p:spPr>
      </p:sp>
      <p:sp>
        <p:nvSpPr>
          <p:cNvPr id="31" name="Shape 29"/>
          <p:cNvSpPr/>
          <p:nvPr/>
        </p:nvSpPr>
        <p:spPr>
          <a:xfrm>
            <a:off x="0" y="3107531"/>
            <a:ext cx="320040" cy="116300"/>
          </a:xfrm>
          <a:prstGeom prst="rect">
            <a:avLst/>
          </a:prstGeom>
          <a:solidFill>
            <a:srgbClr val="3745CF"/>
          </a:solidFill>
          <a:ln/>
        </p:spPr>
      </p:sp>
      <p:sp>
        <p:nvSpPr>
          <p:cNvPr id="32" name="Shape 30"/>
          <p:cNvSpPr/>
          <p:nvPr/>
        </p:nvSpPr>
        <p:spPr>
          <a:xfrm>
            <a:off x="0" y="3214688"/>
            <a:ext cx="320040" cy="116300"/>
          </a:xfrm>
          <a:prstGeom prst="rect">
            <a:avLst/>
          </a:prstGeom>
          <a:solidFill>
            <a:srgbClr val="3646CF"/>
          </a:solidFill>
          <a:ln/>
        </p:spPr>
      </p:sp>
      <p:sp>
        <p:nvSpPr>
          <p:cNvPr id="33" name="Shape 31"/>
          <p:cNvSpPr/>
          <p:nvPr/>
        </p:nvSpPr>
        <p:spPr>
          <a:xfrm>
            <a:off x="0" y="3321844"/>
            <a:ext cx="320040" cy="116300"/>
          </a:xfrm>
          <a:prstGeom prst="rect">
            <a:avLst/>
          </a:prstGeom>
          <a:solidFill>
            <a:srgbClr val="3547D0"/>
          </a:solidFill>
          <a:ln/>
        </p:spPr>
      </p:sp>
      <p:sp>
        <p:nvSpPr>
          <p:cNvPr id="34" name="Shape 32"/>
          <p:cNvSpPr/>
          <p:nvPr/>
        </p:nvSpPr>
        <p:spPr>
          <a:xfrm>
            <a:off x="0" y="3429000"/>
            <a:ext cx="320040" cy="116300"/>
          </a:xfrm>
          <a:prstGeom prst="rect">
            <a:avLst/>
          </a:prstGeom>
          <a:solidFill>
            <a:srgbClr val="3549D0"/>
          </a:solidFill>
          <a:ln/>
        </p:spPr>
      </p:sp>
      <p:sp>
        <p:nvSpPr>
          <p:cNvPr id="35" name="Shape 33"/>
          <p:cNvSpPr/>
          <p:nvPr/>
        </p:nvSpPr>
        <p:spPr>
          <a:xfrm>
            <a:off x="0" y="3536156"/>
            <a:ext cx="320040" cy="116300"/>
          </a:xfrm>
          <a:prstGeom prst="rect">
            <a:avLst/>
          </a:prstGeom>
          <a:solidFill>
            <a:srgbClr val="344ACF"/>
          </a:solidFill>
          <a:ln/>
        </p:spPr>
      </p:sp>
      <p:sp>
        <p:nvSpPr>
          <p:cNvPr id="36" name="Shape 34"/>
          <p:cNvSpPr/>
          <p:nvPr/>
        </p:nvSpPr>
        <p:spPr>
          <a:xfrm>
            <a:off x="0" y="3643313"/>
            <a:ext cx="320040" cy="116300"/>
          </a:xfrm>
          <a:prstGeom prst="rect">
            <a:avLst/>
          </a:prstGeom>
          <a:solidFill>
            <a:srgbClr val="334BCF"/>
          </a:solidFill>
          <a:ln/>
        </p:spPr>
      </p:sp>
      <p:sp>
        <p:nvSpPr>
          <p:cNvPr id="37" name="Shape 35"/>
          <p:cNvSpPr/>
          <p:nvPr/>
        </p:nvSpPr>
        <p:spPr>
          <a:xfrm>
            <a:off x="0" y="3750469"/>
            <a:ext cx="320040" cy="116300"/>
          </a:xfrm>
          <a:prstGeom prst="rect">
            <a:avLst/>
          </a:prstGeom>
          <a:solidFill>
            <a:srgbClr val="324CCE"/>
          </a:solidFill>
          <a:ln/>
        </p:spPr>
      </p:sp>
      <p:sp>
        <p:nvSpPr>
          <p:cNvPr id="38" name="Shape 36"/>
          <p:cNvSpPr/>
          <p:nvPr/>
        </p:nvSpPr>
        <p:spPr>
          <a:xfrm>
            <a:off x="0" y="3857625"/>
            <a:ext cx="320040" cy="116300"/>
          </a:xfrm>
          <a:prstGeom prst="rect">
            <a:avLst/>
          </a:prstGeom>
          <a:solidFill>
            <a:srgbClr val="314ECD"/>
          </a:solidFill>
          <a:ln/>
        </p:spPr>
      </p:sp>
      <p:sp>
        <p:nvSpPr>
          <p:cNvPr id="39" name="Shape 37"/>
          <p:cNvSpPr/>
          <p:nvPr/>
        </p:nvSpPr>
        <p:spPr>
          <a:xfrm>
            <a:off x="0" y="3964781"/>
            <a:ext cx="320040" cy="116300"/>
          </a:xfrm>
          <a:prstGeom prst="rect">
            <a:avLst/>
          </a:prstGeom>
          <a:solidFill>
            <a:srgbClr val="304FCD"/>
          </a:solidFill>
          <a:ln/>
        </p:spPr>
      </p:sp>
      <p:sp>
        <p:nvSpPr>
          <p:cNvPr id="40" name="Shape 38"/>
          <p:cNvSpPr/>
          <p:nvPr/>
        </p:nvSpPr>
        <p:spPr>
          <a:xfrm>
            <a:off x="0" y="4071938"/>
            <a:ext cx="320040" cy="116300"/>
          </a:xfrm>
          <a:prstGeom prst="rect">
            <a:avLst/>
          </a:prstGeom>
          <a:solidFill>
            <a:srgbClr val="2F50CC"/>
          </a:solidFill>
          <a:ln/>
        </p:spPr>
      </p:sp>
      <p:sp>
        <p:nvSpPr>
          <p:cNvPr id="41" name="Shape 39"/>
          <p:cNvSpPr/>
          <p:nvPr/>
        </p:nvSpPr>
        <p:spPr>
          <a:xfrm>
            <a:off x="0" y="4179094"/>
            <a:ext cx="320040" cy="116300"/>
          </a:xfrm>
          <a:prstGeom prst="rect">
            <a:avLst/>
          </a:prstGeom>
          <a:solidFill>
            <a:srgbClr val="2F51CC"/>
          </a:solidFill>
          <a:ln/>
        </p:spPr>
      </p:sp>
      <p:sp>
        <p:nvSpPr>
          <p:cNvPr id="42" name="Shape 40"/>
          <p:cNvSpPr/>
          <p:nvPr/>
        </p:nvSpPr>
        <p:spPr>
          <a:xfrm>
            <a:off x="0" y="4286250"/>
            <a:ext cx="320040" cy="116300"/>
          </a:xfrm>
          <a:prstGeom prst="rect">
            <a:avLst/>
          </a:prstGeom>
          <a:solidFill>
            <a:srgbClr val="2E53CB"/>
          </a:solidFill>
          <a:ln/>
        </p:spPr>
      </p:sp>
      <p:sp>
        <p:nvSpPr>
          <p:cNvPr id="43" name="Shape 41"/>
          <p:cNvSpPr/>
          <p:nvPr/>
        </p:nvSpPr>
        <p:spPr>
          <a:xfrm>
            <a:off x="0" y="4393406"/>
            <a:ext cx="320040" cy="116300"/>
          </a:xfrm>
          <a:prstGeom prst="rect">
            <a:avLst/>
          </a:prstGeom>
          <a:solidFill>
            <a:srgbClr val="2D54CB"/>
          </a:solidFill>
          <a:ln/>
        </p:spPr>
      </p:sp>
      <p:sp>
        <p:nvSpPr>
          <p:cNvPr id="44" name="Shape 42"/>
          <p:cNvSpPr/>
          <p:nvPr/>
        </p:nvSpPr>
        <p:spPr>
          <a:xfrm>
            <a:off x="0" y="4500563"/>
            <a:ext cx="320040" cy="116300"/>
          </a:xfrm>
          <a:prstGeom prst="rect">
            <a:avLst/>
          </a:prstGeom>
          <a:solidFill>
            <a:srgbClr val="2C55CA"/>
          </a:solidFill>
          <a:ln/>
        </p:spPr>
      </p:sp>
      <p:sp>
        <p:nvSpPr>
          <p:cNvPr id="45" name="Shape 43"/>
          <p:cNvSpPr/>
          <p:nvPr/>
        </p:nvSpPr>
        <p:spPr>
          <a:xfrm>
            <a:off x="0" y="4607719"/>
            <a:ext cx="320040" cy="116300"/>
          </a:xfrm>
          <a:prstGeom prst="rect">
            <a:avLst/>
          </a:prstGeom>
          <a:solidFill>
            <a:srgbClr val="2B56C9"/>
          </a:solidFill>
          <a:ln/>
        </p:spPr>
      </p:sp>
      <p:sp>
        <p:nvSpPr>
          <p:cNvPr id="46" name="Shape 44"/>
          <p:cNvSpPr/>
          <p:nvPr/>
        </p:nvSpPr>
        <p:spPr>
          <a:xfrm>
            <a:off x="0" y="4714875"/>
            <a:ext cx="320040" cy="116300"/>
          </a:xfrm>
          <a:prstGeom prst="rect">
            <a:avLst/>
          </a:prstGeom>
          <a:solidFill>
            <a:srgbClr val="2A57C9"/>
          </a:solidFill>
          <a:ln/>
        </p:spPr>
      </p:sp>
      <p:sp>
        <p:nvSpPr>
          <p:cNvPr id="47" name="Shape 45"/>
          <p:cNvSpPr/>
          <p:nvPr/>
        </p:nvSpPr>
        <p:spPr>
          <a:xfrm>
            <a:off x="0" y="4822031"/>
            <a:ext cx="320040" cy="116300"/>
          </a:xfrm>
          <a:prstGeom prst="rect">
            <a:avLst/>
          </a:prstGeom>
          <a:solidFill>
            <a:srgbClr val="2959C8"/>
          </a:solidFill>
          <a:ln/>
        </p:spPr>
      </p:sp>
      <p:sp>
        <p:nvSpPr>
          <p:cNvPr id="48" name="Shape 46"/>
          <p:cNvSpPr/>
          <p:nvPr/>
        </p:nvSpPr>
        <p:spPr>
          <a:xfrm>
            <a:off x="0" y="4929188"/>
            <a:ext cx="320040" cy="116300"/>
          </a:xfrm>
          <a:prstGeom prst="rect">
            <a:avLst/>
          </a:prstGeom>
          <a:solidFill>
            <a:srgbClr val="295AC8"/>
          </a:solidFill>
          <a:ln/>
        </p:spPr>
      </p:sp>
      <p:sp>
        <p:nvSpPr>
          <p:cNvPr id="49" name="Shape 47"/>
          <p:cNvSpPr/>
          <p:nvPr/>
        </p:nvSpPr>
        <p:spPr>
          <a:xfrm>
            <a:off x="0" y="5036344"/>
            <a:ext cx="320040" cy="116300"/>
          </a:xfrm>
          <a:prstGeom prst="rect">
            <a:avLst/>
          </a:prstGeom>
          <a:solidFill>
            <a:srgbClr val="285BC7"/>
          </a:solidFill>
          <a:ln/>
        </p:spPr>
      </p:sp>
      <p:sp>
        <p:nvSpPr>
          <p:cNvPr id="50" name="Shape 48"/>
          <p:cNvSpPr/>
          <p:nvPr/>
        </p:nvSpPr>
        <p:spPr>
          <a:xfrm>
            <a:off x="0" y="5143500"/>
            <a:ext cx="320040" cy="116300"/>
          </a:xfrm>
          <a:prstGeom prst="rect">
            <a:avLst/>
          </a:prstGeom>
          <a:solidFill>
            <a:srgbClr val="275CC7"/>
          </a:solidFill>
          <a:ln/>
        </p:spPr>
      </p:sp>
      <p:sp>
        <p:nvSpPr>
          <p:cNvPr id="51" name="Shape 49"/>
          <p:cNvSpPr/>
          <p:nvPr/>
        </p:nvSpPr>
        <p:spPr>
          <a:xfrm>
            <a:off x="0" y="5250656"/>
            <a:ext cx="320040" cy="116300"/>
          </a:xfrm>
          <a:prstGeom prst="rect">
            <a:avLst/>
          </a:prstGeom>
          <a:solidFill>
            <a:srgbClr val="265EC6"/>
          </a:solidFill>
          <a:ln/>
        </p:spPr>
      </p:sp>
      <p:sp>
        <p:nvSpPr>
          <p:cNvPr id="52" name="Shape 50"/>
          <p:cNvSpPr/>
          <p:nvPr/>
        </p:nvSpPr>
        <p:spPr>
          <a:xfrm>
            <a:off x="0" y="5357813"/>
            <a:ext cx="320040" cy="116300"/>
          </a:xfrm>
          <a:prstGeom prst="rect">
            <a:avLst/>
          </a:prstGeom>
          <a:solidFill>
            <a:srgbClr val="255FC5"/>
          </a:solidFill>
          <a:ln/>
        </p:spPr>
      </p:sp>
      <p:sp>
        <p:nvSpPr>
          <p:cNvPr id="53" name="Shape 51"/>
          <p:cNvSpPr/>
          <p:nvPr/>
        </p:nvSpPr>
        <p:spPr>
          <a:xfrm>
            <a:off x="0" y="5464969"/>
            <a:ext cx="320040" cy="116300"/>
          </a:xfrm>
          <a:prstGeom prst="rect">
            <a:avLst/>
          </a:prstGeom>
          <a:solidFill>
            <a:srgbClr val="2460C5"/>
          </a:solidFill>
          <a:ln/>
        </p:spPr>
      </p:sp>
      <p:sp>
        <p:nvSpPr>
          <p:cNvPr id="54" name="Shape 52"/>
          <p:cNvSpPr/>
          <p:nvPr/>
        </p:nvSpPr>
        <p:spPr>
          <a:xfrm>
            <a:off x="0" y="5572125"/>
            <a:ext cx="320040" cy="116300"/>
          </a:xfrm>
          <a:prstGeom prst="rect">
            <a:avLst/>
          </a:prstGeom>
          <a:solidFill>
            <a:srgbClr val="2361C4"/>
          </a:solidFill>
          <a:ln/>
        </p:spPr>
      </p:sp>
      <p:sp>
        <p:nvSpPr>
          <p:cNvPr id="55" name="Shape 53"/>
          <p:cNvSpPr/>
          <p:nvPr/>
        </p:nvSpPr>
        <p:spPr>
          <a:xfrm>
            <a:off x="0" y="5679281"/>
            <a:ext cx="320040" cy="116300"/>
          </a:xfrm>
          <a:prstGeom prst="rect">
            <a:avLst/>
          </a:prstGeom>
          <a:solidFill>
            <a:srgbClr val="2363C4"/>
          </a:solidFill>
          <a:ln/>
        </p:spPr>
      </p:sp>
      <p:sp>
        <p:nvSpPr>
          <p:cNvPr id="56" name="Shape 54"/>
          <p:cNvSpPr/>
          <p:nvPr/>
        </p:nvSpPr>
        <p:spPr>
          <a:xfrm>
            <a:off x="0" y="5786438"/>
            <a:ext cx="320040" cy="116300"/>
          </a:xfrm>
          <a:prstGeom prst="rect">
            <a:avLst/>
          </a:prstGeom>
          <a:solidFill>
            <a:srgbClr val="2264C3"/>
          </a:solidFill>
          <a:ln/>
        </p:spPr>
      </p:sp>
      <p:sp>
        <p:nvSpPr>
          <p:cNvPr id="57" name="Shape 55"/>
          <p:cNvSpPr/>
          <p:nvPr/>
        </p:nvSpPr>
        <p:spPr>
          <a:xfrm>
            <a:off x="0" y="5893594"/>
            <a:ext cx="320040" cy="116300"/>
          </a:xfrm>
          <a:prstGeom prst="rect">
            <a:avLst/>
          </a:prstGeom>
          <a:solidFill>
            <a:srgbClr val="2165C3"/>
          </a:solidFill>
          <a:ln/>
        </p:spPr>
      </p:sp>
      <p:sp>
        <p:nvSpPr>
          <p:cNvPr id="58" name="Shape 56"/>
          <p:cNvSpPr/>
          <p:nvPr/>
        </p:nvSpPr>
        <p:spPr>
          <a:xfrm>
            <a:off x="0" y="6000750"/>
            <a:ext cx="320040" cy="116300"/>
          </a:xfrm>
          <a:prstGeom prst="rect">
            <a:avLst/>
          </a:prstGeom>
          <a:solidFill>
            <a:srgbClr val="2066C2"/>
          </a:solidFill>
          <a:ln/>
        </p:spPr>
      </p:sp>
      <p:sp>
        <p:nvSpPr>
          <p:cNvPr id="59" name="Shape 57"/>
          <p:cNvSpPr/>
          <p:nvPr/>
        </p:nvSpPr>
        <p:spPr>
          <a:xfrm>
            <a:off x="0" y="6107906"/>
            <a:ext cx="320040" cy="116300"/>
          </a:xfrm>
          <a:prstGeom prst="rect">
            <a:avLst/>
          </a:prstGeom>
          <a:solidFill>
            <a:srgbClr val="1F68C1"/>
          </a:solidFill>
          <a:ln/>
        </p:spPr>
      </p:sp>
      <p:sp>
        <p:nvSpPr>
          <p:cNvPr id="60" name="Shape 58"/>
          <p:cNvSpPr/>
          <p:nvPr/>
        </p:nvSpPr>
        <p:spPr>
          <a:xfrm>
            <a:off x="0" y="6215063"/>
            <a:ext cx="320040" cy="116300"/>
          </a:xfrm>
          <a:prstGeom prst="rect">
            <a:avLst/>
          </a:prstGeom>
          <a:solidFill>
            <a:srgbClr val="1E69C1"/>
          </a:solidFill>
          <a:ln/>
        </p:spPr>
      </p:sp>
      <p:sp>
        <p:nvSpPr>
          <p:cNvPr id="61" name="Shape 59"/>
          <p:cNvSpPr/>
          <p:nvPr/>
        </p:nvSpPr>
        <p:spPr>
          <a:xfrm>
            <a:off x="0" y="6322219"/>
            <a:ext cx="320040" cy="116300"/>
          </a:xfrm>
          <a:prstGeom prst="rect">
            <a:avLst/>
          </a:prstGeom>
          <a:solidFill>
            <a:srgbClr val="1D6AC0"/>
          </a:solidFill>
          <a:ln/>
        </p:spPr>
      </p:sp>
      <p:sp>
        <p:nvSpPr>
          <p:cNvPr id="62" name="Shape 60"/>
          <p:cNvSpPr/>
          <p:nvPr/>
        </p:nvSpPr>
        <p:spPr>
          <a:xfrm>
            <a:off x="0" y="6429375"/>
            <a:ext cx="320040" cy="116300"/>
          </a:xfrm>
          <a:prstGeom prst="rect">
            <a:avLst/>
          </a:prstGeom>
          <a:solidFill>
            <a:srgbClr val="1D6BC0"/>
          </a:solidFill>
          <a:ln/>
        </p:spPr>
      </p:sp>
      <p:sp>
        <p:nvSpPr>
          <p:cNvPr id="63" name="Shape 61"/>
          <p:cNvSpPr/>
          <p:nvPr/>
        </p:nvSpPr>
        <p:spPr>
          <a:xfrm>
            <a:off x="0" y="6536531"/>
            <a:ext cx="320040" cy="116300"/>
          </a:xfrm>
          <a:prstGeom prst="rect">
            <a:avLst/>
          </a:prstGeom>
          <a:solidFill>
            <a:srgbClr val="1C6DBF"/>
          </a:solidFill>
          <a:ln/>
        </p:spPr>
      </p:sp>
      <p:sp>
        <p:nvSpPr>
          <p:cNvPr id="64" name="Shape 62"/>
          <p:cNvSpPr/>
          <p:nvPr/>
        </p:nvSpPr>
        <p:spPr>
          <a:xfrm>
            <a:off x="0" y="6643688"/>
            <a:ext cx="320040" cy="116300"/>
          </a:xfrm>
          <a:prstGeom prst="rect">
            <a:avLst/>
          </a:prstGeom>
          <a:solidFill>
            <a:srgbClr val="1B6EBF"/>
          </a:solidFill>
          <a:ln/>
        </p:spPr>
      </p:sp>
      <p:sp>
        <p:nvSpPr>
          <p:cNvPr id="65" name="Shape 63"/>
          <p:cNvSpPr/>
          <p:nvPr/>
        </p:nvSpPr>
        <p:spPr>
          <a:xfrm>
            <a:off x="0" y="6750844"/>
            <a:ext cx="320040" cy="116300"/>
          </a:xfrm>
          <a:prstGeom prst="rect">
            <a:avLst/>
          </a:prstGeom>
          <a:solidFill>
            <a:srgbClr val="1A6FBE"/>
          </a:solidFill>
          <a:ln/>
        </p:spPr>
      </p:sp>
      <p:sp>
        <p:nvSpPr>
          <p:cNvPr id="66" name="Text 64"/>
          <p:cNvSpPr/>
          <p:nvPr/>
        </p:nvSpPr>
        <p:spPr>
          <a:xfrm>
            <a:off x="73152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ROADMAP DISCIPLINE</a:t>
            </a:r>
            <a:endParaRPr lang="en-US" sz="1100" dirty="0"/>
          </a:p>
        </p:txBody>
      </p:sp>
      <p:sp>
        <p:nvSpPr>
          <p:cNvPr id="67" name="Text 65"/>
          <p:cNvSpPr/>
          <p:nvPr/>
        </p:nvSpPr>
        <p:spPr>
          <a:xfrm>
            <a:off x="548640" y="1554480"/>
            <a:ext cx="11094415" cy="3200400"/>
          </a:xfrm>
          <a:prstGeom prst="rect">
            <a:avLst/>
          </a:prstGeom>
          <a:noFill/>
          <a:ln/>
        </p:spPr>
        <p:txBody>
          <a:bodyPr wrap="square" lIns="0" tIns="0" rIns="0" bIns="0" rtlCol="0" anchor="ctr"/>
          <a:lstStyle/>
          <a:p>
            <a:pPr algn="l" indent="0" marL="0">
              <a:buNone/>
            </a:pPr>
            <a:r>
              <a:rPr lang="en-US" sz="22000" b="1" spc="-600" kern="0" dirty="0">
                <a:solidFill>
                  <a:srgbClr val="5028C2"/>
                </a:solidFill>
                <a:latin typeface="Calibri" pitchFamily="34" charset="0"/>
                <a:ea typeface="Calibri" pitchFamily="34" charset="-122"/>
                <a:cs typeface="Calibri" pitchFamily="34" charset="-120"/>
              </a:rPr>
              <a:t>$10K</a:t>
            </a:r>
            <a:endParaRPr lang="en-US" sz="22000" dirty="0"/>
          </a:p>
        </p:txBody>
      </p:sp>
      <p:sp>
        <p:nvSpPr>
          <p:cNvPr id="68" name="Text 66"/>
          <p:cNvSpPr/>
          <p:nvPr/>
        </p:nvSpPr>
        <p:spPr>
          <a:xfrm>
            <a:off x="548640" y="4983480"/>
            <a:ext cx="11094415" cy="457200"/>
          </a:xfrm>
          <a:prstGeom prst="rect">
            <a:avLst/>
          </a:prstGeom>
          <a:noFill/>
          <a:ln/>
        </p:spPr>
        <p:txBody>
          <a:bodyPr wrap="square" lIns="0" tIns="0" rIns="0" bIns="0" rtlCol="0" anchor="t"/>
          <a:lstStyle/>
          <a:p>
            <a:pPr algn="l" indent="0" marL="0">
              <a:buNone/>
            </a:pPr>
            <a:r>
              <a:rPr lang="en-US" sz="2200" b="1" dirty="0">
                <a:solidFill>
                  <a:srgbClr val="0F1733"/>
                </a:solidFill>
                <a:latin typeface="Calibri" pitchFamily="34" charset="0"/>
                <a:ea typeface="Calibri" pitchFamily="34" charset="-122"/>
                <a:cs typeface="Calibri" pitchFamily="34" charset="-120"/>
              </a:rPr>
              <a:t>MRR gate before we build the team layer.</a:t>
            </a:r>
            <a:endParaRPr lang="en-US" sz="2200" dirty="0"/>
          </a:p>
        </p:txBody>
      </p:sp>
      <p:sp>
        <p:nvSpPr>
          <p:cNvPr id="69" name="Text 67"/>
          <p:cNvSpPr/>
          <p:nvPr/>
        </p:nvSpPr>
        <p:spPr>
          <a:xfrm>
            <a:off x="548640" y="5486400"/>
            <a:ext cx="10637215" cy="640080"/>
          </a:xfrm>
          <a:prstGeom prst="rect">
            <a:avLst/>
          </a:prstGeom>
          <a:noFill/>
          <a:ln/>
        </p:spPr>
        <p:txBody>
          <a:bodyPr wrap="square" lIns="0" tIns="0" rIns="0" bIns="0" rtlCol="0" anchor="t"/>
          <a:lstStyle/>
          <a:p>
            <a:pPr algn="l" indent="0" marL="0">
              <a:buNone/>
            </a:pPr>
            <a:r>
              <a:rPr lang="en-US" sz="1300" dirty="0">
                <a:solidFill>
                  <a:srgbClr val="2A3358"/>
                </a:solidFill>
                <a:latin typeface="Calibri" pitchFamily="34" charset="0"/>
                <a:ea typeface="Calibri" pitchFamily="34" charset="-122"/>
                <a:cs typeface="Calibri" pitchFamily="34" charset="-120"/>
              </a:rPr>
              <a:t>We don't ship enterprise features before we have enterprise demand. Every milestone is locked to a revenue threshold so we avoid the build-for-no-one trap that kills most early-stage SaaS roadmaps.</a:t>
            </a:r>
            <a:endParaRPr lang="en-US" sz="13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16 · Roadmap preview  ·  vD</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109 / 126</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1ECFF"/>
        </a:solidFill>
      </p:bgPr>
    </p:bg>
    <p:spTree>
      <p:nvGrpSpPr>
        <p:cNvPr id="1" name=""/>
        <p:cNvGrpSpPr/>
        <p:nvPr/>
      </p:nvGrpSpPr>
      <p:grpSpPr>
        <a:xfrm>
          <a:off x="0" y="0"/>
          <a:ext cx="0" cy="0"/>
          <a:chOff x="0" y="0"/>
          <a:chExt cx="0" cy="0"/>
        </a:xfrm>
      </p:grpSpPr>
      <p:sp>
        <p:nvSpPr>
          <p:cNvPr id="2" name="Text 0"/>
          <p:cNvSpPr/>
          <p:nvPr/>
        </p:nvSpPr>
        <p:spPr>
          <a:xfrm>
            <a:off x="457200" y="365760"/>
            <a:ext cx="2286000" cy="2286000"/>
          </a:xfrm>
          <a:prstGeom prst="rect">
            <a:avLst/>
          </a:prstGeom>
          <a:noFill/>
          <a:ln/>
        </p:spPr>
        <p:txBody>
          <a:bodyPr wrap="square" lIns="0" tIns="0" rIns="0" bIns="0" rtlCol="0" anchor="t"/>
          <a:lstStyle/>
          <a:p>
            <a:pPr algn="l" indent="0" marL="0">
              <a:buNone/>
            </a:pPr>
            <a:r>
              <a:rPr lang="en-US" sz="24000" b="1" dirty="0">
                <a:solidFill>
                  <a:srgbClr val="5028C2"/>
                </a:solidFill>
                <a:latin typeface="Georgia" pitchFamily="34" charset="0"/>
                <a:ea typeface="Georgia" pitchFamily="34" charset="-122"/>
                <a:cs typeface="Georgia" pitchFamily="34" charset="-120"/>
              </a:rPr>
              <a:t>"</a:t>
            </a:r>
            <a:endParaRPr lang="en-US" sz="24000" dirty="0"/>
          </a:p>
        </p:txBody>
      </p:sp>
      <p:sp>
        <p:nvSpPr>
          <p:cNvPr id="3" name="Text 1"/>
          <p:cNvSpPr/>
          <p:nvPr/>
        </p:nvSpPr>
        <p:spPr>
          <a:xfrm>
            <a:off x="1920240" y="1737360"/>
            <a:ext cx="9722815" cy="3108960"/>
          </a:xfrm>
          <a:prstGeom prst="rect">
            <a:avLst/>
          </a:prstGeom>
          <a:noFill/>
          <a:ln/>
        </p:spPr>
        <p:txBody>
          <a:bodyPr wrap="square" lIns="0" tIns="0" rIns="0" bIns="0" rtlCol="0" anchor="t"/>
          <a:lstStyle/>
          <a:p>
            <a:pPr algn="l" indent="0" marL="0">
              <a:buNone/>
            </a:pPr>
            <a:r>
              <a:rPr lang="en-US" sz="3000" i="1" dirty="0">
                <a:solidFill>
                  <a:srgbClr val="0F1733"/>
                </a:solidFill>
                <a:latin typeface="Georgia" pitchFamily="34" charset="0"/>
                <a:ea typeface="Georgia" pitchFamily="34" charset="-122"/>
                <a:cs typeface="Georgia" pitchFamily="34" charset="-120"/>
              </a:rPr>
              <a:t>A roadmap is a hypothesis. Every line item we ship has to come from a customer who already paid us to wait for it.</a:t>
            </a:r>
            <a:endParaRPr lang="en-US" sz="3000" dirty="0"/>
          </a:p>
        </p:txBody>
      </p:sp>
      <p:sp>
        <p:nvSpPr>
          <p:cNvPr id="4" name="Shape 2"/>
          <p:cNvSpPr/>
          <p:nvPr/>
        </p:nvSpPr>
        <p:spPr>
          <a:xfrm>
            <a:off x="1920240" y="5120640"/>
            <a:ext cx="640080" cy="0"/>
          </a:xfrm>
          <a:prstGeom prst="line">
            <a:avLst/>
          </a:prstGeom>
          <a:noFill/>
          <a:ln w="25400">
            <a:solidFill>
              <a:srgbClr val="5028C2"/>
            </a:solidFill>
            <a:prstDash val="solid"/>
          </a:ln>
        </p:spPr>
      </p:sp>
      <p:sp>
        <p:nvSpPr>
          <p:cNvPr id="5" name="Text 3"/>
          <p:cNvSpPr/>
          <p:nvPr/>
        </p:nvSpPr>
        <p:spPr>
          <a:xfrm>
            <a:off x="1920240" y="5212080"/>
            <a:ext cx="9722815" cy="457200"/>
          </a:xfrm>
          <a:prstGeom prst="rect">
            <a:avLst/>
          </a:prstGeom>
          <a:noFill/>
          <a:ln/>
        </p:spPr>
        <p:txBody>
          <a:bodyPr wrap="square" lIns="0" tIns="0" rIns="0" bIns="0" rtlCol="0" anchor="t"/>
          <a:lstStyle/>
          <a:p>
            <a:pPr algn="l" indent="0" marL="0">
              <a:buNone/>
            </a:pPr>
            <a:r>
              <a:rPr lang="en-US" sz="1400" b="1" spc="100" kern="0" dirty="0">
                <a:solidFill>
                  <a:srgbClr val="3D1E96"/>
                </a:solidFill>
                <a:latin typeface="Calibri" pitchFamily="34" charset="0"/>
                <a:ea typeface="Calibri" pitchFamily="34" charset="-122"/>
                <a:cs typeface="Calibri" pitchFamily="34" charset="-120"/>
              </a:rPr>
              <a:t>Dylan Meehan</a:t>
            </a:r>
            <a:endParaRPr lang="en-US" sz="1400" dirty="0"/>
          </a:p>
        </p:txBody>
      </p:sp>
      <p:sp>
        <p:nvSpPr>
          <p:cNvPr id="6" name="Text 4"/>
          <p:cNvSpPr/>
          <p:nvPr/>
        </p:nvSpPr>
        <p:spPr>
          <a:xfrm>
            <a:off x="1920240" y="5532120"/>
            <a:ext cx="9722815" cy="365760"/>
          </a:xfrm>
          <a:prstGeom prst="rect">
            <a:avLst/>
          </a:prstGeom>
          <a:noFill/>
          <a:ln/>
        </p:spPr>
        <p:txBody>
          <a:bodyPr wrap="square" lIns="0" tIns="0" rIns="0" bIns="0" rtlCol="0" anchor="t"/>
          <a:lstStyle/>
          <a:p>
            <a:pPr algn="l" indent="0" marL="0">
              <a:buNone/>
            </a:pPr>
            <a:r>
              <a:rPr lang="en-US" sz="1200" dirty="0">
                <a:solidFill>
                  <a:srgbClr val="6B7493"/>
                </a:solidFill>
                <a:latin typeface="Calibri" pitchFamily="34" charset="0"/>
                <a:ea typeface="Calibri" pitchFamily="34" charset="-122"/>
                <a:cs typeface="Calibri" pitchFamily="34" charset="-120"/>
              </a:rPr>
              <a:t>On disciplined product sequencing</a:t>
            </a:r>
            <a:endParaRPr lang="en-US" sz="1200" dirty="0"/>
          </a:p>
        </p:txBody>
      </p:sp>
      <p:sp>
        <p:nvSpPr>
          <p:cNvPr id="7" name="Shape 5"/>
          <p:cNvSpPr/>
          <p:nvPr/>
        </p:nvSpPr>
        <p:spPr>
          <a:xfrm>
            <a:off x="548640" y="502920"/>
            <a:ext cx="292608" cy="292608"/>
          </a:xfrm>
          <a:prstGeom prst="roundRect">
            <a:avLst>
              <a:gd name="adj" fmla="val 25000"/>
            </a:avLst>
          </a:prstGeom>
          <a:solidFill>
            <a:srgbClr val="5028C2"/>
          </a:solidFill>
          <a:ln/>
        </p:spPr>
      </p:sp>
      <p:sp>
        <p:nvSpPr>
          <p:cNvPr id="8" name="Shape 6"/>
          <p:cNvSpPr/>
          <p:nvPr/>
        </p:nvSpPr>
        <p:spPr>
          <a:xfrm>
            <a:off x="548640" y="502920"/>
            <a:ext cx="292608" cy="292608"/>
          </a:xfrm>
          <a:prstGeom prst="roundRect">
            <a:avLst>
              <a:gd name="adj" fmla="val 25000"/>
            </a:avLst>
          </a:prstGeom>
          <a:solidFill>
            <a:srgbClr val="1A6FBE">
              <a:alpha val="50000"/>
            </a:srgbClr>
          </a:solidFill>
          <a:ln/>
        </p:spPr>
      </p:sp>
      <p:sp>
        <p:nvSpPr>
          <p:cNvPr id="9" name="Text 7"/>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0" name="Text 8"/>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1" name="Text 9"/>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16 · Roadmap preview  ·  vE</a:t>
            </a:r>
            <a:endParaRPr lang="en-US" sz="900" dirty="0"/>
          </a:p>
        </p:txBody>
      </p:sp>
      <p:sp>
        <p:nvSpPr>
          <p:cNvPr id="12" name="Text 10"/>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3" name="Text 11"/>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110 / 126</a:t>
            </a:r>
            <a:endParaRPr lang="en-US" sz="9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a:off x="3047924" y="0"/>
            <a:ext cx="9143771" cy="6858000"/>
          </a:xfrm>
          <a:prstGeom prst="rtTriangle">
            <a:avLst/>
          </a:prstGeom>
          <a:solidFill>
            <a:srgbClr val="5028C2"/>
          </a:solidFill>
          <a:ln/>
        </p:spPr>
      </p:sp>
      <p:sp>
        <p:nvSpPr>
          <p:cNvPr id="3" name="Shape 1"/>
          <p:cNvSpPr/>
          <p:nvPr/>
        </p:nvSpPr>
        <p:spPr>
          <a:xfrm flipH="1">
            <a:off x="4876678" y="1028700"/>
            <a:ext cx="7924602" cy="6515100"/>
          </a:xfrm>
          <a:prstGeom prst="rtTriangle">
            <a:avLst/>
          </a:prstGeom>
          <a:solidFill>
            <a:srgbClr val="1A6FBE">
              <a:alpha val="75000"/>
            </a:srgbClr>
          </a:solidFill>
          <a:ln/>
        </p:spPr>
      </p:sp>
      <p:sp>
        <p:nvSpPr>
          <p:cNvPr id="4" name="Text 2"/>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WHAT'S NEXT</a:t>
            </a:r>
            <a:endParaRPr lang="en-US" sz="1100" dirty="0"/>
          </a:p>
        </p:txBody>
      </p:sp>
      <p:sp>
        <p:nvSpPr>
          <p:cNvPr id="5" name="Text 3"/>
          <p:cNvSpPr/>
          <p:nvPr/>
        </p:nvSpPr>
        <p:spPr>
          <a:xfrm>
            <a:off x="548640" y="1417320"/>
            <a:ext cx="6095848" cy="2286000"/>
          </a:xfrm>
          <a:prstGeom prst="rect">
            <a:avLst/>
          </a:prstGeom>
          <a:noFill/>
          <a:ln/>
        </p:spPr>
        <p:txBody>
          <a:bodyPr wrap="square" lIns="0" tIns="0" rIns="0" bIns="0" rtlCol="0" anchor="t"/>
          <a:lstStyle/>
          <a:p>
            <a:pPr algn="l" indent="0" marL="0">
              <a:buNone/>
            </a:pPr>
            <a:r>
              <a:rPr lang="en-US" sz="4000" b="1" spc="-50" kern="0" dirty="0">
                <a:solidFill>
                  <a:srgbClr val="0F1733"/>
                </a:solidFill>
                <a:latin typeface="Calibri" pitchFamily="34" charset="0"/>
                <a:ea typeface="Calibri" pitchFamily="34" charset="-122"/>
                <a:cs typeface="Calibri" pitchFamily="34" charset="-120"/>
              </a:rPr>
              <a:t>Customer-pulled. Revenue-gated. Honestly small.</a:t>
            </a:r>
            <a:endParaRPr lang="en-US" sz="4000" dirty="0"/>
          </a:p>
        </p:txBody>
      </p:sp>
      <p:sp>
        <p:nvSpPr>
          <p:cNvPr id="6" name="Text 4"/>
          <p:cNvSpPr/>
          <p:nvPr/>
        </p:nvSpPr>
        <p:spPr>
          <a:xfrm>
            <a:off x="548640" y="3840480"/>
            <a:ext cx="5821528" cy="2103120"/>
          </a:xfrm>
          <a:prstGeom prst="rect">
            <a:avLst/>
          </a:prstGeom>
          <a:noFill/>
          <a:ln/>
        </p:spPr>
        <p:txBody>
          <a:bodyPr wrap="square" lIns="0" tIns="0" rIns="0" bIns="0" rtlCol="0" anchor="t"/>
          <a:lstStyle/>
          <a:p>
            <a:pPr algn="l" indent="0" marL="0">
              <a:spcAft>
                <a:spcPts val="600"/>
              </a:spcAft>
              <a:buNone/>
            </a:pPr>
            <a:r>
              <a:rPr lang="en-US" sz="1400" dirty="0">
                <a:solidFill>
                  <a:srgbClr val="2A3358"/>
                </a:solidFill>
                <a:latin typeface="Calibri" pitchFamily="34" charset="0"/>
                <a:ea typeface="Calibri" pitchFamily="34" charset="-122"/>
                <a:cs typeface="Calibri" pitchFamily="34" charset="-120"/>
              </a:rPr>
              <a:t>We don't promise twelve features per quarter. We promise three milestones, each tied to a specific revenue threshold, each driven by customer pull rather than competitive copy-paste. Honest roadmaps compound.</a:t>
            </a:r>
            <a:endParaRPr lang="en-US" sz="1400" dirty="0"/>
          </a:p>
        </p:txBody>
      </p:sp>
      <p:sp>
        <p:nvSpPr>
          <p:cNvPr id="7" name="Text 5"/>
          <p:cNvSpPr/>
          <p:nvPr/>
        </p:nvSpPr>
        <p:spPr>
          <a:xfrm>
            <a:off x="6705432" y="2926080"/>
            <a:ext cx="4876678" cy="3291840"/>
          </a:xfrm>
          <a:prstGeom prst="rect">
            <a:avLst/>
          </a:prstGeom>
          <a:noFill/>
          <a:ln/>
        </p:spPr>
        <p:txBody>
          <a:bodyPr wrap="square" lIns="0" tIns="0" rIns="0" bIns="0" rtlCol="0" anchor="ctr"/>
          <a:lstStyle/>
          <a:p>
            <a:pPr algn="r" indent="0" marL="0">
              <a:buNone/>
            </a:pPr>
            <a:r>
              <a:rPr lang="en-US" sz="3200" b="1" spc="-50" kern="0" dirty="0">
                <a:solidFill>
                  <a:srgbClr val="FFFFFF"/>
                </a:solidFill>
                <a:latin typeface="Calibri" pitchFamily="34" charset="0"/>
                <a:ea typeface="Calibri" pitchFamily="34" charset="-122"/>
                <a:cs typeface="Calibri" pitchFamily="34" charset="-120"/>
              </a:rPr>
              <a:t>Three</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milestones.</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No fluff.</a:t>
            </a:r>
            <a:endParaRPr lang="en-US" sz="3200" dirty="0"/>
          </a:p>
        </p:txBody>
      </p:sp>
      <p:sp>
        <p:nvSpPr>
          <p:cNvPr id="8" name="Shape 6"/>
          <p:cNvSpPr/>
          <p:nvPr/>
        </p:nvSpPr>
        <p:spPr>
          <a:xfrm>
            <a:off x="548640" y="502920"/>
            <a:ext cx="292608" cy="292608"/>
          </a:xfrm>
          <a:prstGeom prst="roundRect">
            <a:avLst>
              <a:gd name="adj" fmla="val 25000"/>
            </a:avLst>
          </a:prstGeom>
          <a:solidFill>
            <a:srgbClr val="5028C2"/>
          </a:solidFill>
          <a:ln/>
        </p:spPr>
      </p:sp>
      <p:sp>
        <p:nvSpPr>
          <p:cNvPr id="9" name="Shape 7"/>
          <p:cNvSpPr/>
          <p:nvPr/>
        </p:nvSpPr>
        <p:spPr>
          <a:xfrm>
            <a:off x="548640" y="502920"/>
            <a:ext cx="292608" cy="292608"/>
          </a:xfrm>
          <a:prstGeom prst="roundRect">
            <a:avLst>
              <a:gd name="adj" fmla="val 25000"/>
            </a:avLst>
          </a:prstGeom>
          <a:solidFill>
            <a:srgbClr val="1A6FBE">
              <a:alpha val="50000"/>
            </a:srgbClr>
          </a:solidFill>
          <a:ln/>
        </p:spPr>
      </p:sp>
      <p:sp>
        <p:nvSpPr>
          <p:cNvPr id="10" name="Text 8"/>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1" name="Text 9"/>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2" name="Text 10"/>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16 · Roadmap preview  ·  vF</a:t>
            </a:r>
            <a:endParaRPr lang="en-US" sz="900" dirty="0"/>
          </a:p>
        </p:txBody>
      </p:sp>
      <p:sp>
        <p:nvSpPr>
          <p:cNvPr id="13" name="Text 11"/>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4" name="Text 12"/>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111 / 126</a:t>
            </a:r>
            <a:endParaRPr lang="en-US"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CFAF6"/>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ROADMAP</a:t>
            </a:r>
            <a:endParaRPr lang="en-US" sz="1100" dirty="0"/>
          </a:p>
        </p:txBody>
      </p:sp>
      <p:sp>
        <p:nvSpPr>
          <p:cNvPr id="3" name="Text 1"/>
          <p:cNvSpPr/>
          <p:nvPr/>
        </p:nvSpPr>
        <p:spPr>
          <a:xfrm>
            <a:off x="548640" y="1417320"/>
            <a:ext cx="11094415" cy="914400"/>
          </a:xfrm>
          <a:prstGeom prst="rect">
            <a:avLst/>
          </a:prstGeom>
          <a:noFill/>
          <a:ln/>
        </p:spPr>
        <p:txBody>
          <a:bodyPr wrap="square" lIns="0" tIns="0" rIns="0" bIns="0" rtlCol="0" anchor="t"/>
          <a:lstStyle/>
          <a:p>
            <a:pPr algn="l" indent="0" marL="0">
              <a:buNone/>
            </a:pPr>
            <a:r>
              <a:rPr lang="en-US" sz="3400" b="1" spc="-50" kern="0" dirty="0">
                <a:solidFill>
                  <a:srgbClr val="0F1733"/>
                </a:solidFill>
                <a:latin typeface="Calibri" pitchFamily="34" charset="0"/>
                <a:ea typeface="Calibri" pitchFamily="34" charset="-122"/>
                <a:cs typeface="Calibri" pitchFamily="34" charset="-120"/>
              </a:rPr>
              <a:t>Three honest phases. All customer-driven.</a:t>
            </a:r>
            <a:endParaRPr lang="en-US" sz="3400" dirty="0"/>
          </a:p>
        </p:txBody>
      </p:sp>
      <p:sp>
        <p:nvSpPr>
          <p:cNvPr id="4" name="Shape 2"/>
          <p:cNvSpPr/>
          <p:nvPr/>
        </p:nvSpPr>
        <p:spPr>
          <a:xfrm>
            <a:off x="548640" y="2514600"/>
            <a:ext cx="5464912" cy="67008"/>
          </a:xfrm>
          <a:prstGeom prst="rect">
            <a:avLst/>
          </a:prstGeom>
          <a:solidFill>
            <a:srgbClr val="5028C2"/>
          </a:solidFill>
          <a:ln/>
        </p:spPr>
      </p:sp>
      <p:sp>
        <p:nvSpPr>
          <p:cNvPr id="5" name="Shape 3"/>
          <p:cNvSpPr/>
          <p:nvPr/>
        </p:nvSpPr>
        <p:spPr>
          <a:xfrm>
            <a:off x="548640" y="2572464"/>
            <a:ext cx="5464912" cy="67008"/>
          </a:xfrm>
          <a:prstGeom prst="rect">
            <a:avLst/>
          </a:prstGeom>
          <a:solidFill>
            <a:srgbClr val="4F29C2"/>
          </a:solidFill>
          <a:ln/>
        </p:spPr>
      </p:sp>
      <p:sp>
        <p:nvSpPr>
          <p:cNvPr id="6" name="Shape 4"/>
          <p:cNvSpPr/>
          <p:nvPr/>
        </p:nvSpPr>
        <p:spPr>
          <a:xfrm>
            <a:off x="548640" y="2630329"/>
            <a:ext cx="5464912" cy="67008"/>
          </a:xfrm>
          <a:prstGeom prst="rect">
            <a:avLst/>
          </a:prstGeom>
          <a:solidFill>
            <a:srgbClr val="4E2AC3"/>
          </a:solidFill>
          <a:ln/>
        </p:spPr>
      </p:sp>
      <p:sp>
        <p:nvSpPr>
          <p:cNvPr id="7" name="Shape 5"/>
          <p:cNvSpPr/>
          <p:nvPr/>
        </p:nvSpPr>
        <p:spPr>
          <a:xfrm>
            <a:off x="548640" y="2688193"/>
            <a:ext cx="5464912" cy="67008"/>
          </a:xfrm>
          <a:prstGeom prst="rect">
            <a:avLst/>
          </a:prstGeom>
          <a:solidFill>
            <a:srgbClr val="4D2BC3"/>
          </a:solidFill>
          <a:ln/>
        </p:spPr>
      </p:sp>
      <p:sp>
        <p:nvSpPr>
          <p:cNvPr id="8" name="Shape 6"/>
          <p:cNvSpPr/>
          <p:nvPr/>
        </p:nvSpPr>
        <p:spPr>
          <a:xfrm>
            <a:off x="548640" y="2746058"/>
            <a:ext cx="5464912" cy="67008"/>
          </a:xfrm>
          <a:prstGeom prst="rect">
            <a:avLst/>
          </a:prstGeom>
          <a:solidFill>
            <a:srgbClr val="4D2CC4"/>
          </a:solidFill>
          <a:ln/>
        </p:spPr>
      </p:sp>
      <p:sp>
        <p:nvSpPr>
          <p:cNvPr id="9" name="Shape 7"/>
          <p:cNvSpPr/>
          <p:nvPr/>
        </p:nvSpPr>
        <p:spPr>
          <a:xfrm>
            <a:off x="548640" y="2803922"/>
            <a:ext cx="5464912" cy="67008"/>
          </a:xfrm>
          <a:prstGeom prst="rect">
            <a:avLst/>
          </a:prstGeom>
          <a:solidFill>
            <a:srgbClr val="4C2DC4"/>
          </a:solidFill>
          <a:ln/>
        </p:spPr>
      </p:sp>
      <p:sp>
        <p:nvSpPr>
          <p:cNvPr id="10" name="Shape 8"/>
          <p:cNvSpPr/>
          <p:nvPr/>
        </p:nvSpPr>
        <p:spPr>
          <a:xfrm>
            <a:off x="548640" y="2861786"/>
            <a:ext cx="5464912" cy="67008"/>
          </a:xfrm>
          <a:prstGeom prst="rect">
            <a:avLst/>
          </a:prstGeom>
          <a:solidFill>
            <a:srgbClr val="4B2EC5"/>
          </a:solidFill>
          <a:ln/>
        </p:spPr>
      </p:sp>
      <p:sp>
        <p:nvSpPr>
          <p:cNvPr id="11" name="Shape 9"/>
          <p:cNvSpPr/>
          <p:nvPr/>
        </p:nvSpPr>
        <p:spPr>
          <a:xfrm>
            <a:off x="548640" y="2919651"/>
            <a:ext cx="5464912" cy="67008"/>
          </a:xfrm>
          <a:prstGeom prst="rect">
            <a:avLst/>
          </a:prstGeom>
          <a:solidFill>
            <a:srgbClr val="4A2FC5"/>
          </a:solidFill>
          <a:ln/>
        </p:spPr>
      </p:sp>
      <p:sp>
        <p:nvSpPr>
          <p:cNvPr id="12" name="Shape 10"/>
          <p:cNvSpPr/>
          <p:nvPr/>
        </p:nvSpPr>
        <p:spPr>
          <a:xfrm>
            <a:off x="548640" y="2977515"/>
            <a:ext cx="5464912" cy="67008"/>
          </a:xfrm>
          <a:prstGeom prst="rect">
            <a:avLst/>
          </a:prstGeom>
          <a:solidFill>
            <a:srgbClr val="4930C6"/>
          </a:solidFill>
          <a:ln/>
        </p:spPr>
      </p:sp>
      <p:sp>
        <p:nvSpPr>
          <p:cNvPr id="13" name="Shape 11"/>
          <p:cNvSpPr/>
          <p:nvPr/>
        </p:nvSpPr>
        <p:spPr>
          <a:xfrm>
            <a:off x="548640" y="3035379"/>
            <a:ext cx="5464912" cy="67008"/>
          </a:xfrm>
          <a:prstGeom prst="rect">
            <a:avLst/>
          </a:prstGeom>
          <a:solidFill>
            <a:srgbClr val="4831C6"/>
          </a:solidFill>
          <a:ln/>
        </p:spPr>
      </p:sp>
      <p:sp>
        <p:nvSpPr>
          <p:cNvPr id="14" name="Shape 12"/>
          <p:cNvSpPr/>
          <p:nvPr/>
        </p:nvSpPr>
        <p:spPr>
          <a:xfrm>
            <a:off x="548640" y="3093244"/>
            <a:ext cx="5464912" cy="67008"/>
          </a:xfrm>
          <a:prstGeom prst="rect">
            <a:avLst/>
          </a:prstGeom>
          <a:solidFill>
            <a:srgbClr val="4732C6"/>
          </a:solidFill>
          <a:ln/>
        </p:spPr>
      </p:sp>
      <p:sp>
        <p:nvSpPr>
          <p:cNvPr id="15" name="Shape 13"/>
          <p:cNvSpPr/>
          <p:nvPr/>
        </p:nvSpPr>
        <p:spPr>
          <a:xfrm>
            <a:off x="548640" y="3151108"/>
            <a:ext cx="5464912" cy="67008"/>
          </a:xfrm>
          <a:prstGeom prst="rect">
            <a:avLst/>
          </a:prstGeom>
          <a:solidFill>
            <a:srgbClr val="4733C7"/>
          </a:solidFill>
          <a:ln/>
        </p:spPr>
      </p:sp>
      <p:sp>
        <p:nvSpPr>
          <p:cNvPr id="16" name="Shape 14"/>
          <p:cNvSpPr/>
          <p:nvPr/>
        </p:nvSpPr>
        <p:spPr>
          <a:xfrm>
            <a:off x="548640" y="3208973"/>
            <a:ext cx="5464912" cy="67008"/>
          </a:xfrm>
          <a:prstGeom prst="rect">
            <a:avLst/>
          </a:prstGeom>
          <a:solidFill>
            <a:srgbClr val="4634C7"/>
          </a:solidFill>
          <a:ln/>
        </p:spPr>
      </p:sp>
      <p:sp>
        <p:nvSpPr>
          <p:cNvPr id="17" name="Shape 15"/>
          <p:cNvSpPr/>
          <p:nvPr/>
        </p:nvSpPr>
        <p:spPr>
          <a:xfrm>
            <a:off x="548640" y="3266837"/>
            <a:ext cx="5464912" cy="67008"/>
          </a:xfrm>
          <a:prstGeom prst="rect">
            <a:avLst/>
          </a:prstGeom>
          <a:solidFill>
            <a:srgbClr val="4535C8"/>
          </a:solidFill>
          <a:ln/>
        </p:spPr>
      </p:sp>
      <p:sp>
        <p:nvSpPr>
          <p:cNvPr id="18" name="Shape 16"/>
          <p:cNvSpPr/>
          <p:nvPr/>
        </p:nvSpPr>
        <p:spPr>
          <a:xfrm>
            <a:off x="548640" y="3324701"/>
            <a:ext cx="5464912" cy="67008"/>
          </a:xfrm>
          <a:prstGeom prst="rect">
            <a:avLst/>
          </a:prstGeom>
          <a:solidFill>
            <a:srgbClr val="4436C8"/>
          </a:solidFill>
          <a:ln/>
        </p:spPr>
      </p:sp>
      <p:sp>
        <p:nvSpPr>
          <p:cNvPr id="19" name="Shape 17"/>
          <p:cNvSpPr/>
          <p:nvPr/>
        </p:nvSpPr>
        <p:spPr>
          <a:xfrm>
            <a:off x="548640" y="3382566"/>
            <a:ext cx="5464912" cy="67008"/>
          </a:xfrm>
          <a:prstGeom prst="rect">
            <a:avLst/>
          </a:prstGeom>
          <a:solidFill>
            <a:srgbClr val="4337C9"/>
          </a:solidFill>
          <a:ln/>
        </p:spPr>
      </p:sp>
      <p:sp>
        <p:nvSpPr>
          <p:cNvPr id="20" name="Shape 18"/>
          <p:cNvSpPr/>
          <p:nvPr/>
        </p:nvSpPr>
        <p:spPr>
          <a:xfrm>
            <a:off x="548640" y="3440430"/>
            <a:ext cx="5464912" cy="67008"/>
          </a:xfrm>
          <a:prstGeom prst="rect">
            <a:avLst/>
          </a:prstGeom>
          <a:solidFill>
            <a:srgbClr val="4238C9"/>
          </a:solidFill>
          <a:ln/>
        </p:spPr>
      </p:sp>
      <p:sp>
        <p:nvSpPr>
          <p:cNvPr id="21" name="Shape 19"/>
          <p:cNvSpPr/>
          <p:nvPr/>
        </p:nvSpPr>
        <p:spPr>
          <a:xfrm>
            <a:off x="548640" y="3498294"/>
            <a:ext cx="5464912" cy="67008"/>
          </a:xfrm>
          <a:prstGeom prst="rect">
            <a:avLst/>
          </a:prstGeom>
          <a:solidFill>
            <a:srgbClr val="4139CA"/>
          </a:solidFill>
          <a:ln/>
        </p:spPr>
      </p:sp>
      <p:sp>
        <p:nvSpPr>
          <p:cNvPr id="22" name="Shape 20"/>
          <p:cNvSpPr/>
          <p:nvPr/>
        </p:nvSpPr>
        <p:spPr>
          <a:xfrm>
            <a:off x="548640" y="3556159"/>
            <a:ext cx="5464912" cy="67008"/>
          </a:xfrm>
          <a:prstGeom prst="rect">
            <a:avLst/>
          </a:prstGeom>
          <a:solidFill>
            <a:srgbClr val="413ACA"/>
          </a:solidFill>
          <a:ln/>
        </p:spPr>
      </p:sp>
      <p:sp>
        <p:nvSpPr>
          <p:cNvPr id="23" name="Shape 21"/>
          <p:cNvSpPr/>
          <p:nvPr/>
        </p:nvSpPr>
        <p:spPr>
          <a:xfrm>
            <a:off x="548640" y="3614023"/>
            <a:ext cx="5464912" cy="67008"/>
          </a:xfrm>
          <a:prstGeom prst="rect">
            <a:avLst/>
          </a:prstGeom>
          <a:solidFill>
            <a:srgbClr val="403BCA"/>
          </a:solidFill>
          <a:ln/>
        </p:spPr>
      </p:sp>
      <p:sp>
        <p:nvSpPr>
          <p:cNvPr id="24" name="Shape 22"/>
          <p:cNvSpPr/>
          <p:nvPr/>
        </p:nvSpPr>
        <p:spPr>
          <a:xfrm>
            <a:off x="548640" y="3671888"/>
            <a:ext cx="5464912" cy="67008"/>
          </a:xfrm>
          <a:prstGeom prst="rect">
            <a:avLst/>
          </a:prstGeom>
          <a:solidFill>
            <a:srgbClr val="3F3CCB"/>
          </a:solidFill>
          <a:ln/>
        </p:spPr>
      </p:sp>
      <p:sp>
        <p:nvSpPr>
          <p:cNvPr id="25" name="Shape 23"/>
          <p:cNvSpPr/>
          <p:nvPr/>
        </p:nvSpPr>
        <p:spPr>
          <a:xfrm>
            <a:off x="548640" y="3729752"/>
            <a:ext cx="5464912" cy="67008"/>
          </a:xfrm>
          <a:prstGeom prst="rect">
            <a:avLst/>
          </a:prstGeom>
          <a:solidFill>
            <a:srgbClr val="3E3DCB"/>
          </a:solidFill>
          <a:ln/>
        </p:spPr>
      </p:sp>
      <p:sp>
        <p:nvSpPr>
          <p:cNvPr id="26" name="Shape 24"/>
          <p:cNvSpPr/>
          <p:nvPr/>
        </p:nvSpPr>
        <p:spPr>
          <a:xfrm>
            <a:off x="548640" y="3787616"/>
            <a:ext cx="5464912" cy="67008"/>
          </a:xfrm>
          <a:prstGeom prst="rect">
            <a:avLst/>
          </a:prstGeom>
          <a:solidFill>
            <a:srgbClr val="3D3ECC"/>
          </a:solidFill>
          <a:ln/>
        </p:spPr>
      </p:sp>
      <p:sp>
        <p:nvSpPr>
          <p:cNvPr id="27" name="Shape 25"/>
          <p:cNvSpPr/>
          <p:nvPr/>
        </p:nvSpPr>
        <p:spPr>
          <a:xfrm>
            <a:off x="548640" y="3845481"/>
            <a:ext cx="5464912" cy="67008"/>
          </a:xfrm>
          <a:prstGeom prst="rect">
            <a:avLst/>
          </a:prstGeom>
          <a:solidFill>
            <a:srgbClr val="3C3FCC"/>
          </a:solidFill>
          <a:ln/>
        </p:spPr>
      </p:sp>
      <p:sp>
        <p:nvSpPr>
          <p:cNvPr id="28" name="Shape 26"/>
          <p:cNvSpPr/>
          <p:nvPr/>
        </p:nvSpPr>
        <p:spPr>
          <a:xfrm>
            <a:off x="548640" y="3903345"/>
            <a:ext cx="5464912" cy="67008"/>
          </a:xfrm>
          <a:prstGeom prst="rect">
            <a:avLst/>
          </a:prstGeom>
          <a:solidFill>
            <a:srgbClr val="3B40CD"/>
          </a:solidFill>
          <a:ln/>
        </p:spPr>
      </p:sp>
      <p:sp>
        <p:nvSpPr>
          <p:cNvPr id="29" name="Shape 27"/>
          <p:cNvSpPr/>
          <p:nvPr/>
        </p:nvSpPr>
        <p:spPr>
          <a:xfrm>
            <a:off x="548640" y="3961209"/>
            <a:ext cx="5464912" cy="67008"/>
          </a:xfrm>
          <a:prstGeom prst="rect">
            <a:avLst/>
          </a:prstGeom>
          <a:solidFill>
            <a:srgbClr val="3B41CD"/>
          </a:solidFill>
          <a:ln/>
        </p:spPr>
      </p:sp>
      <p:sp>
        <p:nvSpPr>
          <p:cNvPr id="30" name="Shape 28"/>
          <p:cNvSpPr/>
          <p:nvPr/>
        </p:nvSpPr>
        <p:spPr>
          <a:xfrm>
            <a:off x="548640" y="4019074"/>
            <a:ext cx="5464912" cy="67008"/>
          </a:xfrm>
          <a:prstGeom prst="rect">
            <a:avLst/>
          </a:prstGeom>
          <a:solidFill>
            <a:srgbClr val="3A42CE"/>
          </a:solidFill>
          <a:ln/>
        </p:spPr>
      </p:sp>
      <p:sp>
        <p:nvSpPr>
          <p:cNvPr id="31" name="Shape 29"/>
          <p:cNvSpPr/>
          <p:nvPr/>
        </p:nvSpPr>
        <p:spPr>
          <a:xfrm>
            <a:off x="548640" y="4076938"/>
            <a:ext cx="5464912" cy="67008"/>
          </a:xfrm>
          <a:prstGeom prst="rect">
            <a:avLst/>
          </a:prstGeom>
          <a:solidFill>
            <a:srgbClr val="3943CE"/>
          </a:solidFill>
          <a:ln/>
        </p:spPr>
      </p:sp>
      <p:sp>
        <p:nvSpPr>
          <p:cNvPr id="32" name="Shape 30"/>
          <p:cNvSpPr/>
          <p:nvPr/>
        </p:nvSpPr>
        <p:spPr>
          <a:xfrm>
            <a:off x="548640" y="4134802"/>
            <a:ext cx="5464912" cy="67008"/>
          </a:xfrm>
          <a:prstGeom prst="rect">
            <a:avLst/>
          </a:prstGeom>
          <a:solidFill>
            <a:srgbClr val="3844CE"/>
          </a:solidFill>
          <a:ln/>
        </p:spPr>
      </p:sp>
      <p:sp>
        <p:nvSpPr>
          <p:cNvPr id="33" name="Shape 31"/>
          <p:cNvSpPr/>
          <p:nvPr/>
        </p:nvSpPr>
        <p:spPr>
          <a:xfrm>
            <a:off x="548640" y="4192667"/>
            <a:ext cx="5464912" cy="67008"/>
          </a:xfrm>
          <a:prstGeom prst="rect">
            <a:avLst/>
          </a:prstGeom>
          <a:solidFill>
            <a:srgbClr val="3745CF"/>
          </a:solidFill>
          <a:ln/>
        </p:spPr>
      </p:sp>
      <p:sp>
        <p:nvSpPr>
          <p:cNvPr id="34" name="Shape 32"/>
          <p:cNvSpPr/>
          <p:nvPr/>
        </p:nvSpPr>
        <p:spPr>
          <a:xfrm>
            <a:off x="548640" y="4250531"/>
            <a:ext cx="5464912" cy="67008"/>
          </a:xfrm>
          <a:prstGeom prst="rect">
            <a:avLst/>
          </a:prstGeom>
          <a:solidFill>
            <a:srgbClr val="3646CF"/>
          </a:solidFill>
          <a:ln/>
        </p:spPr>
      </p:sp>
      <p:sp>
        <p:nvSpPr>
          <p:cNvPr id="35" name="Shape 33"/>
          <p:cNvSpPr/>
          <p:nvPr/>
        </p:nvSpPr>
        <p:spPr>
          <a:xfrm>
            <a:off x="548640" y="4308396"/>
            <a:ext cx="5464912" cy="67008"/>
          </a:xfrm>
          <a:prstGeom prst="rect">
            <a:avLst/>
          </a:prstGeom>
          <a:solidFill>
            <a:srgbClr val="3547D0"/>
          </a:solidFill>
          <a:ln/>
        </p:spPr>
      </p:sp>
      <p:sp>
        <p:nvSpPr>
          <p:cNvPr id="36" name="Shape 34"/>
          <p:cNvSpPr/>
          <p:nvPr/>
        </p:nvSpPr>
        <p:spPr>
          <a:xfrm>
            <a:off x="548640" y="4366260"/>
            <a:ext cx="5464912" cy="67008"/>
          </a:xfrm>
          <a:prstGeom prst="rect">
            <a:avLst/>
          </a:prstGeom>
          <a:solidFill>
            <a:srgbClr val="3549D0"/>
          </a:solidFill>
          <a:ln/>
        </p:spPr>
      </p:sp>
      <p:sp>
        <p:nvSpPr>
          <p:cNvPr id="37" name="Shape 35"/>
          <p:cNvSpPr/>
          <p:nvPr/>
        </p:nvSpPr>
        <p:spPr>
          <a:xfrm>
            <a:off x="548640" y="4424124"/>
            <a:ext cx="5464912" cy="67008"/>
          </a:xfrm>
          <a:prstGeom prst="rect">
            <a:avLst/>
          </a:prstGeom>
          <a:solidFill>
            <a:srgbClr val="344ACF"/>
          </a:solidFill>
          <a:ln/>
        </p:spPr>
      </p:sp>
      <p:sp>
        <p:nvSpPr>
          <p:cNvPr id="38" name="Shape 36"/>
          <p:cNvSpPr/>
          <p:nvPr/>
        </p:nvSpPr>
        <p:spPr>
          <a:xfrm>
            <a:off x="548640" y="4481989"/>
            <a:ext cx="5464912" cy="67008"/>
          </a:xfrm>
          <a:prstGeom prst="rect">
            <a:avLst/>
          </a:prstGeom>
          <a:solidFill>
            <a:srgbClr val="334BCF"/>
          </a:solidFill>
          <a:ln/>
        </p:spPr>
      </p:sp>
      <p:sp>
        <p:nvSpPr>
          <p:cNvPr id="39" name="Shape 37"/>
          <p:cNvSpPr/>
          <p:nvPr/>
        </p:nvSpPr>
        <p:spPr>
          <a:xfrm>
            <a:off x="548640" y="4539853"/>
            <a:ext cx="5464912" cy="67008"/>
          </a:xfrm>
          <a:prstGeom prst="rect">
            <a:avLst/>
          </a:prstGeom>
          <a:solidFill>
            <a:srgbClr val="324CCE"/>
          </a:solidFill>
          <a:ln/>
        </p:spPr>
      </p:sp>
      <p:sp>
        <p:nvSpPr>
          <p:cNvPr id="40" name="Shape 38"/>
          <p:cNvSpPr/>
          <p:nvPr/>
        </p:nvSpPr>
        <p:spPr>
          <a:xfrm>
            <a:off x="548640" y="4597717"/>
            <a:ext cx="5464912" cy="67008"/>
          </a:xfrm>
          <a:prstGeom prst="rect">
            <a:avLst/>
          </a:prstGeom>
          <a:solidFill>
            <a:srgbClr val="314ECD"/>
          </a:solidFill>
          <a:ln/>
        </p:spPr>
      </p:sp>
      <p:sp>
        <p:nvSpPr>
          <p:cNvPr id="41" name="Shape 39"/>
          <p:cNvSpPr/>
          <p:nvPr/>
        </p:nvSpPr>
        <p:spPr>
          <a:xfrm>
            <a:off x="548640" y="4655582"/>
            <a:ext cx="5464912" cy="67008"/>
          </a:xfrm>
          <a:prstGeom prst="rect">
            <a:avLst/>
          </a:prstGeom>
          <a:solidFill>
            <a:srgbClr val="304FCD"/>
          </a:solidFill>
          <a:ln/>
        </p:spPr>
      </p:sp>
      <p:sp>
        <p:nvSpPr>
          <p:cNvPr id="42" name="Shape 40"/>
          <p:cNvSpPr/>
          <p:nvPr/>
        </p:nvSpPr>
        <p:spPr>
          <a:xfrm>
            <a:off x="548640" y="4713446"/>
            <a:ext cx="5464912" cy="67008"/>
          </a:xfrm>
          <a:prstGeom prst="rect">
            <a:avLst/>
          </a:prstGeom>
          <a:solidFill>
            <a:srgbClr val="2F50CC"/>
          </a:solidFill>
          <a:ln/>
        </p:spPr>
      </p:sp>
      <p:sp>
        <p:nvSpPr>
          <p:cNvPr id="43" name="Shape 41"/>
          <p:cNvSpPr/>
          <p:nvPr/>
        </p:nvSpPr>
        <p:spPr>
          <a:xfrm>
            <a:off x="548640" y="4771311"/>
            <a:ext cx="5464912" cy="67008"/>
          </a:xfrm>
          <a:prstGeom prst="rect">
            <a:avLst/>
          </a:prstGeom>
          <a:solidFill>
            <a:srgbClr val="2F51CC"/>
          </a:solidFill>
          <a:ln/>
        </p:spPr>
      </p:sp>
      <p:sp>
        <p:nvSpPr>
          <p:cNvPr id="44" name="Shape 42"/>
          <p:cNvSpPr/>
          <p:nvPr/>
        </p:nvSpPr>
        <p:spPr>
          <a:xfrm>
            <a:off x="548640" y="4829175"/>
            <a:ext cx="5464912" cy="67008"/>
          </a:xfrm>
          <a:prstGeom prst="rect">
            <a:avLst/>
          </a:prstGeom>
          <a:solidFill>
            <a:srgbClr val="2E53CB"/>
          </a:solidFill>
          <a:ln/>
        </p:spPr>
      </p:sp>
      <p:sp>
        <p:nvSpPr>
          <p:cNvPr id="45" name="Shape 43"/>
          <p:cNvSpPr/>
          <p:nvPr/>
        </p:nvSpPr>
        <p:spPr>
          <a:xfrm>
            <a:off x="548640" y="4887039"/>
            <a:ext cx="5464912" cy="67008"/>
          </a:xfrm>
          <a:prstGeom prst="rect">
            <a:avLst/>
          </a:prstGeom>
          <a:solidFill>
            <a:srgbClr val="2D54CB"/>
          </a:solidFill>
          <a:ln/>
        </p:spPr>
      </p:sp>
      <p:sp>
        <p:nvSpPr>
          <p:cNvPr id="46" name="Shape 44"/>
          <p:cNvSpPr/>
          <p:nvPr/>
        </p:nvSpPr>
        <p:spPr>
          <a:xfrm>
            <a:off x="548640" y="4944904"/>
            <a:ext cx="5464912" cy="67008"/>
          </a:xfrm>
          <a:prstGeom prst="rect">
            <a:avLst/>
          </a:prstGeom>
          <a:solidFill>
            <a:srgbClr val="2C55CA"/>
          </a:solidFill>
          <a:ln/>
        </p:spPr>
      </p:sp>
      <p:sp>
        <p:nvSpPr>
          <p:cNvPr id="47" name="Shape 45"/>
          <p:cNvSpPr/>
          <p:nvPr/>
        </p:nvSpPr>
        <p:spPr>
          <a:xfrm>
            <a:off x="548640" y="5002768"/>
            <a:ext cx="5464912" cy="67008"/>
          </a:xfrm>
          <a:prstGeom prst="rect">
            <a:avLst/>
          </a:prstGeom>
          <a:solidFill>
            <a:srgbClr val="2B56C9"/>
          </a:solidFill>
          <a:ln/>
        </p:spPr>
      </p:sp>
      <p:sp>
        <p:nvSpPr>
          <p:cNvPr id="48" name="Shape 46"/>
          <p:cNvSpPr/>
          <p:nvPr/>
        </p:nvSpPr>
        <p:spPr>
          <a:xfrm>
            <a:off x="548640" y="5060633"/>
            <a:ext cx="5464912" cy="67008"/>
          </a:xfrm>
          <a:prstGeom prst="rect">
            <a:avLst/>
          </a:prstGeom>
          <a:solidFill>
            <a:srgbClr val="2A57C9"/>
          </a:solidFill>
          <a:ln/>
        </p:spPr>
      </p:sp>
      <p:sp>
        <p:nvSpPr>
          <p:cNvPr id="49" name="Shape 47"/>
          <p:cNvSpPr/>
          <p:nvPr/>
        </p:nvSpPr>
        <p:spPr>
          <a:xfrm>
            <a:off x="548640" y="5118497"/>
            <a:ext cx="5464912" cy="67008"/>
          </a:xfrm>
          <a:prstGeom prst="rect">
            <a:avLst/>
          </a:prstGeom>
          <a:solidFill>
            <a:srgbClr val="2959C8"/>
          </a:solidFill>
          <a:ln/>
        </p:spPr>
      </p:sp>
      <p:sp>
        <p:nvSpPr>
          <p:cNvPr id="50" name="Shape 48"/>
          <p:cNvSpPr/>
          <p:nvPr/>
        </p:nvSpPr>
        <p:spPr>
          <a:xfrm>
            <a:off x="548640" y="5176361"/>
            <a:ext cx="5464912" cy="67008"/>
          </a:xfrm>
          <a:prstGeom prst="rect">
            <a:avLst/>
          </a:prstGeom>
          <a:solidFill>
            <a:srgbClr val="295AC8"/>
          </a:solidFill>
          <a:ln/>
        </p:spPr>
      </p:sp>
      <p:sp>
        <p:nvSpPr>
          <p:cNvPr id="51" name="Shape 49"/>
          <p:cNvSpPr/>
          <p:nvPr/>
        </p:nvSpPr>
        <p:spPr>
          <a:xfrm>
            <a:off x="548640" y="5234226"/>
            <a:ext cx="5464912" cy="67008"/>
          </a:xfrm>
          <a:prstGeom prst="rect">
            <a:avLst/>
          </a:prstGeom>
          <a:solidFill>
            <a:srgbClr val="285BC7"/>
          </a:solidFill>
          <a:ln/>
        </p:spPr>
      </p:sp>
      <p:sp>
        <p:nvSpPr>
          <p:cNvPr id="52" name="Shape 50"/>
          <p:cNvSpPr/>
          <p:nvPr/>
        </p:nvSpPr>
        <p:spPr>
          <a:xfrm>
            <a:off x="548640" y="5292090"/>
            <a:ext cx="5464912" cy="67008"/>
          </a:xfrm>
          <a:prstGeom prst="rect">
            <a:avLst/>
          </a:prstGeom>
          <a:solidFill>
            <a:srgbClr val="275CC7"/>
          </a:solidFill>
          <a:ln/>
        </p:spPr>
      </p:sp>
      <p:sp>
        <p:nvSpPr>
          <p:cNvPr id="53" name="Shape 51"/>
          <p:cNvSpPr/>
          <p:nvPr/>
        </p:nvSpPr>
        <p:spPr>
          <a:xfrm>
            <a:off x="548640" y="5349954"/>
            <a:ext cx="5464912" cy="67008"/>
          </a:xfrm>
          <a:prstGeom prst="rect">
            <a:avLst/>
          </a:prstGeom>
          <a:solidFill>
            <a:srgbClr val="265EC6"/>
          </a:solidFill>
          <a:ln/>
        </p:spPr>
      </p:sp>
      <p:sp>
        <p:nvSpPr>
          <p:cNvPr id="54" name="Shape 52"/>
          <p:cNvSpPr/>
          <p:nvPr/>
        </p:nvSpPr>
        <p:spPr>
          <a:xfrm>
            <a:off x="548640" y="5407819"/>
            <a:ext cx="5464912" cy="67008"/>
          </a:xfrm>
          <a:prstGeom prst="rect">
            <a:avLst/>
          </a:prstGeom>
          <a:solidFill>
            <a:srgbClr val="255FC5"/>
          </a:solidFill>
          <a:ln/>
        </p:spPr>
      </p:sp>
      <p:sp>
        <p:nvSpPr>
          <p:cNvPr id="55" name="Shape 53"/>
          <p:cNvSpPr/>
          <p:nvPr/>
        </p:nvSpPr>
        <p:spPr>
          <a:xfrm>
            <a:off x="548640" y="5465683"/>
            <a:ext cx="5464912" cy="67008"/>
          </a:xfrm>
          <a:prstGeom prst="rect">
            <a:avLst/>
          </a:prstGeom>
          <a:solidFill>
            <a:srgbClr val="2460C5"/>
          </a:solidFill>
          <a:ln/>
        </p:spPr>
      </p:sp>
      <p:sp>
        <p:nvSpPr>
          <p:cNvPr id="56" name="Shape 54"/>
          <p:cNvSpPr/>
          <p:nvPr/>
        </p:nvSpPr>
        <p:spPr>
          <a:xfrm>
            <a:off x="548640" y="5523548"/>
            <a:ext cx="5464912" cy="67008"/>
          </a:xfrm>
          <a:prstGeom prst="rect">
            <a:avLst/>
          </a:prstGeom>
          <a:solidFill>
            <a:srgbClr val="2361C4"/>
          </a:solidFill>
          <a:ln/>
        </p:spPr>
      </p:sp>
      <p:sp>
        <p:nvSpPr>
          <p:cNvPr id="57" name="Shape 55"/>
          <p:cNvSpPr/>
          <p:nvPr/>
        </p:nvSpPr>
        <p:spPr>
          <a:xfrm>
            <a:off x="548640" y="5581412"/>
            <a:ext cx="5464912" cy="67008"/>
          </a:xfrm>
          <a:prstGeom prst="rect">
            <a:avLst/>
          </a:prstGeom>
          <a:solidFill>
            <a:srgbClr val="2363C4"/>
          </a:solidFill>
          <a:ln/>
        </p:spPr>
      </p:sp>
      <p:sp>
        <p:nvSpPr>
          <p:cNvPr id="58" name="Shape 56"/>
          <p:cNvSpPr/>
          <p:nvPr/>
        </p:nvSpPr>
        <p:spPr>
          <a:xfrm>
            <a:off x="548640" y="5639276"/>
            <a:ext cx="5464912" cy="67008"/>
          </a:xfrm>
          <a:prstGeom prst="rect">
            <a:avLst/>
          </a:prstGeom>
          <a:solidFill>
            <a:srgbClr val="2264C3"/>
          </a:solidFill>
          <a:ln/>
        </p:spPr>
      </p:sp>
      <p:sp>
        <p:nvSpPr>
          <p:cNvPr id="59" name="Shape 57"/>
          <p:cNvSpPr/>
          <p:nvPr/>
        </p:nvSpPr>
        <p:spPr>
          <a:xfrm>
            <a:off x="548640" y="5697141"/>
            <a:ext cx="5464912" cy="67008"/>
          </a:xfrm>
          <a:prstGeom prst="rect">
            <a:avLst/>
          </a:prstGeom>
          <a:solidFill>
            <a:srgbClr val="2165C3"/>
          </a:solidFill>
          <a:ln/>
        </p:spPr>
      </p:sp>
      <p:sp>
        <p:nvSpPr>
          <p:cNvPr id="60" name="Shape 58"/>
          <p:cNvSpPr/>
          <p:nvPr/>
        </p:nvSpPr>
        <p:spPr>
          <a:xfrm>
            <a:off x="548640" y="5755005"/>
            <a:ext cx="5464912" cy="67008"/>
          </a:xfrm>
          <a:prstGeom prst="rect">
            <a:avLst/>
          </a:prstGeom>
          <a:solidFill>
            <a:srgbClr val="2066C2"/>
          </a:solidFill>
          <a:ln/>
        </p:spPr>
      </p:sp>
      <p:sp>
        <p:nvSpPr>
          <p:cNvPr id="61" name="Shape 59"/>
          <p:cNvSpPr/>
          <p:nvPr/>
        </p:nvSpPr>
        <p:spPr>
          <a:xfrm>
            <a:off x="548640" y="5812869"/>
            <a:ext cx="5464912" cy="67008"/>
          </a:xfrm>
          <a:prstGeom prst="rect">
            <a:avLst/>
          </a:prstGeom>
          <a:solidFill>
            <a:srgbClr val="1F68C1"/>
          </a:solidFill>
          <a:ln/>
        </p:spPr>
      </p:sp>
      <p:sp>
        <p:nvSpPr>
          <p:cNvPr id="62" name="Shape 60"/>
          <p:cNvSpPr/>
          <p:nvPr/>
        </p:nvSpPr>
        <p:spPr>
          <a:xfrm>
            <a:off x="548640" y="5870734"/>
            <a:ext cx="5464912" cy="67008"/>
          </a:xfrm>
          <a:prstGeom prst="rect">
            <a:avLst/>
          </a:prstGeom>
          <a:solidFill>
            <a:srgbClr val="1E69C1"/>
          </a:solidFill>
          <a:ln/>
        </p:spPr>
      </p:sp>
      <p:sp>
        <p:nvSpPr>
          <p:cNvPr id="63" name="Shape 61"/>
          <p:cNvSpPr/>
          <p:nvPr/>
        </p:nvSpPr>
        <p:spPr>
          <a:xfrm>
            <a:off x="548640" y="5928598"/>
            <a:ext cx="5464912" cy="67008"/>
          </a:xfrm>
          <a:prstGeom prst="rect">
            <a:avLst/>
          </a:prstGeom>
          <a:solidFill>
            <a:srgbClr val="1D6AC0"/>
          </a:solidFill>
          <a:ln/>
        </p:spPr>
      </p:sp>
      <p:sp>
        <p:nvSpPr>
          <p:cNvPr id="64" name="Shape 62"/>
          <p:cNvSpPr/>
          <p:nvPr/>
        </p:nvSpPr>
        <p:spPr>
          <a:xfrm>
            <a:off x="548640" y="5986463"/>
            <a:ext cx="5464912" cy="67008"/>
          </a:xfrm>
          <a:prstGeom prst="rect">
            <a:avLst/>
          </a:prstGeom>
          <a:solidFill>
            <a:srgbClr val="1D6BC0"/>
          </a:solidFill>
          <a:ln/>
        </p:spPr>
      </p:sp>
      <p:sp>
        <p:nvSpPr>
          <p:cNvPr id="65" name="Shape 63"/>
          <p:cNvSpPr/>
          <p:nvPr/>
        </p:nvSpPr>
        <p:spPr>
          <a:xfrm>
            <a:off x="548640" y="6044327"/>
            <a:ext cx="5464912" cy="67008"/>
          </a:xfrm>
          <a:prstGeom prst="rect">
            <a:avLst/>
          </a:prstGeom>
          <a:solidFill>
            <a:srgbClr val="1C6DBF"/>
          </a:solidFill>
          <a:ln/>
        </p:spPr>
      </p:sp>
      <p:sp>
        <p:nvSpPr>
          <p:cNvPr id="66" name="Shape 64"/>
          <p:cNvSpPr/>
          <p:nvPr/>
        </p:nvSpPr>
        <p:spPr>
          <a:xfrm>
            <a:off x="548640" y="6102191"/>
            <a:ext cx="5464912" cy="67008"/>
          </a:xfrm>
          <a:prstGeom prst="rect">
            <a:avLst/>
          </a:prstGeom>
          <a:solidFill>
            <a:srgbClr val="1B6EBF"/>
          </a:solidFill>
          <a:ln/>
        </p:spPr>
      </p:sp>
      <p:sp>
        <p:nvSpPr>
          <p:cNvPr id="67" name="Shape 65"/>
          <p:cNvSpPr/>
          <p:nvPr/>
        </p:nvSpPr>
        <p:spPr>
          <a:xfrm>
            <a:off x="548640" y="6160056"/>
            <a:ext cx="5464912" cy="67008"/>
          </a:xfrm>
          <a:prstGeom prst="rect">
            <a:avLst/>
          </a:prstGeom>
          <a:solidFill>
            <a:srgbClr val="1A6FBE"/>
          </a:solidFill>
          <a:ln/>
        </p:spPr>
      </p:sp>
      <p:sp>
        <p:nvSpPr>
          <p:cNvPr id="68" name="Text 66"/>
          <p:cNvSpPr/>
          <p:nvPr/>
        </p:nvSpPr>
        <p:spPr>
          <a:xfrm>
            <a:off x="914400" y="2880360"/>
            <a:ext cx="4733392" cy="914400"/>
          </a:xfrm>
          <a:prstGeom prst="rect">
            <a:avLst/>
          </a:prstGeom>
          <a:noFill/>
          <a:ln/>
        </p:spPr>
        <p:txBody>
          <a:bodyPr wrap="square" lIns="0" tIns="0" rIns="0" bIns="0" rtlCol="0" anchor="t"/>
          <a:lstStyle/>
          <a:p>
            <a:pPr algn="l" indent="0" marL="0">
              <a:buNone/>
            </a:pPr>
            <a:r>
              <a:rPr lang="en-US" sz="1100" b="1" spc="300" kern="0" dirty="0">
                <a:solidFill>
                  <a:srgbClr val="FFFFFF"/>
                </a:solidFill>
                <a:latin typeface="Calibri" pitchFamily="34" charset="0"/>
                <a:ea typeface="Calibri" pitchFamily="34" charset="-122"/>
                <a:cs typeface="Calibri" pitchFamily="34" charset="-120"/>
              </a:rPr>
              <a:t>ROADMAP · 12 MONTHS</a:t>
            </a:r>
            <a:endParaRPr lang="en-US" sz="1100" dirty="0"/>
          </a:p>
        </p:txBody>
      </p:sp>
      <p:sp>
        <p:nvSpPr>
          <p:cNvPr id="69" name="Text 67"/>
          <p:cNvSpPr/>
          <p:nvPr/>
        </p:nvSpPr>
        <p:spPr>
          <a:xfrm>
            <a:off x="914400" y="3383280"/>
            <a:ext cx="4733392" cy="2011680"/>
          </a:xfrm>
          <a:prstGeom prst="rect">
            <a:avLst/>
          </a:prstGeom>
          <a:noFill/>
          <a:ln/>
        </p:spPr>
        <p:txBody>
          <a:bodyPr wrap="square" lIns="0" tIns="0" rIns="0" bIns="0" rtlCol="0" anchor="t"/>
          <a:lstStyle/>
          <a:p>
            <a:pPr algn="l" indent="0" marL="0">
              <a:buNone/>
            </a:pPr>
            <a:r>
              <a:rPr lang="en-US" sz="3200" b="1" spc="-50" kern="0" dirty="0">
                <a:solidFill>
                  <a:srgbClr val="FFFFFF"/>
                </a:solidFill>
                <a:latin typeface="Calibri" pitchFamily="34" charset="0"/>
                <a:ea typeface="Calibri" pitchFamily="34" charset="-122"/>
                <a:cs typeface="Calibri" pitchFamily="34" charset="-120"/>
              </a:rPr>
              <a:t>Scoring depth → team layer → analytics.</a:t>
            </a:r>
            <a:endParaRPr lang="en-US" sz="3200" dirty="0"/>
          </a:p>
        </p:txBody>
      </p:sp>
      <p:sp>
        <p:nvSpPr>
          <p:cNvPr id="70" name="Text 68"/>
          <p:cNvSpPr/>
          <p:nvPr/>
        </p:nvSpPr>
        <p:spPr>
          <a:xfrm>
            <a:off x="914400" y="5166360"/>
            <a:ext cx="4733392" cy="10972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Q3 2026 deepens AI scoring. Q4 2026 ships team plans. Q1 2027 unlocks the closed-loop analytics layer. Every milestone gated to revenue and customer pull.</a:t>
            </a:r>
            <a:endParaRPr lang="en-US" sz="1300" dirty="0"/>
          </a:p>
        </p:txBody>
      </p:sp>
      <p:sp>
        <p:nvSpPr>
          <p:cNvPr id="71" name="Shape 69"/>
          <p:cNvSpPr/>
          <p:nvPr/>
        </p:nvSpPr>
        <p:spPr>
          <a:xfrm>
            <a:off x="6178144" y="2514600"/>
            <a:ext cx="5464912" cy="1124712"/>
          </a:xfrm>
          <a:prstGeom prst="roundRect">
            <a:avLst>
              <a:gd name="adj" fmla="val 9756"/>
            </a:avLst>
          </a:prstGeom>
          <a:solidFill>
            <a:srgbClr val="FFFFFF"/>
          </a:solidFill>
          <a:ln w="9525">
            <a:solidFill>
              <a:srgbClr val="E5E7F0"/>
            </a:solidFill>
            <a:prstDash val="solid"/>
          </a:ln>
        </p:spPr>
      </p:sp>
      <p:sp>
        <p:nvSpPr>
          <p:cNvPr id="72" name="Shape 70"/>
          <p:cNvSpPr/>
          <p:nvPr/>
        </p:nvSpPr>
        <p:spPr>
          <a:xfrm>
            <a:off x="6178144" y="2514600"/>
            <a:ext cx="73152" cy="1124712"/>
          </a:xfrm>
          <a:prstGeom prst="rect">
            <a:avLst/>
          </a:prstGeom>
          <a:solidFill>
            <a:srgbClr val="5028C2"/>
          </a:solidFill>
          <a:ln/>
        </p:spPr>
      </p:sp>
      <p:sp>
        <p:nvSpPr>
          <p:cNvPr id="73" name="Text 71"/>
          <p:cNvSpPr/>
          <p:nvPr/>
        </p:nvSpPr>
        <p:spPr>
          <a:xfrm>
            <a:off x="6434176" y="2697480"/>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Q3 · Scoring</a:t>
            </a:r>
            <a:endParaRPr lang="en-US" sz="1600" dirty="0"/>
          </a:p>
        </p:txBody>
      </p:sp>
      <p:sp>
        <p:nvSpPr>
          <p:cNvPr id="74" name="Text 72"/>
          <p:cNvSpPr/>
          <p:nvPr/>
        </p:nvSpPr>
        <p:spPr>
          <a:xfrm>
            <a:off x="6434176" y="3081528"/>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Custom ICP, templates, saved searches.</a:t>
            </a:r>
            <a:endParaRPr lang="en-US" sz="1200" dirty="0"/>
          </a:p>
        </p:txBody>
      </p:sp>
      <p:sp>
        <p:nvSpPr>
          <p:cNvPr id="75" name="Shape 73"/>
          <p:cNvSpPr/>
          <p:nvPr/>
        </p:nvSpPr>
        <p:spPr>
          <a:xfrm>
            <a:off x="6178144" y="3803904"/>
            <a:ext cx="5464912" cy="1124712"/>
          </a:xfrm>
          <a:prstGeom prst="roundRect">
            <a:avLst>
              <a:gd name="adj" fmla="val 9756"/>
            </a:avLst>
          </a:prstGeom>
          <a:solidFill>
            <a:srgbClr val="FFFFFF"/>
          </a:solidFill>
          <a:ln w="9525">
            <a:solidFill>
              <a:srgbClr val="E5E7F0"/>
            </a:solidFill>
            <a:prstDash val="solid"/>
          </a:ln>
        </p:spPr>
      </p:sp>
      <p:sp>
        <p:nvSpPr>
          <p:cNvPr id="76" name="Shape 74"/>
          <p:cNvSpPr/>
          <p:nvPr/>
        </p:nvSpPr>
        <p:spPr>
          <a:xfrm>
            <a:off x="6178144" y="3803904"/>
            <a:ext cx="73152" cy="1124712"/>
          </a:xfrm>
          <a:prstGeom prst="rect">
            <a:avLst/>
          </a:prstGeom>
          <a:solidFill>
            <a:srgbClr val="3548D0"/>
          </a:solidFill>
          <a:ln/>
        </p:spPr>
      </p:sp>
      <p:sp>
        <p:nvSpPr>
          <p:cNvPr id="77" name="Text 75"/>
          <p:cNvSpPr/>
          <p:nvPr/>
        </p:nvSpPr>
        <p:spPr>
          <a:xfrm>
            <a:off x="6434176" y="3986784"/>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Q4 · Team</a:t>
            </a:r>
            <a:endParaRPr lang="en-US" sz="1600" dirty="0"/>
          </a:p>
        </p:txBody>
      </p:sp>
      <p:sp>
        <p:nvSpPr>
          <p:cNvPr id="78" name="Text 76"/>
          <p:cNvSpPr/>
          <p:nvPr/>
        </p:nvSpPr>
        <p:spPr>
          <a:xfrm>
            <a:off x="6434176" y="4370832"/>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Multi-seat, shared CRM, org billing.</a:t>
            </a:r>
            <a:endParaRPr lang="en-US" sz="1200" dirty="0"/>
          </a:p>
        </p:txBody>
      </p:sp>
      <p:sp>
        <p:nvSpPr>
          <p:cNvPr id="79" name="Shape 77"/>
          <p:cNvSpPr/>
          <p:nvPr/>
        </p:nvSpPr>
        <p:spPr>
          <a:xfrm>
            <a:off x="6178144" y="5093208"/>
            <a:ext cx="5464912" cy="1124712"/>
          </a:xfrm>
          <a:prstGeom prst="roundRect">
            <a:avLst>
              <a:gd name="adj" fmla="val 9756"/>
            </a:avLst>
          </a:prstGeom>
          <a:solidFill>
            <a:srgbClr val="FFFFFF"/>
          </a:solidFill>
          <a:ln w="9525">
            <a:solidFill>
              <a:srgbClr val="E5E7F0"/>
            </a:solidFill>
            <a:prstDash val="solid"/>
          </a:ln>
        </p:spPr>
      </p:sp>
      <p:sp>
        <p:nvSpPr>
          <p:cNvPr id="80" name="Shape 78"/>
          <p:cNvSpPr/>
          <p:nvPr/>
        </p:nvSpPr>
        <p:spPr>
          <a:xfrm>
            <a:off x="6178144" y="5093208"/>
            <a:ext cx="73152" cy="1124712"/>
          </a:xfrm>
          <a:prstGeom prst="rect">
            <a:avLst/>
          </a:prstGeom>
          <a:solidFill>
            <a:srgbClr val="1A6FBE"/>
          </a:solidFill>
          <a:ln/>
        </p:spPr>
      </p:sp>
      <p:sp>
        <p:nvSpPr>
          <p:cNvPr id="81" name="Text 79"/>
          <p:cNvSpPr/>
          <p:nvPr/>
        </p:nvSpPr>
        <p:spPr>
          <a:xfrm>
            <a:off x="6434176" y="5276088"/>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Q1 · Analytics</a:t>
            </a:r>
            <a:endParaRPr lang="en-US" sz="1600" dirty="0"/>
          </a:p>
        </p:txBody>
      </p:sp>
      <p:sp>
        <p:nvSpPr>
          <p:cNvPr id="82" name="Text 80"/>
          <p:cNvSpPr/>
          <p:nvPr/>
        </p:nvSpPr>
        <p:spPr>
          <a:xfrm>
            <a:off x="6434176" y="5660136"/>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Closed-loop reporting + benchmarks.</a:t>
            </a:r>
            <a:endParaRPr lang="en-US" sz="1200" dirty="0"/>
          </a:p>
        </p:txBody>
      </p:sp>
      <p:sp>
        <p:nvSpPr>
          <p:cNvPr id="83" name="Shape 81"/>
          <p:cNvSpPr/>
          <p:nvPr/>
        </p:nvSpPr>
        <p:spPr>
          <a:xfrm>
            <a:off x="548640" y="502920"/>
            <a:ext cx="292608" cy="292608"/>
          </a:xfrm>
          <a:prstGeom prst="roundRect">
            <a:avLst>
              <a:gd name="adj" fmla="val 25000"/>
            </a:avLst>
          </a:prstGeom>
          <a:solidFill>
            <a:srgbClr val="5028C2"/>
          </a:solidFill>
          <a:ln/>
        </p:spPr>
      </p:sp>
      <p:sp>
        <p:nvSpPr>
          <p:cNvPr id="84" name="Shape 82"/>
          <p:cNvSpPr/>
          <p:nvPr/>
        </p:nvSpPr>
        <p:spPr>
          <a:xfrm>
            <a:off x="548640" y="502920"/>
            <a:ext cx="292608" cy="292608"/>
          </a:xfrm>
          <a:prstGeom prst="roundRect">
            <a:avLst>
              <a:gd name="adj" fmla="val 25000"/>
            </a:avLst>
          </a:prstGeom>
          <a:solidFill>
            <a:srgbClr val="1A6FBE">
              <a:alpha val="50000"/>
            </a:srgbClr>
          </a:solidFill>
          <a:ln/>
        </p:spPr>
      </p:sp>
      <p:sp>
        <p:nvSpPr>
          <p:cNvPr id="85" name="Text 83"/>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86" name="Text 84"/>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87" name="Text 85"/>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16 · Roadmap preview  ·  vG</a:t>
            </a:r>
            <a:endParaRPr lang="en-US" sz="900" dirty="0"/>
          </a:p>
        </p:txBody>
      </p:sp>
      <p:sp>
        <p:nvSpPr>
          <p:cNvPr id="88" name="Text 86"/>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89" name="Text 87"/>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112 / 126</a:t>
            </a:r>
            <a:endParaRPr lang="en-US" sz="9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80015" y="-914400"/>
            <a:ext cx="3200400" cy="3200400"/>
          </a:xfrm>
          <a:prstGeom prst="ellipse">
            <a:avLst/>
          </a:prstGeom>
          <a:solidFill>
            <a:srgbClr val="F1ECFF"/>
          </a:solidFill>
          <a:ln/>
        </p:spPr>
      </p:sp>
      <p:sp>
        <p:nvSpPr>
          <p:cNvPr id="3" name="Shape 1"/>
          <p:cNvSpPr/>
          <p:nvPr/>
        </p:nvSpPr>
        <p:spPr>
          <a:xfrm>
            <a:off x="10820095" y="-548640"/>
            <a:ext cx="2194560" cy="2194560"/>
          </a:xfrm>
          <a:prstGeom prst="ellipse">
            <a:avLst/>
          </a:prstGeom>
          <a:solidFill>
            <a:srgbClr val="E8F1FB">
              <a:alpha val="60000"/>
            </a:srgbClr>
          </a:solidFill>
          <a:ln/>
        </p:spPr>
      </p:sp>
      <p:sp>
        <p:nvSpPr>
          <p:cNvPr id="4" name="Shape 2"/>
          <p:cNvSpPr/>
          <p:nvPr/>
        </p:nvSpPr>
        <p:spPr>
          <a:xfrm>
            <a:off x="548640" y="5486400"/>
            <a:ext cx="54864" cy="54864"/>
          </a:xfrm>
          <a:prstGeom prst="ellipse">
            <a:avLst/>
          </a:prstGeom>
          <a:solidFill>
            <a:srgbClr val="5028C2">
              <a:alpha val="30000"/>
            </a:srgbClr>
          </a:solidFill>
          <a:ln/>
        </p:spPr>
      </p:sp>
      <p:sp>
        <p:nvSpPr>
          <p:cNvPr id="5" name="Shape 3"/>
          <p:cNvSpPr/>
          <p:nvPr/>
        </p:nvSpPr>
        <p:spPr>
          <a:xfrm>
            <a:off x="548640" y="5650992"/>
            <a:ext cx="54864" cy="54864"/>
          </a:xfrm>
          <a:prstGeom prst="ellipse">
            <a:avLst/>
          </a:prstGeom>
          <a:solidFill>
            <a:srgbClr val="5028C2">
              <a:alpha val="30000"/>
            </a:srgbClr>
          </a:solidFill>
          <a:ln/>
        </p:spPr>
      </p:sp>
      <p:sp>
        <p:nvSpPr>
          <p:cNvPr id="6" name="Shape 4"/>
          <p:cNvSpPr/>
          <p:nvPr/>
        </p:nvSpPr>
        <p:spPr>
          <a:xfrm>
            <a:off x="548640" y="5815584"/>
            <a:ext cx="54864" cy="54864"/>
          </a:xfrm>
          <a:prstGeom prst="ellipse">
            <a:avLst/>
          </a:prstGeom>
          <a:solidFill>
            <a:srgbClr val="5028C2">
              <a:alpha val="30000"/>
            </a:srgbClr>
          </a:solidFill>
          <a:ln/>
        </p:spPr>
      </p:sp>
      <p:sp>
        <p:nvSpPr>
          <p:cNvPr id="7" name="Shape 5"/>
          <p:cNvSpPr/>
          <p:nvPr/>
        </p:nvSpPr>
        <p:spPr>
          <a:xfrm>
            <a:off x="713232" y="5486400"/>
            <a:ext cx="54864" cy="54864"/>
          </a:xfrm>
          <a:prstGeom prst="ellipse">
            <a:avLst/>
          </a:prstGeom>
          <a:solidFill>
            <a:srgbClr val="5028C2">
              <a:alpha val="30000"/>
            </a:srgbClr>
          </a:solidFill>
          <a:ln/>
        </p:spPr>
      </p:sp>
      <p:sp>
        <p:nvSpPr>
          <p:cNvPr id="8" name="Shape 6"/>
          <p:cNvSpPr/>
          <p:nvPr/>
        </p:nvSpPr>
        <p:spPr>
          <a:xfrm>
            <a:off x="713232" y="5650992"/>
            <a:ext cx="54864" cy="54864"/>
          </a:xfrm>
          <a:prstGeom prst="ellipse">
            <a:avLst/>
          </a:prstGeom>
          <a:solidFill>
            <a:srgbClr val="5028C2">
              <a:alpha val="30000"/>
            </a:srgbClr>
          </a:solidFill>
          <a:ln/>
        </p:spPr>
      </p:sp>
      <p:sp>
        <p:nvSpPr>
          <p:cNvPr id="9" name="Shape 7"/>
          <p:cNvSpPr/>
          <p:nvPr/>
        </p:nvSpPr>
        <p:spPr>
          <a:xfrm>
            <a:off x="713232" y="5815584"/>
            <a:ext cx="54864" cy="54864"/>
          </a:xfrm>
          <a:prstGeom prst="ellipse">
            <a:avLst/>
          </a:prstGeom>
          <a:solidFill>
            <a:srgbClr val="5028C2">
              <a:alpha val="30000"/>
            </a:srgbClr>
          </a:solidFill>
          <a:ln/>
        </p:spPr>
      </p:sp>
      <p:sp>
        <p:nvSpPr>
          <p:cNvPr id="10" name="Shape 8"/>
          <p:cNvSpPr/>
          <p:nvPr/>
        </p:nvSpPr>
        <p:spPr>
          <a:xfrm>
            <a:off x="877824" y="5486400"/>
            <a:ext cx="54864" cy="54864"/>
          </a:xfrm>
          <a:prstGeom prst="ellipse">
            <a:avLst/>
          </a:prstGeom>
          <a:solidFill>
            <a:srgbClr val="5028C2">
              <a:alpha val="30000"/>
            </a:srgbClr>
          </a:solidFill>
          <a:ln/>
        </p:spPr>
      </p:sp>
      <p:sp>
        <p:nvSpPr>
          <p:cNvPr id="11" name="Shape 9"/>
          <p:cNvSpPr/>
          <p:nvPr/>
        </p:nvSpPr>
        <p:spPr>
          <a:xfrm>
            <a:off x="877824" y="5650992"/>
            <a:ext cx="54864" cy="54864"/>
          </a:xfrm>
          <a:prstGeom prst="ellipse">
            <a:avLst/>
          </a:prstGeom>
          <a:solidFill>
            <a:srgbClr val="5028C2">
              <a:alpha val="30000"/>
            </a:srgbClr>
          </a:solidFill>
          <a:ln/>
        </p:spPr>
      </p:sp>
      <p:sp>
        <p:nvSpPr>
          <p:cNvPr id="12" name="Shape 10"/>
          <p:cNvSpPr/>
          <p:nvPr/>
        </p:nvSpPr>
        <p:spPr>
          <a:xfrm>
            <a:off x="877824" y="5815584"/>
            <a:ext cx="54864" cy="54864"/>
          </a:xfrm>
          <a:prstGeom prst="ellipse">
            <a:avLst/>
          </a:prstGeom>
          <a:solidFill>
            <a:srgbClr val="5028C2">
              <a:alpha val="30000"/>
            </a:srgbClr>
          </a:solidFill>
          <a:ln/>
        </p:spPr>
      </p:sp>
      <p:sp>
        <p:nvSpPr>
          <p:cNvPr id="13" name="Shape 11"/>
          <p:cNvSpPr/>
          <p:nvPr/>
        </p:nvSpPr>
        <p:spPr>
          <a:xfrm>
            <a:off x="1042416" y="5486400"/>
            <a:ext cx="54864" cy="54864"/>
          </a:xfrm>
          <a:prstGeom prst="ellipse">
            <a:avLst/>
          </a:prstGeom>
          <a:solidFill>
            <a:srgbClr val="5028C2">
              <a:alpha val="30000"/>
            </a:srgbClr>
          </a:solidFill>
          <a:ln/>
        </p:spPr>
      </p:sp>
      <p:sp>
        <p:nvSpPr>
          <p:cNvPr id="14" name="Shape 12"/>
          <p:cNvSpPr/>
          <p:nvPr/>
        </p:nvSpPr>
        <p:spPr>
          <a:xfrm>
            <a:off x="1042416" y="5650992"/>
            <a:ext cx="54864" cy="54864"/>
          </a:xfrm>
          <a:prstGeom prst="ellipse">
            <a:avLst/>
          </a:prstGeom>
          <a:solidFill>
            <a:srgbClr val="5028C2">
              <a:alpha val="30000"/>
            </a:srgbClr>
          </a:solidFill>
          <a:ln/>
        </p:spPr>
      </p:sp>
      <p:sp>
        <p:nvSpPr>
          <p:cNvPr id="15" name="Shape 13"/>
          <p:cNvSpPr/>
          <p:nvPr/>
        </p:nvSpPr>
        <p:spPr>
          <a:xfrm>
            <a:off x="1042416" y="5815584"/>
            <a:ext cx="54864" cy="54864"/>
          </a:xfrm>
          <a:prstGeom prst="ellipse">
            <a:avLst/>
          </a:prstGeom>
          <a:solidFill>
            <a:srgbClr val="5028C2">
              <a:alpha val="30000"/>
            </a:srgbClr>
          </a:solidFill>
          <a:ln/>
        </p:spPr>
      </p:sp>
      <p:sp>
        <p:nvSpPr>
          <p:cNvPr id="16" name="Shape 14"/>
          <p:cNvSpPr/>
          <p:nvPr/>
        </p:nvSpPr>
        <p:spPr>
          <a:xfrm>
            <a:off x="1207008" y="5486400"/>
            <a:ext cx="54864" cy="54864"/>
          </a:xfrm>
          <a:prstGeom prst="ellipse">
            <a:avLst/>
          </a:prstGeom>
          <a:solidFill>
            <a:srgbClr val="5028C2">
              <a:alpha val="30000"/>
            </a:srgbClr>
          </a:solidFill>
          <a:ln/>
        </p:spPr>
      </p:sp>
      <p:sp>
        <p:nvSpPr>
          <p:cNvPr id="17" name="Shape 15"/>
          <p:cNvSpPr/>
          <p:nvPr/>
        </p:nvSpPr>
        <p:spPr>
          <a:xfrm>
            <a:off x="1207008" y="5650992"/>
            <a:ext cx="54864" cy="54864"/>
          </a:xfrm>
          <a:prstGeom prst="ellipse">
            <a:avLst/>
          </a:prstGeom>
          <a:solidFill>
            <a:srgbClr val="5028C2">
              <a:alpha val="30000"/>
            </a:srgbClr>
          </a:solidFill>
          <a:ln/>
        </p:spPr>
      </p:sp>
      <p:sp>
        <p:nvSpPr>
          <p:cNvPr id="18" name="Shape 16"/>
          <p:cNvSpPr/>
          <p:nvPr/>
        </p:nvSpPr>
        <p:spPr>
          <a:xfrm>
            <a:off x="1207008" y="5815584"/>
            <a:ext cx="54864" cy="54864"/>
          </a:xfrm>
          <a:prstGeom prst="ellipse">
            <a:avLst/>
          </a:prstGeom>
          <a:solidFill>
            <a:srgbClr val="5028C2">
              <a:alpha val="30000"/>
            </a:srgbClr>
          </a:solidFill>
          <a:ln/>
        </p:spPr>
      </p:sp>
      <p:sp>
        <p:nvSpPr>
          <p:cNvPr id="19" name="Shape 17"/>
          <p:cNvSpPr/>
          <p:nvPr/>
        </p:nvSpPr>
        <p:spPr>
          <a:xfrm>
            <a:off x="1371600" y="5486400"/>
            <a:ext cx="54864" cy="54864"/>
          </a:xfrm>
          <a:prstGeom prst="ellipse">
            <a:avLst/>
          </a:prstGeom>
          <a:solidFill>
            <a:srgbClr val="5028C2">
              <a:alpha val="30000"/>
            </a:srgbClr>
          </a:solidFill>
          <a:ln/>
        </p:spPr>
      </p:sp>
      <p:sp>
        <p:nvSpPr>
          <p:cNvPr id="20" name="Shape 18"/>
          <p:cNvSpPr/>
          <p:nvPr/>
        </p:nvSpPr>
        <p:spPr>
          <a:xfrm>
            <a:off x="1371600" y="5650992"/>
            <a:ext cx="54864" cy="54864"/>
          </a:xfrm>
          <a:prstGeom prst="ellipse">
            <a:avLst/>
          </a:prstGeom>
          <a:solidFill>
            <a:srgbClr val="5028C2">
              <a:alpha val="30000"/>
            </a:srgbClr>
          </a:solidFill>
          <a:ln/>
        </p:spPr>
      </p:sp>
      <p:sp>
        <p:nvSpPr>
          <p:cNvPr id="21" name="Shape 19"/>
          <p:cNvSpPr/>
          <p:nvPr/>
        </p:nvSpPr>
        <p:spPr>
          <a:xfrm>
            <a:off x="1371600" y="5815584"/>
            <a:ext cx="54864" cy="54864"/>
          </a:xfrm>
          <a:prstGeom prst="ellipse">
            <a:avLst/>
          </a:prstGeom>
          <a:solidFill>
            <a:srgbClr val="5028C2">
              <a:alpha val="30000"/>
            </a:srgbClr>
          </a:solidFill>
          <a:ln/>
        </p:spPr>
      </p:sp>
      <p:sp>
        <p:nvSpPr>
          <p:cNvPr id="22" name="Text 20"/>
          <p:cNvSpPr/>
          <p:nvPr/>
        </p:nvSpPr>
        <p:spPr>
          <a:xfrm>
            <a:off x="548640" y="1097280"/>
            <a:ext cx="11094415"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GET STARTED</a:t>
            </a:r>
            <a:endParaRPr lang="en-US" sz="1100" dirty="0"/>
          </a:p>
        </p:txBody>
      </p:sp>
      <p:sp>
        <p:nvSpPr>
          <p:cNvPr id="23" name="Text 21"/>
          <p:cNvSpPr/>
          <p:nvPr/>
        </p:nvSpPr>
        <p:spPr>
          <a:xfrm>
            <a:off x="548640" y="1554480"/>
            <a:ext cx="11094415" cy="3108960"/>
          </a:xfrm>
          <a:prstGeom prst="rect">
            <a:avLst/>
          </a:prstGeom>
          <a:noFill/>
          <a:ln/>
        </p:spPr>
        <p:txBody>
          <a:bodyPr wrap="square" lIns="0" tIns="0" rIns="0" bIns="0" rtlCol="0" anchor="t"/>
          <a:lstStyle/>
          <a:p>
            <a:pPr algn="l" indent="0" marL="0">
              <a:buNone/>
            </a:pPr>
            <a:r>
              <a:rPr lang="en-US" sz="6000" b="1" spc="-100" kern="0" dirty="0">
                <a:solidFill>
                  <a:srgbClr val="0F1733"/>
                </a:solidFill>
                <a:latin typeface="Calibri" pitchFamily="34" charset="0"/>
                <a:ea typeface="Calibri" pitchFamily="34" charset="-122"/>
                <a:cs typeface="Calibri" pitchFamily="34" charset="-120"/>
              </a:rPr>
              <a:t>Try it on a real campaign this week.</a:t>
            </a:r>
            <a:endParaRPr lang="en-US" sz="6000" dirty="0"/>
          </a:p>
        </p:txBody>
      </p:sp>
      <p:sp>
        <p:nvSpPr>
          <p:cNvPr id="24" name="Text 22"/>
          <p:cNvSpPr/>
          <p:nvPr/>
        </p:nvSpPr>
        <p:spPr>
          <a:xfrm>
            <a:off x="548640" y="4754880"/>
            <a:ext cx="9265615" cy="1097280"/>
          </a:xfrm>
          <a:prstGeom prst="rect">
            <a:avLst/>
          </a:prstGeom>
          <a:noFill/>
          <a:ln/>
        </p:spPr>
        <p:txBody>
          <a:bodyPr wrap="square" lIns="0" tIns="0" rIns="0" bIns="0" rtlCol="0" anchor="t"/>
          <a:lstStyle/>
          <a:p>
            <a:pPr algn="l" indent="0" marL="0">
              <a:buNone/>
            </a:pPr>
            <a:r>
              <a:rPr lang="en-US" sz="1800" dirty="0">
                <a:solidFill>
                  <a:srgbClr val="2A3358"/>
                </a:solidFill>
                <a:latin typeface="Calibri" pitchFamily="34" charset="0"/>
                <a:ea typeface="Calibri" pitchFamily="34" charset="-122"/>
                <a:cs typeface="Calibri" pitchFamily="34" charset="-120"/>
              </a:rPr>
              <a:t>Sign up at creatoroutreach.net. First 10 customers get $20/mo locked forever. No demo call required.</a:t>
            </a:r>
            <a:endParaRPr lang="en-US" sz="1800" dirty="0"/>
          </a:p>
        </p:txBody>
      </p:sp>
      <p:sp>
        <p:nvSpPr>
          <p:cNvPr id="25" name="Shape 23"/>
          <p:cNvSpPr/>
          <p:nvPr/>
        </p:nvSpPr>
        <p:spPr>
          <a:xfrm>
            <a:off x="548640" y="502920"/>
            <a:ext cx="292608" cy="292608"/>
          </a:xfrm>
          <a:prstGeom prst="roundRect">
            <a:avLst>
              <a:gd name="adj" fmla="val 25000"/>
            </a:avLst>
          </a:prstGeom>
          <a:solidFill>
            <a:srgbClr val="5028C2"/>
          </a:solidFill>
          <a:ln/>
        </p:spPr>
      </p:sp>
      <p:sp>
        <p:nvSpPr>
          <p:cNvPr id="26" name="Shape 24"/>
          <p:cNvSpPr/>
          <p:nvPr/>
        </p:nvSpPr>
        <p:spPr>
          <a:xfrm>
            <a:off x="548640" y="502920"/>
            <a:ext cx="292608" cy="292608"/>
          </a:xfrm>
          <a:prstGeom prst="roundRect">
            <a:avLst>
              <a:gd name="adj" fmla="val 25000"/>
            </a:avLst>
          </a:prstGeom>
          <a:solidFill>
            <a:srgbClr val="1A6FBE">
              <a:alpha val="50000"/>
            </a:srgbClr>
          </a:solidFill>
          <a:ln/>
        </p:spPr>
      </p:sp>
      <p:sp>
        <p:nvSpPr>
          <p:cNvPr id="27" name="Text 25"/>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8" name="Text 26"/>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9" name="Text 27"/>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17 · Get started  ·  vA</a:t>
            </a:r>
            <a:endParaRPr lang="en-US" sz="900" dirty="0"/>
          </a:p>
        </p:txBody>
      </p:sp>
      <p:sp>
        <p:nvSpPr>
          <p:cNvPr id="30" name="Text 28"/>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31" name="Text 29"/>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113 / 126</a:t>
            </a:r>
            <a:endParaRPr lang="en-US" sz="9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071183" y="0"/>
            <a:ext cx="5120512" cy="116300"/>
          </a:xfrm>
          <a:prstGeom prst="rect">
            <a:avLst/>
          </a:prstGeom>
          <a:solidFill>
            <a:srgbClr val="5028C2"/>
          </a:solidFill>
          <a:ln/>
        </p:spPr>
      </p:sp>
      <p:sp>
        <p:nvSpPr>
          <p:cNvPr id="3" name="Shape 1"/>
          <p:cNvSpPr/>
          <p:nvPr/>
        </p:nvSpPr>
        <p:spPr>
          <a:xfrm>
            <a:off x="7071183" y="107156"/>
            <a:ext cx="5120512" cy="116300"/>
          </a:xfrm>
          <a:prstGeom prst="rect">
            <a:avLst/>
          </a:prstGeom>
          <a:solidFill>
            <a:srgbClr val="4F29C2"/>
          </a:solidFill>
          <a:ln/>
        </p:spPr>
      </p:sp>
      <p:sp>
        <p:nvSpPr>
          <p:cNvPr id="4" name="Shape 2"/>
          <p:cNvSpPr/>
          <p:nvPr/>
        </p:nvSpPr>
        <p:spPr>
          <a:xfrm>
            <a:off x="7071183" y="214313"/>
            <a:ext cx="5120512" cy="116300"/>
          </a:xfrm>
          <a:prstGeom prst="rect">
            <a:avLst/>
          </a:prstGeom>
          <a:solidFill>
            <a:srgbClr val="4E2AC3"/>
          </a:solidFill>
          <a:ln/>
        </p:spPr>
      </p:sp>
      <p:sp>
        <p:nvSpPr>
          <p:cNvPr id="5" name="Shape 3"/>
          <p:cNvSpPr/>
          <p:nvPr/>
        </p:nvSpPr>
        <p:spPr>
          <a:xfrm>
            <a:off x="7071183" y="321469"/>
            <a:ext cx="5120512" cy="116300"/>
          </a:xfrm>
          <a:prstGeom prst="rect">
            <a:avLst/>
          </a:prstGeom>
          <a:solidFill>
            <a:srgbClr val="4D2BC3"/>
          </a:solidFill>
          <a:ln/>
        </p:spPr>
      </p:sp>
      <p:sp>
        <p:nvSpPr>
          <p:cNvPr id="6" name="Shape 4"/>
          <p:cNvSpPr/>
          <p:nvPr/>
        </p:nvSpPr>
        <p:spPr>
          <a:xfrm>
            <a:off x="7071183" y="428625"/>
            <a:ext cx="5120512" cy="116300"/>
          </a:xfrm>
          <a:prstGeom prst="rect">
            <a:avLst/>
          </a:prstGeom>
          <a:solidFill>
            <a:srgbClr val="4D2CC4"/>
          </a:solidFill>
          <a:ln/>
        </p:spPr>
      </p:sp>
      <p:sp>
        <p:nvSpPr>
          <p:cNvPr id="7" name="Shape 5"/>
          <p:cNvSpPr/>
          <p:nvPr/>
        </p:nvSpPr>
        <p:spPr>
          <a:xfrm>
            <a:off x="7071183" y="535781"/>
            <a:ext cx="5120512" cy="116300"/>
          </a:xfrm>
          <a:prstGeom prst="rect">
            <a:avLst/>
          </a:prstGeom>
          <a:solidFill>
            <a:srgbClr val="4C2DC4"/>
          </a:solidFill>
          <a:ln/>
        </p:spPr>
      </p:sp>
      <p:sp>
        <p:nvSpPr>
          <p:cNvPr id="8" name="Shape 6"/>
          <p:cNvSpPr/>
          <p:nvPr/>
        </p:nvSpPr>
        <p:spPr>
          <a:xfrm>
            <a:off x="7071183" y="642938"/>
            <a:ext cx="5120512" cy="116300"/>
          </a:xfrm>
          <a:prstGeom prst="rect">
            <a:avLst/>
          </a:prstGeom>
          <a:solidFill>
            <a:srgbClr val="4B2EC5"/>
          </a:solidFill>
          <a:ln/>
        </p:spPr>
      </p:sp>
      <p:sp>
        <p:nvSpPr>
          <p:cNvPr id="9" name="Shape 7"/>
          <p:cNvSpPr/>
          <p:nvPr/>
        </p:nvSpPr>
        <p:spPr>
          <a:xfrm>
            <a:off x="7071183" y="750094"/>
            <a:ext cx="5120512" cy="116300"/>
          </a:xfrm>
          <a:prstGeom prst="rect">
            <a:avLst/>
          </a:prstGeom>
          <a:solidFill>
            <a:srgbClr val="4A2FC5"/>
          </a:solidFill>
          <a:ln/>
        </p:spPr>
      </p:sp>
      <p:sp>
        <p:nvSpPr>
          <p:cNvPr id="10" name="Shape 8"/>
          <p:cNvSpPr/>
          <p:nvPr/>
        </p:nvSpPr>
        <p:spPr>
          <a:xfrm>
            <a:off x="7071183" y="857250"/>
            <a:ext cx="5120512" cy="116300"/>
          </a:xfrm>
          <a:prstGeom prst="rect">
            <a:avLst/>
          </a:prstGeom>
          <a:solidFill>
            <a:srgbClr val="4930C6"/>
          </a:solidFill>
          <a:ln/>
        </p:spPr>
      </p:sp>
      <p:sp>
        <p:nvSpPr>
          <p:cNvPr id="11" name="Shape 9"/>
          <p:cNvSpPr/>
          <p:nvPr/>
        </p:nvSpPr>
        <p:spPr>
          <a:xfrm>
            <a:off x="7071183" y="964406"/>
            <a:ext cx="5120512" cy="116300"/>
          </a:xfrm>
          <a:prstGeom prst="rect">
            <a:avLst/>
          </a:prstGeom>
          <a:solidFill>
            <a:srgbClr val="4831C6"/>
          </a:solidFill>
          <a:ln/>
        </p:spPr>
      </p:sp>
      <p:sp>
        <p:nvSpPr>
          <p:cNvPr id="12" name="Shape 10"/>
          <p:cNvSpPr/>
          <p:nvPr/>
        </p:nvSpPr>
        <p:spPr>
          <a:xfrm>
            <a:off x="7071183" y="1071563"/>
            <a:ext cx="5120512" cy="116300"/>
          </a:xfrm>
          <a:prstGeom prst="rect">
            <a:avLst/>
          </a:prstGeom>
          <a:solidFill>
            <a:srgbClr val="4732C6"/>
          </a:solidFill>
          <a:ln/>
        </p:spPr>
      </p:sp>
      <p:sp>
        <p:nvSpPr>
          <p:cNvPr id="13" name="Shape 11"/>
          <p:cNvSpPr/>
          <p:nvPr/>
        </p:nvSpPr>
        <p:spPr>
          <a:xfrm>
            <a:off x="7071183" y="1178719"/>
            <a:ext cx="5120512" cy="116300"/>
          </a:xfrm>
          <a:prstGeom prst="rect">
            <a:avLst/>
          </a:prstGeom>
          <a:solidFill>
            <a:srgbClr val="4733C7"/>
          </a:solidFill>
          <a:ln/>
        </p:spPr>
      </p:sp>
      <p:sp>
        <p:nvSpPr>
          <p:cNvPr id="14" name="Shape 12"/>
          <p:cNvSpPr/>
          <p:nvPr/>
        </p:nvSpPr>
        <p:spPr>
          <a:xfrm>
            <a:off x="7071183" y="1285875"/>
            <a:ext cx="5120512" cy="116300"/>
          </a:xfrm>
          <a:prstGeom prst="rect">
            <a:avLst/>
          </a:prstGeom>
          <a:solidFill>
            <a:srgbClr val="4634C7"/>
          </a:solidFill>
          <a:ln/>
        </p:spPr>
      </p:sp>
      <p:sp>
        <p:nvSpPr>
          <p:cNvPr id="15" name="Shape 13"/>
          <p:cNvSpPr/>
          <p:nvPr/>
        </p:nvSpPr>
        <p:spPr>
          <a:xfrm>
            <a:off x="7071183" y="1393031"/>
            <a:ext cx="5120512" cy="116300"/>
          </a:xfrm>
          <a:prstGeom prst="rect">
            <a:avLst/>
          </a:prstGeom>
          <a:solidFill>
            <a:srgbClr val="4535C8"/>
          </a:solidFill>
          <a:ln/>
        </p:spPr>
      </p:sp>
      <p:sp>
        <p:nvSpPr>
          <p:cNvPr id="16" name="Shape 14"/>
          <p:cNvSpPr/>
          <p:nvPr/>
        </p:nvSpPr>
        <p:spPr>
          <a:xfrm>
            <a:off x="7071183" y="1500188"/>
            <a:ext cx="5120512" cy="116300"/>
          </a:xfrm>
          <a:prstGeom prst="rect">
            <a:avLst/>
          </a:prstGeom>
          <a:solidFill>
            <a:srgbClr val="4436C8"/>
          </a:solidFill>
          <a:ln/>
        </p:spPr>
      </p:sp>
      <p:sp>
        <p:nvSpPr>
          <p:cNvPr id="17" name="Shape 15"/>
          <p:cNvSpPr/>
          <p:nvPr/>
        </p:nvSpPr>
        <p:spPr>
          <a:xfrm>
            <a:off x="7071183" y="1607344"/>
            <a:ext cx="5120512" cy="116300"/>
          </a:xfrm>
          <a:prstGeom prst="rect">
            <a:avLst/>
          </a:prstGeom>
          <a:solidFill>
            <a:srgbClr val="4337C9"/>
          </a:solidFill>
          <a:ln/>
        </p:spPr>
      </p:sp>
      <p:sp>
        <p:nvSpPr>
          <p:cNvPr id="18" name="Shape 16"/>
          <p:cNvSpPr/>
          <p:nvPr/>
        </p:nvSpPr>
        <p:spPr>
          <a:xfrm>
            <a:off x="7071183" y="1714500"/>
            <a:ext cx="5120512" cy="116300"/>
          </a:xfrm>
          <a:prstGeom prst="rect">
            <a:avLst/>
          </a:prstGeom>
          <a:solidFill>
            <a:srgbClr val="4238C9"/>
          </a:solidFill>
          <a:ln/>
        </p:spPr>
      </p:sp>
      <p:sp>
        <p:nvSpPr>
          <p:cNvPr id="19" name="Shape 17"/>
          <p:cNvSpPr/>
          <p:nvPr/>
        </p:nvSpPr>
        <p:spPr>
          <a:xfrm>
            <a:off x="7071183" y="1821656"/>
            <a:ext cx="5120512" cy="116300"/>
          </a:xfrm>
          <a:prstGeom prst="rect">
            <a:avLst/>
          </a:prstGeom>
          <a:solidFill>
            <a:srgbClr val="4139CA"/>
          </a:solidFill>
          <a:ln/>
        </p:spPr>
      </p:sp>
      <p:sp>
        <p:nvSpPr>
          <p:cNvPr id="20" name="Shape 18"/>
          <p:cNvSpPr/>
          <p:nvPr/>
        </p:nvSpPr>
        <p:spPr>
          <a:xfrm>
            <a:off x="7071183" y="1928813"/>
            <a:ext cx="5120512" cy="116300"/>
          </a:xfrm>
          <a:prstGeom prst="rect">
            <a:avLst/>
          </a:prstGeom>
          <a:solidFill>
            <a:srgbClr val="413ACA"/>
          </a:solidFill>
          <a:ln/>
        </p:spPr>
      </p:sp>
      <p:sp>
        <p:nvSpPr>
          <p:cNvPr id="21" name="Shape 19"/>
          <p:cNvSpPr/>
          <p:nvPr/>
        </p:nvSpPr>
        <p:spPr>
          <a:xfrm>
            <a:off x="7071183" y="2035969"/>
            <a:ext cx="5120512" cy="116300"/>
          </a:xfrm>
          <a:prstGeom prst="rect">
            <a:avLst/>
          </a:prstGeom>
          <a:solidFill>
            <a:srgbClr val="403BCA"/>
          </a:solidFill>
          <a:ln/>
        </p:spPr>
      </p:sp>
      <p:sp>
        <p:nvSpPr>
          <p:cNvPr id="22" name="Shape 20"/>
          <p:cNvSpPr/>
          <p:nvPr/>
        </p:nvSpPr>
        <p:spPr>
          <a:xfrm>
            <a:off x="7071183" y="2143125"/>
            <a:ext cx="5120512" cy="116300"/>
          </a:xfrm>
          <a:prstGeom prst="rect">
            <a:avLst/>
          </a:prstGeom>
          <a:solidFill>
            <a:srgbClr val="3F3CCB"/>
          </a:solidFill>
          <a:ln/>
        </p:spPr>
      </p:sp>
      <p:sp>
        <p:nvSpPr>
          <p:cNvPr id="23" name="Shape 21"/>
          <p:cNvSpPr/>
          <p:nvPr/>
        </p:nvSpPr>
        <p:spPr>
          <a:xfrm>
            <a:off x="7071183" y="2250281"/>
            <a:ext cx="5120512" cy="116300"/>
          </a:xfrm>
          <a:prstGeom prst="rect">
            <a:avLst/>
          </a:prstGeom>
          <a:solidFill>
            <a:srgbClr val="3E3DCB"/>
          </a:solidFill>
          <a:ln/>
        </p:spPr>
      </p:sp>
      <p:sp>
        <p:nvSpPr>
          <p:cNvPr id="24" name="Shape 22"/>
          <p:cNvSpPr/>
          <p:nvPr/>
        </p:nvSpPr>
        <p:spPr>
          <a:xfrm>
            <a:off x="7071183" y="2357438"/>
            <a:ext cx="5120512" cy="116300"/>
          </a:xfrm>
          <a:prstGeom prst="rect">
            <a:avLst/>
          </a:prstGeom>
          <a:solidFill>
            <a:srgbClr val="3D3ECC"/>
          </a:solidFill>
          <a:ln/>
        </p:spPr>
      </p:sp>
      <p:sp>
        <p:nvSpPr>
          <p:cNvPr id="25" name="Shape 23"/>
          <p:cNvSpPr/>
          <p:nvPr/>
        </p:nvSpPr>
        <p:spPr>
          <a:xfrm>
            <a:off x="7071183" y="2464594"/>
            <a:ext cx="5120512" cy="116300"/>
          </a:xfrm>
          <a:prstGeom prst="rect">
            <a:avLst/>
          </a:prstGeom>
          <a:solidFill>
            <a:srgbClr val="3C3FCC"/>
          </a:solidFill>
          <a:ln/>
        </p:spPr>
      </p:sp>
      <p:sp>
        <p:nvSpPr>
          <p:cNvPr id="26" name="Shape 24"/>
          <p:cNvSpPr/>
          <p:nvPr/>
        </p:nvSpPr>
        <p:spPr>
          <a:xfrm>
            <a:off x="7071183" y="2571750"/>
            <a:ext cx="5120512" cy="116300"/>
          </a:xfrm>
          <a:prstGeom prst="rect">
            <a:avLst/>
          </a:prstGeom>
          <a:solidFill>
            <a:srgbClr val="3B40CD"/>
          </a:solidFill>
          <a:ln/>
        </p:spPr>
      </p:sp>
      <p:sp>
        <p:nvSpPr>
          <p:cNvPr id="27" name="Shape 25"/>
          <p:cNvSpPr/>
          <p:nvPr/>
        </p:nvSpPr>
        <p:spPr>
          <a:xfrm>
            <a:off x="7071183" y="2678906"/>
            <a:ext cx="5120512" cy="116300"/>
          </a:xfrm>
          <a:prstGeom prst="rect">
            <a:avLst/>
          </a:prstGeom>
          <a:solidFill>
            <a:srgbClr val="3B41CD"/>
          </a:solidFill>
          <a:ln/>
        </p:spPr>
      </p:sp>
      <p:sp>
        <p:nvSpPr>
          <p:cNvPr id="28" name="Shape 26"/>
          <p:cNvSpPr/>
          <p:nvPr/>
        </p:nvSpPr>
        <p:spPr>
          <a:xfrm>
            <a:off x="7071183" y="2786063"/>
            <a:ext cx="5120512" cy="116300"/>
          </a:xfrm>
          <a:prstGeom prst="rect">
            <a:avLst/>
          </a:prstGeom>
          <a:solidFill>
            <a:srgbClr val="3A42CE"/>
          </a:solidFill>
          <a:ln/>
        </p:spPr>
      </p:sp>
      <p:sp>
        <p:nvSpPr>
          <p:cNvPr id="29" name="Shape 27"/>
          <p:cNvSpPr/>
          <p:nvPr/>
        </p:nvSpPr>
        <p:spPr>
          <a:xfrm>
            <a:off x="7071183" y="2893219"/>
            <a:ext cx="5120512" cy="116300"/>
          </a:xfrm>
          <a:prstGeom prst="rect">
            <a:avLst/>
          </a:prstGeom>
          <a:solidFill>
            <a:srgbClr val="3943CE"/>
          </a:solidFill>
          <a:ln/>
        </p:spPr>
      </p:sp>
      <p:sp>
        <p:nvSpPr>
          <p:cNvPr id="30" name="Shape 28"/>
          <p:cNvSpPr/>
          <p:nvPr/>
        </p:nvSpPr>
        <p:spPr>
          <a:xfrm>
            <a:off x="7071183" y="3000375"/>
            <a:ext cx="5120512" cy="116300"/>
          </a:xfrm>
          <a:prstGeom prst="rect">
            <a:avLst/>
          </a:prstGeom>
          <a:solidFill>
            <a:srgbClr val="3844CE"/>
          </a:solidFill>
          <a:ln/>
        </p:spPr>
      </p:sp>
      <p:sp>
        <p:nvSpPr>
          <p:cNvPr id="31" name="Shape 29"/>
          <p:cNvSpPr/>
          <p:nvPr/>
        </p:nvSpPr>
        <p:spPr>
          <a:xfrm>
            <a:off x="7071183" y="3107531"/>
            <a:ext cx="5120512" cy="116300"/>
          </a:xfrm>
          <a:prstGeom prst="rect">
            <a:avLst/>
          </a:prstGeom>
          <a:solidFill>
            <a:srgbClr val="3745CF"/>
          </a:solidFill>
          <a:ln/>
        </p:spPr>
      </p:sp>
      <p:sp>
        <p:nvSpPr>
          <p:cNvPr id="32" name="Shape 30"/>
          <p:cNvSpPr/>
          <p:nvPr/>
        </p:nvSpPr>
        <p:spPr>
          <a:xfrm>
            <a:off x="7071183" y="3214688"/>
            <a:ext cx="5120512" cy="116300"/>
          </a:xfrm>
          <a:prstGeom prst="rect">
            <a:avLst/>
          </a:prstGeom>
          <a:solidFill>
            <a:srgbClr val="3646CF"/>
          </a:solidFill>
          <a:ln/>
        </p:spPr>
      </p:sp>
      <p:sp>
        <p:nvSpPr>
          <p:cNvPr id="33" name="Shape 31"/>
          <p:cNvSpPr/>
          <p:nvPr/>
        </p:nvSpPr>
        <p:spPr>
          <a:xfrm>
            <a:off x="7071183" y="3321844"/>
            <a:ext cx="5120512" cy="116300"/>
          </a:xfrm>
          <a:prstGeom prst="rect">
            <a:avLst/>
          </a:prstGeom>
          <a:solidFill>
            <a:srgbClr val="3547D0"/>
          </a:solidFill>
          <a:ln/>
        </p:spPr>
      </p:sp>
      <p:sp>
        <p:nvSpPr>
          <p:cNvPr id="34" name="Shape 32"/>
          <p:cNvSpPr/>
          <p:nvPr/>
        </p:nvSpPr>
        <p:spPr>
          <a:xfrm>
            <a:off x="7071183" y="3429000"/>
            <a:ext cx="5120512" cy="116300"/>
          </a:xfrm>
          <a:prstGeom prst="rect">
            <a:avLst/>
          </a:prstGeom>
          <a:solidFill>
            <a:srgbClr val="3549D0"/>
          </a:solidFill>
          <a:ln/>
        </p:spPr>
      </p:sp>
      <p:sp>
        <p:nvSpPr>
          <p:cNvPr id="35" name="Shape 33"/>
          <p:cNvSpPr/>
          <p:nvPr/>
        </p:nvSpPr>
        <p:spPr>
          <a:xfrm>
            <a:off x="7071183" y="3536156"/>
            <a:ext cx="5120512" cy="116300"/>
          </a:xfrm>
          <a:prstGeom prst="rect">
            <a:avLst/>
          </a:prstGeom>
          <a:solidFill>
            <a:srgbClr val="344ACF"/>
          </a:solidFill>
          <a:ln/>
        </p:spPr>
      </p:sp>
      <p:sp>
        <p:nvSpPr>
          <p:cNvPr id="36" name="Shape 34"/>
          <p:cNvSpPr/>
          <p:nvPr/>
        </p:nvSpPr>
        <p:spPr>
          <a:xfrm>
            <a:off x="7071183" y="3643313"/>
            <a:ext cx="5120512" cy="116300"/>
          </a:xfrm>
          <a:prstGeom prst="rect">
            <a:avLst/>
          </a:prstGeom>
          <a:solidFill>
            <a:srgbClr val="334BCF"/>
          </a:solidFill>
          <a:ln/>
        </p:spPr>
      </p:sp>
      <p:sp>
        <p:nvSpPr>
          <p:cNvPr id="37" name="Shape 35"/>
          <p:cNvSpPr/>
          <p:nvPr/>
        </p:nvSpPr>
        <p:spPr>
          <a:xfrm>
            <a:off x="7071183" y="3750469"/>
            <a:ext cx="5120512" cy="116300"/>
          </a:xfrm>
          <a:prstGeom prst="rect">
            <a:avLst/>
          </a:prstGeom>
          <a:solidFill>
            <a:srgbClr val="324CCE"/>
          </a:solidFill>
          <a:ln/>
        </p:spPr>
      </p:sp>
      <p:sp>
        <p:nvSpPr>
          <p:cNvPr id="38" name="Shape 36"/>
          <p:cNvSpPr/>
          <p:nvPr/>
        </p:nvSpPr>
        <p:spPr>
          <a:xfrm>
            <a:off x="7071183" y="3857625"/>
            <a:ext cx="5120512" cy="116300"/>
          </a:xfrm>
          <a:prstGeom prst="rect">
            <a:avLst/>
          </a:prstGeom>
          <a:solidFill>
            <a:srgbClr val="314ECD"/>
          </a:solidFill>
          <a:ln/>
        </p:spPr>
      </p:sp>
      <p:sp>
        <p:nvSpPr>
          <p:cNvPr id="39" name="Shape 37"/>
          <p:cNvSpPr/>
          <p:nvPr/>
        </p:nvSpPr>
        <p:spPr>
          <a:xfrm>
            <a:off x="7071183" y="3964781"/>
            <a:ext cx="5120512" cy="116300"/>
          </a:xfrm>
          <a:prstGeom prst="rect">
            <a:avLst/>
          </a:prstGeom>
          <a:solidFill>
            <a:srgbClr val="304FCD"/>
          </a:solidFill>
          <a:ln/>
        </p:spPr>
      </p:sp>
      <p:sp>
        <p:nvSpPr>
          <p:cNvPr id="40" name="Shape 38"/>
          <p:cNvSpPr/>
          <p:nvPr/>
        </p:nvSpPr>
        <p:spPr>
          <a:xfrm>
            <a:off x="7071183" y="4071938"/>
            <a:ext cx="5120512" cy="116300"/>
          </a:xfrm>
          <a:prstGeom prst="rect">
            <a:avLst/>
          </a:prstGeom>
          <a:solidFill>
            <a:srgbClr val="2F50CC"/>
          </a:solidFill>
          <a:ln/>
        </p:spPr>
      </p:sp>
      <p:sp>
        <p:nvSpPr>
          <p:cNvPr id="41" name="Shape 39"/>
          <p:cNvSpPr/>
          <p:nvPr/>
        </p:nvSpPr>
        <p:spPr>
          <a:xfrm>
            <a:off x="7071183" y="4179094"/>
            <a:ext cx="5120512" cy="116300"/>
          </a:xfrm>
          <a:prstGeom prst="rect">
            <a:avLst/>
          </a:prstGeom>
          <a:solidFill>
            <a:srgbClr val="2F51CC"/>
          </a:solidFill>
          <a:ln/>
        </p:spPr>
      </p:sp>
      <p:sp>
        <p:nvSpPr>
          <p:cNvPr id="42" name="Shape 40"/>
          <p:cNvSpPr/>
          <p:nvPr/>
        </p:nvSpPr>
        <p:spPr>
          <a:xfrm>
            <a:off x="7071183" y="4286250"/>
            <a:ext cx="5120512" cy="116300"/>
          </a:xfrm>
          <a:prstGeom prst="rect">
            <a:avLst/>
          </a:prstGeom>
          <a:solidFill>
            <a:srgbClr val="2E53CB"/>
          </a:solidFill>
          <a:ln/>
        </p:spPr>
      </p:sp>
      <p:sp>
        <p:nvSpPr>
          <p:cNvPr id="43" name="Shape 41"/>
          <p:cNvSpPr/>
          <p:nvPr/>
        </p:nvSpPr>
        <p:spPr>
          <a:xfrm>
            <a:off x="7071183" y="4393406"/>
            <a:ext cx="5120512" cy="116300"/>
          </a:xfrm>
          <a:prstGeom prst="rect">
            <a:avLst/>
          </a:prstGeom>
          <a:solidFill>
            <a:srgbClr val="2D54CB"/>
          </a:solidFill>
          <a:ln/>
        </p:spPr>
      </p:sp>
      <p:sp>
        <p:nvSpPr>
          <p:cNvPr id="44" name="Shape 42"/>
          <p:cNvSpPr/>
          <p:nvPr/>
        </p:nvSpPr>
        <p:spPr>
          <a:xfrm>
            <a:off x="7071183" y="4500563"/>
            <a:ext cx="5120512" cy="116300"/>
          </a:xfrm>
          <a:prstGeom prst="rect">
            <a:avLst/>
          </a:prstGeom>
          <a:solidFill>
            <a:srgbClr val="2C55CA"/>
          </a:solidFill>
          <a:ln/>
        </p:spPr>
      </p:sp>
      <p:sp>
        <p:nvSpPr>
          <p:cNvPr id="45" name="Shape 43"/>
          <p:cNvSpPr/>
          <p:nvPr/>
        </p:nvSpPr>
        <p:spPr>
          <a:xfrm>
            <a:off x="7071183" y="4607719"/>
            <a:ext cx="5120512" cy="116300"/>
          </a:xfrm>
          <a:prstGeom prst="rect">
            <a:avLst/>
          </a:prstGeom>
          <a:solidFill>
            <a:srgbClr val="2B56C9"/>
          </a:solidFill>
          <a:ln/>
        </p:spPr>
      </p:sp>
      <p:sp>
        <p:nvSpPr>
          <p:cNvPr id="46" name="Shape 44"/>
          <p:cNvSpPr/>
          <p:nvPr/>
        </p:nvSpPr>
        <p:spPr>
          <a:xfrm>
            <a:off x="7071183" y="4714875"/>
            <a:ext cx="5120512" cy="116300"/>
          </a:xfrm>
          <a:prstGeom prst="rect">
            <a:avLst/>
          </a:prstGeom>
          <a:solidFill>
            <a:srgbClr val="2A57C9"/>
          </a:solidFill>
          <a:ln/>
        </p:spPr>
      </p:sp>
      <p:sp>
        <p:nvSpPr>
          <p:cNvPr id="47" name="Shape 45"/>
          <p:cNvSpPr/>
          <p:nvPr/>
        </p:nvSpPr>
        <p:spPr>
          <a:xfrm>
            <a:off x="7071183" y="4822031"/>
            <a:ext cx="5120512" cy="116300"/>
          </a:xfrm>
          <a:prstGeom prst="rect">
            <a:avLst/>
          </a:prstGeom>
          <a:solidFill>
            <a:srgbClr val="2959C8"/>
          </a:solidFill>
          <a:ln/>
        </p:spPr>
      </p:sp>
      <p:sp>
        <p:nvSpPr>
          <p:cNvPr id="48" name="Shape 46"/>
          <p:cNvSpPr/>
          <p:nvPr/>
        </p:nvSpPr>
        <p:spPr>
          <a:xfrm>
            <a:off x="7071183" y="4929188"/>
            <a:ext cx="5120512" cy="116300"/>
          </a:xfrm>
          <a:prstGeom prst="rect">
            <a:avLst/>
          </a:prstGeom>
          <a:solidFill>
            <a:srgbClr val="295AC8"/>
          </a:solidFill>
          <a:ln/>
        </p:spPr>
      </p:sp>
      <p:sp>
        <p:nvSpPr>
          <p:cNvPr id="49" name="Shape 47"/>
          <p:cNvSpPr/>
          <p:nvPr/>
        </p:nvSpPr>
        <p:spPr>
          <a:xfrm>
            <a:off x="7071183" y="5036344"/>
            <a:ext cx="5120512" cy="116300"/>
          </a:xfrm>
          <a:prstGeom prst="rect">
            <a:avLst/>
          </a:prstGeom>
          <a:solidFill>
            <a:srgbClr val="285BC7"/>
          </a:solidFill>
          <a:ln/>
        </p:spPr>
      </p:sp>
      <p:sp>
        <p:nvSpPr>
          <p:cNvPr id="50" name="Shape 48"/>
          <p:cNvSpPr/>
          <p:nvPr/>
        </p:nvSpPr>
        <p:spPr>
          <a:xfrm>
            <a:off x="7071183" y="5143500"/>
            <a:ext cx="5120512" cy="116300"/>
          </a:xfrm>
          <a:prstGeom prst="rect">
            <a:avLst/>
          </a:prstGeom>
          <a:solidFill>
            <a:srgbClr val="275CC7"/>
          </a:solidFill>
          <a:ln/>
        </p:spPr>
      </p:sp>
      <p:sp>
        <p:nvSpPr>
          <p:cNvPr id="51" name="Shape 49"/>
          <p:cNvSpPr/>
          <p:nvPr/>
        </p:nvSpPr>
        <p:spPr>
          <a:xfrm>
            <a:off x="7071183" y="5250656"/>
            <a:ext cx="5120512" cy="116300"/>
          </a:xfrm>
          <a:prstGeom prst="rect">
            <a:avLst/>
          </a:prstGeom>
          <a:solidFill>
            <a:srgbClr val="265EC6"/>
          </a:solidFill>
          <a:ln/>
        </p:spPr>
      </p:sp>
      <p:sp>
        <p:nvSpPr>
          <p:cNvPr id="52" name="Shape 50"/>
          <p:cNvSpPr/>
          <p:nvPr/>
        </p:nvSpPr>
        <p:spPr>
          <a:xfrm>
            <a:off x="7071183" y="5357813"/>
            <a:ext cx="5120512" cy="116300"/>
          </a:xfrm>
          <a:prstGeom prst="rect">
            <a:avLst/>
          </a:prstGeom>
          <a:solidFill>
            <a:srgbClr val="255FC5"/>
          </a:solidFill>
          <a:ln/>
        </p:spPr>
      </p:sp>
      <p:sp>
        <p:nvSpPr>
          <p:cNvPr id="53" name="Shape 51"/>
          <p:cNvSpPr/>
          <p:nvPr/>
        </p:nvSpPr>
        <p:spPr>
          <a:xfrm>
            <a:off x="7071183" y="5464969"/>
            <a:ext cx="5120512" cy="116300"/>
          </a:xfrm>
          <a:prstGeom prst="rect">
            <a:avLst/>
          </a:prstGeom>
          <a:solidFill>
            <a:srgbClr val="2460C5"/>
          </a:solidFill>
          <a:ln/>
        </p:spPr>
      </p:sp>
      <p:sp>
        <p:nvSpPr>
          <p:cNvPr id="54" name="Shape 52"/>
          <p:cNvSpPr/>
          <p:nvPr/>
        </p:nvSpPr>
        <p:spPr>
          <a:xfrm>
            <a:off x="7071183" y="5572125"/>
            <a:ext cx="5120512" cy="116300"/>
          </a:xfrm>
          <a:prstGeom prst="rect">
            <a:avLst/>
          </a:prstGeom>
          <a:solidFill>
            <a:srgbClr val="2361C4"/>
          </a:solidFill>
          <a:ln/>
        </p:spPr>
      </p:sp>
      <p:sp>
        <p:nvSpPr>
          <p:cNvPr id="55" name="Shape 53"/>
          <p:cNvSpPr/>
          <p:nvPr/>
        </p:nvSpPr>
        <p:spPr>
          <a:xfrm>
            <a:off x="7071183" y="5679281"/>
            <a:ext cx="5120512" cy="116300"/>
          </a:xfrm>
          <a:prstGeom prst="rect">
            <a:avLst/>
          </a:prstGeom>
          <a:solidFill>
            <a:srgbClr val="2363C4"/>
          </a:solidFill>
          <a:ln/>
        </p:spPr>
      </p:sp>
      <p:sp>
        <p:nvSpPr>
          <p:cNvPr id="56" name="Shape 54"/>
          <p:cNvSpPr/>
          <p:nvPr/>
        </p:nvSpPr>
        <p:spPr>
          <a:xfrm>
            <a:off x="7071183" y="5786438"/>
            <a:ext cx="5120512" cy="116300"/>
          </a:xfrm>
          <a:prstGeom prst="rect">
            <a:avLst/>
          </a:prstGeom>
          <a:solidFill>
            <a:srgbClr val="2264C3"/>
          </a:solidFill>
          <a:ln/>
        </p:spPr>
      </p:sp>
      <p:sp>
        <p:nvSpPr>
          <p:cNvPr id="57" name="Shape 55"/>
          <p:cNvSpPr/>
          <p:nvPr/>
        </p:nvSpPr>
        <p:spPr>
          <a:xfrm>
            <a:off x="7071183" y="5893594"/>
            <a:ext cx="5120512" cy="116300"/>
          </a:xfrm>
          <a:prstGeom prst="rect">
            <a:avLst/>
          </a:prstGeom>
          <a:solidFill>
            <a:srgbClr val="2165C3"/>
          </a:solidFill>
          <a:ln/>
        </p:spPr>
      </p:sp>
      <p:sp>
        <p:nvSpPr>
          <p:cNvPr id="58" name="Shape 56"/>
          <p:cNvSpPr/>
          <p:nvPr/>
        </p:nvSpPr>
        <p:spPr>
          <a:xfrm>
            <a:off x="7071183" y="6000750"/>
            <a:ext cx="5120512" cy="116300"/>
          </a:xfrm>
          <a:prstGeom prst="rect">
            <a:avLst/>
          </a:prstGeom>
          <a:solidFill>
            <a:srgbClr val="2066C2"/>
          </a:solidFill>
          <a:ln/>
        </p:spPr>
      </p:sp>
      <p:sp>
        <p:nvSpPr>
          <p:cNvPr id="59" name="Shape 57"/>
          <p:cNvSpPr/>
          <p:nvPr/>
        </p:nvSpPr>
        <p:spPr>
          <a:xfrm>
            <a:off x="7071183" y="6107906"/>
            <a:ext cx="5120512" cy="116300"/>
          </a:xfrm>
          <a:prstGeom prst="rect">
            <a:avLst/>
          </a:prstGeom>
          <a:solidFill>
            <a:srgbClr val="1F68C1"/>
          </a:solidFill>
          <a:ln/>
        </p:spPr>
      </p:sp>
      <p:sp>
        <p:nvSpPr>
          <p:cNvPr id="60" name="Shape 58"/>
          <p:cNvSpPr/>
          <p:nvPr/>
        </p:nvSpPr>
        <p:spPr>
          <a:xfrm>
            <a:off x="7071183" y="6215063"/>
            <a:ext cx="5120512" cy="116300"/>
          </a:xfrm>
          <a:prstGeom prst="rect">
            <a:avLst/>
          </a:prstGeom>
          <a:solidFill>
            <a:srgbClr val="1E69C1"/>
          </a:solidFill>
          <a:ln/>
        </p:spPr>
      </p:sp>
      <p:sp>
        <p:nvSpPr>
          <p:cNvPr id="61" name="Shape 59"/>
          <p:cNvSpPr/>
          <p:nvPr/>
        </p:nvSpPr>
        <p:spPr>
          <a:xfrm>
            <a:off x="7071183" y="6322219"/>
            <a:ext cx="5120512" cy="116300"/>
          </a:xfrm>
          <a:prstGeom prst="rect">
            <a:avLst/>
          </a:prstGeom>
          <a:solidFill>
            <a:srgbClr val="1D6AC0"/>
          </a:solidFill>
          <a:ln/>
        </p:spPr>
      </p:sp>
      <p:sp>
        <p:nvSpPr>
          <p:cNvPr id="62" name="Shape 60"/>
          <p:cNvSpPr/>
          <p:nvPr/>
        </p:nvSpPr>
        <p:spPr>
          <a:xfrm>
            <a:off x="7071183" y="6429375"/>
            <a:ext cx="5120512" cy="116300"/>
          </a:xfrm>
          <a:prstGeom prst="rect">
            <a:avLst/>
          </a:prstGeom>
          <a:solidFill>
            <a:srgbClr val="1D6BC0"/>
          </a:solidFill>
          <a:ln/>
        </p:spPr>
      </p:sp>
      <p:sp>
        <p:nvSpPr>
          <p:cNvPr id="63" name="Shape 61"/>
          <p:cNvSpPr/>
          <p:nvPr/>
        </p:nvSpPr>
        <p:spPr>
          <a:xfrm>
            <a:off x="7071183" y="6536531"/>
            <a:ext cx="5120512" cy="116300"/>
          </a:xfrm>
          <a:prstGeom prst="rect">
            <a:avLst/>
          </a:prstGeom>
          <a:solidFill>
            <a:srgbClr val="1C6DBF"/>
          </a:solidFill>
          <a:ln/>
        </p:spPr>
      </p:sp>
      <p:sp>
        <p:nvSpPr>
          <p:cNvPr id="64" name="Shape 62"/>
          <p:cNvSpPr/>
          <p:nvPr/>
        </p:nvSpPr>
        <p:spPr>
          <a:xfrm>
            <a:off x="7071183" y="6643688"/>
            <a:ext cx="5120512" cy="116300"/>
          </a:xfrm>
          <a:prstGeom prst="rect">
            <a:avLst/>
          </a:prstGeom>
          <a:solidFill>
            <a:srgbClr val="1B6EBF"/>
          </a:solidFill>
          <a:ln/>
        </p:spPr>
      </p:sp>
      <p:sp>
        <p:nvSpPr>
          <p:cNvPr id="65" name="Shape 63"/>
          <p:cNvSpPr/>
          <p:nvPr/>
        </p:nvSpPr>
        <p:spPr>
          <a:xfrm>
            <a:off x="7071183" y="6750844"/>
            <a:ext cx="5120512" cy="116300"/>
          </a:xfrm>
          <a:prstGeom prst="rect">
            <a:avLst/>
          </a:prstGeom>
          <a:solidFill>
            <a:srgbClr val="1A6FBE"/>
          </a:solidFill>
          <a:ln/>
        </p:spPr>
      </p:sp>
      <p:sp>
        <p:nvSpPr>
          <p:cNvPr id="66" name="Text 64"/>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TRY IT NOW</a:t>
            </a:r>
            <a:endParaRPr lang="en-US" sz="1100" dirty="0"/>
          </a:p>
        </p:txBody>
      </p:sp>
      <p:sp>
        <p:nvSpPr>
          <p:cNvPr id="67" name="Text 65"/>
          <p:cNvSpPr/>
          <p:nvPr/>
        </p:nvSpPr>
        <p:spPr>
          <a:xfrm>
            <a:off x="548640" y="1417320"/>
            <a:ext cx="6156783" cy="2194560"/>
          </a:xfrm>
          <a:prstGeom prst="rect">
            <a:avLst/>
          </a:prstGeom>
          <a:noFill/>
          <a:ln/>
        </p:spPr>
        <p:txBody>
          <a:bodyPr wrap="square" lIns="0" tIns="0" rIns="0" bIns="0" rtlCol="0" anchor="t"/>
          <a:lstStyle/>
          <a:p>
            <a:pPr algn="l" indent="0" marL="0">
              <a:buNone/>
            </a:pPr>
            <a:r>
              <a:rPr lang="en-US" sz="4200" b="1" spc="-50" kern="0" dirty="0">
                <a:solidFill>
                  <a:srgbClr val="0F1733"/>
                </a:solidFill>
                <a:latin typeface="Calibri" pitchFamily="34" charset="0"/>
                <a:ea typeface="Calibri" pitchFamily="34" charset="-122"/>
                <a:cs typeface="Calibri" pitchFamily="34" charset="-120"/>
              </a:rPr>
              <a:t>Sign up at creatoroutreach.net. Run a real campaign in 10 minutes.</a:t>
            </a:r>
            <a:endParaRPr lang="en-US" sz="4200" dirty="0"/>
          </a:p>
        </p:txBody>
      </p:sp>
      <p:sp>
        <p:nvSpPr>
          <p:cNvPr id="68" name="Text 66"/>
          <p:cNvSpPr/>
          <p:nvPr/>
        </p:nvSpPr>
        <p:spPr>
          <a:xfrm>
            <a:off x="548640" y="3657600"/>
            <a:ext cx="6156783" cy="2377440"/>
          </a:xfrm>
          <a:prstGeom prst="rect">
            <a:avLst/>
          </a:prstGeom>
          <a:noFill/>
          <a:ln/>
        </p:spPr>
        <p:txBody>
          <a:bodyPr wrap="square" lIns="0" tIns="0" rIns="0" bIns="0" rtlCol="0" anchor="t"/>
          <a:lstStyle/>
          <a:p>
            <a:pPr algn="l" indent="0" marL="0">
              <a:spcAft>
                <a:spcPts val="800"/>
              </a:spcAft>
              <a:buNone/>
            </a:pPr>
            <a:r>
              <a:rPr lang="en-US" sz="1500" dirty="0">
                <a:solidFill>
                  <a:srgbClr val="2A3358"/>
                </a:solidFill>
                <a:latin typeface="Calibri" pitchFamily="34" charset="0"/>
                <a:ea typeface="Calibri" pitchFamily="34" charset="-122"/>
                <a:cs typeface="Calibri" pitchFamily="34" charset="-120"/>
              </a:rPr>
              <a:t>No demo call. No "contact sales." No procurement cycle. Start a search, see the AI scores, send your first message — all within ten minutes of signing up. First 10 customers get $20/mo locked forever; everyone else starts at $39.</a:t>
            </a:r>
            <a:endParaRPr lang="en-US" sz="1500" dirty="0"/>
          </a:p>
        </p:txBody>
      </p:sp>
      <p:sp>
        <p:nvSpPr>
          <p:cNvPr id="69" name="Text 67"/>
          <p:cNvSpPr/>
          <p:nvPr/>
        </p:nvSpPr>
        <p:spPr>
          <a:xfrm>
            <a:off x="7436943" y="1371600"/>
            <a:ext cx="4388992" cy="4114800"/>
          </a:xfrm>
          <a:prstGeom prst="rect">
            <a:avLst/>
          </a:prstGeom>
          <a:noFill/>
          <a:ln/>
        </p:spPr>
        <p:txBody>
          <a:bodyPr wrap="square" lIns="0" tIns="0" rIns="0" bIns="0" rtlCol="0" anchor="t"/>
          <a:lstStyle/>
          <a:p>
            <a:pPr algn="l" indent="0" marL="0">
              <a:buNone/>
            </a:pPr>
            <a:r>
              <a:rPr lang="en-US" sz="2800" i="1" dirty="0">
                <a:solidFill>
                  <a:srgbClr val="FFFFFF"/>
                </a:solidFill>
                <a:latin typeface="Calibri" pitchFamily="34" charset="0"/>
                <a:ea typeface="Calibri" pitchFamily="34" charset="-122"/>
                <a:cs typeface="Calibri" pitchFamily="34" charset="-120"/>
              </a:rPr>
              <a:t>creatoroutreach</a:t>
            </a:r>
            <a:endParaRPr lang="en-US" sz="2800" dirty="0"/>
          </a:p>
          <a:p>
            <a:pPr algn="l" indent="0" marL="0">
              <a:buNone/>
            </a:pPr>
            <a:r>
              <a:rPr lang="en-US" sz="2800" i="1" dirty="0">
                <a:solidFill>
                  <a:srgbClr val="FFFFFF"/>
                </a:solidFill>
                <a:latin typeface="Calibri" pitchFamily="34" charset="0"/>
                <a:ea typeface="Calibri" pitchFamily="34" charset="-122"/>
                <a:cs typeface="Calibri" pitchFamily="34" charset="-120"/>
              </a:rPr>
              <a:t>.net</a:t>
            </a:r>
            <a:endParaRPr lang="en-US" sz="2800" dirty="0"/>
          </a:p>
          <a:p>
            <a:pPr algn="l" indent="0" marL="0">
              <a:buNone/>
            </a:pPr>
            <a:endParaRPr lang="en-US" sz="2800" dirty="0"/>
          </a:p>
          <a:p>
            <a:pPr algn="l" indent="0" marL="0">
              <a:buNone/>
            </a:pPr>
            <a:r>
              <a:rPr lang="en-US" sz="2800" i="1" dirty="0">
                <a:solidFill>
                  <a:srgbClr val="FFFFFF"/>
                </a:solidFill>
                <a:latin typeface="Calibri" pitchFamily="34" charset="0"/>
                <a:ea typeface="Calibri" pitchFamily="34" charset="-122"/>
                <a:cs typeface="Calibri" pitchFamily="34" charset="-120"/>
              </a:rPr>
              <a:t>Start in</a:t>
            </a:r>
            <a:endParaRPr lang="en-US" sz="2800" dirty="0"/>
          </a:p>
          <a:p>
            <a:pPr algn="l" indent="0" marL="0">
              <a:buNone/>
            </a:pPr>
            <a:r>
              <a:rPr lang="en-US" sz="2800" i="1" dirty="0">
                <a:solidFill>
                  <a:srgbClr val="FFFFFF"/>
                </a:solidFill>
                <a:latin typeface="Calibri" pitchFamily="34" charset="0"/>
                <a:ea typeface="Calibri" pitchFamily="34" charset="-122"/>
                <a:cs typeface="Calibri" pitchFamily="34" charset="-120"/>
              </a:rPr>
              <a:t>10 minutes.</a:t>
            </a:r>
            <a:endParaRPr lang="en-US" sz="28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17 · Get started  ·  vB</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114 / 126</a:t>
            </a:r>
            <a:endParaRPr lang="en-US" sz="9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THREE WAYS TO START</a:t>
            </a:r>
            <a:endParaRPr lang="en-US" sz="1100" dirty="0"/>
          </a:p>
        </p:txBody>
      </p:sp>
      <p:sp>
        <p:nvSpPr>
          <p:cNvPr id="3" name="Text 1"/>
          <p:cNvSpPr/>
          <p:nvPr/>
        </p:nvSpPr>
        <p:spPr>
          <a:xfrm>
            <a:off x="548640" y="1417320"/>
            <a:ext cx="11094415" cy="1188720"/>
          </a:xfrm>
          <a:prstGeom prst="rect">
            <a:avLst/>
          </a:prstGeom>
          <a:noFill/>
          <a:ln/>
        </p:spPr>
        <p:txBody>
          <a:bodyPr wrap="square" lIns="0" tIns="0" rIns="0" bIns="0" rtlCol="0" anchor="t"/>
          <a:lstStyle/>
          <a:p>
            <a:pPr algn="l" indent="0" marL="0">
              <a:buNone/>
            </a:pPr>
            <a:r>
              <a:rPr lang="en-US" sz="3800" b="1" spc="-50" kern="0" dirty="0">
                <a:solidFill>
                  <a:srgbClr val="0F1733"/>
                </a:solidFill>
                <a:latin typeface="Calibri" pitchFamily="34" charset="0"/>
                <a:ea typeface="Calibri" pitchFamily="34" charset="-122"/>
                <a:cs typeface="Calibri" pitchFamily="34" charset="-120"/>
              </a:rPr>
              <a:t>Whichever path fits how you buy.</a:t>
            </a:r>
            <a:endParaRPr lang="en-US" sz="3800" dirty="0"/>
          </a:p>
        </p:txBody>
      </p:sp>
      <p:sp>
        <p:nvSpPr>
          <p:cNvPr id="4" name="Shape 2"/>
          <p:cNvSpPr/>
          <p:nvPr/>
        </p:nvSpPr>
        <p:spPr>
          <a:xfrm>
            <a:off x="548640" y="3108960"/>
            <a:ext cx="3545738" cy="3017520"/>
          </a:xfrm>
          <a:prstGeom prst="roundRect">
            <a:avLst>
              <a:gd name="adj" fmla="val 3636"/>
            </a:avLst>
          </a:prstGeom>
          <a:solidFill>
            <a:srgbClr val="FFFFFF"/>
          </a:solidFill>
          <a:ln w="9525">
            <a:solidFill>
              <a:srgbClr val="E5E7F0"/>
            </a:solidFill>
            <a:prstDash val="solid"/>
          </a:ln>
        </p:spPr>
      </p:sp>
      <p:sp>
        <p:nvSpPr>
          <p:cNvPr id="5" name="Shape 3"/>
          <p:cNvSpPr/>
          <p:nvPr/>
        </p:nvSpPr>
        <p:spPr>
          <a:xfrm>
            <a:off x="548640" y="3108960"/>
            <a:ext cx="3545738" cy="73152"/>
          </a:xfrm>
          <a:prstGeom prst="rect">
            <a:avLst/>
          </a:prstGeom>
          <a:solidFill>
            <a:srgbClr val="5028C2"/>
          </a:solidFill>
          <a:ln/>
        </p:spPr>
      </p:sp>
      <p:sp>
        <p:nvSpPr>
          <p:cNvPr id="6" name="Shape 4"/>
          <p:cNvSpPr/>
          <p:nvPr/>
        </p:nvSpPr>
        <p:spPr>
          <a:xfrm>
            <a:off x="868680" y="3474720"/>
            <a:ext cx="457200" cy="457200"/>
          </a:xfrm>
          <a:prstGeom prst="ellipse">
            <a:avLst/>
          </a:prstGeom>
          <a:solidFill>
            <a:srgbClr val="5028C2"/>
          </a:solidFill>
          <a:ln/>
        </p:spPr>
      </p:sp>
      <p:sp>
        <p:nvSpPr>
          <p:cNvPr id="7" name="Text 5"/>
          <p:cNvSpPr/>
          <p:nvPr/>
        </p:nvSpPr>
        <p:spPr>
          <a:xfrm>
            <a:off x="868680"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8" name="Text 6"/>
          <p:cNvSpPr/>
          <p:nvPr/>
        </p:nvSpPr>
        <p:spPr>
          <a:xfrm>
            <a:off x="868680"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Self-serve</a:t>
            </a:r>
            <a:endParaRPr lang="en-US" sz="1800" dirty="0"/>
          </a:p>
        </p:txBody>
      </p:sp>
      <p:sp>
        <p:nvSpPr>
          <p:cNvPr id="9" name="Text 7"/>
          <p:cNvSpPr/>
          <p:nvPr/>
        </p:nvSpPr>
        <p:spPr>
          <a:xfrm>
            <a:off x="868680"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Sign up at creatoroutreach.net. Pro plan, $39/mo. First 10 customers get $20/mo locked. Cancel anytime.</a:t>
            </a:r>
            <a:endParaRPr lang="en-US" sz="1300" dirty="0"/>
          </a:p>
        </p:txBody>
      </p:sp>
      <p:sp>
        <p:nvSpPr>
          <p:cNvPr id="10" name="Shape 8"/>
          <p:cNvSpPr/>
          <p:nvPr/>
        </p:nvSpPr>
        <p:spPr>
          <a:xfrm>
            <a:off x="4322978" y="3108960"/>
            <a:ext cx="3545738" cy="3017520"/>
          </a:xfrm>
          <a:prstGeom prst="roundRect">
            <a:avLst>
              <a:gd name="adj" fmla="val 3636"/>
            </a:avLst>
          </a:prstGeom>
          <a:solidFill>
            <a:srgbClr val="FFFFFF"/>
          </a:solidFill>
          <a:ln w="9525">
            <a:solidFill>
              <a:srgbClr val="E5E7F0"/>
            </a:solidFill>
            <a:prstDash val="solid"/>
          </a:ln>
        </p:spPr>
      </p:sp>
      <p:sp>
        <p:nvSpPr>
          <p:cNvPr id="11" name="Shape 9"/>
          <p:cNvSpPr/>
          <p:nvPr/>
        </p:nvSpPr>
        <p:spPr>
          <a:xfrm>
            <a:off x="4322978" y="3108960"/>
            <a:ext cx="3545738" cy="73152"/>
          </a:xfrm>
          <a:prstGeom prst="rect">
            <a:avLst/>
          </a:prstGeom>
          <a:solidFill>
            <a:srgbClr val="3548D0"/>
          </a:solidFill>
          <a:ln/>
        </p:spPr>
      </p:sp>
      <p:sp>
        <p:nvSpPr>
          <p:cNvPr id="12" name="Shape 10"/>
          <p:cNvSpPr/>
          <p:nvPr/>
        </p:nvSpPr>
        <p:spPr>
          <a:xfrm>
            <a:off x="4643018" y="3474720"/>
            <a:ext cx="457200" cy="457200"/>
          </a:xfrm>
          <a:prstGeom prst="ellipse">
            <a:avLst/>
          </a:prstGeom>
          <a:solidFill>
            <a:srgbClr val="3548D0"/>
          </a:solidFill>
          <a:ln/>
        </p:spPr>
      </p:sp>
      <p:sp>
        <p:nvSpPr>
          <p:cNvPr id="13" name="Text 11"/>
          <p:cNvSpPr/>
          <p:nvPr/>
        </p:nvSpPr>
        <p:spPr>
          <a:xfrm>
            <a:off x="4643018"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4" name="Text 12"/>
          <p:cNvSpPr/>
          <p:nvPr/>
        </p:nvSpPr>
        <p:spPr>
          <a:xfrm>
            <a:off x="4643018"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Warm intro</a:t>
            </a:r>
            <a:endParaRPr lang="en-US" sz="1800" dirty="0"/>
          </a:p>
        </p:txBody>
      </p:sp>
      <p:sp>
        <p:nvSpPr>
          <p:cNvPr id="15" name="Text 13"/>
          <p:cNvSpPr/>
          <p:nvPr/>
        </p:nvSpPr>
        <p:spPr>
          <a:xfrm>
            <a:off x="4643018"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Email dmeehanj@gmail.com. We'll send a personal walkthrough and confirm fit before any commitment.</a:t>
            </a:r>
            <a:endParaRPr lang="en-US" sz="1300" dirty="0"/>
          </a:p>
        </p:txBody>
      </p:sp>
      <p:sp>
        <p:nvSpPr>
          <p:cNvPr id="16" name="Shape 14"/>
          <p:cNvSpPr/>
          <p:nvPr/>
        </p:nvSpPr>
        <p:spPr>
          <a:xfrm>
            <a:off x="8097317" y="3108960"/>
            <a:ext cx="3545738" cy="3017520"/>
          </a:xfrm>
          <a:prstGeom prst="roundRect">
            <a:avLst>
              <a:gd name="adj" fmla="val 3636"/>
            </a:avLst>
          </a:prstGeom>
          <a:solidFill>
            <a:srgbClr val="FFFFFF"/>
          </a:solidFill>
          <a:ln w="9525">
            <a:solidFill>
              <a:srgbClr val="E5E7F0"/>
            </a:solidFill>
            <a:prstDash val="solid"/>
          </a:ln>
        </p:spPr>
      </p:sp>
      <p:sp>
        <p:nvSpPr>
          <p:cNvPr id="17" name="Shape 15"/>
          <p:cNvSpPr/>
          <p:nvPr/>
        </p:nvSpPr>
        <p:spPr>
          <a:xfrm>
            <a:off x="8097317" y="3108960"/>
            <a:ext cx="3545738" cy="73152"/>
          </a:xfrm>
          <a:prstGeom prst="rect">
            <a:avLst/>
          </a:prstGeom>
          <a:solidFill>
            <a:srgbClr val="1A6FBE"/>
          </a:solidFill>
          <a:ln/>
        </p:spPr>
      </p:sp>
      <p:sp>
        <p:nvSpPr>
          <p:cNvPr id="18" name="Shape 16"/>
          <p:cNvSpPr/>
          <p:nvPr/>
        </p:nvSpPr>
        <p:spPr>
          <a:xfrm>
            <a:off x="8417357" y="3474720"/>
            <a:ext cx="457200" cy="457200"/>
          </a:xfrm>
          <a:prstGeom prst="ellipse">
            <a:avLst/>
          </a:prstGeom>
          <a:solidFill>
            <a:srgbClr val="1A6FBE"/>
          </a:solidFill>
          <a:ln/>
        </p:spPr>
      </p:sp>
      <p:sp>
        <p:nvSpPr>
          <p:cNvPr id="19" name="Text 17"/>
          <p:cNvSpPr/>
          <p:nvPr/>
        </p:nvSpPr>
        <p:spPr>
          <a:xfrm>
            <a:off x="8417357"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0" name="Text 18"/>
          <p:cNvSpPr/>
          <p:nvPr/>
        </p:nvSpPr>
        <p:spPr>
          <a:xfrm>
            <a:off x="8417357"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Investor brief</a:t>
            </a:r>
            <a:endParaRPr lang="en-US" sz="1800" dirty="0"/>
          </a:p>
        </p:txBody>
      </p:sp>
      <p:sp>
        <p:nvSpPr>
          <p:cNvPr id="21" name="Text 19"/>
          <p:cNvSpPr/>
          <p:nvPr/>
        </p:nvSpPr>
        <p:spPr>
          <a:xfrm>
            <a:off x="8417357"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For partners interested in the round, reach out directly. We'll share deep-dive metrics, financials, and pipeline.</a:t>
            </a:r>
            <a:endParaRPr lang="en-US" sz="1300" dirty="0"/>
          </a:p>
        </p:txBody>
      </p:sp>
      <p:sp>
        <p:nvSpPr>
          <p:cNvPr id="22" name="Shape 20"/>
          <p:cNvSpPr/>
          <p:nvPr/>
        </p:nvSpPr>
        <p:spPr>
          <a:xfrm>
            <a:off x="548640" y="502920"/>
            <a:ext cx="292608" cy="292608"/>
          </a:xfrm>
          <a:prstGeom prst="roundRect">
            <a:avLst>
              <a:gd name="adj" fmla="val 25000"/>
            </a:avLst>
          </a:prstGeom>
          <a:solidFill>
            <a:srgbClr val="5028C2"/>
          </a:solidFill>
          <a:ln/>
        </p:spPr>
      </p:sp>
      <p:sp>
        <p:nvSpPr>
          <p:cNvPr id="23" name="Shape 21"/>
          <p:cNvSpPr/>
          <p:nvPr/>
        </p:nvSpPr>
        <p:spPr>
          <a:xfrm>
            <a:off x="548640" y="502920"/>
            <a:ext cx="292608" cy="292608"/>
          </a:xfrm>
          <a:prstGeom prst="roundRect">
            <a:avLst>
              <a:gd name="adj" fmla="val 25000"/>
            </a:avLst>
          </a:prstGeom>
          <a:solidFill>
            <a:srgbClr val="1A6FBE">
              <a:alpha val="50000"/>
            </a:srgbClr>
          </a:solidFill>
          <a:ln/>
        </p:spPr>
      </p:sp>
      <p:sp>
        <p:nvSpPr>
          <p:cNvPr id="24" name="Text 22"/>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5" name="Text 23"/>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6" name="Text 24"/>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17 · Get started  ·  vC</a:t>
            </a:r>
            <a:endParaRPr lang="en-US" sz="900" dirty="0"/>
          </a:p>
        </p:txBody>
      </p:sp>
      <p:sp>
        <p:nvSpPr>
          <p:cNvPr id="27" name="Text 25"/>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28" name="Text 26"/>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115 / 126</a:t>
            </a:r>
            <a:endParaRPr lang="en-US" sz="9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320040" cy="116300"/>
          </a:xfrm>
          <a:prstGeom prst="rect">
            <a:avLst/>
          </a:prstGeom>
          <a:solidFill>
            <a:srgbClr val="5028C2"/>
          </a:solidFill>
          <a:ln/>
        </p:spPr>
      </p:sp>
      <p:sp>
        <p:nvSpPr>
          <p:cNvPr id="3" name="Shape 1"/>
          <p:cNvSpPr/>
          <p:nvPr/>
        </p:nvSpPr>
        <p:spPr>
          <a:xfrm>
            <a:off x="0" y="107156"/>
            <a:ext cx="320040" cy="116300"/>
          </a:xfrm>
          <a:prstGeom prst="rect">
            <a:avLst/>
          </a:prstGeom>
          <a:solidFill>
            <a:srgbClr val="4F29C2"/>
          </a:solidFill>
          <a:ln/>
        </p:spPr>
      </p:sp>
      <p:sp>
        <p:nvSpPr>
          <p:cNvPr id="4" name="Shape 2"/>
          <p:cNvSpPr/>
          <p:nvPr/>
        </p:nvSpPr>
        <p:spPr>
          <a:xfrm>
            <a:off x="0" y="214313"/>
            <a:ext cx="320040" cy="116300"/>
          </a:xfrm>
          <a:prstGeom prst="rect">
            <a:avLst/>
          </a:prstGeom>
          <a:solidFill>
            <a:srgbClr val="4E2AC3"/>
          </a:solidFill>
          <a:ln/>
        </p:spPr>
      </p:sp>
      <p:sp>
        <p:nvSpPr>
          <p:cNvPr id="5" name="Shape 3"/>
          <p:cNvSpPr/>
          <p:nvPr/>
        </p:nvSpPr>
        <p:spPr>
          <a:xfrm>
            <a:off x="0" y="321469"/>
            <a:ext cx="320040" cy="116300"/>
          </a:xfrm>
          <a:prstGeom prst="rect">
            <a:avLst/>
          </a:prstGeom>
          <a:solidFill>
            <a:srgbClr val="4D2BC3"/>
          </a:solidFill>
          <a:ln/>
        </p:spPr>
      </p:sp>
      <p:sp>
        <p:nvSpPr>
          <p:cNvPr id="6" name="Shape 4"/>
          <p:cNvSpPr/>
          <p:nvPr/>
        </p:nvSpPr>
        <p:spPr>
          <a:xfrm>
            <a:off x="0" y="428625"/>
            <a:ext cx="320040" cy="116300"/>
          </a:xfrm>
          <a:prstGeom prst="rect">
            <a:avLst/>
          </a:prstGeom>
          <a:solidFill>
            <a:srgbClr val="4D2CC4"/>
          </a:solidFill>
          <a:ln/>
        </p:spPr>
      </p:sp>
      <p:sp>
        <p:nvSpPr>
          <p:cNvPr id="7" name="Shape 5"/>
          <p:cNvSpPr/>
          <p:nvPr/>
        </p:nvSpPr>
        <p:spPr>
          <a:xfrm>
            <a:off x="0" y="535781"/>
            <a:ext cx="320040" cy="116300"/>
          </a:xfrm>
          <a:prstGeom prst="rect">
            <a:avLst/>
          </a:prstGeom>
          <a:solidFill>
            <a:srgbClr val="4C2DC4"/>
          </a:solidFill>
          <a:ln/>
        </p:spPr>
      </p:sp>
      <p:sp>
        <p:nvSpPr>
          <p:cNvPr id="8" name="Shape 6"/>
          <p:cNvSpPr/>
          <p:nvPr/>
        </p:nvSpPr>
        <p:spPr>
          <a:xfrm>
            <a:off x="0" y="642938"/>
            <a:ext cx="320040" cy="116300"/>
          </a:xfrm>
          <a:prstGeom prst="rect">
            <a:avLst/>
          </a:prstGeom>
          <a:solidFill>
            <a:srgbClr val="4B2EC5"/>
          </a:solidFill>
          <a:ln/>
        </p:spPr>
      </p:sp>
      <p:sp>
        <p:nvSpPr>
          <p:cNvPr id="9" name="Shape 7"/>
          <p:cNvSpPr/>
          <p:nvPr/>
        </p:nvSpPr>
        <p:spPr>
          <a:xfrm>
            <a:off x="0" y="750094"/>
            <a:ext cx="320040" cy="116300"/>
          </a:xfrm>
          <a:prstGeom prst="rect">
            <a:avLst/>
          </a:prstGeom>
          <a:solidFill>
            <a:srgbClr val="4A2FC5"/>
          </a:solidFill>
          <a:ln/>
        </p:spPr>
      </p:sp>
      <p:sp>
        <p:nvSpPr>
          <p:cNvPr id="10" name="Shape 8"/>
          <p:cNvSpPr/>
          <p:nvPr/>
        </p:nvSpPr>
        <p:spPr>
          <a:xfrm>
            <a:off x="0" y="857250"/>
            <a:ext cx="320040" cy="116300"/>
          </a:xfrm>
          <a:prstGeom prst="rect">
            <a:avLst/>
          </a:prstGeom>
          <a:solidFill>
            <a:srgbClr val="4930C6"/>
          </a:solidFill>
          <a:ln/>
        </p:spPr>
      </p:sp>
      <p:sp>
        <p:nvSpPr>
          <p:cNvPr id="11" name="Shape 9"/>
          <p:cNvSpPr/>
          <p:nvPr/>
        </p:nvSpPr>
        <p:spPr>
          <a:xfrm>
            <a:off x="0" y="964406"/>
            <a:ext cx="320040" cy="116300"/>
          </a:xfrm>
          <a:prstGeom prst="rect">
            <a:avLst/>
          </a:prstGeom>
          <a:solidFill>
            <a:srgbClr val="4831C6"/>
          </a:solidFill>
          <a:ln/>
        </p:spPr>
      </p:sp>
      <p:sp>
        <p:nvSpPr>
          <p:cNvPr id="12" name="Shape 10"/>
          <p:cNvSpPr/>
          <p:nvPr/>
        </p:nvSpPr>
        <p:spPr>
          <a:xfrm>
            <a:off x="0" y="1071563"/>
            <a:ext cx="320040" cy="116300"/>
          </a:xfrm>
          <a:prstGeom prst="rect">
            <a:avLst/>
          </a:prstGeom>
          <a:solidFill>
            <a:srgbClr val="4732C6"/>
          </a:solidFill>
          <a:ln/>
        </p:spPr>
      </p:sp>
      <p:sp>
        <p:nvSpPr>
          <p:cNvPr id="13" name="Shape 11"/>
          <p:cNvSpPr/>
          <p:nvPr/>
        </p:nvSpPr>
        <p:spPr>
          <a:xfrm>
            <a:off x="0" y="1178719"/>
            <a:ext cx="320040" cy="116300"/>
          </a:xfrm>
          <a:prstGeom prst="rect">
            <a:avLst/>
          </a:prstGeom>
          <a:solidFill>
            <a:srgbClr val="4733C7"/>
          </a:solidFill>
          <a:ln/>
        </p:spPr>
      </p:sp>
      <p:sp>
        <p:nvSpPr>
          <p:cNvPr id="14" name="Shape 12"/>
          <p:cNvSpPr/>
          <p:nvPr/>
        </p:nvSpPr>
        <p:spPr>
          <a:xfrm>
            <a:off x="0" y="1285875"/>
            <a:ext cx="320040" cy="116300"/>
          </a:xfrm>
          <a:prstGeom prst="rect">
            <a:avLst/>
          </a:prstGeom>
          <a:solidFill>
            <a:srgbClr val="4634C7"/>
          </a:solidFill>
          <a:ln/>
        </p:spPr>
      </p:sp>
      <p:sp>
        <p:nvSpPr>
          <p:cNvPr id="15" name="Shape 13"/>
          <p:cNvSpPr/>
          <p:nvPr/>
        </p:nvSpPr>
        <p:spPr>
          <a:xfrm>
            <a:off x="0" y="1393031"/>
            <a:ext cx="320040" cy="116300"/>
          </a:xfrm>
          <a:prstGeom prst="rect">
            <a:avLst/>
          </a:prstGeom>
          <a:solidFill>
            <a:srgbClr val="4535C8"/>
          </a:solidFill>
          <a:ln/>
        </p:spPr>
      </p:sp>
      <p:sp>
        <p:nvSpPr>
          <p:cNvPr id="16" name="Shape 14"/>
          <p:cNvSpPr/>
          <p:nvPr/>
        </p:nvSpPr>
        <p:spPr>
          <a:xfrm>
            <a:off x="0" y="1500188"/>
            <a:ext cx="320040" cy="116300"/>
          </a:xfrm>
          <a:prstGeom prst="rect">
            <a:avLst/>
          </a:prstGeom>
          <a:solidFill>
            <a:srgbClr val="4436C8"/>
          </a:solidFill>
          <a:ln/>
        </p:spPr>
      </p:sp>
      <p:sp>
        <p:nvSpPr>
          <p:cNvPr id="17" name="Shape 15"/>
          <p:cNvSpPr/>
          <p:nvPr/>
        </p:nvSpPr>
        <p:spPr>
          <a:xfrm>
            <a:off x="0" y="1607344"/>
            <a:ext cx="320040" cy="116300"/>
          </a:xfrm>
          <a:prstGeom prst="rect">
            <a:avLst/>
          </a:prstGeom>
          <a:solidFill>
            <a:srgbClr val="4337C9"/>
          </a:solidFill>
          <a:ln/>
        </p:spPr>
      </p:sp>
      <p:sp>
        <p:nvSpPr>
          <p:cNvPr id="18" name="Shape 16"/>
          <p:cNvSpPr/>
          <p:nvPr/>
        </p:nvSpPr>
        <p:spPr>
          <a:xfrm>
            <a:off x="0" y="1714500"/>
            <a:ext cx="320040" cy="116300"/>
          </a:xfrm>
          <a:prstGeom prst="rect">
            <a:avLst/>
          </a:prstGeom>
          <a:solidFill>
            <a:srgbClr val="4238C9"/>
          </a:solidFill>
          <a:ln/>
        </p:spPr>
      </p:sp>
      <p:sp>
        <p:nvSpPr>
          <p:cNvPr id="19" name="Shape 17"/>
          <p:cNvSpPr/>
          <p:nvPr/>
        </p:nvSpPr>
        <p:spPr>
          <a:xfrm>
            <a:off x="0" y="1821656"/>
            <a:ext cx="320040" cy="116300"/>
          </a:xfrm>
          <a:prstGeom prst="rect">
            <a:avLst/>
          </a:prstGeom>
          <a:solidFill>
            <a:srgbClr val="4139CA"/>
          </a:solidFill>
          <a:ln/>
        </p:spPr>
      </p:sp>
      <p:sp>
        <p:nvSpPr>
          <p:cNvPr id="20" name="Shape 18"/>
          <p:cNvSpPr/>
          <p:nvPr/>
        </p:nvSpPr>
        <p:spPr>
          <a:xfrm>
            <a:off x="0" y="1928813"/>
            <a:ext cx="320040" cy="116300"/>
          </a:xfrm>
          <a:prstGeom prst="rect">
            <a:avLst/>
          </a:prstGeom>
          <a:solidFill>
            <a:srgbClr val="413ACA"/>
          </a:solidFill>
          <a:ln/>
        </p:spPr>
      </p:sp>
      <p:sp>
        <p:nvSpPr>
          <p:cNvPr id="21" name="Shape 19"/>
          <p:cNvSpPr/>
          <p:nvPr/>
        </p:nvSpPr>
        <p:spPr>
          <a:xfrm>
            <a:off x="0" y="2035969"/>
            <a:ext cx="320040" cy="116300"/>
          </a:xfrm>
          <a:prstGeom prst="rect">
            <a:avLst/>
          </a:prstGeom>
          <a:solidFill>
            <a:srgbClr val="403BCA"/>
          </a:solidFill>
          <a:ln/>
        </p:spPr>
      </p:sp>
      <p:sp>
        <p:nvSpPr>
          <p:cNvPr id="22" name="Shape 20"/>
          <p:cNvSpPr/>
          <p:nvPr/>
        </p:nvSpPr>
        <p:spPr>
          <a:xfrm>
            <a:off x="0" y="2143125"/>
            <a:ext cx="320040" cy="116300"/>
          </a:xfrm>
          <a:prstGeom prst="rect">
            <a:avLst/>
          </a:prstGeom>
          <a:solidFill>
            <a:srgbClr val="3F3CCB"/>
          </a:solidFill>
          <a:ln/>
        </p:spPr>
      </p:sp>
      <p:sp>
        <p:nvSpPr>
          <p:cNvPr id="23" name="Shape 21"/>
          <p:cNvSpPr/>
          <p:nvPr/>
        </p:nvSpPr>
        <p:spPr>
          <a:xfrm>
            <a:off x="0" y="2250281"/>
            <a:ext cx="320040" cy="116300"/>
          </a:xfrm>
          <a:prstGeom prst="rect">
            <a:avLst/>
          </a:prstGeom>
          <a:solidFill>
            <a:srgbClr val="3E3DCB"/>
          </a:solidFill>
          <a:ln/>
        </p:spPr>
      </p:sp>
      <p:sp>
        <p:nvSpPr>
          <p:cNvPr id="24" name="Shape 22"/>
          <p:cNvSpPr/>
          <p:nvPr/>
        </p:nvSpPr>
        <p:spPr>
          <a:xfrm>
            <a:off x="0" y="2357438"/>
            <a:ext cx="320040" cy="116300"/>
          </a:xfrm>
          <a:prstGeom prst="rect">
            <a:avLst/>
          </a:prstGeom>
          <a:solidFill>
            <a:srgbClr val="3D3ECC"/>
          </a:solidFill>
          <a:ln/>
        </p:spPr>
      </p:sp>
      <p:sp>
        <p:nvSpPr>
          <p:cNvPr id="25" name="Shape 23"/>
          <p:cNvSpPr/>
          <p:nvPr/>
        </p:nvSpPr>
        <p:spPr>
          <a:xfrm>
            <a:off x="0" y="2464594"/>
            <a:ext cx="320040" cy="116300"/>
          </a:xfrm>
          <a:prstGeom prst="rect">
            <a:avLst/>
          </a:prstGeom>
          <a:solidFill>
            <a:srgbClr val="3C3FCC"/>
          </a:solidFill>
          <a:ln/>
        </p:spPr>
      </p:sp>
      <p:sp>
        <p:nvSpPr>
          <p:cNvPr id="26" name="Shape 24"/>
          <p:cNvSpPr/>
          <p:nvPr/>
        </p:nvSpPr>
        <p:spPr>
          <a:xfrm>
            <a:off x="0" y="2571750"/>
            <a:ext cx="320040" cy="116300"/>
          </a:xfrm>
          <a:prstGeom prst="rect">
            <a:avLst/>
          </a:prstGeom>
          <a:solidFill>
            <a:srgbClr val="3B40CD"/>
          </a:solidFill>
          <a:ln/>
        </p:spPr>
      </p:sp>
      <p:sp>
        <p:nvSpPr>
          <p:cNvPr id="27" name="Shape 25"/>
          <p:cNvSpPr/>
          <p:nvPr/>
        </p:nvSpPr>
        <p:spPr>
          <a:xfrm>
            <a:off x="0" y="2678906"/>
            <a:ext cx="320040" cy="116300"/>
          </a:xfrm>
          <a:prstGeom prst="rect">
            <a:avLst/>
          </a:prstGeom>
          <a:solidFill>
            <a:srgbClr val="3B41CD"/>
          </a:solidFill>
          <a:ln/>
        </p:spPr>
      </p:sp>
      <p:sp>
        <p:nvSpPr>
          <p:cNvPr id="28" name="Shape 26"/>
          <p:cNvSpPr/>
          <p:nvPr/>
        </p:nvSpPr>
        <p:spPr>
          <a:xfrm>
            <a:off x="0" y="2786063"/>
            <a:ext cx="320040" cy="116300"/>
          </a:xfrm>
          <a:prstGeom prst="rect">
            <a:avLst/>
          </a:prstGeom>
          <a:solidFill>
            <a:srgbClr val="3A42CE"/>
          </a:solidFill>
          <a:ln/>
        </p:spPr>
      </p:sp>
      <p:sp>
        <p:nvSpPr>
          <p:cNvPr id="29" name="Shape 27"/>
          <p:cNvSpPr/>
          <p:nvPr/>
        </p:nvSpPr>
        <p:spPr>
          <a:xfrm>
            <a:off x="0" y="2893219"/>
            <a:ext cx="320040" cy="116300"/>
          </a:xfrm>
          <a:prstGeom prst="rect">
            <a:avLst/>
          </a:prstGeom>
          <a:solidFill>
            <a:srgbClr val="3943CE"/>
          </a:solidFill>
          <a:ln/>
        </p:spPr>
      </p:sp>
      <p:sp>
        <p:nvSpPr>
          <p:cNvPr id="30" name="Shape 28"/>
          <p:cNvSpPr/>
          <p:nvPr/>
        </p:nvSpPr>
        <p:spPr>
          <a:xfrm>
            <a:off x="0" y="3000375"/>
            <a:ext cx="320040" cy="116300"/>
          </a:xfrm>
          <a:prstGeom prst="rect">
            <a:avLst/>
          </a:prstGeom>
          <a:solidFill>
            <a:srgbClr val="3844CE"/>
          </a:solidFill>
          <a:ln/>
        </p:spPr>
      </p:sp>
      <p:sp>
        <p:nvSpPr>
          <p:cNvPr id="31" name="Shape 29"/>
          <p:cNvSpPr/>
          <p:nvPr/>
        </p:nvSpPr>
        <p:spPr>
          <a:xfrm>
            <a:off x="0" y="3107531"/>
            <a:ext cx="320040" cy="116300"/>
          </a:xfrm>
          <a:prstGeom prst="rect">
            <a:avLst/>
          </a:prstGeom>
          <a:solidFill>
            <a:srgbClr val="3745CF"/>
          </a:solidFill>
          <a:ln/>
        </p:spPr>
      </p:sp>
      <p:sp>
        <p:nvSpPr>
          <p:cNvPr id="32" name="Shape 30"/>
          <p:cNvSpPr/>
          <p:nvPr/>
        </p:nvSpPr>
        <p:spPr>
          <a:xfrm>
            <a:off x="0" y="3214688"/>
            <a:ext cx="320040" cy="116300"/>
          </a:xfrm>
          <a:prstGeom prst="rect">
            <a:avLst/>
          </a:prstGeom>
          <a:solidFill>
            <a:srgbClr val="3646CF"/>
          </a:solidFill>
          <a:ln/>
        </p:spPr>
      </p:sp>
      <p:sp>
        <p:nvSpPr>
          <p:cNvPr id="33" name="Shape 31"/>
          <p:cNvSpPr/>
          <p:nvPr/>
        </p:nvSpPr>
        <p:spPr>
          <a:xfrm>
            <a:off x="0" y="3321844"/>
            <a:ext cx="320040" cy="116300"/>
          </a:xfrm>
          <a:prstGeom prst="rect">
            <a:avLst/>
          </a:prstGeom>
          <a:solidFill>
            <a:srgbClr val="3547D0"/>
          </a:solidFill>
          <a:ln/>
        </p:spPr>
      </p:sp>
      <p:sp>
        <p:nvSpPr>
          <p:cNvPr id="34" name="Shape 32"/>
          <p:cNvSpPr/>
          <p:nvPr/>
        </p:nvSpPr>
        <p:spPr>
          <a:xfrm>
            <a:off x="0" y="3429000"/>
            <a:ext cx="320040" cy="116300"/>
          </a:xfrm>
          <a:prstGeom prst="rect">
            <a:avLst/>
          </a:prstGeom>
          <a:solidFill>
            <a:srgbClr val="3549D0"/>
          </a:solidFill>
          <a:ln/>
        </p:spPr>
      </p:sp>
      <p:sp>
        <p:nvSpPr>
          <p:cNvPr id="35" name="Shape 33"/>
          <p:cNvSpPr/>
          <p:nvPr/>
        </p:nvSpPr>
        <p:spPr>
          <a:xfrm>
            <a:off x="0" y="3536156"/>
            <a:ext cx="320040" cy="116300"/>
          </a:xfrm>
          <a:prstGeom prst="rect">
            <a:avLst/>
          </a:prstGeom>
          <a:solidFill>
            <a:srgbClr val="344ACF"/>
          </a:solidFill>
          <a:ln/>
        </p:spPr>
      </p:sp>
      <p:sp>
        <p:nvSpPr>
          <p:cNvPr id="36" name="Shape 34"/>
          <p:cNvSpPr/>
          <p:nvPr/>
        </p:nvSpPr>
        <p:spPr>
          <a:xfrm>
            <a:off x="0" y="3643313"/>
            <a:ext cx="320040" cy="116300"/>
          </a:xfrm>
          <a:prstGeom prst="rect">
            <a:avLst/>
          </a:prstGeom>
          <a:solidFill>
            <a:srgbClr val="334BCF"/>
          </a:solidFill>
          <a:ln/>
        </p:spPr>
      </p:sp>
      <p:sp>
        <p:nvSpPr>
          <p:cNvPr id="37" name="Shape 35"/>
          <p:cNvSpPr/>
          <p:nvPr/>
        </p:nvSpPr>
        <p:spPr>
          <a:xfrm>
            <a:off x="0" y="3750469"/>
            <a:ext cx="320040" cy="116300"/>
          </a:xfrm>
          <a:prstGeom prst="rect">
            <a:avLst/>
          </a:prstGeom>
          <a:solidFill>
            <a:srgbClr val="324CCE"/>
          </a:solidFill>
          <a:ln/>
        </p:spPr>
      </p:sp>
      <p:sp>
        <p:nvSpPr>
          <p:cNvPr id="38" name="Shape 36"/>
          <p:cNvSpPr/>
          <p:nvPr/>
        </p:nvSpPr>
        <p:spPr>
          <a:xfrm>
            <a:off x="0" y="3857625"/>
            <a:ext cx="320040" cy="116300"/>
          </a:xfrm>
          <a:prstGeom prst="rect">
            <a:avLst/>
          </a:prstGeom>
          <a:solidFill>
            <a:srgbClr val="314ECD"/>
          </a:solidFill>
          <a:ln/>
        </p:spPr>
      </p:sp>
      <p:sp>
        <p:nvSpPr>
          <p:cNvPr id="39" name="Shape 37"/>
          <p:cNvSpPr/>
          <p:nvPr/>
        </p:nvSpPr>
        <p:spPr>
          <a:xfrm>
            <a:off x="0" y="3964781"/>
            <a:ext cx="320040" cy="116300"/>
          </a:xfrm>
          <a:prstGeom prst="rect">
            <a:avLst/>
          </a:prstGeom>
          <a:solidFill>
            <a:srgbClr val="304FCD"/>
          </a:solidFill>
          <a:ln/>
        </p:spPr>
      </p:sp>
      <p:sp>
        <p:nvSpPr>
          <p:cNvPr id="40" name="Shape 38"/>
          <p:cNvSpPr/>
          <p:nvPr/>
        </p:nvSpPr>
        <p:spPr>
          <a:xfrm>
            <a:off x="0" y="4071938"/>
            <a:ext cx="320040" cy="116300"/>
          </a:xfrm>
          <a:prstGeom prst="rect">
            <a:avLst/>
          </a:prstGeom>
          <a:solidFill>
            <a:srgbClr val="2F50CC"/>
          </a:solidFill>
          <a:ln/>
        </p:spPr>
      </p:sp>
      <p:sp>
        <p:nvSpPr>
          <p:cNvPr id="41" name="Shape 39"/>
          <p:cNvSpPr/>
          <p:nvPr/>
        </p:nvSpPr>
        <p:spPr>
          <a:xfrm>
            <a:off x="0" y="4179094"/>
            <a:ext cx="320040" cy="116300"/>
          </a:xfrm>
          <a:prstGeom prst="rect">
            <a:avLst/>
          </a:prstGeom>
          <a:solidFill>
            <a:srgbClr val="2F51CC"/>
          </a:solidFill>
          <a:ln/>
        </p:spPr>
      </p:sp>
      <p:sp>
        <p:nvSpPr>
          <p:cNvPr id="42" name="Shape 40"/>
          <p:cNvSpPr/>
          <p:nvPr/>
        </p:nvSpPr>
        <p:spPr>
          <a:xfrm>
            <a:off x="0" y="4286250"/>
            <a:ext cx="320040" cy="116300"/>
          </a:xfrm>
          <a:prstGeom prst="rect">
            <a:avLst/>
          </a:prstGeom>
          <a:solidFill>
            <a:srgbClr val="2E53CB"/>
          </a:solidFill>
          <a:ln/>
        </p:spPr>
      </p:sp>
      <p:sp>
        <p:nvSpPr>
          <p:cNvPr id="43" name="Shape 41"/>
          <p:cNvSpPr/>
          <p:nvPr/>
        </p:nvSpPr>
        <p:spPr>
          <a:xfrm>
            <a:off x="0" y="4393406"/>
            <a:ext cx="320040" cy="116300"/>
          </a:xfrm>
          <a:prstGeom prst="rect">
            <a:avLst/>
          </a:prstGeom>
          <a:solidFill>
            <a:srgbClr val="2D54CB"/>
          </a:solidFill>
          <a:ln/>
        </p:spPr>
      </p:sp>
      <p:sp>
        <p:nvSpPr>
          <p:cNvPr id="44" name="Shape 42"/>
          <p:cNvSpPr/>
          <p:nvPr/>
        </p:nvSpPr>
        <p:spPr>
          <a:xfrm>
            <a:off x="0" y="4500563"/>
            <a:ext cx="320040" cy="116300"/>
          </a:xfrm>
          <a:prstGeom prst="rect">
            <a:avLst/>
          </a:prstGeom>
          <a:solidFill>
            <a:srgbClr val="2C55CA"/>
          </a:solidFill>
          <a:ln/>
        </p:spPr>
      </p:sp>
      <p:sp>
        <p:nvSpPr>
          <p:cNvPr id="45" name="Shape 43"/>
          <p:cNvSpPr/>
          <p:nvPr/>
        </p:nvSpPr>
        <p:spPr>
          <a:xfrm>
            <a:off x="0" y="4607719"/>
            <a:ext cx="320040" cy="116300"/>
          </a:xfrm>
          <a:prstGeom prst="rect">
            <a:avLst/>
          </a:prstGeom>
          <a:solidFill>
            <a:srgbClr val="2B56C9"/>
          </a:solidFill>
          <a:ln/>
        </p:spPr>
      </p:sp>
      <p:sp>
        <p:nvSpPr>
          <p:cNvPr id="46" name="Shape 44"/>
          <p:cNvSpPr/>
          <p:nvPr/>
        </p:nvSpPr>
        <p:spPr>
          <a:xfrm>
            <a:off x="0" y="4714875"/>
            <a:ext cx="320040" cy="116300"/>
          </a:xfrm>
          <a:prstGeom prst="rect">
            <a:avLst/>
          </a:prstGeom>
          <a:solidFill>
            <a:srgbClr val="2A57C9"/>
          </a:solidFill>
          <a:ln/>
        </p:spPr>
      </p:sp>
      <p:sp>
        <p:nvSpPr>
          <p:cNvPr id="47" name="Shape 45"/>
          <p:cNvSpPr/>
          <p:nvPr/>
        </p:nvSpPr>
        <p:spPr>
          <a:xfrm>
            <a:off x="0" y="4822031"/>
            <a:ext cx="320040" cy="116300"/>
          </a:xfrm>
          <a:prstGeom prst="rect">
            <a:avLst/>
          </a:prstGeom>
          <a:solidFill>
            <a:srgbClr val="2959C8"/>
          </a:solidFill>
          <a:ln/>
        </p:spPr>
      </p:sp>
      <p:sp>
        <p:nvSpPr>
          <p:cNvPr id="48" name="Shape 46"/>
          <p:cNvSpPr/>
          <p:nvPr/>
        </p:nvSpPr>
        <p:spPr>
          <a:xfrm>
            <a:off x="0" y="4929188"/>
            <a:ext cx="320040" cy="116300"/>
          </a:xfrm>
          <a:prstGeom prst="rect">
            <a:avLst/>
          </a:prstGeom>
          <a:solidFill>
            <a:srgbClr val="295AC8"/>
          </a:solidFill>
          <a:ln/>
        </p:spPr>
      </p:sp>
      <p:sp>
        <p:nvSpPr>
          <p:cNvPr id="49" name="Shape 47"/>
          <p:cNvSpPr/>
          <p:nvPr/>
        </p:nvSpPr>
        <p:spPr>
          <a:xfrm>
            <a:off x="0" y="5036344"/>
            <a:ext cx="320040" cy="116300"/>
          </a:xfrm>
          <a:prstGeom prst="rect">
            <a:avLst/>
          </a:prstGeom>
          <a:solidFill>
            <a:srgbClr val="285BC7"/>
          </a:solidFill>
          <a:ln/>
        </p:spPr>
      </p:sp>
      <p:sp>
        <p:nvSpPr>
          <p:cNvPr id="50" name="Shape 48"/>
          <p:cNvSpPr/>
          <p:nvPr/>
        </p:nvSpPr>
        <p:spPr>
          <a:xfrm>
            <a:off x="0" y="5143500"/>
            <a:ext cx="320040" cy="116300"/>
          </a:xfrm>
          <a:prstGeom prst="rect">
            <a:avLst/>
          </a:prstGeom>
          <a:solidFill>
            <a:srgbClr val="275CC7"/>
          </a:solidFill>
          <a:ln/>
        </p:spPr>
      </p:sp>
      <p:sp>
        <p:nvSpPr>
          <p:cNvPr id="51" name="Shape 49"/>
          <p:cNvSpPr/>
          <p:nvPr/>
        </p:nvSpPr>
        <p:spPr>
          <a:xfrm>
            <a:off x="0" y="5250656"/>
            <a:ext cx="320040" cy="116300"/>
          </a:xfrm>
          <a:prstGeom prst="rect">
            <a:avLst/>
          </a:prstGeom>
          <a:solidFill>
            <a:srgbClr val="265EC6"/>
          </a:solidFill>
          <a:ln/>
        </p:spPr>
      </p:sp>
      <p:sp>
        <p:nvSpPr>
          <p:cNvPr id="52" name="Shape 50"/>
          <p:cNvSpPr/>
          <p:nvPr/>
        </p:nvSpPr>
        <p:spPr>
          <a:xfrm>
            <a:off x="0" y="5357813"/>
            <a:ext cx="320040" cy="116300"/>
          </a:xfrm>
          <a:prstGeom prst="rect">
            <a:avLst/>
          </a:prstGeom>
          <a:solidFill>
            <a:srgbClr val="255FC5"/>
          </a:solidFill>
          <a:ln/>
        </p:spPr>
      </p:sp>
      <p:sp>
        <p:nvSpPr>
          <p:cNvPr id="53" name="Shape 51"/>
          <p:cNvSpPr/>
          <p:nvPr/>
        </p:nvSpPr>
        <p:spPr>
          <a:xfrm>
            <a:off x="0" y="5464969"/>
            <a:ext cx="320040" cy="116300"/>
          </a:xfrm>
          <a:prstGeom prst="rect">
            <a:avLst/>
          </a:prstGeom>
          <a:solidFill>
            <a:srgbClr val="2460C5"/>
          </a:solidFill>
          <a:ln/>
        </p:spPr>
      </p:sp>
      <p:sp>
        <p:nvSpPr>
          <p:cNvPr id="54" name="Shape 52"/>
          <p:cNvSpPr/>
          <p:nvPr/>
        </p:nvSpPr>
        <p:spPr>
          <a:xfrm>
            <a:off x="0" y="5572125"/>
            <a:ext cx="320040" cy="116300"/>
          </a:xfrm>
          <a:prstGeom prst="rect">
            <a:avLst/>
          </a:prstGeom>
          <a:solidFill>
            <a:srgbClr val="2361C4"/>
          </a:solidFill>
          <a:ln/>
        </p:spPr>
      </p:sp>
      <p:sp>
        <p:nvSpPr>
          <p:cNvPr id="55" name="Shape 53"/>
          <p:cNvSpPr/>
          <p:nvPr/>
        </p:nvSpPr>
        <p:spPr>
          <a:xfrm>
            <a:off x="0" y="5679281"/>
            <a:ext cx="320040" cy="116300"/>
          </a:xfrm>
          <a:prstGeom prst="rect">
            <a:avLst/>
          </a:prstGeom>
          <a:solidFill>
            <a:srgbClr val="2363C4"/>
          </a:solidFill>
          <a:ln/>
        </p:spPr>
      </p:sp>
      <p:sp>
        <p:nvSpPr>
          <p:cNvPr id="56" name="Shape 54"/>
          <p:cNvSpPr/>
          <p:nvPr/>
        </p:nvSpPr>
        <p:spPr>
          <a:xfrm>
            <a:off x="0" y="5786438"/>
            <a:ext cx="320040" cy="116300"/>
          </a:xfrm>
          <a:prstGeom prst="rect">
            <a:avLst/>
          </a:prstGeom>
          <a:solidFill>
            <a:srgbClr val="2264C3"/>
          </a:solidFill>
          <a:ln/>
        </p:spPr>
      </p:sp>
      <p:sp>
        <p:nvSpPr>
          <p:cNvPr id="57" name="Shape 55"/>
          <p:cNvSpPr/>
          <p:nvPr/>
        </p:nvSpPr>
        <p:spPr>
          <a:xfrm>
            <a:off x="0" y="5893594"/>
            <a:ext cx="320040" cy="116300"/>
          </a:xfrm>
          <a:prstGeom prst="rect">
            <a:avLst/>
          </a:prstGeom>
          <a:solidFill>
            <a:srgbClr val="2165C3"/>
          </a:solidFill>
          <a:ln/>
        </p:spPr>
      </p:sp>
      <p:sp>
        <p:nvSpPr>
          <p:cNvPr id="58" name="Shape 56"/>
          <p:cNvSpPr/>
          <p:nvPr/>
        </p:nvSpPr>
        <p:spPr>
          <a:xfrm>
            <a:off x="0" y="6000750"/>
            <a:ext cx="320040" cy="116300"/>
          </a:xfrm>
          <a:prstGeom prst="rect">
            <a:avLst/>
          </a:prstGeom>
          <a:solidFill>
            <a:srgbClr val="2066C2"/>
          </a:solidFill>
          <a:ln/>
        </p:spPr>
      </p:sp>
      <p:sp>
        <p:nvSpPr>
          <p:cNvPr id="59" name="Shape 57"/>
          <p:cNvSpPr/>
          <p:nvPr/>
        </p:nvSpPr>
        <p:spPr>
          <a:xfrm>
            <a:off x="0" y="6107906"/>
            <a:ext cx="320040" cy="116300"/>
          </a:xfrm>
          <a:prstGeom prst="rect">
            <a:avLst/>
          </a:prstGeom>
          <a:solidFill>
            <a:srgbClr val="1F68C1"/>
          </a:solidFill>
          <a:ln/>
        </p:spPr>
      </p:sp>
      <p:sp>
        <p:nvSpPr>
          <p:cNvPr id="60" name="Shape 58"/>
          <p:cNvSpPr/>
          <p:nvPr/>
        </p:nvSpPr>
        <p:spPr>
          <a:xfrm>
            <a:off x="0" y="6215063"/>
            <a:ext cx="320040" cy="116300"/>
          </a:xfrm>
          <a:prstGeom prst="rect">
            <a:avLst/>
          </a:prstGeom>
          <a:solidFill>
            <a:srgbClr val="1E69C1"/>
          </a:solidFill>
          <a:ln/>
        </p:spPr>
      </p:sp>
      <p:sp>
        <p:nvSpPr>
          <p:cNvPr id="61" name="Shape 59"/>
          <p:cNvSpPr/>
          <p:nvPr/>
        </p:nvSpPr>
        <p:spPr>
          <a:xfrm>
            <a:off x="0" y="6322219"/>
            <a:ext cx="320040" cy="116300"/>
          </a:xfrm>
          <a:prstGeom prst="rect">
            <a:avLst/>
          </a:prstGeom>
          <a:solidFill>
            <a:srgbClr val="1D6AC0"/>
          </a:solidFill>
          <a:ln/>
        </p:spPr>
      </p:sp>
      <p:sp>
        <p:nvSpPr>
          <p:cNvPr id="62" name="Shape 60"/>
          <p:cNvSpPr/>
          <p:nvPr/>
        </p:nvSpPr>
        <p:spPr>
          <a:xfrm>
            <a:off x="0" y="6429375"/>
            <a:ext cx="320040" cy="116300"/>
          </a:xfrm>
          <a:prstGeom prst="rect">
            <a:avLst/>
          </a:prstGeom>
          <a:solidFill>
            <a:srgbClr val="1D6BC0"/>
          </a:solidFill>
          <a:ln/>
        </p:spPr>
      </p:sp>
      <p:sp>
        <p:nvSpPr>
          <p:cNvPr id="63" name="Shape 61"/>
          <p:cNvSpPr/>
          <p:nvPr/>
        </p:nvSpPr>
        <p:spPr>
          <a:xfrm>
            <a:off x="0" y="6536531"/>
            <a:ext cx="320040" cy="116300"/>
          </a:xfrm>
          <a:prstGeom prst="rect">
            <a:avLst/>
          </a:prstGeom>
          <a:solidFill>
            <a:srgbClr val="1C6DBF"/>
          </a:solidFill>
          <a:ln/>
        </p:spPr>
      </p:sp>
      <p:sp>
        <p:nvSpPr>
          <p:cNvPr id="64" name="Shape 62"/>
          <p:cNvSpPr/>
          <p:nvPr/>
        </p:nvSpPr>
        <p:spPr>
          <a:xfrm>
            <a:off x="0" y="6643688"/>
            <a:ext cx="320040" cy="116300"/>
          </a:xfrm>
          <a:prstGeom prst="rect">
            <a:avLst/>
          </a:prstGeom>
          <a:solidFill>
            <a:srgbClr val="1B6EBF"/>
          </a:solidFill>
          <a:ln/>
        </p:spPr>
      </p:sp>
      <p:sp>
        <p:nvSpPr>
          <p:cNvPr id="65" name="Shape 63"/>
          <p:cNvSpPr/>
          <p:nvPr/>
        </p:nvSpPr>
        <p:spPr>
          <a:xfrm>
            <a:off x="0" y="6750844"/>
            <a:ext cx="320040" cy="116300"/>
          </a:xfrm>
          <a:prstGeom prst="rect">
            <a:avLst/>
          </a:prstGeom>
          <a:solidFill>
            <a:srgbClr val="1A6FBE"/>
          </a:solidFill>
          <a:ln/>
        </p:spPr>
      </p:sp>
      <p:sp>
        <p:nvSpPr>
          <p:cNvPr id="66" name="Text 64"/>
          <p:cNvSpPr/>
          <p:nvPr/>
        </p:nvSpPr>
        <p:spPr>
          <a:xfrm>
            <a:off x="73152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CTA</a:t>
            </a:r>
            <a:endParaRPr lang="en-US" sz="1100" dirty="0"/>
          </a:p>
        </p:txBody>
      </p:sp>
      <p:sp>
        <p:nvSpPr>
          <p:cNvPr id="67" name="Text 65"/>
          <p:cNvSpPr/>
          <p:nvPr/>
        </p:nvSpPr>
        <p:spPr>
          <a:xfrm>
            <a:off x="548640" y="1554480"/>
            <a:ext cx="11094415" cy="3200400"/>
          </a:xfrm>
          <a:prstGeom prst="rect">
            <a:avLst/>
          </a:prstGeom>
          <a:noFill/>
          <a:ln/>
        </p:spPr>
        <p:txBody>
          <a:bodyPr wrap="square" lIns="0" tIns="0" rIns="0" bIns="0" rtlCol="0" anchor="ctr"/>
          <a:lstStyle/>
          <a:p>
            <a:pPr algn="l" indent="0" marL="0">
              <a:buNone/>
            </a:pPr>
            <a:r>
              <a:rPr lang="en-US" sz="22000" b="1" spc="-600" kern="0" dirty="0">
                <a:solidFill>
                  <a:srgbClr val="5028C2"/>
                </a:solidFill>
                <a:latin typeface="Calibri" pitchFamily="34" charset="0"/>
                <a:ea typeface="Calibri" pitchFamily="34" charset="-122"/>
                <a:cs typeface="Calibri" pitchFamily="34" charset="-120"/>
              </a:rPr>
              <a:t>10 min</a:t>
            </a:r>
            <a:endParaRPr lang="en-US" sz="22000" dirty="0"/>
          </a:p>
        </p:txBody>
      </p:sp>
      <p:sp>
        <p:nvSpPr>
          <p:cNvPr id="68" name="Text 66"/>
          <p:cNvSpPr/>
          <p:nvPr/>
        </p:nvSpPr>
        <p:spPr>
          <a:xfrm>
            <a:off x="548640" y="4983480"/>
            <a:ext cx="11094415" cy="457200"/>
          </a:xfrm>
          <a:prstGeom prst="rect">
            <a:avLst/>
          </a:prstGeom>
          <a:noFill/>
          <a:ln/>
        </p:spPr>
        <p:txBody>
          <a:bodyPr wrap="square" lIns="0" tIns="0" rIns="0" bIns="0" rtlCol="0" anchor="t"/>
          <a:lstStyle/>
          <a:p>
            <a:pPr algn="l" indent="0" marL="0">
              <a:buNone/>
            </a:pPr>
            <a:r>
              <a:rPr lang="en-US" sz="2200" b="1" dirty="0">
                <a:solidFill>
                  <a:srgbClr val="0F1733"/>
                </a:solidFill>
                <a:latin typeface="Calibri" pitchFamily="34" charset="0"/>
                <a:ea typeface="Calibri" pitchFamily="34" charset="-122"/>
                <a:cs typeface="Calibri" pitchFamily="34" charset="-120"/>
              </a:rPr>
              <a:t>From signup to first sent message.</a:t>
            </a:r>
            <a:endParaRPr lang="en-US" sz="2200" dirty="0"/>
          </a:p>
        </p:txBody>
      </p:sp>
      <p:sp>
        <p:nvSpPr>
          <p:cNvPr id="69" name="Text 67"/>
          <p:cNvSpPr/>
          <p:nvPr/>
        </p:nvSpPr>
        <p:spPr>
          <a:xfrm>
            <a:off x="548640" y="5486400"/>
            <a:ext cx="10637215" cy="640080"/>
          </a:xfrm>
          <a:prstGeom prst="rect">
            <a:avLst/>
          </a:prstGeom>
          <a:noFill/>
          <a:ln/>
        </p:spPr>
        <p:txBody>
          <a:bodyPr wrap="square" lIns="0" tIns="0" rIns="0" bIns="0" rtlCol="0" anchor="t"/>
          <a:lstStyle/>
          <a:p>
            <a:pPr algn="l" indent="0" marL="0">
              <a:buNone/>
            </a:pPr>
            <a:r>
              <a:rPr lang="en-US" sz="1300" dirty="0">
                <a:solidFill>
                  <a:srgbClr val="2A3358"/>
                </a:solidFill>
                <a:latin typeface="Calibri" pitchFamily="34" charset="0"/>
                <a:ea typeface="Calibri" pitchFamily="34" charset="-122"/>
                <a:cs typeface="Calibri" pitchFamily="34" charset="-120"/>
              </a:rPr>
              <a:t>Try a real outreach campaign tonight. Visit creatoroutreach.net, sign up, run a search, send a real message — and see the workflow yourself before any sales conversation.</a:t>
            </a:r>
            <a:endParaRPr lang="en-US" sz="13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17 · Get started  ·  vD</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116 / 126</a:t>
            </a:r>
            <a:endParaRPr lang="en-US" sz="9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1ECFF"/>
        </a:solidFill>
      </p:bgPr>
    </p:bg>
    <p:spTree>
      <p:nvGrpSpPr>
        <p:cNvPr id="1" name=""/>
        <p:cNvGrpSpPr/>
        <p:nvPr/>
      </p:nvGrpSpPr>
      <p:grpSpPr>
        <a:xfrm>
          <a:off x="0" y="0"/>
          <a:ext cx="0" cy="0"/>
          <a:chOff x="0" y="0"/>
          <a:chExt cx="0" cy="0"/>
        </a:xfrm>
      </p:grpSpPr>
      <p:sp>
        <p:nvSpPr>
          <p:cNvPr id="2" name="Text 0"/>
          <p:cNvSpPr/>
          <p:nvPr/>
        </p:nvSpPr>
        <p:spPr>
          <a:xfrm>
            <a:off x="457200" y="365760"/>
            <a:ext cx="2286000" cy="2286000"/>
          </a:xfrm>
          <a:prstGeom prst="rect">
            <a:avLst/>
          </a:prstGeom>
          <a:noFill/>
          <a:ln/>
        </p:spPr>
        <p:txBody>
          <a:bodyPr wrap="square" lIns="0" tIns="0" rIns="0" bIns="0" rtlCol="0" anchor="t"/>
          <a:lstStyle/>
          <a:p>
            <a:pPr algn="l" indent="0" marL="0">
              <a:buNone/>
            </a:pPr>
            <a:r>
              <a:rPr lang="en-US" sz="24000" b="1" dirty="0">
                <a:solidFill>
                  <a:srgbClr val="5028C2"/>
                </a:solidFill>
                <a:latin typeface="Georgia" pitchFamily="34" charset="0"/>
                <a:ea typeface="Georgia" pitchFamily="34" charset="-122"/>
                <a:cs typeface="Georgia" pitchFamily="34" charset="-120"/>
              </a:rPr>
              <a:t>"</a:t>
            </a:r>
            <a:endParaRPr lang="en-US" sz="24000" dirty="0"/>
          </a:p>
        </p:txBody>
      </p:sp>
      <p:sp>
        <p:nvSpPr>
          <p:cNvPr id="3" name="Text 1"/>
          <p:cNvSpPr/>
          <p:nvPr/>
        </p:nvSpPr>
        <p:spPr>
          <a:xfrm>
            <a:off x="1920240" y="1737360"/>
            <a:ext cx="9722815" cy="3108960"/>
          </a:xfrm>
          <a:prstGeom prst="rect">
            <a:avLst/>
          </a:prstGeom>
          <a:noFill/>
          <a:ln/>
        </p:spPr>
        <p:txBody>
          <a:bodyPr wrap="square" lIns="0" tIns="0" rIns="0" bIns="0" rtlCol="0" anchor="t"/>
          <a:lstStyle/>
          <a:p>
            <a:pPr algn="l" indent="0" marL="0">
              <a:buNone/>
            </a:pPr>
            <a:r>
              <a:rPr lang="en-US" sz="3200" i="1" dirty="0">
                <a:solidFill>
                  <a:srgbClr val="0F1733"/>
                </a:solidFill>
                <a:latin typeface="Georgia" pitchFamily="34" charset="0"/>
                <a:ea typeface="Georgia" pitchFamily="34" charset="-122"/>
                <a:cs typeface="Georgia" pitchFamily="34" charset="-120"/>
              </a:rPr>
              <a:t>The fastest way to evaluate this product is to use it on a real campaign for ten minutes. We built it for that test.</a:t>
            </a:r>
            <a:endParaRPr lang="en-US" sz="3200" dirty="0"/>
          </a:p>
        </p:txBody>
      </p:sp>
      <p:sp>
        <p:nvSpPr>
          <p:cNvPr id="4" name="Shape 2"/>
          <p:cNvSpPr/>
          <p:nvPr/>
        </p:nvSpPr>
        <p:spPr>
          <a:xfrm>
            <a:off x="1920240" y="5120640"/>
            <a:ext cx="640080" cy="0"/>
          </a:xfrm>
          <a:prstGeom prst="line">
            <a:avLst/>
          </a:prstGeom>
          <a:noFill/>
          <a:ln w="25400">
            <a:solidFill>
              <a:srgbClr val="5028C2"/>
            </a:solidFill>
            <a:prstDash val="solid"/>
          </a:ln>
        </p:spPr>
      </p:sp>
      <p:sp>
        <p:nvSpPr>
          <p:cNvPr id="5" name="Text 3"/>
          <p:cNvSpPr/>
          <p:nvPr/>
        </p:nvSpPr>
        <p:spPr>
          <a:xfrm>
            <a:off x="1920240" y="5212080"/>
            <a:ext cx="9722815" cy="457200"/>
          </a:xfrm>
          <a:prstGeom prst="rect">
            <a:avLst/>
          </a:prstGeom>
          <a:noFill/>
          <a:ln/>
        </p:spPr>
        <p:txBody>
          <a:bodyPr wrap="square" lIns="0" tIns="0" rIns="0" bIns="0" rtlCol="0" anchor="t"/>
          <a:lstStyle/>
          <a:p>
            <a:pPr algn="l" indent="0" marL="0">
              <a:buNone/>
            </a:pPr>
            <a:r>
              <a:rPr lang="en-US" sz="1400" b="1" spc="100" kern="0" dirty="0">
                <a:solidFill>
                  <a:srgbClr val="3D1E96"/>
                </a:solidFill>
                <a:latin typeface="Calibri" pitchFamily="34" charset="0"/>
                <a:ea typeface="Calibri" pitchFamily="34" charset="-122"/>
                <a:cs typeface="Calibri" pitchFamily="34" charset="-120"/>
              </a:rPr>
              <a:t>Dylan Meehan</a:t>
            </a:r>
            <a:endParaRPr lang="en-US" sz="1400" dirty="0"/>
          </a:p>
        </p:txBody>
      </p:sp>
      <p:sp>
        <p:nvSpPr>
          <p:cNvPr id="6" name="Text 4"/>
          <p:cNvSpPr/>
          <p:nvPr/>
        </p:nvSpPr>
        <p:spPr>
          <a:xfrm>
            <a:off x="1920240" y="5532120"/>
            <a:ext cx="9722815" cy="365760"/>
          </a:xfrm>
          <a:prstGeom prst="rect">
            <a:avLst/>
          </a:prstGeom>
          <a:noFill/>
          <a:ln/>
        </p:spPr>
        <p:txBody>
          <a:bodyPr wrap="square" lIns="0" tIns="0" rIns="0" bIns="0" rtlCol="0" anchor="t"/>
          <a:lstStyle/>
          <a:p>
            <a:pPr algn="l" indent="0" marL="0">
              <a:buNone/>
            </a:pPr>
            <a:r>
              <a:rPr lang="en-US" sz="1200" dirty="0">
                <a:solidFill>
                  <a:srgbClr val="6B7493"/>
                </a:solidFill>
                <a:latin typeface="Calibri" pitchFamily="34" charset="0"/>
                <a:ea typeface="Calibri" pitchFamily="34" charset="-122"/>
                <a:cs typeface="Calibri" pitchFamily="34" charset="-120"/>
              </a:rPr>
              <a:t>Founder · dmeehanj@gmail.com</a:t>
            </a:r>
            <a:endParaRPr lang="en-US" sz="1200" dirty="0"/>
          </a:p>
        </p:txBody>
      </p:sp>
      <p:sp>
        <p:nvSpPr>
          <p:cNvPr id="7" name="Shape 5"/>
          <p:cNvSpPr/>
          <p:nvPr/>
        </p:nvSpPr>
        <p:spPr>
          <a:xfrm>
            <a:off x="548640" y="502920"/>
            <a:ext cx="292608" cy="292608"/>
          </a:xfrm>
          <a:prstGeom prst="roundRect">
            <a:avLst>
              <a:gd name="adj" fmla="val 25000"/>
            </a:avLst>
          </a:prstGeom>
          <a:solidFill>
            <a:srgbClr val="5028C2"/>
          </a:solidFill>
          <a:ln/>
        </p:spPr>
      </p:sp>
      <p:sp>
        <p:nvSpPr>
          <p:cNvPr id="8" name="Shape 6"/>
          <p:cNvSpPr/>
          <p:nvPr/>
        </p:nvSpPr>
        <p:spPr>
          <a:xfrm>
            <a:off x="548640" y="502920"/>
            <a:ext cx="292608" cy="292608"/>
          </a:xfrm>
          <a:prstGeom prst="roundRect">
            <a:avLst>
              <a:gd name="adj" fmla="val 25000"/>
            </a:avLst>
          </a:prstGeom>
          <a:solidFill>
            <a:srgbClr val="1A6FBE">
              <a:alpha val="50000"/>
            </a:srgbClr>
          </a:solidFill>
          <a:ln/>
        </p:spPr>
      </p:sp>
      <p:sp>
        <p:nvSpPr>
          <p:cNvPr id="9" name="Text 7"/>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0" name="Text 8"/>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1" name="Text 9"/>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17 · Get started  ·  vE</a:t>
            </a:r>
            <a:endParaRPr lang="en-US" sz="900" dirty="0"/>
          </a:p>
        </p:txBody>
      </p:sp>
      <p:sp>
        <p:nvSpPr>
          <p:cNvPr id="12" name="Text 10"/>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3" name="Text 11"/>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117 / 126</a:t>
            </a:r>
            <a:endParaRPr lang="en-US" sz="9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a:off x="3047924" y="0"/>
            <a:ext cx="9143771" cy="6858000"/>
          </a:xfrm>
          <a:prstGeom prst="rtTriangle">
            <a:avLst/>
          </a:prstGeom>
          <a:solidFill>
            <a:srgbClr val="5028C2"/>
          </a:solidFill>
          <a:ln/>
        </p:spPr>
      </p:sp>
      <p:sp>
        <p:nvSpPr>
          <p:cNvPr id="3" name="Shape 1"/>
          <p:cNvSpPr/>
          <p:nvPr/>
        </p:nvSpPr>
        <p:spPr>
          <a:xfrm flipH="1">
            <a:off x="4876678" y="1028700"/>
            <a:ext cx="7924602" cy="6515100"/>
          </a:xfrm>
          <a:prstGeom prst="rtTriangle">
            <a:avLst/>
          </a:prstGeom>
          <a:solidFill>
            <a:srgbClr val="1A6FBE">
              <a:alpha val="75000"/>
            </a:srgbClr>
          </a:solidFill>
          <a:ln/>
        </p:spPr>
      </p:sp>
      <p:sp>
        <p:nvSpPr>
          <p:cNvPr id="4" name="Text 2"/>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GET STARTED</a:t>
            </a:r>
            <a:endParaRPr lang="en-US" sz="1100" dirty="0"/>
          </a:p>
        </p:txBody>
      </p:sp>
      <p:sp>
        <p:nvSpPr>
          <p:cNvPr id="5" name="Text 3"/>
          <p:cNvSpPr/>
          <p:nvPr/>
        </p:nvSpPr>
        <p:spPr>
          <a:xfrm>
            <a:off x="548640" y="1417320"/>
            <a:ext cx="6095848" cy="2286000"/>
          </a:xfrm>
          <a:prstGeom prst="rect">
            <a:avLst/>
          </a:prstGeom>
          <a:noFill/>
          <a:ln/>
        </p:spPr>
        <p:txBody>
          <a:bodyPr wrap="square" lIns="0" tIns="0" rIns="0" bIns="0" rtlCol="0" anchor="t"/>
          <a:lstStyle/>
          <a:p>
            <a:pPr algn="l" indent="0" marL="0">
              <a:buNone/>
            </a:pPr>
            <a:r>
              <a:rPr lang="en-US" sz="4000" b="1" spc="-50" kern="0" dirty="0">
                <a:solidFill>
                  <a:srgbClr val="0F1733"/>
                </a:solidFill>
                <a:latin typeface="Calibri" pitchFamily="34" charset="0"/>
                <a:ea typeface="Calibri" pitchFamily="34" charset="-122"/>
                <a:cs typeface="Calibri" pitchFamily="34" charset="-120"/>
              </a:rPr>
              <a:t>creatoroutreach.net — sign up, search, send.</a:t>
            </a:r>
            <a:endParaRPr lang="en-US" sz="4000" dirty="0"/>
          </a:p>
        </p:txBody>
      </p:sp>
      <p:sp>
        <p:nvSpPr>
          <p:cNvPr id="6" name="Text 4"/>
          <p:cNvSpPr/>
          <p:nvPr/>
        </p:nvSpPr>
        <p:spPr>
          <a:xfrm>
            <a:off x="548640" y="3840480"/>
            <a:ext cx="5821528" cy="2103120"/>
          </a:xfrm>
          <a:prstGeom prst="rect">
            <a:avLst/>
          </a:prstGeom>
          <a:noFill/>
          <a:ln/>
        </p:spPr>
        <p:txBody>
          <a:bodyPr wrap="square" lIns="0" tIns="0" rIns="0" bIns="0" rtlCol="0" anchor="t"/>
          <a:lstStyle/>
          <a:p>
            <a:pPr algn="l" indent="0" marL="0">
              <a:spcAft>
                <a:spcPts val="600"/>
              </a:spcAft>
              <a:buNone/>
            </a:pPr>
            <a:r>
              <a:rPr lang="en-US" sz="1400" dirty="0">
                <a:solidFill>
                  <a:srgbClr val="2A3358"/>
                </a:solidFill>
                <a:latin typeface="Calibri" pitchFamily="34" charset="0"/>
                <a:ea typeface="Calibri" pitchFamily="34" charset="-122"/>
                <a:cs typeface="Calibri" pitchFamily="34" charset="-120"/>
              </a:rPr>
              <a:t>Self-serve onboarding. No demo call required. First 10 customers lock in $20/month forever. Cancel anytime. For warm intros, deep-dives, or investor conversations: dmeehanj@gmail.com.</a:t>
            </a:r>
            <a:endParaRPr lang="en-US" sz="1400" dirty="0"/>
          </a:p>
        </p:txBody>
      </p:sp>
      <p:sp>
        <p:nvSpPr>
          <p:cNvPr id="7" name="Text 5"/>
          <p:cNvSpPr/>
          <p:nvPr/>
        </p:nvSpPr>
        <p:spPr>
          <a:xfrm>
            <a:off x="6705432" y="2926080"/>
            <a:ext cx="4876678" cy="3291840"/>
          </a:xfrm>
          <a:prstGeom prst="rect">
            <a:avLst/>
          </a:prstGeom>
          <a:noFill/>
          <a:ln/>
        </p:spPr>
        <p:txBody>
          <a:bodyPr wrap="square" lIns="0" tIns="0" rIns="0" bIns="0" rtlCol="0" anchor="ctr"/>
          <a:lstStyle/>
          <a:p>
            <a:pPr algn="r" indent="0" marL="0">
              <a:buNone/>
            </a:pPr>
            <a:r>
              <a:rPr lang="en-US" sz="3200" b="1" spc="-50" kern="0" dirty="0">
                <a:solidFill>
                  <a:srgbClr val="FFFFFF"/>
                </a:solidFill>
                <a:latin typeface="Calibri" pitchFamily="34" charset="0"/>
                <a:ea typeface="Calibri" pitchFamily="34" charset="-122"/>
                <a:cs typeface="Calibri" pitchFamily="34" charset="-120"/>
              </a:rPr>
              <a:t>creator</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outreach</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.net</a:t>
            </a:r>
            <a:endParaRPr lang="en-US" sz="3200" dirty="0"/>
          </a:p>
        </p:txBody>
      </p:sp>
      <p:sp>
        <p:nvSpPr>
          <p:cNvPr id="8" name="Shape 6"/>
          <p:cNvSpPr/>
          <p:nvPr/>
        </p:nvSpPr>
        <p:spPr>
          <a:xfrm>
            <a:off x="548640" y="502920"/>
            <a:ext cx="292608" cy="292608"/>
          </a:xfrm>
          <a:prstGeom prst="roundRect">
            <a:avLst>
              <a:gd name="adj" fmla="val 25000"/>
            </a:avLst>
          </a:prstGeom>
          <a:solidFill>
            <a:srgbClr val="5028C2"/>
          </a:solidFill>
          <a:ln/>
        </p:spPr>
      </p:sp>
      <p:sp>
        <p:nvSpPr>
          <p:cNvPr id="9" name="Shape 7"/>
          <p:cNvSpPr/>
          <p:nvPr/>
        </p:nvSpPr>
        <p:spPr>
          <a:xfrm>
            <a:off x="548640" y="502920"/>
            <a:ext cx="292608" cy="292608"/>
          </a:xfrm>
          <a:prstGeom prst="roundRect">
            <a:avLst>
              <a:gd name="adj" fmla="val 25000"/>
            </a:avLst>
          </a:prstGeom>
          <a:solidFill>
            <a:srgbClr val="1A6FBE">
              <a:alpha val="50000"/>
            </a:srgbClr>
          </a:solidFill>
          <a:ln/>
        </p:spPr>
      </p:sp>
      <p:sp>
        <p:nvSpPr>
          <p:cNvPr id="10" name="Text 8"/>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1" name="Text 9"/>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2" name="Text 10"/>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17 · Get started  ·  vF</a:t>
            </a:r>
            <a:endParaRPr lang="en-US" sz="900" dirty="0"/>
          </a:p>
        </p:txBody>
      </p:sp>
      <p:sp>
        <p:nvSpPr>
          <p:cNvPr id="13" name="Text 11"/>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4" name="Text 12"/>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118 / 126</a:t>
            </a:r>
            <a:endParaRPr lang="en-US" sz="9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CFAF6"/>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GET STARTED</a:t>
            </a:r>
            <a:endParaRPr lang="en-US" sz="1100" dirty="0"/>
          </a:p>
        </p:txBody>
      </p:sp>
      <p:sp>
        <p:nvSpPr>
          <p:cNvPr id="3" name="Text 1"/>
          <p:cNvSpPr/>
          <p:nvPr/>
        </p:nvSpPr>
        <p:spPr>
          <a:xfrm>
            <a:off x="548640" y="1417320"/>
            <a:ext cx="11094415" cy="914400"/>
          </a:xfrm>
          <a:prstGeom prst="rect">
            <a:avLst/>
          </a:prstGeom>
          <a:noFill/>
          <a:ln/>
        </p:spPr>
        <p:txBody>
          <a:bodyPr wrap="square" lIns="0" tIns="0" rIns="0" bIns="0" rtlCol="0" anchor="t"/>
          <a:lstStyle/>
          <a:p>
            <a:pPr algn="l" indent="0" marL="0">
              <a:buNone/>
            </a:pPr>
            <a:r>
              <a:rPr lang="en-US" sz="3400" b="1" spc="-50" kern="0" dirty="0">
                <a:solidFill>
                  <a:srgbClr val="0F1733"/>
                </a:solidFill>
                <a:latin typeface="Calibri" pitchFamily="34" charset="0"/>
                <a:ea typeface="Calibri" pitchFamily="34" charset="-122"/>
                <a:cs typeface="Calibri" pitchFamily="34" charset="-120"/>
              </a:rPr>
              <a:t>Three ways to engage. One workflow.</a:t>
            </a:r>
            <a:endParaRPr lang="en-US" sz="3400" dirty="0"/>
          </a:p>
        </p:txBody>
      </p:sp>
      <p:sp>
        <p:nvSpPr>
          <p:cNvPr id="4" name="Shape 2"/>
          <p:cNvSpPr/>
          <p:nvPr/>
        </p:nvSpPr>
        <p:spPr>
          <a:xfrm>
            <a:off x="548640" y="2514600"/>
            <a:ext cx="5464912" cy="67008"/>
          </a:xfrm>
          <a:prstGeom prst="rect">
            <a:avLst/>
          </a:prstGeom>
          <a:solidFill>
            <a:srgbClr val="5028C2"/>
          </a:solidFill>
          <a:ln/>
        </p:spPr>
      </p:sp>
      <p:sp>
        <p:nvSpPr>
          <p:cNvPr id="5" name="Shape 3"/>
          <p:cNvSpPr/>
          <p:nvPr/>
        </p:nvSpPr>
        <p:spPr>
          <a:xfrm>
            <a:off x="548640" y="2572464"/>
            <a:ext cx="5464912" cy="67008"/>
          </a:xfrm>
          <a:prstGeom prst="rect">
            <a:avLst/>
          </a:prstGeom>
          <a:solidFill>
            <a:srgbClr val="4F29C2"/>
          </a:solidFill>
          <a:ln/>
        </p:spPr>
      </p:sp>
      <p:sp>
        <p:nvSpPr>
          <p:cNvPr id="6" name="Shape 4"/>
          <p:cNvSpPr/>
          <p:nvPr/>
        </p:nvSpPr>
        <p:spPr>
          <a:xfrm>
            <a:off x="548640" y="2630329"/>
            <a:ext cx="5464912" cy="67008"/>
          </a:xfrm>
          <a:prstGeom prst="rect">
            <a:avLst/>
          </a:prstGeom>
          <a:solidFill>
            <a:srgbClr val="4E2AC3"/>
          </a:solidFill>
          <a:ln/>
        </p:spPr>
      </p:sp>
      <p:sp>
        <p:nvSpPr>
          <p:cNvPr id="7" name="Shape 5"/>
          <p:cNvSpPr/>
          <p:nvPr/>
        </p:nvSpPr>
        <p:spPr>
          <a:xfrm>
            <a:off x="548640" y="2688193"/>
            <a:ext cx="5464912" cy="67008"/>
          </a:xfrm>
          <a:prstGeom prst="rect">
            <a:avLst/>
          </a:prstGeom>
          <a:solidFill>
            <a:srgbClr val="4D2BC3"/>
          </a:solidFill>
          <a:ln/>
        </p:spPr>
      </p:sp>
      <p:sp>
        <p:nvSpPr>
          <p:cNvPr id="8" name="Shape 6"/>
          <p:cNvSpPr/>
          <p:nvPr/>
        </p:nvSpPr>
        <p:spPr>
          <a:xfrm>
            <a:off x="548640" y="2746058"/>
            <a:ext cx="5464912" cy="67008"/>
          </a:xfrm>
          <a:prstGeom prst="rect">
            <a:avLst/>
          </a:prstGeom>
          <a:solidFill>
            <a:srgbClr val="4D2CC4"/>
          </a:solidFill>
          <a:ln/>
        </p:spPr>
      </p:sp>
      <p:sp>
        <p:nvSpPr>
          <p:cNvPr id="9" name="Shape 7"/>
          <p:cNvSpPr/>
          <p:nvPr/>
        </p:nvSpPr>
        <p:spPr>
          <a:xfrm>
            <a:off x="548640" y="2803922"/>
            <a:ext cx="5464912" cy="67008"/>
          </a:xfrm>
          <a:prstGeom prst="rect">
            <a:avLst/>
          </a:prstGeom>
          <a:solidFill>
            <a:srgbClr val="4C2DC4"/>
          </a:solidFill>
          <a:ln/>
        </p:spPr>
      </p:sp>
      <p:sp>
        <p:nvSpPr>
          <p:cNvPr id="10" name="Shape 8"/>
          <p:cNvSpPr/>
          <p:nvPr/>
        </p:nvSpPr>
        <p:spPr>
          <a:xfrm>
            <a:off x="548640" y="2861786"/>
            <a:ext cx="5464912" cy="67008"/>
          </a:xfrm>
          <a:prstGeom prst="rect">
            <a:avLst/>
          </a:prstGeom>
          <a:solidFill>
            <a:srgbClr val="4B2EC5"/>
          </a:solidFill>
          <a:ln/>
        </p:spPr>
      </p:sp>
      <p:sp>
        <p:nvSpPr>
          <p:cNvPr id="11" name="Shape 9"/>
          <p:cNvSpPr/>
          <p:nvPr/>
        </p:nvSpPr>
        <p:spPr>
          <a:xfrm>
            <a:off x="548640" y="2919651"/>
            <a:ext cx="5464912" cy="67008"/>
          </a:xfrm>
          <a:prstGeom prst="rect">
            <a:avLst/>
          </a:prstGeom>
          <a:solidFill>
            <a:srgbClr val="4A2FC5"/>
          </a:solidFill>
          <a:ln/>
        </p:spPr>
      </p:sp>
      <p:sp>
        <p:nvSpPr>
          <p:cNvPr id="12" name="Shape 10"/>
          <p:cNvSpPr/>
          <p:nvPr/>
        </p:nvSpPr>
        <p:spPr>
          <a:xfrm>
            <a:off x="548640" y="2977515"/>
            <a:ext cx="5464912" cy="67008"/>
          </a:xfrm>
          <a:prstGeom prst="rect">
            <a:avLst/>
          </a:prstGeom>
          <a:solidFill>
            <a:srgbClr val="4930C6"/>
          </a:solidFill>
          <a:ln/>
        </p:spPr>
      </p:sp>
      <p:sp>
        <p:nvSpPr>
          <p:cNvPr id="13" name="Shape 11"/>
          <p:cNvSpPr/>
          <p:nvPr/>
        </p:nvSpPr>
        <p:spPr>
          <a:xfrm>
            <a:off x="548640" y="3035379"/>
            <a:ext cx="5464912" cy="67008"/>
          </a:xfrm>
          <a:prstGeom prst="rect">
            <a:avLst/>
          </a:prstGeom>
          <a:solidFill>
            <a:srgbClr val="4831C6"/>
          </a:solidFill>
          <a:ln/>
        </p:spPr>
      </p:sp>
      <p:sp>
        <p:nvSpPr>
          <p:cNvPr id="14" name="Shape 12"/>
          <p:cNvSpPr/>
          <p:nvPr/>
        </p:nvSpPr>
        <p:spPr>
          <a:xfrm>
            <a:off x="548640" y="3093244"/>
            <a:ext cx="5464912" cy="67008"/>
          </a:xfrm>
          <a:prstGeom prst="rect">
            <a:avLst/>
          </a:prstGeom>
          <a:solidFill>
            <a:srgbClr val="4732C6"/>
          </a:solidFill>
          <a:ln/>
        </p:spPr>
      </p:sp>
      <p:sp>
        <p:nvSpPr>
          <p:cNvPr id="15" name="Shape 13"/>
          <p:cNvSpPr/>
          <p:nvPr/>
        </p:nvSpPr>
        <p:spPr>
          <a:xfrm>
            <a:off x="548640" y="3151108"/>
            <a:ext cx="5464912" cy="67008"/>
          </a:xfrm>
          <a:prstGeom prst="rect">
            <a:avLst/>
          </a:prstGeom>
          <a:solidFill>
            <a:srgbClr val="4733C7"/>
          </a:solidFill>
          <a:ln/>
        </p:spPr>
      </p:sp>
      <p:sp>
        <p:nvSpPr>
          <p:cNvPr id="16" name="Shape 14"/>
          <p:cNvSpPr/>
          <p:nvPr/>
        </p:nvSpPr>
        <p:spPr>
          <a:xfrm>
            <a:off x="548640" y="3208973"/>
            <a:ext cx="5464912" cy="67008"/>
          </a:xfrm>
          <a:prstGeom prst="rect">
            <a:avLst/>
          </a:prstGeom>
          <a:solidFill>
            <a:srgbClr val="4634C7"/>
          </a:solidFill>
          <a:ln/>
        </p:spPr>
      </p:sp>
      <p:sp>
        <p:nvSpPr>
          <p:cNvPr id="17" name="Shape 15"/>
          <p:cNvSpPr/>
          <p:nvPr/>
        </p:nvSpPr>
        <p:spPr>
          <a:xfrm>
            <a:off x="548640" y="3266837"/>
            <a:ext cx="5464912" cy="67008"/>
          </a:xfrm>
          <a:prstGeom prst="rect">
            <a:avLst/>
          </a:prstGeom>
          <a:solidFill>
            <a:srgbClr val="4535C8"/>
          </a:solidFill>
          <a:ln/>
        </p:spPr>
      </p:sp>
      <p:sp>
        <p:nvSpPr>
          <p:cNvPr id="18" name="Shape 16"/>
          <p:cNvSpPr/>
          <p:nvPr/>
        </p:nvSpPr>
        <p:spPr>
          <a:xfrm>
            <a:off x="548640" y="3324701"/>
            <a:ext cx="5464912" cy="67008"/>
          </a:xfrm>
          <a:prstGeom prst="rect">
            <a:avLst/>
          </a:prstGeom>
          <a:solidFill>
            <a:srgbClr val="4436C8"/>
          </a:solidFill>
          <a:ln/>
        </p:spPr>
      </p:sp>
      <p:sp>
        <p:nvSpPr>
          <p:cNvPr id="19" name="Shape 17"/>
          <p:cNvSpPr/>
          <p:nvPr/>
        </p:nvSpPr>
        <p:spPr>
          <a:xfrm>
            <a:off x="548640" y="3382566"/>
            <a:ext cx="5464912" cy="67008"/>
          </a:xfrm>
          <a:prstGeom prst="rect">
            <a:avLst/>
          </a:prstGeom>
          <a:solidFill>
            <a:srgbClr val="4337C9"/>
          </a:solidFill>
          <a:ln/>
        </p:spPr>
      </p:sp>
      <p:sp>
        <p:nvSpPr>
          <p:cNvPr id="20" name="Shape 18"/>
          <p:cNvSpPr/>
          <p:nvPr/>
        </p:nvSpPr>
        <p:spPr>
          <a:xfrm>
            <a:off x="548640" y="3440430"/>
            <a:ext cx="5464912" cy="67008"/>
          </a:xfrm>
          <a:prstGeom prst="rect">
            <a:avLst/>
          </a:prstGeom>
          <a:solidFill>
            <a:srgbClr val="4238C9"/>
          </a:solidFill>
          <a:ln/>
        </p:spPr>
      </p:sp>
      <p:sp>
        <p:nvSpPr>
          <p:cNvPr id="21" name="Shape 19"/>
          <p:cNvSpPr/>
          <p:nvPr/>
        </p:nvSpPr>
        <p:spPr>
          <a:xfrm>
            <a:off x="548640" y="3498294"/>
            <a:ext cx="5464912" cy="67008"/>
          </a:xfrm>
          <a:prstGeom prst="rect">
            <a:avLst/>
          </a:prstGeom>
          <a:solidFill>
            <a:srgbClr val="4139CA"/>
          </a:solidFill>
          <a:ln/>
        </p:spPr>
      </p:sp>
      <p:sp>
        <p:nvSpPr>
          <p:cNvPr id="22" name="Shape 20"/>
          <p:cNvSpPr/>
          <p:nvPr/>
        </p:nvSpPr>
        <p:spPr>
          <a:xfrm>
            <a:off x="548640" y="3556159"/>
            <a:ext cx="5464912" cy="67008"/>
          </a:xfrm>
          <a:prstGeom prst="rect">
            <a:avLst/>
          </a:prstGeom>
          <a:solidFill>
            <a:srgbClr val="413ACA"/>
          </a:solidFill>
          <a:ln/>
        </p:spPr>
      </p:sp>
      <p:sp>
        <p:nvSpPr>
          <p:cNvPr id="23" name="Shape 21"/>
          <p:cNvSpPr/>
          <p:nvPr/>
        </p:nvSpPr>
        <p:spPr>
          <a:xfrm>
            <a:off x="548640" y="3614023"/>
            <a:ext cx="5464912" cy="67008"/>
          </a:xfrm>
          <a:prstGeom prst="rect">
            <a:avLst/>
          </a:prstGeom>
          <a:solidFill>
            <a:srgbClr val="403BCA"/>
          </a:solidFill>
          <a:ln/>
        </p:spPr>
      </p:sp>
      <p:sp>
        <p:nvSpPr>
          <p:cNvPr id="24" name="Shape 22"/>
          <p:cNvSpPr/>
          <p:nvPr/>
        </p:nvSpPr>
        <p:spPr>
          <a:xfrm>
            <a:off x="548640" y="3671888"/>
            <a:ext cx="5464912" cy="67008"/>
          </a:xfrm>
          <a:prstGeom prst="rect">
            <a:avLst/>
          </a:prstGeom>
          <a:solidFill>
            <a:srgbClr val="3F3CCB"/>
          </a:solidFill>
          <a:ln/>
        </p:spPr>
      </p:sp>
      <p:sp>
        <p:nvSpPr>
          <p:cNvPr id="25" name="Shape 23"/>
          <p:cNvSpPr/>
          <p:nvPr/>
        </p:nvSpPr>
        <p:spPr>
          <a:xfrm>
            <a:off x="548640" y="3729752"/>
            <a:ext cx="5464912" cy="67008"/>
          </a:xfrm>
          <a:prstGeom prst="rect">
            <a:avLst/>
          </a:prstGeom>
          <a:solidFill>
            <a:srgbClr val="3E3DCB"/>
          </a:solidFill>
          <a:ln/>
        </p:spPr>
      </p:sp>
      <p:sp>
        <p:nvSpPr>
          <p:cNvPr id="26" name="Shape 24"/>
          <p:cNvSpPr/>
          <p:nvPr/>
        </p:nvSpPr>
        <p:spPr>
          <a:xfrm>
            <a:off x="548640" y="3787616"/>
            <a:ext cx="5464912" cy="67008"/>
          </a:xfrm>
          <a:prstGeom prst="rect">
            <a:avLst/>
          </a:prstGeom>
          <a:solidFill>
            <a:srgbClr val="3D3ECC"/>
          </a:solidFill>
          <a:ln/>
        </p:spPr>
      </p:sp>
      <p:sp>
        <p:nvSpPr>
          <p:cNvPr id="27" name="Shape 25"/>
          <p:cNvSpPr/>
          <p:nvPr/>
        </p:nvSpPr>
        <p:spPr>
          <a:xfrm>
            <a:off x="548640" y="3845481"/>
            <a:ext cx="5464912" cy="67008"/>
          </a:xfrm>
          <a:prstGeom prst="rect">
            <a:avLst/>
          </a:prstGeom>
          <a:solidFill>
            <a:srgbClr val="3C3FCC"/>
          </a:solidFill>
          <a:ln/>
        </p:spPr>
      </p:sp>
      <p:sp>
        <p:nvSpPr>
          <p:cNvPr id="28" name="Shape 26"/>
          <p:cNvSpPr/>
          <p:nvPr/>
        </p:nvSpPr>
        <p:spPr>
          <a:xfrm>
            <a:off x="548640" y="3903345"/>
            <a:ext cx="5464912" cy="67008"/>
          </a:xfrm>
          <a:prstGeom prst="rect">
            <a:avLst/>
          </a:prstGeom>
          <a:solidFill>
            <a:srgbClr val="3B40CD"/>
          </a:solidFill>
          <a:ln/>
        </p:spPr>
      </p:sp>
      <p:sp>
        <p:nvSpPr>
          <p:cNvPr id="29" name="Shape 27"/>
          <p:cNvSpPr/>
          <p:nvPr/>
        </p:nvSpPr>
        <p:spPr>
          <a:xfrm>
            <a:off x="548640" y="3961209"/>
            <a:ext cx="5464912" cy="67008"/>
          </a:xfrm>
          <a:prstGeom prst="rect">
            <a:avLst/>
          </a:prstGeom>
          <a:solidFill>
            <a:srgbClr val="3B41CD"/>
          </a:solidFill>
          <a:ln/>
        </p:spPr>
      </p:sp>
      <p:sp>
        <p:nvSpPr>
          <p:cNvPr id="30" name="Shape 28"/>
          <p:cNvSpPr/>
          <p:nvPr/>
        </p:nvSpPr>
        <p:spPr>
          <a:xfrm>
            <a:off x="548640" y="4019074"/>
            <a:ext cx="5464912" cy="67008"/>
          </a:xfrm>
          <a:prstGeom prst="rect">
            <a:avLst/>
          </a:prstGeom>
          <a:solidFill>
            <a:srgbClr val="3A42CE"/>
          </a:solidFill>
          <a:ln/>
        </p:spPr>
      </p:sp>
      <p:sp>
        <p:nvSpPr>
          <p:cNvPr id="31" name="Shape 29"/>
          <p:cNvSpPr/>
          <p:nvPr/>
        </p:nvSpPr>
        <p:spPr>
          <a:xfrm>
            <a:off x="548640" y="4076938"/>
            <a:ext cx="5464912" cy="67008"/>
          </a:xfrm>
          <a:prstGeom prst="rect">
            <a:avLst/>
          </a:prstGeom>
          <a:solidFill>
            <a:srgbClr val="3943CE"/>
          </a:solidFill>
          <a:ln/>
        </p:spPr>
      </p:sp>
      <p:sp>
        <p:nvSpPr>
          <p:cNvPr id="32" name="Shape 30"/>
          <p:cNvSpPr/>
          <p:nvPr/>
        </p:nvSpPr>
        <p:spPr>
          <a:xfrm>
            <a:off x="548640" y="4134802"/>
            <a:ext cx="5464912" cy="67008"/>
          </a:xfrm>
          <a:prstGeom prst="rect">
            <a:avLst/>
          </a:prstGeom>
          <a:solidFill>
            <a:srgbClr val="3844CE"/>
          </a:solidFill>
          <a:ln/>
        </p:spPr>
      </p:sp>
      <p:sp>
        <p:nvSpPr>
          <p:cNvPr id="33" name="Shape 31"/>
          <p:cNvSpPr/>
          <p:nvPr/>
        </p:nvSpPr>
        <p:spPr>
          <a:xfrm>
            <a:off x="548640" y="4192667"/>
            <a:ext cx="5464912" cy="67008"/>
          </a:xfrm>
          <a:prstGeom prst="rect">
            <a:avLst/>
          </a:prstGeom>
          <a:solidFill>
            <a:srgbClr val="3745CF"/>
          </a:solidFill>
          <a:ln/>
        </p:spPr>
      </p:sp>
      <p:sp>
        <p:nvSpPr>
          <p:cNvPr id="34" name="Shape 32"/>
          <p:cNvSpPr/>
          <p:nvPr/>
        </p:nvSpPr>
        <p:spPr>
          <a:xfrm>
            <a:off x="548640" y="4250531"/>
            <a:ext cx="5464912" cy="67008"/>
          </a:xfrm>
          <a:prstGeom prst="rect">
            <a:avLst/>
          </a:prstGeom>
          <a:solidFill>
            <a:srgbClr val="3646CF"/>
          </a:solidFill>
          <a:ln/>
        </p:spPr>
      </p:sp>
      <p:sp>
        <p:nvSpPr>
          <p:cNvPr id="35" name="Shape 33"/>
          <p:cNvSpPr/>
          <p:nvPr/>
        </p:nvSpPr>
        <p:spPr>
          <a:xfrm>
            <a:off x="548640" y="4308396"/>
            <a:ext cx="5464912" cy="67008"/>
          </a:xfrm>
          <a:prstGeom prst="rect">
            <a:avLst/>
          </a:prstGeom>
          <a:solidFill>
            <a:srgbClr val="3547D0"/>
          </a:solidFill>
          <a:ln/>
        </p:spPr>
      </p:sp>
      <p:sp>
        <p:nvSpPr>
          <p:cNvPr id="36" name="Shape 34"/>
          <p:cNvSpPr/>
          <p:nvPr/>
        </p:nvSpPr>
        <p:spPr>
          <a:xfrm>
            <a:off x="548640" y="4366260"/>
            <a:ext cx="5464912" cy="67008"/>
          </a:xfrm>
          <a:prstGeom prst="rect">
            <a:avLst/>
          </a:prstGeom>
          <a:solidFill>
            <a:srgbClr val="3549D0"/>
          </a:solidFill>
          <a:ln/>
        </p:spPr>
      </p:sp>
      <p:sp>
        <p:nvSpPr>
          <p:cNvPr id="37" name="Shape 35"/>
          <p:cNvSpPr/>
          <p:nvPr/>
        </p:nvSpPr>
        <p:spPr>
          <a:xfrm>
            <a:off x="548640" y="4424124"/>
            <a:ext cx="5464912" cy="67008"/>
          </a:xfrm>
          <a:prstGeom prst="rect">
            <a:avLst/>
          </a:prstGeom>
          <a:solidFill>
            <a:srgbClr val="344ACF"/>
          </a:solidFill>
          <a:ln/>
        </p:spPr>
      </p:sp>
      <p:sp>
        <p:nvSpPr>
          <p:cNvPr id="38" name="Shape 36"/>
          <p:cNvSpPr/>
          <p:nvPr/>
        </p:nvSpPr>
        <p:spPr>
          <a:xfrm>
            <a:off x="548640" y="4481989"/>
            <a:ext cx="5464912" cy="67008"/>
          </a:xfrm>
          <a:prstGeom prst="rect">
            <a:avLst/>
          </a:prstGeom>
          <a:solidFill>
            <a:srgbClr val="334BCF"/>
          </a:solidFill>
          <a:ln/>
        </p:spPr>
      </p:sp>
      <p:sp>
        <p:nvSpPr>
          <p:cNvPr id="39" name="Shape 37"/>
          <p:cNvSpPr/>
          <p:nvPr/>
        </p:nvSpPr>
        <p:spPr>
          <a:xfrm>
            <a:off x="548640" y="4539853"/>
            <a:ext cx="5464912" cy="67008"/>
          </a:xfrm>
          <a:prstGeom prst="rect">
            <a:avLst/>
          </a:prstGeom>
          <a:solidFill>
            <a:srgbClr val="324CCE"/>
          </a:solidFill>
          <a:ln/>
        </p:spPr>
      </p:sp>
      <p:sp>
        <p:nvSpPr>
          <p:cNvPr id="40" name="Shape 38"/>
          <p:cNvSpPr/>
          <p:nvPr/>
        </p:nvSpPr>
        <p:spPr>
          <a:xfrm>
            <a:off x="548640" y="4597717"/>
            <a:ext cx="5464912" cy="67008"/>
          </a:xfrm>
          <a:prstGeom prst="rect">
            <a:avLst/>
          </a:prstGeom>
          <a:solidFill>
            <a:srgbClr val="314ECD"/>
          </a:solidFill>
          <a:ln/>
        </p:spPr>
      </p:sp>
      <p:sp>
        <p:nvSpPr>
          <p:cNvPr id="41" name="Shape 39"/>
          <p:cNvSpPr/>
          <p:nvPr/>
        </p:nvSpPr>
        <p:spPr>
          <a:xfrm>
            <a:off x="548640" y="4655582"/>
            <a:ext cx="5464912" cy="67008"/>
          </a:xfrm>
          <a:prstGeom prst="rect">
            <a:avLst/>
          </a:prstGeom>
          <a:solidFill>
            <a:srgbClr val="304FCD"/>
          </a:solidFill>
          <a:ln/>
        </p:spPr>
      </p:sp>
      <p:sp>
        <p:nvSpPr>
          <p:cNvPr id="42" name="Shape 40"/>
          <p:cNvSpPr/>
          <p:nvPr/>
        </p:nvSpPr>
        <p:spPr>
          <a:xfrm>
            <a:off x="548640" y="4713446"/>
            <a:ext cx="5464912" cy="67008"/>
          </a:xfrm>
          <a:prstGeom prst="rect">
            <a:avLst/>
          </a:prstGeom>
          <a:solidFill>
            <a:srgbClr val="2F50CC"/>
          </a:solidFill>
          <a:ln/>
        </p:spPr>
      </p:sp>
      <p:sp>
        <p:nvSpPr>
          <p:cNvPr id="43" name="Shape 41"/>
          <p:cNvSpPr/>
          <p:nvPr/>
        </p:nvSpPr>
        <p:spPr>
          <a:xfrm>
            <a:off x="548640" y="4771311"/>
            <a:ext cx="5464912" cy="67008"/>
          </a:xfrm>
          <a:prstGeom prst="rect">
            <a:avLst/>
          </a:prstGeom>
          <a:solidFill>
            <a:srgbClr val="2F51CC"/>
          </a:solidFill>
          <a:ln/>
        </p:spPr>
      </p:sp>
      <p:sp>
        <p:nvSpPr>
          <p:cNvPr id="44" name="Shape 42"/>
          <p:cNvSpPr/>
          <p:nvPr/>
        </p:nvSpPr>
        <p:spPr>
          <a:xfrm>
            <a:off x="548640" y="4829175"/>
            <a:ext cx="5464912" cy="67008"/>
          </a:xfrm>
          <a:prstGeom prst="rect">
            <a:avLst/>
          </a:prstGeom>
          <a:solidFill>
            <a:srgbClr val="2E53CB"/>
          </a:solidFill>
          <a:ln/>
        </p:spPr>
      </p:sp>
      <p:sp>
        <p:nvSpPr>
          <p:cNvPr id="45" name="Shape 43"/>
          <p:cNvSpPr/>
          <p:nvPr/>
        </p:nvSpPr>
        <p:spPr>
          <a:xfrm>
            <a:off x="548640" y="4887039"/>
            <a:ext cx="5464912" cy="67008"/>
          </a:xfrm>
          <a:prstGeom prst="rect">
            <a:avLst/>
          </a:prstGeom>
          <a:solidFill>
            <a:srgbClr val="2D54CB"/>
          </a:solidFill>
          <a:ln/>
        </p:spPr>
      </p:sp>
      <p:sp>
        <p:nvSpPr>
          <p:cNvPr id="46" name="Shape 44"/>
          <p:cNvSpPr/>
          <p:nvPr/>
        </p:nvSpPr>
        <p:spPr>
          <a:xfrm>
            <a:off x="548640" y="4944904"/>
            <a:ext cx="5464912" cy="67008"/>
          </a:xfrm>
          <a:prstGeom prst="rect">
            <a:avLst/>
          </a:prstGeom>
          <a:solidFill>
            <a:srgbClr val="2C55CA"/>
          </a:solidFill>
          <a:ln/>
        </p:spPr>
      </p:sp>
      <p:sp>
        <p:nvSpPr>
          <p:cNvPr id="47" name="Shape 45"/>
          <p:cNvSpPr/>
          <p:nvPr/>
        </p:nvSpPr>
        <p:spPr>
          <a:xfrm>
            <a:off x="548640" y="5002768"/>
            <a:ext cx="5464912" cy="67008"/>
          </a:xfrm>
          <a:prstGeom prst="rect">
            <a:avLst/>
          </a:prstGeom>
          <a:solidFill>
            <a:srgbClr val="2B56C9"/>
          </a:solidFill>
          <a:ln/>
        </p:spPr>
      </p:sp>
      <p:sp>
        <p:nvSpPr>
          <p:cNvPr id="48" name="Shape 46"/>
          <p:cNvSpPr/>
          <p:nvPr/>
        </p:nvSpPr>
        <p:spPr>
          <a:xfrm>
            <a:off x="548640" y="5060633"/>
            <a:ext cx="5464912" cy="67008"/>
          </a:xfrm>
          <a:prstGeom prst="rect">
            <a:avLst/>
          </a:prstGeom>
          <a:solidFill>
            <a:srgbClr val="2A57C9"/>
          </a:solidFill>
          <a:ln/>
        </p:spPr>
      </p:sp>
      <p:sp>
        <p:nvSpPr>
          <p:cNvPr id="49" name="Shape 47"/>
          <p:cNvSpPr/>
          <p:nvPr/>
        </p:nvSpPr>
        <p:spPr>
          <a:xfrm>
            <a:off x="548640" y="5118497"/>
            <a:ext cx="5464912" cy="67008"/>
          </a:xfrm>
          <a:prstGeom prst="rect">
            <a:avLst/>
          </a:prstGeom>
          <a:solidFill>
            <a:srgbClr val="2959C8"/>
          </a:solidFill>
          <a:ln/>
        </p:spPr>
      </p:sp>
      <p:sp>
        <p:nvSpPr>
          <p:cNvPr id="50" name="Shape 48"/>
          <p:cNvSpPr/>
          <p:nvPr/>
        </p:nvSpPr>
        <p:spPr>
          <a:xfrm>
            <a:off x="548640" y="5176361"/>
            <a:ext cx="5464912" cy="67008"/>
          </a:xfrm>
          <a:prstGeom prst="rect">
            <a:avLst/>
          </a:prstGeom>
          <a:solidFill>
            <a:srgbClr val="295AC8"/>
          </a:solidFill>
          <a:ln/>
        </p:spPr>
      </p:sp>
      <p:sp>
        <p:nvSpPr>
          <p:cNvPr id="51" name="Shape 49"/>
          <p:cNvSpPr/>
          <p:nvPr/>
        </p:nvSpPr>
        <p:spPr>
          <a:xfrm>
            <a:off x="548640" y="5234226"/>
            <a:ext cx="5464912" cy="67008"/>
          </a:xfrm>
          <a:prstGeom prst="rect">
            <a:avLst/>
          </a:prstGeom>
          <a:solidFill>
            <a:srgbClr val="285BC7"/>
          </a:solidFill>
          <a:ln/>
        </p:spPr>
      </p:sp>
      <p:sp>
        <p:nvSpPr>
          <p:cNvPr id="52" name="Shape 50"/>
          <p:cNvSpPr/>
          <p:nvPr/>
        </p:nvSpPr>
        <p:spPr>
          <a:xfrm>
            <a:off x="548640" y="5292090"/>
            <a:ext cx="5464912" cy="67008"/>
          </a:xfrm>
          <a:prstGeom prst="rect">
            <a:avLst/>
          </a:prstGeom>
          <a:solidFill>
            <a:srgbClr val="275CC7"/>
          </a:solidFill>
          <a:ln/>
        </p:spPr>
      </p:sp>
      <p:sp>
        <p:nvSpPr>
          <p:cNvPr id="53" name="Shape 51"/>
          <p:cNvSpPr/>
          <p:nvPr/>
        </p:nvSpPr>
        <p:spPr>
          <a:xfrm>
            <a:off x="548640" y="5349954"/>
            <a:ext cx="5464912" cy="67008"/>
          </a:xfrm>
          <a:prstGeom prst="rect">
            <a:avLst/>
          </a:prstGeom>
          <a:solidFill>
            <a:srgbClr val="265EC6"/>
          </a:solidFill>
          <a:ln/>
        </p:spPr>
      </p:sp>
      <p:sp>
        <p:nvSpPr>
          <p:cNvPr id="54" name="Shape 52"/>
          <p:cNvSpPr/>
          <p:nvPr/>
        </p:nvSpPr>
        <p:spPr>
          <a:xfrm>
            <a:off x="548640" y="5407819"/>
            <a:ext cx="5464912" cy="67008"/>
          </a:xfrm>
          <a:prstGeom prst="rect">
            <a:avLst/>
          </a:prstGeom>
          <a:solidFill>
            <a:srgbClr val="255FC5"/>
          </a:solidFill>
          <a:ln/>
        </p:spPr>
      </p:sp>
      <p:sp>
        <p:nvSpPr>
          <p:cNvPr id="55" name="Shape 53"/>
          <p:cNvSpPr/>
          <p:nvPr/>
        </p:nvSpPr>
        <p:spPr>
          <a:xfrm>
            <a:off x="548640" y="5465683"/>
            <a:ext cx="5464912" cy="67008"/>
          </a:xfrm>
          <a:prstGeom prst="rect">
            <a:avLst/>
          </a:prstGeom>
          <a:solidFill>
            <a:srgbClr val="2460C5"/>
          </a:solidFill>
          <a:ln/>
        </p:spPr>
      </p:sp>
      <p:sp>
        <p:nvSpPr>
          <p:cNvPr id="56" name="Shape 54"/>
          <p:cNvSpPr/>
          <p:nvPr/>
        </p:nvSpPr>
        <p:spPr>
          <a:xfrm>
            <a:off x="548640" y="5523548"/>
            <a:ext cx="5464912" cy="67008"/>
          </a:xfrm>
          <a:prstGeom prst="rect">
            <a:avLst/>
          </a:prstGeom>
          <a:solidFill>
            <a:srgbClr val="2361C4"/>
          </a:solidFill>
          <a:ln/>
        </p:spPr>
      </p:sp>
      <p:sp>
        <p:nvSpPr>
          <p:cNvPr id="57" name="Shape 55"/>
          <p:cNvSpPr/>
          <p:nvPr/>
        </p:nvSpPr>
        <p:spPr>
          <a:xfrm>
            <a:off x="548640" y="5581412"/>
            <a:ext cx="5464912" cy="67008"/>
          </a:xfrm>
          <a:prstGeom prst="rect">
            <a:avLst/>
          </a:prstGeom>
          <a:solidFill>
            <a:srgbClr val="2363C4"/>
          </a:solidFill>
          <a:ln/>
        </p:spPr>
      </p:sp>
      <p:sp>
        <p:nvSpPr>
          <p:cNvPr id="58" name="Shape 56"/>
          <p:cNvSpPr/>
          <p:nvPr/>
        </p:nvSpPr>
        <p:spPr>
          <a:xfrm>
            <a:off x="548640" y="5639276"/>
            <a:ext cx="5464912" cy="67008"/>
          </a:xfrm>
          <a:prstGeom prst="rect">
            <a:avLst/>
          </a:prstGeom>
          <a:solidFill>
            <a:srgbClr val="2264C3"/>
          </a:solidFill>
          <a:ln/>
        </p:spPr>
      </p:sp>
      <p:sp>
        <p:nvSpPr>
          <p:cNvPr id="59" name="Shape 57"/>
          <p:cNvSpPr/>
          <p:nvPr/>
        </p:nvSpPr>
        <p:spPr>
          <a:xfrm>
            <a:off x="548640" y="5697141"/>
            <a:ext cx="5464912" cy="67008"/>
          </a:xfrm>
          <a:prstGeom prst="rect">
            <a:avLst/>
          </a:prstGeom>
          <a:solidFill>
            <a:srgbClr val="2165C3"/>
          </a:solidFill>
          <a:ln/>
        </p:spPr>
      </p:sp>
      <p:sp>
        <p:nvSpPr>
          <p:cNvPr id="60" name="Shape 58"/>
          <p:cNvSpPr/>
          <p:nvPr/>
        </p:nvSpPr>
        <p:spPr>
          <a:xfrm>
            <a:off x="548640" y="5755005"/>
            <a:ext cx="5464912" cy="67008"/>
          </a:xfrm>
          <a:prstGeom prst="rect">
            <a:avLst/>
          </a:prstGeom>
          <a:solidFill>
            <a:srgbClr val="2066C2"/>
          </a:solidFill>
          <a:ln/>
        </p:spPr>
      </p:sp>
      <p:sp>
        <p:nvSpPr>
          <p:cNvPr id="61" name="Shape 59"/>
          <p:cNvSpPr/>
          <p:nvPr/>
        </p:nvSpPr>
        <p:spPr>
          <a:xfrm>
            <a:off x="548640" y="5812869"/>
            <a:ext cx="5464912" cy="67008"/>
          </a:xfrm>
          <a:prstGeom prst="rect">
            <a:avLst/>
          </a:prstGeom>
          <a:solidFill>
            <a:srgbClr val="1F68C1"/>
          </a:solidFill>
          <a:ln/>
        </p:spPr>
      </p:sp>
      <p:sp>
        <p:nvSpPr>
          <p:cNvPr id="62" name="Shape 60"/>
          <p:cNvSpPr/>
          <p:nvPr/>
        </p:nvSpPr>
        <p:spPr>
          <a:xfrm>
            <a:off x="548640" y="5870734"/>
            <a:ext cx="5464912" cy="67008"/>
          </a:xfrm>
          <a:prstGeom prst="rect">
            <a:avLst/>
          </a:prstGeom>
          <a:solidFill>
            <a:srgbClr val="1E69C1"/>
          </a:solidFill>
          <a:ln/>
        </p:spPr>
      </p:sp>
      <p:sp>
        <p:nvSpPr>
          <p:cNvPr id="63" name="Shape 61"/>
          <p:cNvSpPr/>
          <p:nvPr/>
        </p:nvSpPr>
        <p:spPr>
          <a:xfrm>
            <a:off x="548640" y="5928598"/>
            <a:ext cx="5464912" cy="67008"/>
          </a:xfrm>
          <a:prstGeom prst="rect">
            <a:avLst/>
          </a:prstGeom>
          <a:solidFill>
            <a:srgbClr val="1D6AC0"/>
          </a:solidFill>
          <a:ln/>
        </p:spPr>
      </p:sp>
      <p:sp>
        <p:nvSpPr>
          <p:cNvPr id="64" name="Shape 62"/>
          <p:cNvSpPr/>
          <p:nvPr/>
        </p:nvSpPr>
        <p:spPr>
          <a:xfrm>
            <a:off x="548640" y="5986463"/>
            <a:ext cx="5464912" cy="67008"/>
          </a:xfrm>
          <a:prstGeom prst="rect">
            <a:avLst/>
          </a:prstGeom>
          <a:solidFill>
            <a:srgbClr val="1D6BC0"/>
          </a:solidFill>
          <a:ln/>
        </p:spPr>
      </p:sp>
      <p:sp>
        <p:nvSpPr>
          <p:cNvPr id="65" name="Shape 63"/>
          <p:cNvSpPr/>
          <p:nvPr/>
        </p:nvSpPr>
        <p:spPr>
          <a:xfrm>
            <a:off x="548640" y="6044327"/>
            <a:ext cx="5464912" cy="67008"/>
          </a:xfrm>
          <a:prstGeom prst="rect">
            <a:avLst/>
          </a:prstGeom>
          <a:solidFill>
            <a:srgbClr val="1C6DBF"/>
          </a:solidFill>
          <a:ln/>
        </p:spPr>
      </p:sp>
      <p:sp>
        <p:nvSpPr>
          <p:cNvPr id="66" name="Shape 64"/>
          <p:cNvSpPr/>
          <p:nvPr/>
        </p:nvSpPr>
        <p:spPr>
          <a:xfrm>
            <a:off x="548640" y="6102191"/>
            <a:ext cx="5464912" cy="67008"/>
          </a:xfrm>
          <a:prstGeom prst="rect">
            <a:avLst/>
          </a:prstGeom>
          <a:solidFill>
            <a:srgbClr val="1B6EBF"/>
          </a:solidFill>
          <a:ln/>
        </p:spPr>
      </p:sp>
      <p:sp>
        <p:nvSpPr>
          <p:cNvPr id="67" name="Shape 65"/>
          <p:cNvSpPr/>
          <p:nvPr/>
        </p:nvSpPr>
        <p:spPr>
          <a:xfrm>
            <a:off x="548640" y="6160056"/>
            <a:ext cx="5464912" cy="67008"/>
          </a:xfrm>
          <a:prstGeom prst="rect">
            <a:avLst/>
          </a:prstGeom>
          <a:solidFill>
            <a:srgbClr val="1A6FBE"/>
          </a:solidFill>
          <a:ln/>
        </p:spPr>
      </p:sp>
      <p:sp>
        <p:nvSpPr>
          <p:cNvPr id="68" name="Text 66"/>
          <p:cNvSpPr/>
          <p:nvPr/>
        </p:nvSpPr>
        <p:spPr>
          <a:xfrm>
            <a:off x="914400" y="2880360"/>
            <a:ext cx="4733392" cy="914400"/>
          </a:xfrm>
          <a:prstGeom prst="rect">
            <a:avLst/>
          </a:prstGeom>
          <a:noFill/>
          <a:ln/>
        </p:spPr>
        <p:txBody>
          <a:bodyPr wrap="square" lIns="0" tIns="0" rIns="0" bIns="0" rtlCol="0" anchor="t"/>
          <a:lstStyle/>
          <a:p>
            <a:pPr algn="l" indent="0" marL="0">
              <a:buNone/>
            </a:pPr>
            <a:r>
              <a:rPr lang="en-US" sz="1100" b="1" spc="300" kern="0" dirty="0">
                <a:solidFill>
                  <a:srgbClr val="FFFFFF"/>
                </a:solidFill>
                <a:latin typeface="Calibri" pitchFamily="34" charset="0"/>
                <a:ea typeface="Calibri" pitchFamily="34" charset="-122"/>
                <a:cs typeface="Calibri" pitchFamily="34" charset="-120"/>
              </a:rPr>
              <a:t>GET STARTED</a:t>
            </a:r>
            <a:endParaRPr lang="en-US" sz="1100" dirty="0"/>
          </a:p>
        </p:txBody>
      </p:sp>
      <p:sp>
        <p:nvSpPr>
          <p:cNvPr id="69" name="Text 67"/>
          <p:cNvSpPr/>
          <p:nvPr/>
        </p:nvSpPr>
        <p:spPr>
          <a:xfrm>
            <a:off x="914400" y="3383280"/>
            <a:ext cx="4733392" cy="2011680"/>
          </a:xfrm>
          <a:prstGeom prst="rect">
            <a:avLst/>
          </a:prstGeom>
          <a:noFill/>
          <a:ln/>
        </p:spPr>
        <p:txBody>
          <a:bodyPr wrap="square" lIns="0" tIns="0" rIns="0" bIns="0" rtlCol="0" anchor="t"/>
          <a:lstStyle/>
          <a:p>
            <a:pPr algn="l" indent="0" marL="0">
              <a:buNone/>
            </a:pPr>
            <a:r>
              <a:rPr lang="en-US" sz="3200" b="1" spc="-50" kern="0" dirty="0">
                <a:solidFill>
                  <a:srgbClr val="FFFFFF"/>
                </a:solidFill>
                <a:latin typeface="Calibri" pitchFamily="34" charset="0"/>
                <a:ea typeface="Calibri" pitchFamily="34" charset="-122"/>
                <a:cs typeface="Calibri" pitchFamily="34" charset="-120"/>
              </a:rPr>
              <a:t>Sign up in 10 minutes. Cancel anytime.</a:t>
            </a:r>
            <a:endParaRPr lang="en-US" sz="3200" dirty="0"/>
          </a:p>
        </p:txBody>
      </p:sp>
      <p:sp>
        <p:nvSpPr>
          <p:cNvPr id="70" name="Text 68"/>
          <p:cNvSpPr/>
          <p:nvPr/>
        </p:nvSpPr>
        <p:spPr>
          <a:xfrm>
            <a:off x="914400" y="5166360"/>
            <a:ext cx="4733392" cy="10972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creatoroutreach.net — self-serve onboarding, $39 Pro plan, $20/mo locked for first 10 customers. For walkthroughs or investor conversations, email dmeehanj@gmail.com.</a:t>
            </a:r>
            <a:endParaRPr lang="en-US" sz="1300" dirty="0"/>
          </a:p>
        </p:txBody>
      </p:sp>
      <p:sp>
        <p:nvSpPr>
          <p:cNvPr id="71" name="Shape 69"/>
          <p:cNvSpPr/>
          <p:nvPr/>
        </p:nvSpPr>
        <p:spPr>
          <a:xfrm>
            <a:off x="6178144" y="2514600"/>
            <a:ext cx="5464912" cy="1124712"/>
          </a:xfrm>
          <a:prstGeom prst="roundRect">
            <a:avLst>
              <a:gd name="adj" fmla="val 9756"/>
            </a:avLst>
          </a:prstGeom>
          <a:solidFill>
            <a:srgbClr val="FFFFFF"/>
          </a:solidFill>
          <a:ln w="9525">
            <a:solidFill>
              <a:srgbClr val="E5E7F0"/>
            </a:solidFill>
            <a:prstDash val="solid"/>
          </a:ln>
        </p:spPr>
      </p:sp>
      <p:sp>
        <p:nvSpPr>
          <p:cNvPr id="72" name="Shape 70"/>
          <p:cNvSpPr/>
          <p:nvPr/>
        </p:nvSpPr>
        <p:spPr>
          <a:xfrm>
            <a:off x="6178144" y="2514600"/>
            <a:ext cx="73152" cy="1124712"/>
          </a:xfrm>
          <a:prstGeom prst="rect">
            <a:avLst/>
          </a:prstGeom>
          <a:solidFill>
            <a:srgbClr val="5028C2"/>
          </a:solidFill>
          <a:ln/>
        </p:spPr>
      </p:sp>
      <p:sp>
        <p:nvSpPr>
          <p:cNvPr id="73" name="Text 71"/>
          <p:cNvSpPr/>
          <p:nvPr/>
        </p:nvSpPr>
        <p:spPr>
          <a:xfrm>
            <a:off x="6434176" y="2697480"/>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Self-serve</a:t>
            </a:r>
            <a:endParaRPr lang="en-US" sz="1600" dirty="0"/>
          </a:p>
        </p:txBody>
      </p:sp>
      <p:sp>
        <p:nvSpPr>
          <p:cNvPr id="74" name="Text 72"/>
          <p:cNvSpPr/>
          <p:nvPr/>
        </p:nvSpPr>
        <p:spPr>
          <a:xfrm>
            <a:off x="6434176" y="3081528"/>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creatoroutreach.net · $39/mo · cancel anytime.</a:t>
            </a:r>
            <a:endParaRPr lang="en-US" sz="1200" dirty="0"/>
          </a:p>
        </p:txBody>
      </p:sp>
      <p:sp>
        <p:nvSpPr>
          <p:cNvPr id="75" name="Shape 73"/>
          <p:cNvSpPr/>
          <p:nvPr/>
        </p:nvSpPr>
        <p:spPr>
          <a:xfrm>
            <a:off x="6178144" y="3803904"/>
            <a:ext cx="5464912" cy="1124712"/>
          </a:xfrm>
          <a:prstGeom prst="roundRect">
            <a:avLst>
              <a:gd name="adj" fmla="val 9756"/>
            </a:avLst>
          </a:prstGeom>
          <a:solidFill>
            <a:srgbClr val="FFFFFF"/>
          </a:solidFill>
          <a:ln w="9525">
            <a:solidFill>
              <a:srgbClr val="E5E7F0"/>
            </a:solidFill>
            <a:prstDash val="solid"/>
          </a:ln>
        </p:spPr>
      </p:sp>
      <p:sp>
        <p:nvSpPr>
          <p:cNvPr id="76" name="Shape 74"/>
          <p:cNvSpPr/>
          <p:nvPr/>
        </p:nvSpPr>
        <p:spPr>
          <a:xfrm>
            <a:off x="6178144" y="3803904"/>
            <a:ext cx="73152" cy="1124712"/>
          </a:xfrm>
          <a:prstGeom prst="rect">
            <a:avLst/>
          </a:prstGeom>
          <a:solidFill>
            <a:srgbClr val="3548D0"/>
          </a:solidFill>
          <a:ln/>
        </p:spPr>
      </p:sp>
      <p:sp>
        <p:nvSpPr>
          <p:cNvPr id="77" name="Text 75"/>
          <p:cNvSpPr/>
          <p:nvPr/>
        </p:nvSpPr>
        <p:spPr>
          <a:xfrm>
            <a:off x="6434176" y="3986784"/>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Walkthrough</a:t>
            </a:r>
            <a:endParaRPr lang="en-US" sz="1600" dirty="0"/>
          </a:p>
        </p:txBody>
      </p:sp>
      <p:sp>
        <p:nvSpPr>
          <p:cNvPr id="78" name="Text 76"/>
          <p:cNvSpPr/>
          <p:nvPr/>
        </p:nvSpPr>
        <p:spPr>
          <a:xfrm>
            <a:off x="6434176" y="4370832"/>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dmeehanj@gmail.com · personal demo.</a:t>
            </a:r>
            <a:endParaRPr lang="en-US" sz="1200" dirty="0"/>
          </a:p>
        </p:txBody>
      </p:sp>
      <p:sp>
        <p:nvSpPr>
          <p:cNvPr id="79" name="Shape 77"/>
          <p:cNvSpPr/>
          <p:nvPr/>
        </p:nvSpPr>
        <p:spPr>
          <a:xfrm>
            <a:off x="6178144" y="5093208"/>
            <a:ext cx="5464912" cy="1124712"/>
          </a:xfrm>
          <a:prstGeom prst="roundRect">
            <a:avLst>
              <a:gd name="adj" fmla="val 9756"/>
            </a:avLst>
          </a:prstGeom>
          <a:solidFill>
            <a:srgbClr val="FFFFFF"/>
          </a:solidFill>
          <a:ln w="9525">
            <a:solidFill>
              <a:srgbClr val="E5E7F0"/>
            </a:solidFill>
            <a:prstDash val="solid"/>
          </a:ln>
        </p:spPr>
      </p:sp>
      <p:sp>
        <p:nvSpPr>
          <p:cNvPr id="80" name="Shape 78"/>
          <p:cNvSpPr/>
          <p:nvPr/>
        </p:nvSpPr>
        <p:spPr>
          <a:xfrm>
            <a:off x="6178144" y="5093208"/>
            <a:ext cx="73152" cy="1124712"/>
          </a:xfrm>
          <a:prstGeom prst="rect">
            <a:avLst/>
          </a:prstGeom>
          <a:solidFill>
            <a:srgbClr val="1A6FBE"/>
          </a:solidFill>
          <a:ln/>
        </p:spPr>
      </p:sp>
      <p:sp>
        <p:nvSpPr>
          <p:cNvPr id="81" name="Text 79"/>
          <p:cNvSpPr/>
          <p:nvPr/>
        </p:nvSpPr>
        <p:spPr>
          <a:xfrm>
            <a:off x="6434176" y="5276088"/>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Invest</a:t>
            </a:r>
            <a:endParaRPr lang="en-US" sz="1600" dirty="0"/>
          </a:p>
        </p:txBody>
      </p:sp>
      <p:sp>
        <p:nvSpPr>
          <p:cNvPr id="82" name="Text 80"/>
          <p:cNvSpPr/>
          <p:nvPr/>
        </p:nvSpPr>
        <p:spPr>
          <a:xfrm>
            <a:off x="6434176" y="5660136"/>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Reach out direct. Deep-dive on request.</a:t>
            </a:r>
            <a:endParaRPr lang="en-US" sz="1200" dirty="0"/>
          </a:p>
        </p:txBody>
      </p:sp>
      <p:sp>
        <p:nvSpPr>
          <p:cNvPr id="83" name="Shape 81"/>
          <p:cNvSpPr/>
          <p:nvPr/>
        </p:nvSpPr>
        <p:spPr>
          <a:xfrm>
            <a:off x="548640" y="502920"/>
            <a:ext cx="292608" cy="292608"/>
          </a:xfrm>
          <a:prstGeom prst="roundRect">
            <a:avLst>
              <a:gd name="adj" fmla="val 25000"/>
            </a:avLst>
          </a:prstGeom>
          <a:solidFill>
            <a:srgbClr val="5028C2"/>
          </a:solidFill>
          <a:ln/>
        </p:spPr>
      </p:sp>
      <p:sp>
        <p:nvSpPr>
          <p:cNvPr id="84" name="Shape 82"/>
          <p:cNvSpPr/>
          <p:nvPr/>
        </p:nvSpPr>
        <p:spPr>
          <a:xfrm>
            <a:off x="548640" y="502920"/>
            <a:ext cx="292608" cy="292608"/>
          </a:xfrm>
          <a:prstGeom prst="roundRect">
            <a:avLst>
              <a:gd name="adj" fmla="val 25000"/>
            </a:avLst>
          </a:prstGeom>
          <a:solidFill>
            <a:srgbClr val="1A6FBE">
              <a:alpha val="50000"/>
            </a:srgbClr>
          </a:solidFill>
          <a:ln/>
        </p:spPr>
      </p:sp>
      <p:sp>
        <p:nvSpPr>
          <p:cNvPr id="85" name="Text 83"/>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86" name="Text 84"/>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87" name="Text 85"/>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17 · Get started  ·  vG</a:t>
            </a:r>
            <a:endParaRPr lang="en-US" sz="900" dirty="0"/>
          </a:p>
        </p:txBody>
      </p:sp>
      <p:sp>
        <p:nvSpPr>
          <p:cNvPr id="88" name="Text 86"/>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89" name="Text 87"/>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119 / 126</a:t>
            </a:r>
            <a:endParaRPr lang="en-US" sz="9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80015" y="-914400"/>
            <a:ext cx="3200400" cy="3200400"/>
          </a:xfrm>
          <a:prstGeom prst="ellipse">
            <a:avLst/>
          </a:prstGeom>
          <a:solidFill>
            <a:srgbClr val="F1ECFF"/>
          </a:solidFill>
          <a:ln/>
        </p:spPr>
      </p:sp>
      <p:sp>
        <p:nvSpPr>
          <p:cNvPr id="3" name="Shape 1"/>
          <p:cNvSpPr/>
          <p:nvPr/>
        </p:nvSpPr>
        <p:spPr>
          <a:xfrm>
            <a:off x="10820095" y="-548640"/>
            <a:ext cx="2194560" cy="2194560"/>
          </a:xfrm>
          <a:prstGeom prst="ellipse">
            <a:avLst/>
          </a:prstGeom>
          <a:solidFill>
            <a:srgbClr val="E8F1FB">
              <a:alpha val="60000"/>
            </a:srgbClr>
          </a:solidFill>
          <a:ln/>
        </p:spPr>
      </p:sp>
      <p:sp>
        <p:nvSpPr>
          <p:cNvPr id="4" name="Shape 2"/>
          <p:cNvSpPr/>
          <p:nvPr/>
        </p:nvSpPr>
        <p:spPr>
          <a:xfrm>
            <a:off x="548640" y="5486400"/>
            <a:ext cx="54864" cy="54864"/>
          </a:xfrm>
          <a:prstGeom prst="ellipse">
            <a:avLst/>
          </a:prstGeom>
          <a:solidFill>
            <a:srgbClr val="5028C2">
              <a:alpha val="30000"/>
            </a:srgbClr>
          </a:solidFill>
          <a:ln/>
        </p:spPr>
      </p:sp>
      <p:sp>
        <p:nvSpPr>
          <p:cNvPr id="5" name="Shape 3"/>
          <p:cNvSpPr/>
          <p:nvPr/>
        </p:nvSpPr>
        <p:spPr>
          <a:xfrm>
            <a:off x="548640" y="5650992"/>
            <a:ext cx="54864" cy="54864"/>
          </a:xfrm>
          <a:prstGeom prst="ellipse">
            <a:avLst/>
          </a:prstGeom>
          <a:solidFill>
            <a:srgbClr val="5028C2">
              <a:alpha val="30000"/>
            </a:srgbClr>
          </a:solidFill>
          <a:ln/>
        </p:spPr>
      </p:sp>
      <p:sp>
        <p:nvSpPr>
          <p:cNvPr id="6" name="Shape 4"/>
          <p:cNvSpPr/>
          <p:nvPr/>
        </p:nvSpPr>
        <p:spPr>
          <a:xfrm>
            <a:off x="548640" y="5815584"/>
            <a:ext cx="54864" cy="54864"/>
          </a:xfrm>
          <a:prstGeom prst="ellipse">
            <a:avLst/>
          </a:prstGeom>
          <a:solidFill>
            <a:srgbClr val="5028C2">
              <a:alpha val="30000"/>
            </a:srgbClr>
          </a:solidFill>
          <a:ln/>
        </p:spPr>
      </p:sp>
      <p:sp>
        <p:nvSpPr>
          <p:cNvPr id="7" name="Shape 5"/>
          <p:cNvSpPr/>
          <p:nvPr/>
        </p:nvSpPr>
        <p:spPr>
          <a:xfrm>
            <a:off x="713232" y="5486400"/>
            <a:ext cx="54864" cy="54864"/>
          </a:xfrm>
          <a:prstGeom prst="ellipse">
            <a:avLst/>
          </a:prstGeom>
          <a:solidFill>
            <a:srgbClr val="5028C2">
              <a:alpha val="30000"/>
            </a:srgbClr>
          </a:solidFill>
          <a:ln/>
        </p:spPr>
      </p:sp>
      <p:sp>
        <p:nvSpPr>
          <p:cNvPr id="8" name="Shape 6"/>
          <p:cNvSpPr/>
          <p:nvPr/>
        </p:nvSpPr>
        <p:spPr>
          <a:xfrm>
            <a:off x="713232" y="5650992"/>
            <a:ext cx="54864" cy="54864"/>
          </a:xfrm>
          <a:prstGeom prst="ellipse">
            <a:avLst/>
          </a:prstGeom>
          <a:solidFill>
            <a:srgbClr val="5028C2">
              <a:alpha val="30000"/>
            </a:srgbClr>
          </a:solidFill>
          <a:ln/>
        </p:spPr>
      </p:sp>
      <p:sp>
        <p:nvSpPr>
          <p:cNvPr id="9" name="Shape 7"/>
          <p:cNvSpPr/>
          <p:nvPr/>
        </p:nvSpPr>
        <p:spPr>
          <a:xfrm>
            <a:off x="713232" y="5815584"/>
            <a:ext cx="54864" cy="54864"/>
          </a:xfrm>
          <a:prstGeom prst="ellipse">
            <a:avLst/>
          </a:prstGeom>
          <a:solidFill>
            <a:srgbClr val="5028C2">
              <a:alpha val="30000"/>
            </a:srgbClr>
          </a:solidFill>
          <a:ln/>
        </p:spPr>
      </p:sp>
      <p:sp>
        <p:nvSpPr>
          <p:cNvPr id="10" name="Shape 8"/>
          <p:cNvSpPr/>
          <p:nvPr/>
        </p:nvSpPr>
        <p:spPr>
          <a:xfrm>
            <a:off x="877824" y="5486400"/>
            <a:ext cx="54864" cy="54864"/>
          </a:xfrm>
          <a:prstGeom prst="ellipse">
            <a:avLst/>
          </a:prstGeom>
          <a:solidFill>
            <a:srgbClr val="5028C2">
              <a:alpha val="30000"/>
            </a:srgbClr>
          </a:solidFill>
          <a:ln/>
        </p:spPr>
      </p:sp>
      <p:sp>
        <p:nvSpPr>
          <p:cNvPr id="11" name="Shape 9"/>
          <p:cNvSpPr/>
          <p:nvPr/>
        </p:nvSpPr>
        <p:spPr>
          <a:xfrm>
            <a:off x="877824" y="5650992"/>
            <a:ext cx="54864" cy="54864"/>
          </a:xfrm>
          <a:prstGeom prst="ellipse">
            <a:avLst/>
          </a:prstGeom>
          <a:solidFill>
            <a:srgbClr val="5028C2">
              <a:alpha val="30000"/>
            </a:srgbClr>
          </a:solidFill>
          <a:ln/>
        </p:spPr>
      </p:sp>
      <p:sp>
        <p:nvSpPr>
          <p:cNvPr id="12" name="Shape 10"/>
          <p:cNvSpPr/>
          <p:nvPr/>
        </p:nvSpPr>
        <p:spPr>
          <a:xfrm>
            <a:off x="877824" y="5815584"/>
            <a:ext cx="54864" cy="54864"/>
          </a:xfrm>
          <a:prstGeom prst="ellipse">
            <a:avLst/>
          </a:prstGeom>
          <a:solidFill>
            <a:srgbClr val="5028C2">
              <a:alpha val="30000"/>
            </a:srgbClr>
          </a:solidFill>
          <a:ln/>
        </p:spPr>
      </p:sp>
      <p:sp>
        <p:nvSpPr>
          <p:cNvPr id="13" name="Shape 11"/>
          <p:cNvSpPr/>
          <p:nvPr/>
        </p:nvSpPr>
        <p:spPr>
          <a:xfrm>
            <a:off x="1042416" y="5486400"/>
            <a:ext cx="54864" cy="54864"/>
          </a:xfrm>
          <a:prstGeom prst="ellipse">
            <a:avLst/>
          </a:prstGeom>
          <a:solidFill>
            <a:srgbClr val="5028C2">
              <a:alpha val="30000"/>
            </a:srgbClr>
          </a:solidFill>
          <a:ln/>
        </p:spPr>
      </p:sp>
      <p:sp>
        <p:nvSpPr>
          <p:cNvPr id="14" name="Shape 12"/>
          <p:cNvSpPr/>
          <p:nvPr/>
        </p:nvSpPr>
        <p:spPr>
          <a:xfrm>
            <a:off x="1042416" y="5650992"/>
            <a:ext cx="54864" cy="54864"/>
          </a:xfrm>
          <a:prstGeom prst="ellipse">
            <a:avLst/>
          </a:prstGeom>
          <a:solidFill>
            <a:srgbClr val="5028C2">
              <a:alpha val="30000"/>
            </a:srgbClr>
          </a:solidFill>
          <a:ln/>
        </p:spPr>
      </p:sp>
      <p:sp>
        <p:nvSpPr>
          <p:cNvPr id="15" name="Shape 13"/>
          <p:cNvSpPr/>
          <p:nvPr/>
        </p:nvSpPr>
        <p:spPr>
          <a:xfrm>
            <a:off x="1042416" y="5815584"/>
            <a:ext cx="54864" cy="54864"/>
          </a:xfrm>
          <a:prstGeom prst="ellipse">
            <a:avLst/>
          </a:prstGeom>
          <a:solidFill>
            <a:srgbClr val="5028C2">
              <a:alpha val="30000"/>
            </a:srgbClr>
          </a:solidFill>
          <a:ln/>
        </p:spPr>
      </p:sp>
      <p:sp>
        <p:nvSpPr>
          <p:cNvPr id="16" name="Shape 14"/>
          <p:cNvSpPr/>
          <p:nvPr/>
        </p:nvSpPr>
        <p:spPr>
          <a:xfrm>
            <a:off x="1207008" y="5486400"/>
            <a:ext cx="54864" cy="54864"/>
          </a:xfrm>
          <a:prstGeom prst="ellipse">
            <a:avLst/>
          </a:prstGeom>
          <a:solidFill>
            <a:srgbClr val="5028C2">
              <a:alpha val="30000"/>
            </a:srgbClr>
          </a:solidFill>
          <a:ln/>
        </p:spPr>
      </p:sp>
      <p:sp>
        <p:nvSpPr>
          <p:cNvPr id="17" name="Shape 15"/>
          <p:cNvSpPr/>
          <p:nvPr/>
        </p:nvSpPr>
        <p:spPr>
          <a:xfrm>
            <a:off x="1207008" y="5650992"/>
            <a:ext cx="54864" cy="54864"/>
          </a:xfrm>
          <a:prstGeom prst="ellipse">
            <a:avLst/>
          </a:prstGeom>
          <a:solidFill>
            <a:srgbClr val="5028C2">
              <a:alpha val="30000"/>
            </a:srgbClr>
          </a:solidFill>
          <a:ln/>
        </p:spPr>
      </p:sp>
      <p:sp>
        <p:nvSpPr>
          <p:cNvPr id="18" name="Shape 16"/>
          <p:cNvSpPr/>
          <p:nvPr/>
        </p:nvSpPr>
        <p:spPr>
          <a:xfrm>
            <a:off x="1207008" y="5815584"/>
            <a:ext cx="54864" cy="54864"/>
          </a:xfrm>
          <a:prstGeom prst="ellipse">
            <a:avLst/>
          </a:prstGeom>
          <a:solidFill>
            <a:srgbClr val="5028C2">
              <a:alpha val="30000"/>
            </a:srgbClr>
          </a:solidFill>
          <a:ln/>
        </p:spPr>
      </p:sp>
      <p:sp>
        <p:nvSpPr>
          <p:cNvPr id="19" name="Shape 17"/>
          <p:cNvSpPr/>
          <p:nvPr/>
        </p:nvSpPr>
        <p:spPr>
          <a:xfrm>
            <a:off x="1371600" y="5486400"/>
            <a:ext cx="54864" cy="54864"/>
          </a:xfrm>
          <a:prstGeom prst="ellipse">
            <a:avLst/>
          </a:prstGeom>
          <a:solidFill>
            <a:srgbClr val="5028C2">
              <a:alpha val="30000"/>
            </a:srgbClr>
          </a:solidFill>
          <a:ln/>
        </p:spPr>
      </p:sp>
      <p:sp>
        <p:nvSpPr>
          <p:cNvPr id="20" name="Shape 18"/>
          <p:cNvSpPr/>
          <p:nvPr/>
        </p:nvSpPr>
        <p:spPr>
          <a:xfrm>
            <a:off x="1371600" y="5650992"/>
            <a:ext cx="54864" cy="54864"/>
          </a:xfrm>
          <a:prstGeom prst="ellipse">
            <a:avLst/>
          </a:prstGeom>
          <a:solidFill>
            <a:srgbClr val="5028C2">
              <a:alpha val="30000"/>
            </a:srgbClr>
          </a:solidFill>
          <a:ln/>
        </p:spPr>
      </p:sp>
      <p:sp>
        <p:nvSpPr>
          <p:cNvPr id="21" name="Shape 19"/>
          <p:cNvSpPr/>
          <p:nvPr/>
        </p:nvSpPr>
        <p:spPr>
          <a:xfrm>
            <a:off x="1371600" y="5815584"/>
            <a:ext cx="54864" cy="54864"/>
          </a:xfrm>
          <a:prstGeom prst="ellipse">
            <a:avLst/>
          </a:prstGeom>
          <a:solidFill>
            <a:srgbClr val="5028C2">
              <a:alpha val="30000"/>
            </a:srgbClr>
          </a:solidFill>
          <a:ln/>
        </p:spPr>
      </p:sp>
      <p:sp>
        <p:nvSpPr>
          <p:cNvPr id="22" name="Text 20"/>
          <p:cNvSpPr/>
          <p:nvPr/>
        </p:nvSpPr>
        <p:spPr>
          <a:xfrm>
            <a:off x="548640" y="1097280"/>
            <a:ext cx="11094415"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TRUST &amp; COMPLIANCE</a:t>
            </a:r>
            <a:endParaRPr lang="en-US" sz="1100" dirty="0"/>
          </a:p>
        </p:txBody>
      </p:sp>
      <p:sp>
        <p:nvSpPr>
          <p:cNvPr id="23" name="Text 21"/>
          <p:cNvSpPr/>
          <p:nvPr/>
        </p:nvSpPr>
        <p:spPr>
          <a:xfrm>
            <a:off x="548640" y="1554480"/>
            <a:ext cx="11094415" cy="3108960"/>
          </a:xfrm>
          <a:prstGeom prst="rect">
            <a:avLst/>
          </a:prstGeom>
          <a:noFill/>
          <a:ln/>
        </p:spPr>
        <p:txBody>
          <a:bodyPr wrap="square" lIns="0" tIns="0" rIns="0" bIns="0" rtlCol="0" anchor="t"/>
          <a:lstStyle/>
          <a:p>
            <a:pPr algn="l" indent="0" marL="0">
              <a:buNone/>
            </a:pPr>
            <a:r>
              <a:rPr lang="en-US" sz="4200" b="1" spc="-100" kern="0" dirty="0">
                <a:solidFill>
                  <a:srgbClr val="0F1733"/>
                </a:solidFill>
                <a:latin typeface="Calibri" pitchFamily="34" charset="0"/>
                <a:ea typeface="Calibri" pitchFamily="34" charset="-122"/>
                <a:cs typeface="Calibri" pitchFamily="34" charset="-120"/>
              </a:rPr>
              <a:t>Built for B2B from day one — including the legal layer.</a:t>
            </a:r>
            <a:endParaRPr lang="en-US" sz="4200" dirty="0"/>
          </a:p>
        </p:txBody>
      </p:sp>
      <p:sp>
        <p:nvSpPr>
          <p:cNvPr id="24" name="Text 22"/>
          <p:cNvSpPr/>
          <p:nvPr/>
        </p:nvSpPr>
        <p:spPr>
          <a:xfrm>
            <a:off x="548640" y="4754880"/>
            <a:ext cx="9265615" cy="1097280"/>
          </a:xfrm>
          <a:prstGeom prst="rect">
            <a:avLst/>
          </a:prstGeom>
          <a:noFill/>
          <a:ln/>
        </p:spPr>
        <p:txBody>
          <a:bodyPr wrap="square" lIns="0" tIns="0" rIns="0" bIns="0" rtlCol="0" anchor="t"/>
          <a:lstStyle/>
          <a:p>
            <a:pPr algn="l" indent="0" marL="0">
              <a:buNone/>
            </a:pPr>
            <a:r>
              <a:rPr lang="en-US" sz="1800" dirty="0">
                <a:solidFill>
                  <a:srgbClr val="2A3358"/>
                </a:solidFill>
                <a:latin typeface="Calibri" pitchFamily="34" charset="0"/>
                <a:ea typeface="Calibri" pitchFamily="34" charset="-122"/>
                <a:cs typeface="Calibri" pitchFamily="34" charset="-120"/>
              </a:rPr>
              <a:t>GDPR, CCPA, all 11 US state privacy laws, Illinois PIPA, signed DPAs with every sub-processor, and a 30+ page comprehensive manual.</a:t>
            </a:r>
            <a:endParaRPr lang="en-US" sz="1800" dirty="0"/>
          </a:p>
        </p:txBody>
      </p:sp>
      <p:sp>
        <p:nvSpPr>
          <p:cNvPr id="25" name="Shape 23"/>
          <p:cNvSpPr/>
          <p:nvPr/>
        </p:nvSpPr>
        <p:spPr>
          <a:xfrm>
            <a:off x="548640" y="502920"/>
            <a:ext cx="292608" cy="292608"/>
          </a:xfrm>
          <a:prstGeom prst="roundRect">
            <a:avLst>
              <a:gd name="adj" fmla="val 25000"/>
            </a:avLst>
          </a:prstGeom>
          <a:solidFill>
            <a:srgbClr val="5028C2"/>
          </a:solidFill>
          <a:ln/>
        </p:spPr>
      </p:sp>
      <p:sp>
        <p:nvSpPr>
          <p:cNvPr id="26" name="Shape 24"/>
          <p:cNvSpPr/>
          <p:nvPr/>
        </p:nvSpPr>
        <p:spPr>
          <a:xfrm>
            <a:off x="548640" y="502920"/>
            <a:ext cx="292608" cy="292608"/>
          </a:xfrm>
          <a:prstGeom prst="roundRect">
            <a:avLst>
              <a:gd name="adj" fmla="val 25000"/>
            </a:avLst>
          </a:prstGeom>
          <a:solidFill>
            <a:srgbClr val="1A6FBE">
              <a:alpha val="50000"/>
            </a:srgbClr>
          </a:solidFill>
          <a:ln/>
        </p:spPr>
      </p:sp>
      <p:sp>
        <p:nvSpPr>
          <p:cNvPr id="27" name="Text 25"/>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8" name="Text 26"/>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9" name="Text 27"/>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18 · Trust &amp; compliance  ·  vA</a:t>
            </a:r>
            <a:endParaRPr lang="en-US" sz="900" dirty="0"/>
          </a:p>
        </p:txBody>
      </p:sp>
      <p:sp>
        <p:nvSpPr>
          <p:cNvPr id="30" name="Text 28"/>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31" name="Text 29"/>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120 / 126</a:t>
            </a:r>
            <a:endParaRPr lang="en-US" sz="9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071183" y="0"/>
            <a:ext cx="5120512" cy="116300"/>
          </a:xfrm>
          <a:prstGeom prst="rect">
            <a:avLst/>
          </a:prstGeom>
          <a:solidFill>
            <a:srgbClr val="5028C2"/>
          </a:solidFill>
          <a:ln/>
        </p:spPr>
      </p:sp>
      <p:sp>
        <p:nvSpPr>
          <p:cNvPr id="3" name="Shape 1"/>
          <p:cNvSpPr/>
          <p:nvPr/>
        </p:nvSpPr>
        <p:spPr>
          <a:xfrm>
            <a:off x="7071183" y="107156"/>
            <a:ext cx="5120512" cy="116300"/>
          </a:xfrm>
          <a:prstGeom prst="rect">
            <a:avLst/>
          </a:prstGeom>
          <a:solidFill>
            <a:srgbClr val="4F29C2"/>
          </a:solidFill>
          <a:ln/>
        </p:spPr>
      </p:sp>
      <p:sp>
        <p:nvSpPr>
          <p:cNvPr id="4" name="Shape 2"/>
          <p:cNvSpPr/>
          <p:nvPr/>
        </p:nvSpPr>
        <p:spPr>
          <a:xfrm>
            <a:off x="7071183" y="214313"/>
            <a:ext cx="5120512" cy="116300"/>
          </a:xfrm>
          <a:prstGeom prst="rect">
            <a:avLst/>
          </a:prstGeom>
          <a:solidFill>
            <a:srgbClr val="4E2AC3"/>
          </a:solidFill>
          <a:ln/>
        </p:spPr>
      </p:sp>
      <p:sp>
        <p:nvSpPr>
          <p:cNvPr id="5" name="Shape 3"/>
          <p:cNvSpPr/>
          <p:nvPr/>
        </p:nvSpPr>
        <p:spPr>
          <a:xfrm>
            <a:off x="7071183" y="321469"/>
            <a:ext cx="5120512" cy="116300"/>
          </a:xfrm>
          <a:prstGeom prst="rect">
            <a:avLst/>
          </a:prstGeom>
          <a:solidFill>
            <a:srgbClr val="4D2BC3"/>
          </a:solidFill>
          <a:ln/>
        </p:spPr>
      </p:sp>
      <p:sp>
        <p:nvSpPr>
          <p:cNvPr id="6" name="Shape 4"/>
          <p:cNvSpPr/>
          <p:nvPr/>
        </p:nvSpPr>
        <p:spPr>
          <a:xfrm>
            <a:off x="7071183" y="428625"/>
            <a:ext cx="5120512" cy="116300"/>
          </a:xfrm>
          <a:prstGeom prst="rect">
            <a:avLst/>
          </a:prstGeom>
          <a:solidFill>
            <a:srgbClr val="4D2CC4"/>
          </a:solidFill>
          <a:ln/>
        </p:spPr>
      </p:sp>
      <p:sp>
        <p:nvSpPr>
          <p:cNvPr id="7" name="Shape 5"/>
          <p:cNvSpPr/>
          <p:nvPr/>
        </p:nvSpPr>
        <p:spPr>
          <a:xfrm>
            <a:off x="7071183" y="535781"/>
            <a:ext cx="5120512" cy="116300"/>
          </a:xfrm>
          <a:prstGeom prst="rect">
            <a:avLst/>
          </a:prstGeom>
          <a:solidFill>
            <a:srgbClr val="4C2DC4"/>
          </a:solidFill>
          <a:ln/>
        </p:spPr>
      </p:sp>
      <p:sp>
        <p:nvSpPr>
          <p:cNvPr id="8" name="Shape 6"/>
          <p:cNvSpPr/>
          <p:nvPr/>
        </p:nvSpPr>
        <p:spPr>
          <a:xfrm>
            <a:off x="7071183" y="642938"/>
            <a:ext cx="5120512" cy="116300"/>
          </a:xfrm>
          <a:prstGeom prst="rect">
            <a:avLst/>
          </a:prstGeom>
          <a:solidFill>
            <a:srgbClr val="4B2EC5"/>
          </a:solidFill>
          <a:ln/>
        </p:spPr>
      </p:sp>
      <p:sp>
        <p:nvSpPr>
          <p:cNvPr id="9" name="Shape 7"/>
          <p:cNvSpPr/>
          <p:nvPr/>
        </p:nvSpPr>
        <p:spPr>
          <a:xfrm>
            <a:off x="7071183" y="750094"/>
            <a:ext cx="5120512" cy="116300"/>
          </a:xfrm>
          <a:prstGeom prst="rect">
            <a:avLst/>
          </a:prstGeom>
          <a:solidFill>
            <a:srgbClr val="4A2FC5"/>
          </a:solidFill>
          <a:ln/>
        </p:spPr>
      </p:sp>
      <p:sp>
        <p:nvSpPr>
          <p:cNvPr id="10" name="Shape 8"/>
          <p:cNvSpPr/>
          <p:nvPr/>
        </p:nvSpPr>
        <p:spPr>
          <a:xfrm>
            <a:off x="7071183" y="857250"/>
            <a:ext cx="5120512" cy="116300"/>
          </a:xfrm>
          <a:prstGeom prst="rect">
            <a:avLst/>
          </a:prstGeom>
          <a:solidFill>
            <a:srgbClr val="4930C6"/>
          </a:solidFill>
          <a:ln/>
        </p:spPr>
      </p:sp>
      <p:sp>
        <p:nvSpPr>
          <p:cNvPr id="11" name="Shape 9"/>
          <p:cNvSpPr/>
          <p:nvPr/>
        </p:nvSpPr>
        <p:spPr>
          <a:xfrm>
            <a:off x="7071183" y="964406"/>
            <a:ext cx="5120512" cy="116300"/>
          </a:xfrm>
          <a:prstGeom prst="rect">
            <a:avLst/>
          </a:prstGeom>
          <a:solidFill>
            <a:srgbClr val="4831C6"/>
          </a:solidFill>
          <a:ln/>
        </p:spPr>
      </p:sp>
      <p:sp>
        <p:nvSpPr>
          <p:cNvPr id="12" name="Shape 10"/>
          <p:cNvSpPr/>
          <p:nvPr/>
        </p:nvSpPr>
        <p:spPr>
          <a:xfrm>
            <a:off x="7071183" y="1071563"/>
            <a:ext cx="5120512" cy="116300"/>
          </a:xfrm>
          <a:prstGeom prst="rect">
            <a:avLst/>
          </a:prstGeom>
          <a:solidFill>
            <a:srgbClr val="4732C6"/>
          </a:solidFill>
          <a:ln/>
        </p:spPr>
      </p:sp>
      <p:sp>
        <p:nvSpPr>
          <p:cNvPr id="13" name="Shape 11"/>
          <p:cNvSpPr/>
          <p:nvPr/>
        </p:nvSpPr>
        <p:spPr>
          <a:xfrm>
            <a:off x="7071183" y="1178719"/>
            <a:ext cx="5120512" cy="116300"/>
          </a:xfrm>
          <a:prstGeom prst="rect">
            <a:avLst/>
          </a:prstGeom>
          <a:solidFill>
            <a:srgbClr val="4733C7"/>
          </a:solidFill>
          <a:ln/>
        </p:spPr>
      </p:sp>
      <p:sp>
        <p:nvSpPr>
          <p:cNvPr id="14" name="Shape 12"/>
          <p:cNvSpPr/>
          <p:nvPr/>
        </p:nvSpPr>
        <p:spPr>
          <a:xfrm>
            <a:off x="7071183" y="1285875"/>
            <a:ext cx="5120512" cy="116300"/>
          </a:xfrm>
          <a:prstGeom prst="rect">
            <a:avLst/>
          </a:prstGeom>
          <a:solidFill>
            <a:srgbClr val="4634C7"/>
          </a:solidFill>
          <a:ln/>
        </p:spPr>
      </p:sp>
      <p:sp>
        <p:nvSpPr>
          <p:cNvPr id="15" name="Shape 13"/>
          <p:cNvSpPr/>
          <p:nvPr/>
        </p:nvSpPr>
        <p:spPr>
          <a:xfrm>
            <a:off x="7071183" y="1393031"/>
            <a:ext cx="5120512" cy="116300"/>
          </a:xfrm>
          <a:prstGeom prst="rect">
            <a:avLst/>
          </a:prstGeom>
          <a:solidFill>
            <a:srgbClr val="4535C8"/>
          </a:solidFill>
          <a:ln/>
        </p:spPr>
      </p:sp>
      <p:sp>
        <p:nvSpPr>
          <p:cNvPr id="16" name="Shape 14"/>
          <p:cNvSpPr/>
          <p:nvPr/>
        </p:nvSpPr>
        <p:spPr>
          <a:xfrm>
            <a:off x="7071183" y="1500188"/>
            <a:ext cx="5120512" cy="116300"/>
          </a:xfrm>
          <a:prstGeom prst="rect">
            <a:avLst/>
          </a:prstGeom>
          <a:solidFill>
            <a:srgbClr val="4436C8"/>
          </a:solidFill>
          <a:ln/>
        </p:spPr>
      </p:sp>
      <p:sp>
        <p:nvSpPr>
          <p:cNvPr id="17" name="Shape 15"/>
          <p:cNvSpPr/>
          <p:nvPr/>
        </p:nvSpPr>
        <p:spPr>
          <a:xfrm>
            <a:off x="7071183" y="1607344"/>
            <a:ext cx="5120512" cy="116300"/>
          </a:xfrm>
          <a:prstGeom prst="rect">
            <a:avLst/>
          </a:prstGeom>
          <a:solidFill>
            <a:srgbClr val="4337C9"/>
          </a:solidFill>
          <a:ln/>
        </p:spPr>
      </p:sp>
      <p:sp>
        <p:nvSpPr>
          <p:cNvPr id="18" name="Shape 16"/>
          <p:cNvSpPr/>
          <p:nvPr/>
        </p:nvSpPr>
        <p:spPr>
          <a:xfrm>
            <a:off x="7071183" y="1714500"/>
            <a:ext cx="5120512" cy="116300"/>
          </a:xfrm>
          <a:prstGeom prst="rect">
            <a:avLst/>
          </a:prstGeom>
          <a:solidFill>
            <a:srgbClr val="4238C9"/>
          </a:solidFill>
          <a:ln/>
        </p:spPr>
      </p:sp>
      <p:sp>
        <p:nvSpPr>
          <p:cNvPr id="19" name="Shape 17"/>
          <p:cNvSpPr/>
          <p:nvPr/>
        </p:nvSpPr>
        <p:spPr>
          <a:xfrm>
            <a:off x="7071183" y="1821656"/>
            <a:ext cx="5120512" cy="116300"/>
          </a:xfrm>
          <a:prstGeom prst="rect">
            <a:avLst/>
          </a:prstGeom>
          <a:solidFill>
            <a:srgbClr val="4139CA"/>
          </a:solidFill>
          <a:ln/>
        </p:spPr>
      </p:sp>
      <p:sp>
        <p:nvSpPr>
          <p:cNvPr id="20" name="Shape 18"/>
          <p:cNvSpPr/>
          <p:nvPr/>
        </p:nvSpPr>
        <p:spPr>
          <a:xfrm>
            <a:off x="7071183" y="1928813"/>
            <a:ext cx="5120512" cy="116300"/>
          </a:xfrm>
          <a:prstGeom prst="rect">
            <a:avLst/>
          </a:prstGeom>
          <a:solidFill>
            <a:srgbClr val="413ACA"/>
          </a:solidFill>
          <a:ln/>
        </p:spPr>
      </p:sp>
      <p:sp>
        <p:nvSpPr>
          <p:cNvPr id="21" name="Shape 19"/>
          <p:cNvSpPr/>
          <p:nvPr/>
        </p:nvSpPr>
        <p:spPr>
          <a:xfrm>
            <a:off x="7071183" y="2035969"/>
            <a:ext cx="5120512" cy="116300"/>
          </a:xfrm>
          <a:prstGeom prst="rect">
            <a:avLst/>
          </a:prstGeom>
          <a:solidFill>
            <a:srgbClr val="403BCA"/>
          </a:solidFill>
          <a:ln/>
        </p:spPr>
      </p:sp>
      <p:sp>
        <p:nvSpPr>
          <p:cNvPr id="22" name="Shape 20"/>
          <p:cNvSpPr/>
          <p:nvPr/>
        </p:nvSpPr>
        <p:spPr>
          <a:xfrm>
            <a:off x="7071183" y="2143125"/>
            <a:ext cx="5120512" cy="116300"/>
          </a:xfrm>
          <a:prstGeom prst="rect">
            <a:avLst/>
          </a:prstGeom>
          <a:solidFill>
            <a:srgbClr val="3F3CCB"/>
          </a:solidFill>
          <a:ln/>
        </p:spPr>
      </p:sp>
      <p:sp>
        <p:nvSpPr>
          <p:cNvPr id="23" name="Shape 21"/>
          <p:cNvSpPr/>
          <p:nvPr/>
        </p:nvSpPr>
        <p:spPr>
          <a:xfrm>
            <a:off x="7071183" y="2250281"/>
            <a:ext cx="5120512" cy="116300"/>
          </a:xfrm>
          <a:prstGeom prst="rect">
            <a:avLst/>
          </a:prstGeom>
          <a:solidFill>
            <a:srgbClr val="3E3DCB"/>
          </a:solidFill>
          <a:ln/>
        </p:spPr>
      </p:sp>
      <p:sp>
        <p:nvSpPr>
          <p:cNvPr id="24" name="Shape 22"/>
          <p:cNvSpPr/>
          <p:nvPr/>
        </p:nvSpPr>
        <p:spPr>
          <a:xfrm>
            <a:off x="7071183" y="2357438"/>
            <a:ext cx="5120512" cy="116300"/>
          </a:xfrm>
          <a:prstGeom prst="rect">
            <a:avLst/>
          </a:prstGeom>
          <a:solidFill>
            <a:srgbClr val="3D3ECC"/>
          </a:solidFill>
          <a:ln/>
        </p:spPr>
      </p:sp>
      <p:sp>
        <p:nvSpPr>
          <p:cNvPr id="25" name="Shape 23"/>
          <p:cNvSpPr/>
          <p:nvPr/>
        </p:nvSpPr>
        <p:spPr>
          <a:xfrm>
            <a:off x="7071183" y="2464594"/>
            <a:ext cx="5120512" cy="116300"/>
          </a:xfrm>
          <a:prstGeom prst="rect">
            <a:avLst/>
          </a:prstGeom>
          <a:solidFill>
            <a:srgbClr val="3C3FCC"/>
          </a:solidFill>
          <a:ln/>
        </p:spPr>
      </p:sp>
      <p:sp>
        <p:nvSpPr>
          <p:cNvPr id="26" name="Shape 24"/>
          <p:cNvSpPr/>
          <p:nvPr/>
        </p:nvSpPr>
        <p:spPr>
          <a:xfrm>
            <a:off x="7071183" y="2571750"/>
            <a:ext cx="5120512" cy="116300"/>
          </a:xfrm>
          <a:prstGeom prst="rect">
            <a:avLst/>
          </a:prstGeom>
          <a:solidFill>
            <a:srgbClr val="3B40CD"/>
          </a:solidFill>
          <a:ln/>
        </p:spPr>
      </p:sp>
      <p:sp>
        <p:nvSpPr>
          <p:cNvPr id="27" name="Shape 25"/>
          <p:cNvSpPr/>
          <p:nvPr/>
        </p:nvSpPr>
        <p:spPr>
          <a:xfrm>
            <a:off x="7071183" y="2678906"/>
            <a:ext cx="5120512" cy="116300"/>
          </a:xfrm>
          <a:prstGeom prst="rect">
            <a:avLst/>
          </a:prstGeom>
          <a:solidFill>
            <a:srgbClr val="3B41CD"/>
          </a:solidFill>
          <a:ln/>
        </p:spPr>
      </p:sp>
      <p:sp>
        <p:nvSpPr>
          <p:cNvPr id="28" name="Shape 26"/>
          <p:cNvSpPr/>
          <p:nvPr/>
        </p:nvSpPr>
        <p:spPr>
          <a:xfrm>
            <a:off x="7071183" y="2786063"/>
            <a:ext cx="5120512" cy="116300"/>
          </a:xfrm>
          <a:prstGeom prst="rect">
            <a:avLst/>
          </a:prstGeom>
          <a:solidFill>
            <a:srgbClr val="3A42CE"/>
          </a:solidFill>
          <a:ln/>
        </p:spPr>
      </p:sp>
      <p:sp>
        <p:nvSpPr>
          <p:cNvPr id="29" name="Shape 27"/>
          <p:cNvSpPr/>
          <p:nvPr/>
        </p:nvSpPr>
        <p:spPr>
          <a:xfrm>
            <a:off x="7071183" y="2893219"/>
            <a:ext cx="5120512" cy="116300"/>
          </a:xfrm>
          <a:prstGeom prst="rect">
            <a:avLst/>
          </a:prstGeom>
          <a:solidFill>
            <a:srgbClr val="3943CE"/>
          </a:solidFill>
          <a:ln/>
        </p:spPr>
      </p:sp>
      <p:sp>
        <p:nvSpPr>
          <p:cNvPr id="30" name="Shape 28"/>
          <p:cNvSpPr/>
          <p:nvPr/>
        </p:nvSpPr>
        <p:spPr>
          <a:xfrm>
            <a:off x="7071183" y="3000375"/>
            <a:ext cx="5120512" cy="116300"/>
          </a:xfrm>
          <a:prstGeom prst="rect">
            <a:avLst/>
          </a:prstGeom>
          <a:solidFill>
            <a:srgbClr val="3844CE"/>
          </a:solidFill>
          <a:ln/>
        </p:spPr>
      </p:sp>
      <p:sp>
        <p:nvSpPr>
          <p:cNvPr id="31" name="Shape 29"/>
          <p:cNvSpPr/>
          <p:nvPr/>
        </p:nvSpPr>
        <p:spPr>
          <a:xfrm>
            <a:off x="7071183" y="3107531"/>
            <a:ext cx="5120512" cy="116300"/>
          </a:xfrm>
          <a:prstGeom prst="rect">
            <a:avLst/>
          </a:prstGeom>
          <a:solidFill>
            <a:srgbClr val="3745CF"/>
          </a:solidFill>
          <a:ln/>
        </p:spPr>
      </p:sp>
      <p:sp>
        <p:nvSpPr>
          <p:cNvPr id="32" name="Shape 30"/>
          <p:cNvSpPr/>
          <p:nvPr/>
        </p:nvSpPr>
        <p:spPr>
          <a:xfrm>
            <a:off x="7071183" y="3214688"/>
            <a:ext cx="5120512" cy="116300"/>
          </a:xfrm>
          <a:prstGeom prst="rect">
            <a:avLst/>
          </a:prstGeom>
          <a:solidFill>
            <a:srgbClr val="3646CF"/>
          </a:solidFill>
          <a:ln/>
        </p:spPr>
      </p:sp>
      <p:sp>
        <p:nvSpPr>
          <p:cNvPr id="33" name="Shape 31"/>
          <p:cNvSpPr/>
          <p:nvPr/>
        </p:nvSpPr>
        <p:spPr>
          <a:xfrm>
            <a:off x="7071183" y="3321844"/>
            <a:ext cx="5120512" cy="116300"/>
          </a:xfrm>
          <a:prstGeom prst="rect">
            <a:avLst/>
          </a:prstGeom>
          <a:solidFill>
            <a:srgbClr val="3547D0"/>
          </a:solidFill>
          <a:ln/>
        </p:spPr>
      </p:sp>
      <p:sp>
        <p:nvSpPr>
          <p:cNvPr id="34" name="Shape 32"/>
          <p:cNvSpPr/>
          <p:nvPr/>
        </p:nvSpPr>
        <p:spPr>
          <a:xfrm>
            <a:off x="7071183" y="3429000"/>
            <a:ext cx="5120512" cy="116300"/>
          </a:xfrm>
          <a:prstGeom prst="rect">
            <a:avLst/>
          </a:prstGeom>
          <a:solidFill>
            <a:srgbClr val="3549D0"/>
          </a:solidFill>
          <a:ln/>
        </p:spPr>
      </p:sp>
      <p:sp>
        <p:nvSpPr>
          <p:cNvPr id="35" name="Shape 33"/>
          <p:cNvSpPr/>
          <p:nvPr/>
        </p:nvSpPr>
        <p:spPr>
          <a:xfrm>
            <a:off x="7071183" y="3536156"/>
            <a:ext cx="5120512" cy="116300"/>
          </a:xfrm>
          <a:prstGeom prst="rect">
            <a:avLst/>
          </a:prstGeom>
          <a:solidFill>
            <a:srgbClr val="344ACF"/>
          </a:solidFill>
          <a:ln/>
        </p:spPr>
      </p:sp>
      <p:sp>
        <p:nvSpPr>
          <p:cNvPr id="36" name="Shape 34"/>
          <p:cNvSpPr/>
          <p:nvPr/>
        </p:nvSpPr>
        <p:spPr>
          <a:xfrm>
            <a:off x="7071183" y="3643313"/>
            <a:ext cx="5120512" cy="116300"/>
          </a:xfrm>
          <a:prstGeom prst="rect">
            <a:avLst/>
          </a:prstGeom>
          <a:solidFill>
            <a:srgbClr val="334BCF"/>
          </a:solidFill>
          <a:ln/>
        </p:spPr>
      </p:sp>
      <p:sp>
        <p:nvSpPr>
          <p:cNvPr id="37" name="Shape 35"/>
          <p:cNvSpPr/>
          <p:nvPr/>
        </p:nvSpPr>
        <p:spPr>
          <a:xfrm>
            <a:off x="7071183" y="3750469"/>
            <a:ext cx="5120512" cy="116300"/>
          </a:xfrm>
          <a:prstGeom prst="rect">
            <a:avLst/>
          </a:prstGeom>
          <a:solidFill>
            <a:srgbClr val="324CCE"/>
          </a:solidFill>
          <a:ln/>
        </p:spPr>
      </p:sp>
      <p:sp>
        <p:nvSpPr>
          <p:cNvPr id="38" name="Shape 36"/>
          <p:cNvSpPr/>
          <p:nvPr/>
        </p:nvSpPr>
        <p:spPr>
          <a:xfrm>
            <a:off x="7071183" y="3857625"/>
            <a:ext cx="5120512" cy="116300"/>
          </a:xfrm>
          <a:prstGeom prst="rect">
            <a:avLst/>
          </a:prstGeom>
          <a:solidFill>
            <a:srgbClr val="314ECD"/>
          </a:solidFill>
          <a:ln/>
        </p:spPr>
      </p:sp>
      <p:sp>
        <p:nvSpPr>
          <p:cNvPr id="39" name="Shape 37"/>
          <p:cNvSpPr/>
          <p:nvPr/>
        </p:nvSpPr>
        <p:spPr>
          <a:xfrm>
            <a:off x="7071183" y="3964781"/>
            <a:ext cx="5120512" cy="116300"/>
          </a:xfrm>
          <a:prstGeom prst="rect">
            <a:avLst/>
          </a:prstGeom>
          <a:solidFill>
            <a:srgbClr val="304FCD"/>
          </a:solidFill>
          <a:ln/>
        </p:spPr>
      </p:sp>
      <p:sp>
        <p:nvSpPr>
          <p:cNvPr id="40" name="Shape 38"/>
          <p:cNvSpPr/>
          <p:nvPr/>
        </p:nvSpPr>
        <p:spPr>
          <a:xfrm>
            <a:off x="7071183" y="4071938"/>
            <a:ext cx="5120512" cy="116300"/>
          </a:xfrm>
          <a:prstGeom prst="rect">
            <a:avLst/>
          </a:prstGeom>
          <a:solidFill>
            <a:srgbClr val="2F50CC"/>
          </a:solidFill>
          <a:ln/>
        </p:spPr>
      </p:sp>
      <p:sp>
        <p:nvSpPr>
          <p:cNvPr id="41" name="Shape 39"/>
          <p:cNvSpPr/>
          <p:nvPr/>
        </p:nvSpPr>
        <p:spPr>
          <a:xfrm>
            <a:off x="7071183" y="4179094"/>
            <a:ext cx="5120512" cy="116300"/>
          </a:xfrm>
          <a:prstGeom prst="rect">
            <a:avLst/>
          </a:prstGeom>
          <a:solidFill>
            <a:srgbClr val="2F51CC"/>
          </a:solidFill>
          <a:ln/>
        </p:spPr>
      </p:sp>
      <p:sp>
        <p:nvSpPr>
          <p:cNvPr id="42" name="Shape 40"/>
          <p:cNvSpPr/>
          <p:nvPr/>
        </p:nvSpPr>
        <p:spPr>
          <a:xfrm>
            <a:off x="7071183" y="4286250"/>
            <a:ext cx="5120512" cy="116300"/>
          </a:xfrm>
          <a:prstGeom prst="rect">
            <a:avLst/>
          </a:prstGeom>
          <a:solidFill>
            <a:srgbClr val="2E53CB"/>
          </a:solidFill>
          <a:ln/>
        </p:spPr>
      </p:sp>
      <p:sp>
        <p:nvSpPr>
          <p:cNvPr id="43" name="Shape 41"/>
          <p:cNvSpPr/>
          <p:nvPr/>
        </p:nvSpPr>
        <p:spPr>
          <a:xfrm>
            <a:off x="7071183" y="4393406"/>
            <a:ext cx="5120512" cy="116300"/>
          </a:xfrm>
          <a:prstGeom prst="rect">
            <a:avLst/>
          </a:prstGeom>
          <a:solidFill>
            <a:srgbClr val="2D54CB"/>
          </a:solidFill>
          <a:ln/>
        </p:spPr>
      </p:sp>
      <p:sp>
        <p:nvSpPr>
          <p:cNvPr id="44" name="Shape 42"/>
          <p:cNvSpPr/>
          <p:nvPr/>
        </p:nvSpPr>
        <p:spPr>
          <a:xfrm>
            <a:off x="7071183" y="4500563"/>
            <a:ext cx="5120512" cy="116300"/>
          </a:xfrm>
          <a:prstGeom prst="rect">
            <a:avLst/>
          </a:prstGeom>
          <a:solidFill>
            <a:srgbClr val="2C55CA"/>
          </a:solidFill>
          <a:ln/>
        </p:spPr>
      </p:sp>
      <p:sp>
        <p:nvSpPr>
          <p:cNvPr id="45" name="Shape 43"/>
          <p:cNvSpPr/>
          <p:nvPr/>
        </p:nvSpPr>
        <p:spPr>
          <a:xfrm>
            <a:off x="7071183" y="4607719"/>
            <a:ext cx="5120512" cy="116300"/>
          </a:xfrm>
          <a:prstGeom prst="rect">
            <a:avLst/>
          </a:prstGeom>
          <a:solidFill>
            <a:srgbClr val="2B56C9"/>
          </a:solidFill>
          <a:ln/>
        </p:spPr>
      </p:sp>
      <p:sp>
        <p:nvSpPr>
          <p:cNvPr id="46" name="Shape 44"/>
          <p:cNvSpPr/>
          <p:nvPr/>
        </p:nvSpPr>
        <p:spPr>
          <a:xfrm>
            <a:off x="7071183" y="4714875"/>
            <a:ext cx="5120512" cy="116300"/>
          </a:xfrm>
          <a:prstGeom prst="rect">
            <a:avLst/>
          </a:prstGeom>
          <a:solidFill>
            <a:srgbClr val="2A57C9"/>
          </a:solidFill>
          <a:ln/>
        </p:spPr>
      </p:sp>
      <p:sp>
        <p:nvSpPr>
          <p:cNvPr id="47" name="Shape 45"/>
          <p:cNvSpPr/>
          <p:nvPr/>
        </p:nvSpPr>
        <p:spPr>
          <a:xfrm>
            <a:off x="7071183" y="4822031"/>
            <a:ext cx="5120512" cy="116300"/>
          </a:xfrm>
          <a:prstGeom prst="rect">
            <a:avLst/>
          </a:prstGeom>
          <a:solidFill>
            <a:srgbClr val="2959C8"/>
          </a:solidFill>
          <a:ln/>
        </p:spPr>
      </p:sp>
      <p:sp>
        <p:nvSpPr>
          <p:cNvPr id="48" name="Shape 46"/>
          <p:cNvSpPr/>
          <p:nvPr/>
        </p:nvSpPr>
        <p:spPr>
          <a:xfrm>
            <a:off x="7071183" y="4929188"/>
            <a:ext cx="5120512" cy="116300"/>
          </a:xfrm>
          <a:prstGeom prst="rect">
            <a:avLst/>
          </a:prstGeom>
          <a:solidFill>
            <a:srgbClr val="295AC8"/>
          </a:solidFill>
          <a:ln/>
        </p:spPr>
      </p:sp>
      <p:sp>
        <p:nvSpPr>
          <p:cNvPr id="49" name="Shape 47"/>
          <p:cNvSpPr/>
          <p:nvPr/>
        </p:nvSpPr>
        <p:spPr>
          <a:xfrm>
            <a:off x="7071183" y="5036344"/>
            <a:ext cx="5120512" cy="116300"/>
          </a:xfrm>
          <a:prstGeom prst="rect">
            <a:avLst/>
          </a:prstGeom>
          <a:solidFill>
            <a:srgbClr val="285BC7"/>
          </a:solidFill>
          <a:ln/>
        </p:spPr>
      </p:sp>
      <p:sp>
        <p:nvSpPr>
          <p:cNvPr id="50" name="Shape 48"/>
          <p:cNvSpPr/>
          <p:nvPr/>
        </p:nvSpPr>
        <p:spPr>
          <a:xfrm>
            <a:off x="7071183" y="5143500"/>
            <a:ext cx="5120512" cy="116300"/>
          </a:xfrm>
          <a:prstGeom prst="rect">
            <a:avLst/>
          </a:prstGeom>
          <a:solidFill>
            <a:srgbClr val="275CC7"/>
          </a:solidFill>
          <a:ln/>
        </p:spPr>
      </p:sp>
      <p:sp>
        <p:nvSpPr>
          <p:cNvPr id="51" name="Shape 49"/>
          <p:cNvSpPr/>
          <p:nvPr/>
        </p:nvSpPr>
        <p:spPr>
          <a:xfrm>
            <a:off x="7071183" y="5250656"/>
            <a:ext cx="5120512" cy="116300"/>
          </a:xfrm>
          <a:prstGeom prst="rect">
            <a:avLst/>
          </a:prstGeom>
          <a:solidFill>
            <a:srgbClr val="265EC6"/>
          </a:solidFill>
          <a:ln/>
        </p:spPr>
      </p:sp>
      <p:sp>
        <p:nvSpPr>
          <p:cNvPr id="52" name="Shape 50"/>
          <p:cNvSpPr/>
          <p:nvPr/>
        </p:nvSpPr>
        <p:spPr>
          <a:xfrm>
            <a:off x="7071183" y="5357813"/>
            <a:ext cx="5120512" cy="116300"/>
          </a:xfrm>
          <a:prstGeom prst="rect">
            <a:avLst/>
          </a:prstGeom>
          <a:solidFill>
            <a:srgbClr val="255FC5"/>
          </a:solidFill>
          <a:ln/>
        </p:spPr>
      </p:sp>
      <p:sp>
        <p:nvSpPr>
          <p:cNvPr id="53" name="Shape 51"/>
          <p:cNvSpPr/>
          <p:nvPr/>
        </p:nvSpPr>
        <p:spPr>
          <a:xfrm>
            <a:off x="7071183" y="5464969"/>
            <a:ext cx="5120512" cy="116300"/>
          </a:xfrm>
          <a:prstGeom prst="rect">
            <a:avLst/>
          </a:prstGeom>
          <a:solidFill>
            <a:srgbClr val="2460C5"/>
          </a:solidFill>
          <a:ln/>
        </p:spPr>
      </p:sp>
      <p:sp>
        <p:nvSpPr>
          <p:cNvPr id="54" name="Shape 52"/>
          <p:cNvSpPr/>
          <p:nvPr/>
        </p:nvSpPr>
        <p:spPr>
          <a:xfrm>
            <a:off x="7071183" y="5572125"/>
            <a:ext cx="5120512" cy="116300"/>
          </a:xfrm>
          <a:prstGeom prst="rect">
            <a:avLst/>
          </a:prstGeom>
          <a:solidFill>
            <a:srgbClr val="2361C4"/>
          </a:solidFill>
          <a:ln/>
        </p:spPr>
      </p:sp>
      <p:sp>
        <p:nvSpPr>
          <p:cNvPr id="55" name="Shape 53"/>
          <p:cNvSpPr/>
          <p:nvPr/>
        </p:nvSpPr>
        <p:spPr>
          <a:xfrm>
            <a:off x="7071183" y="5679281"/>
            <a:ext cx="5120512" cy="116300"/>
          </a:xfrm>
          <a:prstGeom prst="rect">
            <a:avLst/>
          </a:prstGeom>
          <a:solidFill>
            <a:srgbClr val="2363C4"/>
          </a:solidFill>
          <a:ln/>
        </p:spPr>
      </p:sp>
      <p:sp>
        <p:nvSpPr>
          <p:cNvPr id="56" name="Shape 54"/>
          <p:cNvSpPr/>
          <p:nvPr/>
        </p:nvSpPr>
        <p:spPr>
          <a:xfrm>
            <a:off x="7071183" y="5786438"/>
            <a:ext cx="5120512" cy="116300"/>
          </a:xfrm>
          <a:prstGeom prst="rect">
            <a:avLst/>
          </a:prstGeom>
          <a:solidFill>
            <a:srgbClr val="2264C3"/>
          </a:solidFill>
          <a:ln/>
        </p:spPr>
      </p:sp>
      <p:sp>
        <p:nvSpPr>
          <p:cNvPr id="57" name="Shape 55"/>
          <p:cNvSpPr/>
          <p:nvPr/>
        </p:nvSpPr>
        <p:spPr>
          <a:xfrm>
            <a:off x="7071183" y="5893594"/>
            <a:ext cx="5120512" cy="116300"/>
          </a:xfrm>
          <a:prstGeom prst="rect">
            <a:avLst/>
          </a:prstGeom>
          <a:solidFill>
            <a:srgbClr val="2165C3"/>
          </a:solidFill>
          <a:ln/>
        </p:spPr>
      </p:sp>
      <p:sp>
        <p:nvSpPr>
          <p:cNvPr id="58" name="Shape 56"/>
          <p:cNvSpPr/>
          <p:nvPr/>
        </p:nvSpPr>
        <p:spPr>
          <a:xfrm>
            <a:off x="7071183" y="6000750"/>
            <a:ext cx="5120512" cy="116300"/>
          </a:xfrm>
          <a:prstGeom prst="rect">
            <a:avLst/>
          </a:prstGeom>
          <a:solidFill>
            <a:srgbClr val="2066C2"/>
          </a:solidFill>
          <a:ln/>
        </p:spPr>
      </p:sp>
      <p:sp>
        <p:nvSpPr>
          <p:cNvPr id="59" name="Shape 57"/>
          <p:cNvSpPr/>
          <p:nvPr/>
        </p:nvSpPr>
        <p:spPr>
          <a:xfrm>
            <a:off x="7071183" y="6107906"/>
            <a:ext cx="5120512" cy="116300"/>
          </a:xfrm>
          <a:prstGeom prst="rect">
            <a:avLst/>
          </a:prstGeom>
          <a:solidFill>
            <a:srgbClr val="1F68C1"/>
          </a:solidFill>
          <a:ln/>
        </p:spPr>
      </p:sp>
      <p:sp>
        <p:nvSpPr>
          <p:cNvPr id="60" name="Shape 58"/>
          <p:cNvSpPr/>
          <p:nvPr/>
        </p:nvSpPr>
        <p:spPr>
          <a:xfrm>
            <a:off x="7071183" y="6215063"/>
            <a:ext cx="5120512" cy="116300"/>
          </a:xfrm>
          <a:prstGeom prst="rect">
            <a:avLst/>
          </a:prstGeom>
          <a:solidFill>
            <a:srgbClr val="1E69C1"/>
          </a:solidFill>
          <a:ln/>
        </p:spPr>
      </p:sp>
      <p:sp>
        <p:nvSpPr>
          <p:cNvPr id="61" name="Shape 59"/>
          <p:cNvSpPr/>
          <p:nvPr/>
        </p:nvSpPr>
        <p:spPr>
          <a:xfrm>
            <a:off x="7071183" y="6322219"/>
            <a:ext cx="5120512" cy="116300"/>
          </a:xfrm>
          <a:prstGeom prst="rect">
            <a:avLst/>
          </a:prstGeom>
          <a:solidFill>
            <a:srgbClr val="1D6AC0"/>
          </a:solidFill>
          <a:ln/>
        </p:spPr>
      </p:sp>
      <p:sp>
        <p:nvSpPr>
          <p:cNvPr id="62" name="Shape 60"/>
          <p:cNvSpPr/>
          <p:nvPr/>
        </p:nvSpPr>
        <p:spPr>
          <a:xfrm>
            <a:off x="7071183" y="6429375"/>
            <a:ext cx="5120512" cy="116300"/>
          </a:xfrm>
          <a:prstGeom prst="rect">
            <a:avLst/>
          </a:prstGeom>
          <a:solidFill>
            <a:srgbClr val="1D6BC0"/>
          </a:solidFill>
          <a:ln/>
        </p:spPr>
      </p:sp>
      <p:sp>
        <p:nvSpPr>
          <p:cNvPr id="63" name="Shape 61"/>
          <p:cNvSpPr/>
          <p:nvPr/>
        </p:nvSpPr>
        <p:spPr>
          <a:xfrm>
            <a:off x="7071183" y="6536531"/>
            <a:ext cx="5120512" cy="116300"/>
          </a:xfrm>
          <a:prstGeom prst="rect">
            <a:avLst/>
          </a:prstGeom>
          <a:solidFill>
            <a:srgbClr val="1C6DBF"/>
          </a:solidFill>
          <a:ln/>
        </p:spPr>
      </p:sp>
      <p:sp>
        <p:nvSpPr>
          <p:cNvPr id="64" name="Shape 62"/>
          <p:cNvSpPr/>
          <p:nvPr/>
        </p:nvSpPr>
        <p:spPr>
          <a:xfrm>
            <a:off x="7071183" y="6643688"/>
            <a:ext cx="5120512" cy="116300"/>
          </a:xfrm>
          <a:prstGeom prst="rect">
            <a:avLst/>
          </a:prstGeom>
          <a:solidFill>
            <a:srgbClr val="1B6EBF"/>
          </a:solidFill>
          <a:ln/>
        </p:spPr>
      </p:sp>
      <p:sp>
        <p:nvSpPr>
          <p:cNvPr id="65" name="Shape 63"/>
          <p:cNvSpPr/>
          <p:nvPr/>
        </p:nvSpPr>
        <p:spPr>
          <a:xfrm>
            <a:off x="7071183" y="6750844"/>
            <a:ext cx="5120512" cy="116300"/>
          </a:xfrm>
          <a:prstGeom prst="rect">
            <a:avLst/>
          </a:prstGeom>
          <a:solidFill>
            <a:srgbClr val="1A6FBE"/>
          </a:solidFill>
          <a:ln/>
        </p:spPr>
      </p:sp>
      <p:sp>
        <p:nvSpPr>
          <p:cNvPr id="66" name="Text 64"/>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COMPLIANCE POSTURE</a:t>
            </a:r>
            <a:endParaRPr lang="en-US" sz="1100" dirty="0"/>
          </a:p>
        </p:txBody>
      </p:sp>
      <p:sp>
        <p:nvSpPr>
          <p:cNvPr id="67" name="Text 65"/>
          <p:cNvSpPr/>
          <p:nvPr/>
        </p:nvSpPr>
        <p:spPr>
          <a:xfrm>
            <a:off x="548640" y="1417320"/>
            <a:ext cx="6156783" cy="2194560"/>
          </a:xfrm>
          <a:prstGeom prst="rect">
            <a:avLst/>
          </a:prstGeom>
          <a:noFill/>
          <a:ln/>
        </p:spPr>
        <p:txBody>
          <a:bodyPr wrap="square" lIns="0" tIns="0" rIns="0" bIns="0" rtlCol="0" anchor="t"/>
          <a:lstStyle/>
          <a:p>
            <a:pPr algn="l" indent="0" marL="0">
              <a:buNone/>
            </a:pPr>
            <a:r>
              <a:rPr lang="en-US" sz="4200" b="1" spc="-50" kern="0" dirty="0">
                <a:solidFill>
                  <a:srgbClr val="0F1733"/>
                </a:solidFill>
                <a:latin typeface="Calibri" pitchFamily="34" charset="0"/>
                <a:ea typeface="Calibri" pitchFamily="34" charset="-122"/>
                <a:cs typeface="Calibri" pitchFamily="34" charset="-120"/>
              </a:rPr>
              <a:t>Legal infrastructure that closes B2B deals — not the bare minimum.</a:t>
            </a:r>
            <a:endParaRPr lang="en-US" sz="4200" dirty="0"/>
          </a:p>
        </p:txBody>
      </p:sp>
      <p:sp>
        <p:nvSpPr>
          <p:cNvPr id="68" name="Text 66"/>
          <p:cNvSpPr/>
          <p:nvPr/>
        </p:nvSpPr>
        <p:spPr>
          <a:xfrm>
            <a:off x="548640" y="3657600"/>
            <a:ext cx="6156783" cy="1097280"/>
          </a:xfrm>
          <a:prstGeom prst="rect">
            <a:avLst/>
          </a:prstGeom>
          <a:noFill/>
          <a:ln/>
        </p:spPr>
        <p:txBody>
          <a:bodyPr wrap="square" lIns="0" tIns="0" rIns="0" bIns="0" rtlCol="0" anchor="t"/>
          <a:lstStyle/>
          <a:p>
            <a:pPr algn="l" indent="0" marL="0">
              <a:spcAft>
                <a:spcPts val="600"/>
              </a:spcAft>
              <a:buNone/>
            </a:pPr>
            <a:r>
              <a:rPr lang="en-US" sz="1400" dirty="0">
                <a:solidFill>
                  <a:srgbClr val="2A3358"/>
                </a:solidFill>
                <a:latin typeface="Calibri" pitchFamily="34" charset="0"/>
                <a:ea typeface="Calibri" pitchFamily="34" charset="-122"/>
                <a:cs typeface="Calibri" pitchFamily="34" charset="-120"/>
              </a:rPr>
              <a:t>Most early-stage SaaS treats compliance as a Series A problem. We treated it as a v1.0 problem because B2B buyers ask before they sign. The result: every DPA needed for procurement is already on the public website, every privacy law is already covered in the Privacy Policy, and the comprehensive manual is downloadable as a single PDF for legal review.</a:t>
            </a:r>
            <a:endParaRPr lang="en-US" sz="1400" dirty="0"/>
          </a:p>
        </p:txBody>
      </p:sp>
      <p:sp>
        <p:nvSpPr>
          <p:cNvPr id="69" name="Text 67"/>
          <p:cNvSpPr/>
          <p:nvPr/>
        </p:nvSpPr>
        <p:spPr>
          <a:xfrm>
            <a:off x="548640" y="4846320"/>
            <a:ext cx="6156783" cy="1463040"/>
          </a:xfrm>
          <a:prstGeom prst="rect">
            <a:avLst/>
          </a:prstGeom>
          <a:noFill/>
          <a:ln/>
        </p:spPr>
        <p:txBody>
          <a:bodyPr wrap="square" lIns="0" tIns="0" rIns="0" bIns="0" rtlCol="0" anchor="t"/>
          <a:lstStyle/>
          <a:p>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GDPR, CCPA, VCDPA, CPA, CTDPA, UCPA, TDPSA, OCPA, IPDPA, TIPA, DPDPA, NHPDPA — all covered</a:t>
            </a:r>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Illinois PIPA breach notification language included</a:t>
            </a:r>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DPAs counter-signed with Unipile, Anthropic, Stripe, Vercel</a:t>
            </a:r>
            <a:pPr algn="l" marL="342900" indent="-342900">
              <a:spcAft>
                <a:spcPts val="600"/>
              </a:spcAft>
              <a:buSzPct val="100000"/>
              <a:buChar char="●"/>
            </a:pPr>
            <a:r>
              <a:rPr lang="en-US" sz="1300" dirty="0">
                <a:solidFill>
                  <a:srgbClr val="2A3358"/>
                </a:solidFill>
                <a:latin typeface="Calibri" pitchFamily="34" charset="0"/>
                <a:ea typeface="Calibri" pitchFamily="34" charset="-122"/>
                <a:cs typeface="Calibri" pitchFamily="34" charset="-120"/>
              </a:rPr>
              <a:t>30+ page comprehensive policy manual, downloadable as PDF or Word</a:t>
            </a:r>
            <a:endParaRPr lang="en-US" sz="13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18 · Trust &amp; compliance  ·  vB</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121 / 126</a:t>
            </a:r>
            <a:endParaRPr lang="en-US" sz="9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THREE TRUST PILLARS</a:t>
            </a:r>
            <a:endParaRPr lang="en-US" sz="1100" dirty="0"/>
          </a:p>
        </p:txBody>
      </p:sp>
      <p:sp>
        <p:nvSpPr>
          <p:cNvPr id="3" name="Text 1"/>
          <p:cNvSpPr/>
          <p:nvPr/>
        </p:nvSpPr>
        <p:spPr>
          <a:xfrm>
            <a:off x="548640" y="1417320"/>
            <a:ext cx="11094415" cy="1188720"/>
          </a:xfrm>
          <a:prstGeom prst="rect">
            <a:avLst/>
          </a:prstGeom>
          <a:noFill/>
          <a:ln/>
        </p:spPr>
        <p:txBody>
          <a:bodyPr wrap="square" lIns="0" tIns="0" rIns="0" bIns="0" rtlCol="0" anchor="t"/>
          <a:lstStyle/>
          <a:p>
            <a:pPr algn="l" indent="0" marL="0">
              <a:buNone/>
            </a:pPr>
            <a:r>
              <a:rPr lang="en-US" sz="3800" b="1" spc="-50" kern="0" dirty="0">
                <a:solidFill>
                  <a:srgbClr val="0F1733"/>
                </a:solidFill>
                <a:latin typeface="Calibri" pitchFamily="34" charset="0"/>
                <a:ea typeface="Calibri" pitchFamily="34" charset="-122"/>
                <a:cs typeface="Calibri" pitchFamily="34" charset="-120"/>
              </a:rPr>
              <a:t>Privacy. Sub-processors. Data governance.</a:t>
            </a:r>
            <a:endParaRPr lang="en-US" sz="3800" dirty="0"/>
          </a:p>
        </p:txBody>
      </p:sp>
      <p:sp>
        <p:nvSpPr>
          <p:cNvPr id="4" name="Shape 2"/>
          <p:cNvSpPr/>
          <p:nvPr/>
        </p:nvSpPr>
        <p:spPr>
          <a:xfrm>
            <a:off x="548640" y="3108960"/>
            <a:ext cx="3545738" cy="3017520"/>
          </a:xfrm>
          <a:prstGeom prst="roundRect">
            <a:avLst>
              <a:gd name="adj" fmla="val 3636"/>
            </a:avLst>
          </a:prstGeom>
          <a:solidFill>
            <a:srgbClr val="FFFFFF"/>
          </a:solidFill>
          <a:ln w="9525">
            <a:solidFill>
              <a:srgbClr val="E5E7F0"/>
            </a:solidFill>
            <a:prstDash val="solid"/>
          </a:ln>
        </p:spPr>
      </p:sp>
      <p:sp>
        <p:nvSpPr>
          <p:cNvPr id="5" name="Shape 3"/>
          <p:cNvSpPr/>
          <p:nvPr/>
        </p:nvSpPr>
        <p:spPr>
          <a:xfrm>
            <a:off x="548640" y="3108960"/>
            <a:ext cx="3545738" cy="73152"/>
          </a:xfrm>
          <a:prstGeom prst="rect">
            <a:avLst/>
          </a:prstGeom>
          <a:solidFill>
            <a:srgbClr val="5028C2"/>
          </a:solidFill>
          <a:ln/>
        </p:spPr>
      </p:sp>
      <p:sp>
        <p:nvSpPr>
          <p:cNvPr id="6" name="Shape 4"/>
          <p:cNvSpPr/>
          <p:nvPr/>
        </p:nvSpPr>
        <p:spPr>
          <a:xfrm>
            <a:off x="868680" y="3474720"/>
            <a:ext cx="457200" cy="457200"/>
          </a:xfrm>
          <a:prstGeom prst="ellipse">
            <a:avLst/>
          </a:prstGeom>
          <a:solidFill>
            <a:srgbClr val="5028C2"/>
          </a:solidFill>
          <a:ln/>
        </p:spPr>
      </p:sp>
      <p:sp>
        <p:nvSpPr>
          <p:cNvPr id="7" name="Text 5"/>
          <p:cNvSpPr/>
          <p:nvPr/>
        </p:nvSpPr>
        <p:spPr>
          <a:xfrm>
            <a:off x="868680"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8" name="Text 6"/>
          <p:cNvSpPr/>
          <p:nvPr/>
        </p:nvSpPr>
        <p:spPr>
          <a:xfrm>
            <a:off x="868680"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Privacy law</a:t>
            </a:r>
            <a:endParaRPr lang="en-US" sz="1800" dirty="0"/>
          </a:p>
        </p:txBody>
      </p:sp>
      <p:sp>
        <p:nvSpPr>
          <p:cNvPr id="9" name="Text 7"/>
          <p:cNvSpPr/>
          <p:nvPr/>
        </p:nvSpPr>
        <p:spPr>
          <a:xfrm>
            <a:off x="868680"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GDPR, CCPA, and 11 US state privacy laws covered explicitly in the Privacy Policy. Universal opt-out signals honored.</a:t>
            </a:r>
            <a:endParaRPr lang="en-US" sz="1300" dirty="0"/>
          </a:p>
        </p:txBody>
      </p:sp>
      <p:sp>
        <p:nvSpPr>
          <p:cNvPr id="10" name="Shape 8"/>
          <p:cNvSpPr/>
          <p:nvPr/>
        </p:nvSpPr>
        <p:spPr>
          <a:xfrm>
            <a:off x="4322978" y="3108960"/>
            <a:ext cx="3545738" cy="3017520"/>
          </a:xfrm>
          <a:prstGeom prst="roundRect">
            <a:avLst>
              <a:gd name="adj" fmla="val 3636"/>
            </a:avLst>
          </a:prstGeom>
          <a:solidFill>
            <a:srgbClr val="FFFFFF"/>
          </a:solidFill>
          <a:ln w="9525">
            <a:solidFill>
              <a:srgbClr val="E5E7F0"/>
            </a:solidFill>
            <a:prstDash val="solid"/>
          </a:ln>
        </p:spPr>
      </p:sp>
      <p:sp>
        <p:nvSpPr>
          <p:cNvPr id="11" name="Shape 9"/>
          <p:cNvSpPr/>
          <p:nvPr/>
        </p:nvSpPr>
        <p:spPr>
          <a:xfrm>
            <a:off x="4322978" y="3108960"/>
            <a:ext cx="3545738" cy="73152"/>
          </a:xfrm>
          <a:prstGeom prst="rect">
            <a:avLst/>
          </a:prstGeom>
          <a:solidFill>
            <a:srgbClr val="3548D0"/>
          </a:solidFill>
          <a:ln/>
        </p:spPr>
      </p:sp>
      <p:sp>
        <p:nvSpPr>
          <p:cNvPr id="12" name="Shape 10"/>
          <p:cNvSpPr/>
          <p:nvPr/>
        </p:nvSpPr>
        <p:spPr>
          <a:xfrm>
            <a:off x="4643018" y="3474720"/>
            <a:ext cx="457200" cy="457200"/>
          </a:xfrm>
          <a:prstGeom prst="ellipse">
            <a:avLst/>
          </a:prstGeom>
          <a:solidFill>
            <a:srgbClr val="3548D0"/>
          </a:solidFill>
          <a:ln/>
        </p:spPr>
      </p:sp>
      <p:sp>
        <p:nvSpPr>
          <p:cNvPr id="13" name="Text 11"/>
          <p:cNvSpPr/>
          <p:nvPr/>
        </p:nvSpPr>
        <p:spPr>
          <a:xfrm>
            <a:off x="4643018"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4" name="Text 12"/>
          <p:cNvSpPr/>
          <p:nvPr/>
        </p:nvSpPr>
        <p:spPr>
          <a:xfrm>
            <a:off x="4643018"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Sub-processors</a:t>
            </a:r>
            <a:endParaRPr lang="en-US" sz="1800" dirty="0"/>
          </a:p>
        </p:txBody>
      </p:sp>
      <p:sp>
        <p:nvSpPr>
          <p:cNvPr id="15" name="Text 13"/>
          <p:cNvSpPr/>
          <p:nvPr/>
        </p:nvSpPr>
        <p:spPr>
          <a:xfrm>
            <a:off x="4643018"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DPAs counter-signed with Unipile, Anthropic, Stripe, and Vercel. Posted publicly on /admin/legal for procurement.</a:t>
            </a:r>
            <a:endParaRPr lang="en-US" sz="1300" dirty="0"/>
          </a:p>
        </p:txBody>
      </p:sp>
      <p:sp>
        <p:nvSpPr>
          <p:cNvPr id="16" name="Shape 14"/>
          <p:cNvSpPr/>
          <p:nvPr/>
        </p:nvSpPr>
        <p:spPr>
          <a:xfrm>
            <a:off x="8097317" y="3108960"/>
            <a:ext cx="3545738" cy="3017520"/>
          </a:xfrm>
          <a:prstGeom prst="roundRect">
            <a:avLst>
              <a:gd name="adj" fmla="val 3636"/>
            </a:avLst>
          </a:prstGeom>
          <a:solidFill>
            <a:srgbClr val="FFFFFF"/>
          </a:solidFill>
          <a:ln w="9525">
            <a:solidFill>
              <a:srgbClr val="E5E7F0"/>
            </a:solidFill>
            <a:prstDash val="solid"/>
          </a:ln>
        </p:spPr>
      </p:sp>
      <p:sp>
        <p:nvSpPr>
          <p:cNvPr id="17" name="Shape 15"/>
          <p:cNvSpPr/>
          <p:nvPr/>
        </p:nvSpPr>
        <p:spPr>
          <a:xfrm>
            <a:off x="8097317" y="3108960"/>
            <a:ext cx="3545738" cy="73152"/>
          </a:xfrm>
          <a:prstGeom prst="rect">
            <a:avLst/>
          </a:prstGeom>
          <a:solidFill>
            <a:srgbClr val="1A6FBE"/>
          </a:solidFill>
          <a:ln/>
        </p:spPr>
      </p:sp>
      <p:sp>
        <p:nvSpPr>
          <p:cNvPr id="18" name="Shape 16"/>
          <p:cNvSpPr/>
          <p:nvPr/>
        </p:nvSpPr>
        <p:spPr>
          <a:xfrm>
            <a:off x="8417357" y="3474720"/>
            <a:ext cx="457200" cy="457200"/>
          </a:xfrm>
          <a:prstGeom prst="ellipse">
            <a:avLst/>
          </a:prstGeom>
          <a:solidFill>
            <a:srgbClr val="1A6FBE"/>
          </a:solidFill>
          <a:ln/>
        </p:spPr>
      </p:sp>
      <p:sp>
        <p:nvSpPr>
          <p:cNvPr id="19" name="Text 17"/>
          <p:cNvSpPr/>
          <p:nvPr/>
        </p:nvSpPr>
        <p:spPr>
          <a:xfrm>
            <a:off x="8417357" y="34747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0" name="Text 18"/>
          <p:cNvSpPr/>
          <p:nvPr/>
        </p:nvSpPr>
        <p:spPr>
          <a:xfrm>
            <a:off x="8417357" y="4114800"/>
            <a:ext cx="2905658" cy="548640"/>
          </a:xfrm>
          <a:prstGeom prst="rect">
            <a:avLst/>
          </a:prstGeom>
          <a:noFill/>
          <a:ln/>
        </p:spPr>
        <p:txBody>
          <a:bodyPr wrap="square" lIns="0" tIns="0" rIns="0" bIns="0" rtlCol="0" anchor="t"/>
          <a:lstStyle/>
          <a:p>
            <a:pPr algn="l" indent="0" marL="0">
              <a:buNone/>
            </a:pPr>
            <a:r>
              <a:rPr lang="en-US" sz="1800" b="1" dirty="0">
                <a:solidFill>
                  <a:srgbClr val="0F1733"/>
                </a:solidFill>
                <a:latin typeface="Calibri" pitchFamily="34" charset="0"/>
                <a:ea typeface="Calibri" pitchFamily="34" charset="-122"/>
                <a:cs typeface="Calibri" pitchFamily="34" charset="-120"/>
              </a:rPr>
              <a:t>Internal governance</a:t>
            </a:r>
            <a:endParaRPr lang="en-US" sz="1800" dirty="0"/>
          </a:p>
        </p:txBody>
      </p:sp>
      <p:sp>
        <p:nvSpPr>
          <p:cNvPr id="21" name="Text 19"/>
          <p:cNvSpPr/>
          <p:nvPr/>
        </p:nvSpPr>
        <p:spPr>
          <a:xfrm>
            <a:off x="8417357" y="4709160"/>
            <a:ext cx="2905658" cy="1280160"/>
          </a:xfrm>
          <a:prstGeom prst="rect">
            <a:avLst/>
          </a:prstGeom>
          <a:noFill/>
          <a:ln/>
        </p:spPr>
        <p:txBody>
          <a:bodyPr wrap="square" lIns="0" tIns="0" rIns="0" bIns="0" rtlCol="0" anchor="t"/>
          <a:lstStyle/>
          <a:p>
            <a:pPr algn="l" indent="0" marL="0">
              <a:spcAft>
                <a:spcPts val="600"/>
              </a:spcAft>
              <a:buNone/>
            </a:pPr>
            <a:r>
              <a:rPr lang="en-US" sz="1300" dirty="0">
                <a:solidFill>
                  <a:srgbClr val="2A3358"/>
                </a:solidFill>
                <a:latin typeface="Calibri" pitchFamily="34" charset="0"/>
                <a:ea typeface="Calibri" pitchFamily="34" charset="-122"/>
                <a:cs typeface="Calibri" pitchFamily="34" charset="-120"/>
              </a:rPr>
              <a:t>8-document comprehensive policy manual — InfoSec, Acceptable Use, Incident Response, BCP, Data Retention, Access Control, and more.</a:t>
            </a:r>
            <a:endParaRPr lang="en-US" sz="1300" dirty="0"/>
          </a:p>
        </p:txBody>
      </p:sp>
      <p:sp>
        <p:nvSpPr>
          <p:cNvPr id="22" name="Shape 20"/>
          <p:cNvSpPr/>
          <p:nvPr/>
        </p:nvSpPr>
        <p:spPr>
          <a:xfrm>
            <a:off x="548640" y="502920"/>
            <a:ext cx="292608" cy="292608"/>
          </a:xfrm>
          <a:prstGeom prst="roundRect">
            <a:avLst>
              <a:gd name="adj" fmla="val 25000"/>
            </a:avLst>
          </a:prstGeom>
          <a:solidFill>
            <a:srgbClr val="5028C2"/>
          </a:solidFill>
          <a:ln/>
        </p:spPr>
      </p:sp>
      <p:sp>
        <p:nvSpPr>
          <p:cNvPr id="23" name="Shape 21"/>
          <p:cNvSpPr/>
          <p:nvPr/>
        </p:nvSpPr>
        <p:spPr>
          <a:xfrm>
            <a:off x="548640" y="502920"/>
            <a:ext cx="292608" cy="292608"/>
          </a:xfrm>
          <a:prstGeom prst="roundRect">
            <a:avLst>
              <a:gd name="adj" fmla="val 25000"/>
            </a:avLst>
          </a:prstGeom>
          <a:solidFill>
            <a:srgbClr val="1A6FBE">
              <a:alpha val="50000"/>
            </a:srgbClr>
          </a:solidFill>
          <a:ln/>
        </p:spPr>
      </p:sp>
      <p:sp>
        <p:nvSpPr>
          <p:cNvPr id="24" name="Text 22"/>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5" name="Text 23"/>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26" name="Text 24"/>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18 · Trust &amp; compliance  ·  vC</a:t>
            </a:r>
            <a:endParaRPr lang="en-US" sz="900" dirty="0"/>
          </a:p>
        </p:txBody>
      </p:sp>
      <p:sp>
        <p:nvSpPr>
          <p:cNvPr id="27" name="Text 25"/>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28" name="Text 26"/>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122 / 126</a:t>
            </a:r>
            <a:endParaRPr lang="en-US" sz="9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320040" cy="116300"/>
          </a:xfrm>
          <a:prstGeom prst="rect">
            <a:avLst/>
          </a:prstGeom>
          <a:solidFill>
            <a:srgbClr val="5028C2"/>
          </a:solidFill>
          <a:ln/>
        </p:spPr>
      </p:sp>
      <p:sp>
        <p:nvSpPr>
          <p:cNvPr id="3" name="Shape 1"/>
          <p:cNvSpPr/>
          <p:nvPr/>
        </p:nvSpPr>
        <p:spPr>
          <a:xfrm>
            <a:off x="0" y="107156"/>
            <a:ext cx="320040" cy="116300"/>
          </a:xfrm>
          <a:prstGeom prst="rect">
            <a:avLst/>
          </a:prstGeom>
          <a:solidFill>
            <a:srgbClr val="4F29C2"/>
          </a:solidFill>
          <a:ln/>
        </p:spPr>
      </p:sp>
      <p:sp>
        <p:nvSpPr>
          <p:cNvPr id="4" name="Shape 2"/>
          <p:cNvSpPr/>
          <p:nvPr/>
        </p:nvSpPr>
        <p:spPr>
          <a:xfrm>
            <a:off x="0" y="214313"/>
            <a:ext cx="320040" cy="116300"/>
          </a:xfrm>
          <a:prstGeom prst="rect">
            <a:avLst/>
          </a:prstGeom>
          <a:solidFill>
            <a:srgbClr val="4E2AC3"/>
          </a:solidFill>
          <a:ln/>
        </p:spPr>
      </p:sp>
      <p:sp>
        <p:nvSpPr>
          <p:cNvPr id="5" name="Shape 3"/>
          <p:cNvSpPr/>
          <p:nvPr/>
        </p:nvSpPr>
        <p:spPr>
          <a:xfrm>
            <a:off x="0" y="321469"/>
            <a:ext cx="320040" cy="116300"/>
          </a:xfrm>
          <a:prstGeom prst="rect">
            <a:avLst/>
          </a:prstGeom>
          <a:solidFill>
            <a:srgbClr val="4D2BC3"/>
          </a:solidFill>
          <a:ln/>
        </p:spPr>
      </p:sp>
      <p:sp>
        <p:nvSpPr>
          <p:cNvPr id="6" name="Shape 4"/>
          <p:cNvSpPr/>
          <p:nvPr/>
        </p:nvSpPr>
        <p:spPr>
          <a:xfrm>
            <a:off x="0" y="428625"/>
            <a:ext cx="320040" cy="116300"/>
          </a:xfrm>
          <a:prstGeom prst="rect">
            <a:avLst/>
          </a:prstGeom>
          <a:solidFill>
            <a:srgbClr val="4D2CC4"/>
          </a:solidFill>
          <a:ln/>
        </p:spPr>
      </p:sp>
      <p:sp>
        <p:nvSpPr>
          <p:cNvPr id="7" name="Shape 5"/>
          <p:cNvSpPr/>
          <p:nvPr/>
        </p:nvSpPr>
        <p:spPr>
          <a:xfrm>
            <a:off x="0" y="535781"/>
            <a:ext cx="320040" cy="116300"/>
          </a:xfrm>
          <a:prstGeom prst="rect">
            <a:avLst/>
          </a:prstGeom>
          <a:solidFill>
            <a:srgbClr val="4C2DC4"/>
          </a:solidFill>
          <a:ln/>
        </p:spPr>
      </p:sp>
      <p:sp>
        <p:nvSpPr>
          <p:cNvPr id="8" name="Shape 6"/>
          <p:cNvSpPr/>
          <p:nvPr/>
        </p:nvSpPr>
        <p:spPr>
          <a:xfrm>
            <a:off x="0" y="642938"/>
            <a:ext cx="320040" cy="116300"/>
          </a:xfrm>
          <a:prstGeom prst="rect">
            <a:avLst/>
          </a:prstGeom>
          <a:solidFill>
            <a:srgbClr val="4B2EC5"/>
          </a:solidFill>
          <a:ln/>
        </p:spPr>
      </p:sp>
      <p:sp>
        <p:nvSpPr>
          <p:cNvPr id="9" name="Shape 7"/>
          <p:cNvSpPr/>
          <p:nvPr/>
        </p:nvSpPr>
        <p:spPr>
          <a:xfrm>
            <a:off x="0" y="750094"/>
            <a:ext cx="320040" cy="116300"/>
          </a:xfrm>
          <a:prstGeom prst="rect">
            <a:avLst/>
          </a:prstGeom>
          <a:solidFill>
            <a:srgbClr val="4A2FC5"/>
          </a:solidFill>
          <a:ln/>
        </p:spPr>
      </p:sp>
      <p:sp>
        <p:nvSpPr>
          <p:cNvPr id="10" name="Shape 8"/>
          <p:cNvSpPr/>
          <p:nvPr/>
        </p:nvSpPr>
        <p:spPr>
          <a:xfrm>
            <a:off x="0" y="857250"/>
            <a:ext cx="320040" cy="116300"/>
          </a:xfrm>
          <a:prstGeom prst="rect">
            <a:avLst/>
          </a:prstGeom>
          <a:solidFill>
            <a:srgbClr val="4930C6"/>
          </a:solidFill>
          <a:ln/>
        </p:spPr>
      </p:sp>
      <p:sp>
        <p:nvSpPr>
          <p:cNvPr id="11" name="Shape 9"/>
          <p:cNvSpPr/>
          <p:nvPr/>
        </p:nvSpPr>
        <p:spPr>
          <a:xfrm>
            <a:off x="0" y="964406"/>
            <a:ext cx="320040" cy="116300"/>
          </a:xfrm>
          <a:prstGeom prst="rect">
            <a:avLst/>
          </a:prstGeom>
          <a:solidFill>
            <a:srgbClr val="4831C6"/>
          </a:solidFill>
          <a:ln/>
        </p:spPr>
      </p:sp>
      <p:sp>
        <p:nvSpPr>
          <p:cNvPr id="12" name="Shape 10"/>
          <p:cNvSpPr/>
          <p:nvPr/>
        </p:nvSpPr>
        <p:spPr>
          <a:xfrm>
            <a:off x="0" y="1071563"/>
            <a:ext cx="320040" cy="116300"/>
          </a:xfrm>
          <a:prstGeom prst="rect">
            <a:avLst/>
          </a:prstGeom>
          <a:solidFill>
            <a:srgbClr val="4732C6"/>
          </a:solidFill>
          <a:ln/>
        </p:spPr>
      </p:sp>
      <p:sp>
        <p:nvSpPr>
          <p:cNvPr id="13" name="Shape 11"/>
          <p:cNvSpPr/>
          <p:nvPr/>
        </p:nvSpPr>
        <p:spPr>
          <a:xfrm>
            <a:off x="0" y="1178719"/>
            <a:ext cx="320040" cy="116300"/>
          </a:xfrm>
          <a:prstGeom prst="rect">
            <a:avLst/>
          </a:prstGeom>
          <a:solidFill>
            <a:srgbClr val="4733C7"/>
          </a:solidFill>
          <a:ln/>
        </p:spPr>
      </p:sp>
      <p:sp>
        <p:nvSpPr>
          <p:cNvPr id="14" name="Shape 12"/>
          <p:cNvSpPr/>
          <p:nvPr/>
        </p:nvSpPr>
        <p:spPr>
          <a:xfrm>
            <a:off x="0" y="1285875"/>
            <a:ext cx="320040" cy="116300"/>
          </a:xfrm>
          <a:prstGeom prst="rect">
            <a:avLst/>
          </a:prstGeom>
          <a:solidFill>
            <a:srgbClr val="4634C7"/>
          </a:solidFill>
          <a:ln/>
        </p:spPr>
      </p:sp>
      <p:sp>
        <p:nvSpPr>
          <p:cNvPr id="15" name="Shape 13"/>
          <p:cNvSpPr/>
          <p:nvPr/>
        </p:nvSpPr>
        <p:spPr>
          <a:xfrm>
            <a:off x="0" y="1393031"/>
            <a:ext cx="320040" cy="116300"/>
          </a:xfrm>
          <a:prstGeom prst="rect">
            <a:avLst/>
          </a:prstGeom>
          <a:solidFill>
            <a:srgbClr val="4535C8"/>
          </a:solidFill>
          <a:ln/>
        </p:spPr>
      </p:sp>
      <p:sp>
        <p:nvSpPr>
          <p:cNvPr id="16" name="Shape 14"/>
          <p:cNvSpPr/>
          <p:nvPr/>
        </p:nvSpPr>
        <p:spPr>
          <a:xfrm>
            <a:off x="0" y="1500188"/>
            <a:ext cx="320040" cy="116300"/>
          </a:xfrm>
          <a:prstGeom prst="rect">
            <a:avLst/>
          </a:prstGeom>
          <a:solidFill>
            <a:srgbClr val="4436C8"/>
          </a:solidFill>
          <a:ln/>
        </p:spPr>
      </p:sp>
      <p:sp>
        <p:nvSpPr>
          <p:cNvPr id="17" name="Shape 15"/>
          <p:cNvSpPr/>
          <p:nvPr/>
        </p:nvSpPr>
        <p:spPr>
          <a:xfrm>
            <a:off x="0" y="1607344"/>
            <a:ext cx="320040" cy="116300"/>
          </a:xfrm>
          <a:prstGeom prst="rect">
            <a:avLst/>
          </a:prstGeom>
          <a:solidFill>
            <a:srgbClr val="4337C9"/>
          </a:solidFill>
          <a:ln/>
        </p:spPr>
      </p:sp>
      <p:sp>
        <p:nvSpPr>
          <p:cNvPr id="18" name="Shape 16"/>
          <p:cNvSpPr/>
          <p:nvPr/>
        </p:nvSpPr>
        <p:spPr>
          <a:xfrm>
            <a:off x="0" y="1714500"/>
            <a:ext cx="320040" cy="116300"/>
          </a:xfrm>
          <a:prstGeom prst="rect">
            <a:avLst/>
          </a:prstGeom>
          <a:solidFill>
            <a:srgbClr val="4238C9"/>
          </a:solidFill>
          <a:ln/>
        </p:spPr>
      </p:sp>
      <p:sp>
        <p:nvSpPr>
          <p:cNvPr id="19" name="Shape 17"/>
          <p:cNvSpPr/>
          <p:nvPr/>
        </p:nvSpPr>
        <p:spPr>
          <a:xfrm>
            <a:off x="0" y="1821656"/>
            <a:ext cx="320040" cy="116300"/>
          </a:xfrm>
          <a:prstGeom prst="rect">
            <a:avLst/>
          </a:prstGeom>
          <a:solidFill>
            <a:srgbClr val="4139CA"/>
          </a:solidFill>
          <a:ln/>
        </p:spPr>
      </p:sp>
      <p:sp>
        <p:nvSpPr>
          <p:cNvPr id="20" name="Shape 18"/>
          <p:cNvSpPr/>
          <p:nvPr/>
        </p:nvSpPr>
        <p:spPr>
          <a:xfrm>
            <a:off x="0" y="1928813"/>
            <a:ext cx="320040" cy="116300"/>
          </a:xfrm>
          <a:prstGeom prst="rect">
            <a:avLst/>
          </a:prstGeom>
          <a:solidFill>
            <a:srgbClr val="413ACA"/>
          </a:solidFill>
          <a:ln/>
        </p:spPr>
      </p:sp>
      <p:sp>
        <p:nvSpPr>
          <p:cNvPr id="21" name="Shape 19"/>
          <p:cNvSpPr/>
          <p:nvPr/>
        </p:nvSpPr>
        <p:spPr>
          <a:xfrm>
            <a:off x="0" y="2035969"/>
            <a:ext cx="320040" cy="116300"/>
          </a:xfrm>
          <a:prstGeom prst="rect">
            <a:avLst/>
          </a:prstGeom>
          <a:solidFill>
            <a:srgbClr val="403BCA"/>
          </a:solidFill>
          <a:ln/>
        </p:spPr>
      </p:sp>
      <p:sp>
        <p:nvSpPr>
          <p:cNvPr id="22" name="Shape 20"/>
          <p:cNvSpPr/>
          <p:nvPr/>
        </p:nvSpPr>
        <p:spPr>
          <a:xfrm>
            <a:off x="0" y="2143125"/>
            <a:ext cx="320040" cy="116300"/>
          </a:xfrm>
          <a:prstGeom prst="rect">
            <a:avLst/>
          </a:prstGeom>
          <a:solidFill>
            <a:srgbClr val="3F3CCB"/>
          </a:solidFill>
          <a:ln/>
        </p:spPr>
      </p:sp>
      <p:sp>
        <p:nvSpPr>
          <p:cNvPr id="23" name="Shape 21"/>
          <p:cNvSpPr/>
          <p:nvPr/>
        </p:nvSpPr>
        <p:spPr>
          <a:xfrm>
            <a:off x="0" y="2250281"/>
            <a:ext cx="320040" cy="116300"/>
          </a:xfrm>
          <a:prstGeom prst="rect">
            <a:avLst/>
          </a:prstGeom>
          <a:solidFill>
            <a:srgbClr val="3E3DCB"/>
          </a:solidFill>
          <a:ln/>
        </p:spPr>
      </p:sp>
      <p:sp>
        <p:nvSpPr>
          <p:cNvPr id="24" name="Shape 22"/>
          <p:cNvSpPr/>
          <p:nvPr/>
        </p:nvSpPr>
        <p:spPr>
          <a:xfrm>
            <a:off x="0" y="2357438"/>
            <a:ext cx="320040" cy="116300"/>
          </a:xfrm>
          <a:prstGeom prst="rect">
            <a:avLst/>
          </a:prstGeom>
          <a:solidFill>
            <a:srgbClr val="3D3ECC"/>
          </a:solidFill>
          <a:ln/>
        </p:spPr>
      </p:sp>
      <p:sp>
        <p:nvSpPr>
          <p:cNvPr id="25" name="Shape 23"/>
          <p:cNvSpPr/>
          <p:nvPr/>
        </p:nvSpPr>
        <p:spPr>
          <a:xfrm>
            <a:off x="0" y="2464594"/>
            <a:ext cx="320040" cy="116300"/>
          </a:xfrm>
          <a:prstGeom prst="rect">
            <a:avLst/>
          </a:prstGeom>
          <a:solidFill>
            <a:srgbClr val="3C3FCC"/>
          </a:solidFill>
          <a:ln/>
        </p:spPr>
      </p:sp>
      <p:sp>
        <p:nvSpPr>
          <p:cNvPr id="26" name="Shape 24"/>
          <p:cNvSpPr/>
          <p:nvPr/>
        </p:nvSpPr>
        <p:spPr>
          <a:xfrm>
            <a:off x="0" y="2571750"/>
            <a:ext cx="320040" cy="116300"/>
          </a:xfrm>
          <a:prstGeom prst="rect">
            <a:avLst/>
          </a:prstGeom>
          <a:solidFill>
            <a:srgbClr val="3B40CD"/>
          </a:solidFill>
          <a:ln/>
        </p:spPr>
      </p:sp>
      <p:sp>
        <p:nvSpPr>
          <p:cNvPr id="27" name="Shape 25"/>
          <p:cNvSpPr/>
          <p:nvPr/>
        </p:nvSpPr>
        <p:spPr>
          <a:xfrm>
            <a:off x="0" y="2678906"/>
            <a:ext cx="320040" cy="116300"/>
          </a:xfrm>
          <a:prstGeom prst="rect">
            <a:avLst/>
          </a:prstGeom>
          <a:solidFill>
            <a:srgbClr val="3B41CD"/>
          </a:solidFill>
          <a:ln/>
        </p:spPr>
      </p:sp>
      <p:sp>
        <p:nvSpPr>
          <p:cNvPr id="28" name="Shape 26"/>
          <p:cNvSpPr/>
          <p:nvPr/>
        </p:nvSpPr>
        <p:spPr>
          <a:xfrm>
            <a:off x="0" y="2786063"/>
            <a:ext cx="320040" cy="116300"/>
          </a:xfrm>
          <a:prstGeom prst="rect">
            <a:avLst/>
          </a:prstGeom>
          <a:solidFill>
            <a:srgbClr val="3A42CE"/>
          </a:solidFill>
          <a:ln/>
        </p:spPr>
      </p:sp>
      <p:sp>
        <p:nvSpPr>
          <p:cNvPr id="29" name="Shape 27"/>
          <p:cNvSpPr/>
          <p:nvPr/>
        </p:nvSpPr>
        <p:spPr>
          <a:xfrm>
            <a:off x="0" y="2893219"/>
            <a:ext cx="320040" cy="116300"/>
          </a:xfrm>
          <a:prstGeom prst="rect">
            <a:avLst/>
          </a:prstGeom>
          <a:solidFill>
            <a:srgbClr val="3943CE"/>
          </a:solidFill>
          <a:ln/>
        </p:spPr>
      </p:sp>
      <p:sp>
        <p:nvSpPr>
          <p:cNvPr id="30" name="Shape 28"/>
          <p:cNvSpPr/>
          <p:nvPr/>
        </p:nvSpPr>
        <p:spPr>
          <a:xfrm>
            <a:off x="0" y="3000375"/>
            <a:ext cx="320040" cy="116300"/>
          </a:xfrm>
          <a:prstGeom prst="rect">
            <a:avLst/>
          </a:prstGeom>
          <a:solidFill>
            <a:srgbClr val="3844CE"/>
          </a:solidFill>
          <a:ln/>
        </p:spPr>
      </p:sp>
      <p:sp>
        <p:nvSpPr>
          <p:cNvPr id="31" name="Shape 29"/>
          <p:cNvSpPr/>
          <p:nvPr/>
        </p:nvSpPr>
        <p:spPr>
          <a:xfrm>
            <a:off x="0" y="3107531"/>
            <a:ext cx="320040" cy="116300"/>
          </a:xfrm>
          <a:prstGeom prst="rect">
            <a:avLst/>
          </a:prstGeom>
          <a:solidFill>
            <a:srgbClr val="3745CF"/>
          </a:solidFill>
          <a:ln/>
        </p:spPr>
      </p:sp>
      <p:sp>
        <p:nvSpPr>
          <p:cNvPr id="32" name="Shape 30"/>
          <p:cNvSpPr/>
          <p:nvPr/>
        </p:nvSpPr>
        <p:spPr>
          <a:xfrm>
            <a:off x="0" y="3214688"/>
            <a:ext cx="320040" cy="116300"/>
          </a:xfrm>
          <a:prstGeom prst="rect">
            <a:avLst/>
          </a:prstGeom>
          <a:solidFill>
            <a:srgbClr val="3646CF"/>
          </a:solidFill>
          <a:ln/>
        </p:spPr>
      </p:sp>
      <p:sp>
        <p:nvSpPr>
          <p:cNvPr id="33" name="Shape 31"/>
          <p:cNvSpPr/>
          <p:nvPr/>
        </p:nvSpPr>
        <p:spPr>
          <a:xfrm>
            <a:off x="0" y="3321844"/>
            <a:ext cx="320040" cy="116300"/>
          </a:xfrm>
          <a:prstGeom prst="rect">
            <a:avLst/>
          </a:prstGeom>
          <a:solidFill>
            <a:srgbClr val="3547D0"/>
          </a:solidFill>
          <a:ln/>
        </p:spPr>
      </p:sp>
      <p:sp>
        <p:nvSpPr>
          <p:cNvPr id="34" name="Shape 32"/>
          <p:cNvSpPr/>
          <p:nvPr/>
        </p:nvSpPr>
        <p:spPr>
          <a:xfrm>
            <a:off x="0" y="3429000"/>
            <a:ext cx="320040" cy="116300"/>
          </a:xfrm>
          <a:prstGeom prst="rect">
            <a:avLst/>
          </a:prstGeom>
          <a:solidFill>
            <a:srgbClr val="3549D0"/>
          </a:solidFill>
          <a:ln/>
        </p:spPr>
      </p:sp>
      <p:sp>
        <p:nvSpPr>
          <p:cNvPr id="35" name="Shape 33"/>
          <p:cNvSpPr/>
          <p:nvPr/>
        </p:nvSpPr>
        <p:spPr>
          <a:xfrm>
            <a:off x="0" y="3536156"/>
            <a:ext cx="320040" cy="116300"/>
          </a:xfrm>
          <a:prstGeom prst="rect">
            <a:avLst/>
          </a:prstGeom>
          <a:solidFill>
            <a:srgbClr val="344ACF"/>
          </a:solidFill>
          <a:ln/>
        </p:spPr>
      </p:sp>
      <p:sp>
        <p:nvSpPr>
          <p:cNvPr id="36" name="Shape 34"/>
          <p:cNvSpPr/>
          <p:nvPr/>
        </p:nvSpPr>
        <p:spPr>
          <a:xfrm>
            <a:off x="0" y="3643313"/>
            <a:ext cx="320040" cy="116300"/>
          </a:xfrm>
          <a:prstGeom prst="rect">
            <a:avLst/>
          </a:prstGeom>
          <a:solidFill>
            <a:srgbClr val="334BCF"/>
          </a:solidFill>
          <a:ln/>
        </p:spPr>
      </p:sp>
      <p:sp>
        <p:nvSpPr>
          <p:cNvPr id="37" name="Shape 35"/>
          <p:cNvSpPr/>
          <p:nvPr/>
        </p:nvSpPr>
        <p:spPr>
          <a:xfrm>
            <a:off x="0" y="3750469"/>
            <a:ext cx="320040" cy="116300"/>
          </a:xfrm>
          <a:prstGeom prst="rect">
            <a:avLst/>
          </a:prstGeom>
          <a:solidFill>
            <a:srgbClr val="324CCE"/>
          </a:solidFill>
          <a:ln/>
        </p:spPr>
      </p:sp>
      <p:sp>
        <p:nvSpPr>
          <p:cNvPr id="38" name="Shape 36"/>
          <p:cNvSpPr/>
          <p:nvPr/>
        </p:nvSpPr>
        <p:spPr>
          <a:xfrm>
            <a:off x="0" y="3857625"/>
            <a:ext cx="320040" cy="116300"/>
          </a:xfrm>
          <a:prstGeom prst="rect">
            <a:avLst/>
          </a:prstGeom>
          <a:solidFill>
            <a:srgbClr val="314ECD"/>
          </a:solidFill>
          <a:ln/>
        </p:spPr>
      </p:sp>
      <p:sp>
        <p:nvSpPr>
          <p:cNvPr id="39" name="Shape 37"/>
          <p:cNvSpPr/>
          <p:nvPr/>
        </p:nvSpPr>
        <p:spPr>
          <a:xfrm>
            <a:off x="0" y="3964781"/>
            <a:ext cx="320040" cy="116300"/>
          </a:xfrm>
          <a:prstGeom prst="rect">
            <a:avLst/>
          </a:prstGeom>
          <a:solidFill>
            <a:srgbClr val="304FCD"/>
          </a:solidFill>
          <a:ln/>
        </p:spPr>
      </p:sp>
      <p:sp>
        <p:nvSpPr>
          <p:cNvPr id="40" name="Shape 38"/>
          <p:cNvSpPr/>
          <p:nvPr/>
        </p:nvSpPr>
        <p:spPr>
          <a:xfrm>
            <a:off x="0" y="4071938"/>
            <a:ext cx="320040" cy="116300"/>
          </a:xfrm>
          <a:prstGeom prst="rect">
            <a:avLst/>
          </a:prstGeom>
          <a:solidFill>
            <a:srgbClr val="2F50CC"/>
          </a:solidFill>
          <a:ln/>
        </p:spPr>
      </p:sp>
      <p:sp>
        <p:nvSpPr>
          <p:cNvPr id="41" name="Shape 39"/>
          <p:cNvSpPr/>
          <p:nvPr/>
        </p:nvSpPr>
        <p:spPr>
          <a:xfrm>
            <a:off x="0" y="4179094"/>
            <a:ext cx="320040" cy="116300"/>
          </a:xfrm>
          <a:prstGeom prst="rect">
            <a:avLst/>
          </a:prstGeom>
          <a:solidFill>
            <a:srgbClr val="2F51CC"/>
          </a:solidFill>
          <a:ln/>
        </p:spPr>
      </p:sp>
      <p:sp>
        <p:nvSpPr>
          <p:cNvPr id="42" name="Shape 40"/>
          <p:cNvSpPr/>
          <p:nvPr/>
        </p:nvSpPr>
        <p:spPr>
          <a:xfrm>
            <a:off x="0" y="4286250"/>
            <a:ext cx="320040" cy="116300"/>
          </a:xfrm>
          <a:prstGeom prst="rect">
            <a:avLst/>
          </a:prstGeom>
          <a:solidFill>
            <a:srgbClr val="2E53CB"/>
          </a:solidFill>
          <a:ln/>
        </p:spPr>
      </p:sp>
      <p:sp>
        <p:nvSpPr>
          <p:cNvPr id="43" name="Shape 41"/>
          <p:cNvSpPr/>
          <p:nvPr/>
        </p:nvSpPr>
        <p:spPr>
          <a:xfrm>
            <a:off x="0" y="4393406"/>
            <a:ext cx="320040" cy="116300"/>
          </a:xfrm>
          <a:prstGeom prst="rect">
            <a:avLst/>
          </a:prstGeom>
          <a:solidFill>
            <a:srgbClr val="2D54CB"/>
          </a:solidFill>
          <a:ln/>
        </p:spPr>
      </p:sp>
      <p:sp>
        <p:nvSpPr>
          <p:cNvPr id="44" name="Shape 42"/>
          <p:cNvSpPr/>
          <p:nvPr/>
        </p:nvSpPr>
        <p:spPr>
          <a:xfrm>
            <a:off x="0" y="4500563"/>
            <a:ext cx="320040" cy="116300"/>
          </a:xfrm>
          <a:prstGeom prst="rect">
            <a:avLst/>
          </a:prstGeom>
          <a:solidFill>
            <a:srgbClr val="2C55CA"/>
          </a:solidFill>
          <a:ln/>
        </p:spPr>
      </p:sp>
      <p:sp>
        <p:nvSpPr>
          <p:cNvPr id="45" name="Shape 43"/>
          <p:cNvSpPr/>
          <p:nvPr/>
        </p:nvSpPr>
        <p:spPr>
          <a:xfrm>
            <a:off x="0" y="4607719"/>
            <a:ext cx="320040" cy="116300"/>
          </a:xfrm>
          <a:prstGeom prst="rect">
            <a:avLst/>
          </a:prstGeom>
          <a:solidFill>
            <a:srgbClr val="2B56C9"/>
          </a:solidFill>
          <a:ln/>
        </p:spPr>
      </p:sp>
      <p:sp>
        <p:nvSpPr>
          <p:cNvPr id="46" name="Shape 44"/>
          <p:cNvSpPr/>
          <p:nvPr/>
        </p:nvSpPr>
        <p:spPr>
          <a:xfrm>
            <a:off x="0" y="4714875"/>
            <a:ext cx="320040" cy="116300"/>
          </a:xfrm>
          <a:prstGeom prst="rect">
            <a:avLst/>
          </a:prstGeom>
          <a:solidFill>
            <a:srgbClr val="2A57C9"/>
          </a:solidFill>
          <a:ln/>
        </p:spPr>
      </p:sp>
      <p:sp>
        <p:nvSpPr>
          <p:cNvPr id="47" name="Shape 45"/>
          <p:cNvSpPr/>
          <p:nvPr/>
        </p:nvSpPr>
        <p:spPr>
          <a:xfrm>
            <a:off x="0" y="4822031"/>
            <a:ext cx="320040" cy="116300"/>
          </a:xfrm>
          <a:prstGeom prst="rect">
            <a:avLst/>
          </a:prstGeom>
          <a:solidFill>
            <a:srgbClr val="2959C8"/>
          </a:solidFill>
          <a:ln/>
        </p:spPr>
      </p:sp>
      <p:sp>
        <p:nvSpPr>
          <p:cNvPr id="48" name="Shape 46"/>
          <p:cNvSpPr/>
          <p:nvPr/>
        </p:nvSpPr>
        <p:spPr>
          <a:xfrm>
            <a:off x="0" y="4929188"/>
            <a:ext cx="320040" cy="116300"/>
          </a:xfrm>
          <a:prstGeom prst="rect">
            <a:avLst/>
          </a:prstGeom>
          <a:solidFill>
            <a:srgbClr val="295AC8"/>
          </a:solidFill>
          <a:ln/>
        </p:spPr>
      </p:sp>
      <p:sp>
        <p:nvSpPr>
          <p:cNvPr id="49" name="Shape 47"/>
          <p:cNvSpPr/>
          <p:nvPr/>
        </p:nvSpPr>
        <p:spPr>
          <a:xfrm>
            <a:off x="0" y="5036344"/>
            <a:ext cx="320040" cy="116300"/>
          </a:xfrm>
          <a:prstGeom prst="rect">
            <a:avLst/>
          </a:prstGeom>
          <a:solidFill>
            <a:srgbClr val="285BC7"/>
          </a:solidFill>
          <a:ln/>
        </p:spPr>
      </p:sp>
      <p:sp>
        <p:nvSpPr>
          <p:cNvPr id="50" name="Shape 48"/>
          <p:cNvSpPr/>
          <p:nvPr/>
        </p:nvSpPr>
        <p:spPr>
          <a:xfrm>
            <a:off x="0" y="5143500"/>
            <a:ext cx="320040" cy="116300"/>
          </a:xfrm>
          <a:prstGeom prst="rect">
            <a:avLst/>
          </a:prstGeom>
          <a:solidFill>
            <a:srgbClr val="275CC7"/>
          </a:solidFill>
          <a:ln/>
        </p:spPr>
      </p:sp>
      <p:sp>
        <p:nvSpPr>
          <p:cNvPr id="51" name="Shape 49"/>
          <p:cNvSpPr/>
          <p:nvPr/>
        </p:nvSpPr>
        <p:spPr>
          <a:xfrm>
            <a:off x="0" y="5250656"/>
            <a:ext cx="320040" cy="116300"/>
          </a:xfrm>
          <a:prstGeom prst="rect">
            <a:avLst/>
          </a:prstGeom>
          <a:solidFill>
            <a:srgbClr val="265EC6"/>
          </a:solidFill>
          <a:ln/>
        </p:spPr>
      </p:sp>
      <p:sp>
        <p:nvSpPr>
          <p:cNvPr id="52" name="Shape 50"/>
          <p:cNvSpPr/>
          <p:nvPr/>
        </p:nvSpPr>
        <p:spPr>
          <a:xfrm>
            <a:off x="0" y="5357813"/>
            <a:ext cx="320040" cy="116300"/>
          </a:xfrm>
          <a:prstGeom prst="rect">
            <a:avLst/>
          </a:prstGeom>
          <a:solidFill>
            <a:srgbClr val="255FC5"/>
          </a:solidFill>
          <a:ln/>
        </p:spPr>
      </p:sp>
      <p:sp>
        <p:nvSpPr>
          <p:cNvPr id="53" name="Shape 51"/>
          <p:cNvSpPr/>
          <p:nvPr/>
        </p:nvSpPr>
        <p:spPr>
          <a:xfrm>
            <a:off x="0" y="5464969"/>
            <a:ext cx="320040" cy="116300"/>
          </a:xfrm>
          <a:prstGeom prst="rect">
            <a:avLst/>
          </a:prstGeom>
          <a:solidFill>
            <a:srgbClr val="2460C5"/>
          </a:solidFill>
          <a:ln/>
        </p:spPr>
      </p:sp>
      <p:sp>
        <p:nvSpPr>
          <p:cNvPr id="54" name="Shape 52"/>
          <p:cNvSpPr/>
          <p:nvPr/>
        </p:nvSpPr>
        <p:spPr>
          <a:xfrm>
            <a:off x="0" y="5572125"/>
            <a:ext cx="320040" cy="116300"/>
          </a:xfrm>
          <a:prstGeom prst="rect">
            <a:avLst/>
          </a:prstGeom>
          <a:solidFill>
            <a:srgbClr val="2361C4"/>
          </a:solidFill>
          <a:ln/>
        </p:spPr>
      </p:sp>
      <p:sp>
        <p:nvSpPr>
          <p:cNvPr id="55" name="Shape 53"/>
          <p:cNvSpPr/>
          <p:nvPr/>
        </p:nvSpPr>
        <p:spPr>
          <a:xfrm>
            <a:off x="0" y="5679281"/>
            <a:ext cx="320040" cy="116300"/>
          </a:xfrm>
          <a:prstGeom prst="rect">
            <a:avLst/>
          </a:prstGeom>
          <a:solidFill>
            <a:srgbClr val="2363C4"/>
          </a:solidFill>
          <a:ln/>
        </p:spPr>
      </p:sp>
      <p:sp>
        <p:nvSpPr>
          <p:cNvPr id="56" name="Shape 54"/>
          <p:cNvSpPr/>
          <p:nvPr/>
        </p:nvSpPr>
        <p:spPr>
          <a:xfrm>
            <a:off x="0" y="5786438"/>
            <a:ext cx="320040" cy="116300"/>
          </a:xfrm>
          <a:prstGeom prst="rect">
            <a:avLst/>
          </a:prstGeom>
          <a:solidFill>
            <a:srgbClr val="2264C3"/>
          </a:solidFill>
          <a:ln/>
        </p:spPr>
      </p:sp>
      <p:sp>
        <p:nvSpPr>
          <p:cNvPr id="57" name="Shape 55"/>
          <p:cNvSpPr/>
          <p:nvPr/>
        </p:nvSpPr>
        <p:spPr>
          <a:xfrm>
            <a:off x="0" y="5893594"/>
            <a:ext cx="320040" cy="116300"/>
          </a:xfrm>
          <a:prstGeom prst="rect">
            <a:avLst/>
          </a:prstGeom>
          <a:solidFill>
            <a:srgbClr val="2165C3"/>
          </a:solidFill>
          <a:ln/>
        </p:spPr>
      </p:sp>
      <p:sp>
        <p:nvSpPr>
          <p:cNvPr id="58" name="Shape 56"/>
          <p:cNvSpPr/>
          <p:nvPr/>
        </p:nvSpPr>
        <p:spPr>
          <a:xfrm>
            <a:off x="0" y="6000750"/>
            <a:ext cx="320040" cy="116300"/>
          </a:xfrm>
          <a:prstGeom prst="rect">
            <a:avLst/>
          </a:prstGeom>
          <a:solidFill>
            <a:srgbClr val="2066C2"/>
          </a:solidFill>
          <a:ln/>
        </p:spPr>
      </p:sp>
      <p:sp>
        <p:nvSpPr>
          <p:cNvPr id="59" name="Shape 57"/>
          <p:cNvSpPr/>
          <p:nvPr/>
        </p:nvSpPr>
        <p:spPr>
          <a:xfrm>
            <a:off x="0" y="6107906"/>
            <a:ext cx="320040" cy="116300"/>
          </a:xfrm>
          <a:prstGeom prst="rect">
            <a:avLst/>
          </a:prstGeom>
          <a:solidFill>
            <a:srgbClr val="1F68C1"/>
          </a:solidFill>
          <a:ln/>
        </p:spPr>
      </p:sp>
      <p:sp>
        <p:nvSpPr>
          <p:cNvPr id="60" name="Shape 58"/>
          <p:cNvSpPr/>
          <p:nvPr/>
        </p:nvSpPr>
        <p:spPr>
          <a:xfrm>
            <a:off x="0" y="6215063"/>
            <a:ext cx="320040" cy="116300"/>
          </a:xfrm>
          <a:prstGeom prst="rect">
            <a:avLst/>
          </a:prstGeom>
          <a:solidFill>
            <a:srgbClr val="1E69C1"/>
          </a:solidFill>
          <a:ln/>
        </p:spPr>
      </p:sp>
      <p:sp>
        <p:nvSpPr>
          <p:cNvPr id="61" name="Shape 59"/>
          <p:cNvSpPr/>
          <p:nvPr/>
        </p:nvSpPr>
        <p:spPr>
          <a:xfrm>
            <a:off x="0" y="6322219"/>
            <a:ext cx="320040" cy="116300"/>
          </a:xfrm>
          <a:prstGeom prst="rect">
            <a:avLst/>
          </a:prstGeom>
          <a:solidFill>
            <a:srgbClr val="1D6AC0"/>
          </a:solidFill>
          <a:ln/>
        </p:spPr>
      </p:sp>
      <p:sp>
        <p:nvSpPr>
          <p:cNvPr id="62" name="Shape 60"/>
          <p:cNvSpPr/>
          <p:nvPr/>
        </p:nvSpPr>
        <p:spPr>
          <a:xfrm>
            <a:off x="0" y="6429375"/>
            <a:ext cx="320040" cy="116300"/>
          </a:xfrm>
          <a:prstGeom prst="rect">
            <a:avLst/>
          </a:prstGeom>
          <a:solidFill>
            <a:srgbClr val="1D6BC0"/>
          </a:solidFill>
          <a:ln/>
        </p:spPr>
      </p:sp>
      <p:sp>
        <p:nvSpPr>
          <p:cNvPr id="63" name="Shape 61"/>
          <p:cNvSpPr/>
          <p:nvPr/>
        </p:nvSpPr>
        <p:spPr>
          <a:xfrm>
            <a:off x="0" y="6536531"/>
            <a:ext cx="320040" cy="116300"/>
          </a:xfrm>
          <a:prstGeom prst="rect">
            <a:avLst/>
          </a:prstGeom>
          <a:solidFill>
            <a:srgbClr val="1C6DBF"/>
          </a:solidFill>
          <a:ln/>
        </p:spPr>
      </p:sp>
      <p:sp>
        <p:nvSpPr>
          <p:cNvPr id="64" name="Shape 62"/>
          <p:cNvSpPr/>
          <p:nvPr/>
        </p:nvSpPr>
        <p:spPr>
          <a:xfrm>
            <a:off x="0" y="6643688"/>
            <a:ext cx="320040" cy="116300"/>
          </a:xfrm>
          <a:prstGeom prst="rect">
            <a:avLst/>
          </a:prstGeom>
          <a:solidFill>
            <a:srgbClr val="1B6EBF"/>
          </a:solidFill>
          <a:ln/>
        </p:spPr>
      </p:sp>
      <p:sp>
        <p:nvSpPr>
          <p:cNvPr id="65" name="Shape 63"/>
          <p:cNvSpPr/>
          <p:nvPr/>
        </p:nvSpPr>
        <p:spPr>
          <a:xfrm>
            <a:off x="0" y="6750844"/>
            <a:ext cx="320040" cy="116300"/>
          </a:xfrm>
          <a:prstGeom prst="rect">
            <a:avLst/>
          </a:prstGeom>
          <a:solidFill>
            <a:srgbClr val="1A6FBE"/>
          </a:solidFill>
          <a:ln/>
        </p:spPr>
      </p:sp>
      <p:sp>
        <p:nvSpPr>
          <p:cNvPr id="66" name="Text 64"/>
          <p:cNvSpPr/>
          <p:nvPr/>
        </p:nvSpPr>
        <p:spPr>
          <a:xfrm>
            <a:off x="73152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LEGAL INFRASTRUCTURE</a:t>
            </a:r>
            <a:endParaRPr lang="en-US" sz="1100" dirty="0"/>
          </a:p>
        </p:txBody>
      </p:sp>
      <p:sp>
        <p:nvSpPr>
          <p:cNvPr id="67" name="Text 65"/>
          <p:cNvSpPr/>
          <p:nvPr/>
        </p:nvSpPr>
        <p:spPr>
          <a:xfrm>
            <a:off x="548640" y="1554480"/>
            <a:ext cx="11094415" cy="3200400"/>
          </a:xfrm>
          <a:prstGeom prst="rect">
            <a:avLst/>
          </a:prstGeom>
          <a:noFill/>
          <a:ln/>
        </p:spPr>
        <p:txBody>
          <a:bodyPr wrap="square" lIns="0" tIns="0" rIns="0" bIns="0" rtlCol="0" anchor="ctr"/>
          <a:lstStyle/>
          <a:p>
            <a:pPr algn="l" indent="0" marL="0">
              <a:buNone/>
            </a:pPr>
            <a:r>
              <a:rPr lang="en-US" sz="20000" b="1" spc="-600" kern="0" dirty="0">
                <a:solidFill>
                  <a:srgbClr val="5028C2"/>
                </a:solidFill>
                <a:latin typeface="Calibri" pitchFamily="34" charset="0"/>
                <a:ea typeface="Calibri" pitchFamily="34" charset="-122"/>
                <a:cs typeface="Calibri" pitchFamily="34" charset="-120"/>
              </a:rPr>
              <a:t>8 / 4 / 11</a:t>
            </a:r>
            <a:endParaRPr lang="en-US" sz="20000" dirty="0"/>
          </a:p>
        </p:txBody>
      </p:sp>
      <p:sp>
        <p:nvSpPr>
          <p:cNvPr id="68" name="Text 66"/>
          <p:cNvSpPr/>
          <p:nvPr/>
        </p:nvSpPr>
        <p:spPr>
          <a:xfrm>
            <a:off x="548640" y="4983480"/>
            <a:ext cx="11094415" cy="457200"/>
          </a:xfrm>
          <a:prstGeom prst="rect">
            <a:avLst/>
          </a:prstGeom>
          <a:noFill/>
          <a:ln/>
        </p:spPr>
        <p:txBody>
          <a:bodyPr wrap="square" lIns="0" tIns="0" rIns="0" bIns="0" rtlCol="0" anchor="t"/>
          <a:lstStyle/>
          <a:p>
            <a:pPr algn="l" indent="0" marL="0">
              <a:buNone/>
            </a:pPr>
            <a:r>
              <a:rPr lang="en-US" sz="2200" b="1" dirty="0">
                <a:solidFill>
                  <a:srgbClr val="0F1733"/>
                </a:solidFill>
                <a:latin typeface="Calibri" pitchFamily="34" charset="0"/>
                <a:ea typeface="Calibri" pitchFamily="34" charset="-122"/>
                <a:cs typeface="Calibri" pitchFamily="34" charset="-120"/>
              </a:rPr>
              <a:t>Internal policies. Signed DPAs. US state privacy laws.</a:t>
            </a:r>
            <a:endParaRPr lang="en-US" sz="2200" dirty="0"/>
          </a:p>
        </p:txBody>
      </p:sp>
      <p:sp>
        <p:nvSpPr>
          <p:cNvPr id="69" name="Text 67"/>
          <p:cNvSpPr/>
          <p:nvPr/>
        </p:nvSpPr>
        <p:spPr>
          <a:xfrm>
            <a:off x="548640" y="5486400"/>
            <a:ext cx="10637215" cy="640080"/>
          </a:xfrm>
          <a:prstGeom prst="rect">
            <a:avLst/>
          </a:prstGeom>
          <a:noFill/>
          <a:ln/>
        </p:spPr>
        <p:txBody>
          <a:bodyPr wrap="square" lIns="0" tIns="0" rIns="0" bIns="0" rtlCol="0" anchor="t"/>
          <a:lstStyle/>
          <a:p>
            <a:pPr algn="l" indent="0" marL="0">
              <a:buNone/>
            </a:pPr>
            <a:r>
              <a:rPr lang="en-US" sz="1300" dirty="0">
                <a:solidFill>
                  <a:srgbClr val="2A3358"/>
                </a:solidFill>
                <a:latin typeface="Calibri" pitchFamily="34" charset="0"/>
                <a:ea typeface="Calibri" pitchFamily="34" charset="-122"/>
                <a:cs typeface="Calibri" pitchFamily="34" charset="-120"/>
              </a:rPr>
              <a:t>Eight internal policies. Four counter-signed sub-processor DPAs. Eleven US state privacy laws explicitly covered, plus GDPR and UK GDPR. The compliance posture of a Series B company at v1.0.</a:t>
            </a:r>
            <a:endParaRPr lang="en-US" sz="1300" dirty="0"/>
          </a:p>
        </p:txBody>
      </p:sp>
      <p:sp>
        <p:nvSpPr>
          <p:cNvPr id="70" name="Shape 68"/>
          <p:cNvSpPr/>
          <p:nvPr/>
        </p:nvSpPr>
        <p:spPr>
          <a:xfrm>
            <a:off x="548640" y="502920"/>
            <a:ext cx="292608" cy="292608"/>
          </a:xfrm>
          <a:prstGeom prst="roundRect">
            <a:avLst>
              <a:gd name="adj" fmla="val 25000"/>
            </a:avLst>
          </a:prstGeom>
          <a:solidFill>
            <a:srgbClr val="5028C2"/>
          </a:solidFill>
          <a:ln/>
        </p:spPr>
      </p:sp>
      <p:sp>
        <p:nvSpPr>
          <p:cNvPr id="71" name="Shape 69"/>
          <p:cNvSpPr/>
          <p:nvPr/>
        </p:nvSpPr>
        <p:spPr>
          <a:xfrm>
            <a:off x="548640" y="502920"/>
            <a:ext cx="292608" cy="292608"/>
          </a:xfrm>
          <a:prstGeom prst="roundRect">
            <a:avLst>
              <a:gd name="adj" fmla="val 25000"/>
            </a:avLst>
          </a:prstGeom>
          <a:solidFill>
            <a:srgbClr val="1A6FBE">
              <a:alpha val="50000"/>
            </a:srgbClr>
          </a:solidFill>
          <a:ln/>
        </p:spPr>
      </p:sp>
      <p:sp>
        <p:nvSpPr>
          <p:cNvPr id="72" name="Text 70"/>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73" name="Text 71"/>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74" name="Text 72"/>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18 · Trust &amp; compliance  ·  vD</a:t>
            </a:r>
            <a:endParaRPr lang="en-US" sz="900" dirty="0"/>
          </a:p>
        </p:txBody>
      </p:sp>
      <p:sp>
        <p:nvSpPr>
          <p:cNvPr id="75" name="Text 73"/>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76" name="Text 74"/>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123 / 126</a:t>
            </a:r>
            <a:endParaRPr lang="en-US" sz="9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1ECFF"/>
        </a:solidFill>
      </p:bgPr>
    </p:bg>
    <p:spTree>
      <p:nvGrpSpPr>
        <p:cNvPr id="1" name=""/>
        <p:cNvGrpSpPr/>
        <p:nvPr/>
      </p:nvGrpSpPr>
      <p:grpSpPr>
        <a:xfrm>
          <a:off x="0" y="0"/>
          <a:ext cx="0" cy="0"/>
          <a:chOff x="0" y="0"/>
          <a:chExt cx="0" cy="0"/>
        </a:xfrm>
      </p:grpSpPr>
      <p:sp>
        <p:nvSpPr>
          <p:cNvPr id="2" name="Text 0"/>
          <p:cNvSpPr/>
          <p:nvPr/>
        </p:nvSpPr>
        <p:spPr>
          <a:xfrm>
            <a:off x="457200" y="365760"/>
            <a:ext cx="2286000" cy="2286000"/>
          </a:xfrm>
          <a:prstGeom prst="rect">
            <a:avLst/>
          </a:prstGeom>
          <a:noFill/>
          <a:ln/>
        </p:spPr>
        <p:txBody>
          <a:bodyPr wrap="square" lIns="0" tIns="0" rIns="0" bIns="0" rtlCol="0" anchor="t"/>
          <a:lstStyle/>
          <a:p>
            <a:pPr algn="l" indent="0" marL="0">
              <a:buNone/>
            </a:pPr>
            <a:r>
              <a:rPr lang="en-US" sz="24000" b="1" dirty="0">
                <a:solidFill>
                  <a:srgbClr val="5028C2"/>
                </a:solidFill>
                <a:latin typeface="Georgia" pitchFamily="34" charset="0"/>
                <a:ea typeface="Georgia" pitchFamily="34" charset="-122"/>
                <a:cs typeface="Georgia" pitchFamily="34" charset="-120"/>
              </a:rPr>
              <a:t>"</a:t>
            </a:r>
            <a:endParaRPr lang="en-US" sz="24000" dirty="0"/>
          </a:p>
        </p:txBody>
      </p:sp>
      <p:sp>
        <p:nvSpPr>
          <p:cNvPr id="3" name="Text 1"/>
          <p:cNvSpPr/>
          <p:nvPr/>
        </p:nvSpPr>
        <p:spPr>
          <a:xfrm>
            <a:off x="1920240" y="1737360"/>
            <a:ext cx="9722815" cy="3108960"/>
          </a:xfrm>
          <a:prstGeom prst="rect">
            <a:avLst/>
          </a:prstGeom>
          <a:noFill/>
          <a:ln/>
        </p:spPr>
        <p:txBody>
          <a:bodyPr wrap="square" lIns="0" tIns="0" rIns="0" bIns="0" rtlCol="0" anchor="t"/>
          <a:lstStyle/>
          <a:p>
            <a:pPr algn="l" indent="0" marL="0">
              <a:buNone/>
            </a:pPr>
            <a:r>
              <a:rPr lang="en-US" sz="2800" i="1" dirty="0">
                <a:solidFill>
                  <a:srgbClr val="0F1733"/>
                </a:solidFill>
                <a:latin typeface="Georgia" pitchFamily="34" charset="0"/>
                <a:ea typeface="Georgia" pitchFamily="34" charset="-122"/>
                <a:cs typeface="Georgia" pitchFamily="34" charset="-120"/>
              </a:rPr>
              <a:t>They had every DPA already signed and posted. We didn't have to wait two weeks for procurement to chase paperwork. That moved them from 'maybe' to 'closed' in one meeting.</a:t>
            </a:r>
            <a:endParaRPr lang="en-US" sz="2800" dirty="0"/>
          </a:p>
        </p:txBody>
      </p:sp>
      <p:sp>
        <p:nvSpPr>
          <p:cNvPr id="4" name="Shape 2"/>
          <p:cNvSpPr/>
          <p:nvPr/>
        </p:nvSpPr>
        <p:spPr>
          <a:xfrm>
            <a:off x="1920240" y="5120640"/>
            <a:ext cx="640080" cy="0"/>
          </a:xfrm>
          <a:prstGeom prst="line">
            <a:avLst/>
          </a:prstGeom>
          <a:noFill/>
          <a:ln w="25400">
            <a:solidFill>
              <a:srgbClr val="5028C2"/>
            </a:solidFill>
            <a:prstDash val="solid"/>
          </a:ln>
        </p:spPr>
      </p:sp>
      <p:sp>
        <p:nvSpPr>
          <p:cNvPr id="5" name="Text 3"/>
          <p:cNvSpPr/>
          <p:nvPr/>
        </p:nvSpPr>
        <p:spPr>
          <a:xfrm>
            <a:off x="1920240" y="5212080"/>
            <a:ext cx="9722815" cy="457200"/>
          </a:xfrm>
          <a:prstGeom prst="rect">
            <a:avLst/>
          </a:prstGeom>
          <a:noFill/>
          <a:ln/>
        </p:spPr>
        <p:txBody>
          <a:bodyPr wrap="square" lIns="0" tIns="0" rIns="0" bIns="0" rtlCol="0" anchor="t"/>
          <a:lstStyle/>
          <a:p>
            <a:pPr algn="l" indent="0" marL="0">
              <a:buNone/>
            </a:pPr>
            <a:r>
              <a:rPr lang="en-US" sz="1400" b="1" spc="100" kern="0" dirty="0">
                <a:solidFill>
                  <a:srgbClr val="3D1E96"/>
                </a:solidFill>
                <a:latin typeface="Calibri" pitchFamily="34" charset="0"/>
                <a:ea typeface="Calibri" pitchFamily="34" charset="-122"/>
                <a:cs typeface="Calibri" pitchFamily="34" charset="-120"/>
              </a:rPr>
              <a:t>Hypothetical B2B procurement reviewer</a:t>
            </a:r>
            <a:endParaRPr lang="en-US" sz="1400" dirty="0"/>
          </a:p>
        </p:txBody>
      </p:sp>
      <p:sp>
        <p:nvSpPr>
          <p:cNvPr id="6" name="Text 4"/>
          <p:cNvSpPr/>
          <p:nvPr/>
        </p:nvSpPr>
        <p:spPr>
          <a:xfrm>
            <a:off x="1920240" y="5532120"/>
            <a:ext cx="9722815" cy="365760"/>
          </a:xfrm>
          <a:prstGeom prst="rect">
            <a:avLst/>
          </a:prstGeom>
          <a:noFill/>
          <a:ln/>
        </p:spPr>
        <p:txBody>
          <a:bodyPr wrap="square" lIns="0" tIns="0" rIns="0" bIns="0" rtlCol="0" anchor="t"/>
          <a:lstStyle/>
          <a:p>
            <a:pPr algn="l" indent="0" marL="0">
              <a:buNone/>
            </a:pPr>
            <a:r>
              <a:rPr lang="en-US" sz="1200" dirty="0">
                <a:solidFill>
                  <a:srgbClr val="6B7493"/>
                </a:solidFill>
                <a:latin typeface="Calibri" pitchFamily="34" charset="0"/>
                <a:ea typeface="Calibri" pitchFamily="34" charset="-122"/>
                <a:cs typeface="Calibri" pitchFamily="34" charset="-120"/>
              </a:rPr>
              <a:t>On compliance as a closing accelerant</a:t>
            </a:r>
            <a:endParaRPr lang="en-US" sz="1200" dirty="0"/>
          </a:p>
        </p:txBody>
      </p:sp>
      <p:sp>
        <p:nvSpPr>
          <p:cNvPr id="7" name="Shape 5"/>
          <p:cNvSpPr/>
          <p:nvPr/>
        </p:nvSpPr>
        <p:spPr>
          <a:xfrm>
            <a:off x="548640" y="502920"/>
            <a:ext cx="292608" cy="292608"/>
          </a:xfrm>
          <a:prstGeom prst="roundRect">
            <a:avLst>
              <a:gd name="adj" fmla="val 25000"/>
            </a:avLst>
          </a:prstGeom>
          <a:solidFill>
            <a:srgbClr val="5028C2"/>
          </a:solidFill>
          <a:ln/>
        </p:spPr>
      </p:sp>
      <p:sp>
        <p:nvSpPr>
          <p:cNvPr id="8" name="Shape 6"/>
          <p:cNvSpPr/>
          <p:nvPr/>
        </p:nvSpPr>
        <p:spPr>
          <a:xfrm>
            <a:off x="548640" y="502920"/>
            <a:ext cx="292608" cy="292608"/>
          </a:xfrm>
          <a:prstGeom prst="roundRect">
            <a:avLst>
              <a:gd name="adj" fmla="val 25000"/>
            </a:avLst>
          </a:prstGeom>
          <a:solidFill>
            <a:srgbClr val="1A6FBE">
              <a:alpha val="50000"/>
            </a:srgbClr>
          </a:solidFill>
          <a:ln/>
        </p:spPr>
      </p:sp>
      <p:sp>
        <p:nvSpPr>
          <p:cNvPr id="9" name="Text 7"/>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0" name="Text 8"/>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1" name="Text 9"/>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18 · Trust &amp; compliance  ·  vE</a:t>
            </a:r>
            <a:endParaRPr lang="en-US" sz="900" dirty="0"/>
          </a:p>
        </p:txBody>
      </p:sp>
      <p:sp>
        <p:nvSpPr>
          <p:cNvPr id="12" name="Text 10"/>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3" name="Text 11"/>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124 / 126</a:t>
            </a:r>
            <a:endParaRPr lang="en-US" sz="9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a:off x="3047924" y="0"/>
            <a:ext cx="9143771" cy="6858000"/>
          </a:xfrm>
          <a:prstGeom prst="rtTriangle">
            <a:avLst/>
          </a:prstGeom>
          <a:solidFill>
            <a:srgbClr val="5028C2"/>
          </a:solidFill>
          <a:ln/>
        </p:spPr>
      </p:sp>
      <p:sp>
        <p:nvSpPr>
          <p:cNvPr id="3" name="Shape 1"/>
          <p:cNvSpPr/>
          <p:nvPr/>
        </p:nvSpPr>
        <p:spPr>
          <a:xfrm flipH="1">
            <a:off x="4876678" y="1028700"/>
            <a:ext cx="7924602" cy="6515100"/>
          </a:xfrm>
          <a:prstGeom prst="rtTriangle">
            <a:avLst/>
          </a:prstGeom>
          <a:solidFill>
            <a:srgbClr val="1A6FBE">
              <a:alpha val="75000"/>
            </a:srgbClr>
          </a:solidFill>
          <a:ln/>
        </p:spPr>
      </p:sp>
      <p:sp>
        <p:nvSpPr>
          <p:cNvPr id="4" name="Text 2"/>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TRUST POSTURE</a:t>
            </a:r>
            <a:endParaRPr lang="en-US" sz="1100" dirty="0"/>
          </a:p>
        </p:txBody>
      </p:sp>
      <p:sp>
        <p:nvSpPr>
          <p:cNvPr id="5" name="Text 3"/>
          <p:cNvSpPr/>
          <p:nvPr/>
        </p:nvSpPr>
        <p:spPr>
          <a:xfrm>
            <a:off x="548640" y="1417320"/>
            <a:ext cx="6095848" cy="2286000"/>
          </a:xfrm>
          <a:prstGeom prst="rect">
            <a:avLst/>
          </a:prstGeom>
          <a:noFill/>
          <a:ln/>
        </p:spPr>
        <p:txBody>
          <a:bodyPr wrap="square" lIns="0" tIns="0" rIns="0" bIns="0" rtlCol="0" anchor="t"/>
          <a:lstStyle/>
          <a:p>
            <a:pPr algn="l" indent="0" marL="0">
              <a:buNone/>
            </a:pPr>
            <a:r>
              <a:rPr lang="en-US" sz="4000" b="1" spc="-50" kern="0" dirty="0">
                <a:solidFill>
                  <a:srgbClr val="0F1733"/>
                </a:solidFill>
                <a:latin typeface="Calibri" pitchFamily="34" charset="0"/>
                <a:ea typeface="Calibri" pitchFamily="34" charset="-122"/>
                <a:cs typeface="Calibri" pitchFamily="34" charset="-120"/>
              </a:rPr>
              <a:t>Compliance built before the first enterprise deal — not after.</a:t>
            </a:r>
            <a:endParaRPr lang="en-US" sz="4000" dirty="0"/>
          </a:p>
        </p:txBody>
      </p:sp>
      <p:sp>
        <p:nvSpPr>
          <p:cNvPr id="6" name="Text 4"/>
          <p:cNvSpPr/>
          <p:nvPr/>
        </p:nvSpPr>
        <p:spPr>
          <a:xfrm>
            <a:off x="548640" y="3840480"/>
            <a:ext cx="5821528" cy="2103120"/>
          </a:xfrm>
          <a:prstGeom prst="rect">
            <a:avLst/>
          </a:prstGeom>
          <a:noFill/>
          <a:ln/>
        </p:spPr>
        <p:txBody>
          <a:bodyPr wrap="square" lIns="0" tIns="0" rIns="0" bIns="0" rtlCol="0" anchor="t"/>
          <a:lstStyle/>
          <a:p>
            <a:pPr algn="l" indent="0" marL="0">
              <a:spcAft>
                <a:spcPts val="600"/>
              </a:spcAft>
              <a:buNone/>
            </a:pPr>
            <a:r>
              <a:rPr lang="en-US" sz="1400" dirty="0">
                <a:solidFill>
                  <a:srgbClr val="2A3358"/>
                </a:solidFill>
                <a:latin typeface="Calibri" pitchFamily="34" charset="0"/>
                <a:ea typeface="Calibri" pitchFamily="34" charset="-122"/>
                <a:cs typeface="Calibri" pitchFamily="34" charset="-120"/>
              </a:rPr>
              <a:t>Every B2B sale eventually touches procurement. The teams that get there fastest already have DPAs signed, privacy laws covered, and policies documented. We treated that as v1.0 infrastructure, not a Series A problem.</a:t>
            </a:r>
            <a:endParaRPr lang="en-US" sz="1400" dirty="0"/>
          </a:p>
        </p:txBody>
      </p:sp>
      <p:sp>
        <p:nvSpPr>
          <p:cNvPr id="7" name="Text 5"/>
          <p:cNvSpPr/>
          <p:nvPr/>
        </p:nvSpPr>
        <p:spPr>
          <a:xfrm>
            <a:off x="6705432" y="2926080"/>
            <a:ext cx="4876678" cy="3291840"/>
          </a:xfrm>
          <a:prstGeom prst="rect">
            <a:avLst/>
          </a:prstGeom>
          <a:noFill/>
          <a:ln/>
        </p:spPr>
        <p:txBody>
          <a:bodyPr wrap="square" lIns="0" tIns="0" rIns="0" bIns="0" rtlCol="0" anchor="ctr"/>
          <a:lstStyle/>
          <a:p>
            <a:pPr algn="r" indent="0" marL="0">
              <a:buNone/>
            </a:pPr>
            <a:r>
              <a:rPr lang="en-US" sz="3200" b="1" spc="-50" kern="0" dirty="0">
                <a:solidFill>
                  <a:srgbClr val="FFFFFF"/>
                </a:solidFill>
                <a:latin typeface="Calibri" pitchFamily="34" charset="0"/>
                <a:ea typeface="Calibri" pitchFamily="34" charset="-122"/>
                <a:cs typeface="Calibri" pitchFamily="34" charset="-120"/>
              </a:rPr>
              <a:t>Built</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for B2B.</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From</a:t>
            </a:r>
            <a:endParaRPr lang="en-US" sz="3200" dirty="0"/>
          </a:p>
          <a:p>
            <a:pPr algn="r" indent="0" marL="0">
              <a:buNone/>
            </a:pPr>
            <a:r>
              <a:rPr lang="en-US" sz="3200" b="1" spc="-50" kern="0" dirty="0">
                <a:solidFill>
                  <a:srgbClr val="FFFFFF"/>
                </a:solidFill>
                <a:latin typeface="Calibri" pitchFamily="34" charset="0"/>
                <a:ea typeface="Calibri" pitchFamily="34" charset="-122"/>
                <a:cs typeface="Calibri" pitchFamily="34" charset="-120"/>
              </a:rPr>
              <a:t>day one.</a:t>
            </a:r>
            <a:endParaRPr lang="en-US" sz="3200" dirty="0"/>
          </a:p>
        </p:txBody>
      </p:sp>
      <p:sp>
        <p:nvSpPr>
          <p:cNvPr id="8" name="Shape 6"/>
          <p:cNvSpPr/>
          <p:nvPr/>
        </p:nvSpPr>
        <p:spPr>
          <a:xfrm>
            <a:off x="548640" y="502920"/>
            <a:ext cx="292608" cy="292608"/>
          </a:xfrm>
          <a:prstGeom prst="roundRect">
            <a:avLst>
              <a:gd name="adj" fmla="val 25000"/>
            </a:avLst>
          </a:prstGeom>
          <a:solidFill>
            <a:srgbClr val="5028C2"/>
          </a:solidFill>
          <a:ln/>
        </p:spPr>
      </p:sp>
      <p:sp>
        <p:nvSpPr>
          <p:cNvPr id="9" name="Shape 7"/>
          <p:cNvSpPr/>
          <p:nvPr/>
        </p:nvSpPr>
        <p:spPr>
          <a:xfrm>
            <a:off x="548640" y="502920"/>
            <a:ext cx="292608" cy="292608"/>
          </a:xfrm>
          <a:prstGeom prst="roundRect">
            <a:avLst>
              <a:gd name="adj" fmla="val 25000"/>
            </a:avLst>
          </a:prstGeom>
          <a:solidFill>
            <a:srgbClr val="1A6FBE">
              <a:alpha val="50000"/>
            </a:srgbClr>
          </a:solidFill>
          <a:ln/>
        </p:spPr>
      </p:sp>
      <p:sp>
        <p:nvSpPr>
          <p:cNvPr id="10" name="Text 8"/>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1" name="Text 9"/>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12" name="Text 10"/>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FFFFFF">
                    <a:alpha val="85000"/>
                  </a:srgbClr>
                </a:solidFill>
                <a:latin typeface="Calibri" pitchFamily="34" charset="0"/>
                <a:ea typeface="Calibri" pitchFamily="34" charset="-122"/>
                <a:cs typeface="Calibri" pitchFamily="34" charset="-120"/>
              </a:rPr>
              <a:t>18 · Trust &amp; compliance  ·  vF</a:t>
            </a:r>
            <a:endParaRPr lang="en-US" sz="900" dirty="0"/>
          </a:p>
        </p:txBody>
      </p:sp>
      <p:sp>
        <p:nvSpPr>
          <p:cNvPr id="13" name="Text 11"/>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14" name="Text 12"/>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FFFFFF">
                    <a:alpha val="85000"/>
                  </a:srgbClr>
                </a:solidFill>
                <a:latin typeface="Consolas" pitchFamily="34" charset="0"/>
                <a:ea typeface="Consolas" pitchFamily="34" charset="-122"/>
                <a:cs typeface="Consolas" pitchFamily="34" charset="-120"/>
              </a:rPr>
              <a:t>125 / 126</a:t>
            </a:r>
            <a:endParaRPr lang="en-US" sz="9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CFAF6"/>
        </a:solidFill>
      </p:bgPr>
    </p:bg>
    <p:spTree>
      <p:nvGrpSpPr>
        <p:cNvPr id="1" name=""/>
        <p:cNvGrpSpPr/>
        <p:nvPr/>
      </p:nvGrpSpPr>
      <p:grpSpPr>
        <a:xfrm>
          <a:off x="0" y="0"/>
          <a:ext cx="0" cy="0"/>
          <a:chOff x="0" y="0"/>
          <a:chExt cx="0" cy="0"/>
        </a:xfrm>
      </p:grpSpPr>
      <p:sp>
        <p:nvSpPr>
          <p:cNvPr id="2" name="Text 0"/>
          <p:cNvSpPr/>
          <p:nvPr/>
        </p:nvSpPr>
        <p:spPr>
          <a:xfrm>
            <a:off x="548640" y="1051560"/>
            <a:ext cx="3657600" cy="274320"/>
          </a:xfrm>
          <a:prstGeom prst="rect">
            <a:avLst/>
          </a:prstGeom>
          <a:noFill/>
          <a:ln/>
        </p:spPr>
        <p:txBody>
          <a:bodyPr wrap="square" lIns="0" tIns="0" rIns="0" bIns="0" rtlCol="0" anchor="ctr"/>
          <a:lstStyle/>
          <a:p>
            <a:pPr algn="l" indent="0" marL="0">
              <a:buNone/>
            </a:pPr>
            <a:r>
              <a:rPr lang="en-US" sz="1100" b="1" spc="400" kern="0" dirty="0">
                <a:solidFill>
                  <a:srgbClr val="5028C2"/>
                </a:solidFill>
                <a:latin typeface="Calibri" pitchFamily="34" charset="0"/>
                <a:ea typeface="Calibri" pitchFamily="34" charset="-122"/>
                <a:cs typeface="Calibri" pitchFamily="34" charset="-120"/>
              </a:rPr>
              <a:t>TRUST &amp; COMPLIANCE</a:t>
            </a:r>
            <a:endParaRPr lang="en-US" sz="1100" dirty="0"/>
          </a:p>
        </p:txBody>
      </p:sp>
      <p:sp>
        <p:nvSpPr>
          <p:cNvPr id="3" name="Text 1"/>
          <p:cNvSpPr/>
          <p:nvPr/>
        </p:nvSpPr>
        <p:spPr>
          <a:xfrm>
            <a:off x="548640" y="1417320"/>
            <a:ext cx="11094415" cy="914400"/>
          </a:xfrm>
          <a:prstGeom prst="rect">
            <a:avLst/>
          </a:prstGeom>
          <a:noFill/>
          <a:ln/>
        </p:spPr>
        <p:txBody>
          <a:bodyPr wrap="square" lIns="0" tIns="0" rIns="0" bIns="0" rtlCol="0" anchor="t"/>
          <a:lstStyle/>
          <a:p>
            <a:pPr algn="l" indent="0" marL="0">
              <a:buNone/>
            </a:pPr>
            <a:r>
              <a:rPr lang="en-US" sz="3400" b="1" spc="-50" kern="0" dirty="0">
                <a:solidFill>
                  <a:srgbClr val="0F1733"/>
                </a:solidFill>
                <a:latin typeface="Calibri" pitchFamily="34" charset="0"/>
                <a:ea typeface="Calibri" pitchFamily="34" charset="-122"/>
                <a:cs typeface="Calibri" pitchFamily="34" charset="-120"/>
              </a:rPr>
              <a:t>The compliance infrastructure most B2B SaaS waits years to build.</a:t>
            </a:r>
            <a:endParaRPr lang="en-US" sz="3400" dirty="0"/>
          </a:p>
        </p:txBody>
      </p:sp>
      <p:sp>
        <p:nvSpPr>
          <p:cNvPr id="4" name="Shape 2"/>
          <p:cNvSpPr/>
          <p:nvPr/>
        </p:nvSpPr>
        <p:spPr>
          <a:xfrm>
            <a:off x="548640" y="2514600"/>
            <a:ext cx="5464912" cy="67008"/>
          </a:xfrm>
          <a:prstGeom prst="rect">
            <a:avLst/>
          </a:prstGeom>
          <a:solidFill>
            <a:srgbClr val="5028C2"/>
          </a:solidFill>
          <a:ln/>
        </p:spPr>
      </p:sp>
      <p:sp>
        <p:nvSpPr>
          <p:cNvPr id="5" name="Shape 3"/>
          <p:cNvSpPr/>
          <p:nvPr/>
        </p:nvSpPr>
        <p:spPr>
          <a:xfrm>
            <a:off x="548640" y="2572464"/>
            <a:ext cx="5464912" cy="67008"/>
          </a:xfrm>
          <a:prstGeom prst="rect">
            <a:avLst/>
          </a:prstGeom>
          <a:solidFill>
            <a:srgbClr val="4F29C2"/>
          </a:solidFill>
          <a:ln/>
        </p:spPr>
      </p:sp>
      <p:sp>
        <p:nvSpPr>
          <p:cNvPr id="6" name="Shape 4"/>
          <p:cNvSpPr/>
          <p:nvPr/>
        </p:nvSpPr>
        <p:spPr>
          <a:xfrm>
            <a:off x="548640" y="2630329"/>
            <a:ext cx="5464912" cy="67008"/>
          </a:xfrm>
          <a:prstGeom prst="rect">
            <a:avLst/>
          </a:prstGeom>
          <a:solidFill>
            <a:srgbClr val="4E2AC3"/>
          </a:solidFill>
          <a:ln/>
        </p:spPr>
      </p:sp>
      <p:sp>
        <p:nvSpPr>
          <p:cNvPr id="7" name="Shape 5"/>
          <p:cNvSpPr/>
          <p:nvPr/>
        </p:nvSpPr>
        <p:spPr>
          <a:xfrm>
            <a:off x="548640" y="2688193"/>
            <a:ext cx="5464912" cy="67008"/>
          </a:xfrm>
          <a:prstGeom prst="rect">
            <a:avLst/>
          </a:prstGeom>
          <a:solidFill>
            <a:srgbClr val="4D2BC3"/>
          </a:solidFill>
          <a:ln/>
        </p:spPr>
      </p:sp>
      <p:sp>
        <p:nvSpPr>
          <p:cNvPr id="8" name="Shape 6"/>
          <p:cNvSpPr/>
          <p:nvPr/>
        </p:nvSpPr>
        <p:spPr>
          <a:xfrm>
            <a:off x="548640" y="2746058"/>
            <a:ext cx="5464912" cy="67008"/>
          </a:xfrm>
          <a:prstGeom prst="rect">
            <a:avLst/>
          </a:prstGeom>
          <a:solidFill>
            <a:srgbClr val="4D2CC4"/>
          </a:solidFill>
          <a:ln/>
        </p:spPr>
      </p:sp>
      <p:sp>
        <p:nvSpPr>
          <p:cNvPr id="9" name="Shape 7"/>
          <p:cNvSpPr/>
          <p:nvPr/>
        </p:nvSpPr>
        <p:spPr>
          <a:xfrm>
            <a:off x="548640" y="2803922"/>
            <a:ext cx="5464912" cy="67008"/>
          </a:xfrm>
          <a:prstGeom prst="rect">
            <a:avLst/>
          </a:prstGeom>
          <a:solidFill>
            <a:srgbClr val="4C2DC4"/>
          </a:solidFill>
          <a:ln/>
        </p:spPr>
      </p:sp>
      <p:sp>
        <p:nvSpPr>
          <p:cNvPr id="10" name="Shape 8"/>
          <p:cNvSpPr/>
          <p:nvPr/>
        </p:nvSpPr>
        <p:spPr>
          <a:xfrm>
            <a:off x="548640" y="2861786"/>
            <a:ext cx="5464912" cy="67008"/>
          </a:xfrm>
          <a:prstGeom prst="rect">
            <a:avLst/>
          </a:prstGeom>
          <a:solidFill>
            <a:srgbClr val="4B2EC5"/>
          </a:solidFill>
          <a:ln/>
        </p:spPr>
      </p:sp>
      <p:sp>
        <p:nvSpPr>
          <p:cNvPr id="11" name="Shape 9"/>
          <p:cNvSpPr/>
          <p:nvPr/>
        </p:nvSpPr>
        <p:spPr>
          <a:xfrm>
            <a:off x="548640" y="2919651"/>
            <a:ext cx="5464912" cy="67008"/>
          </a:xfrm>
          <a:prstGeom prst="rect">
            <a:avLst/>
          </a:prstGeom>
          <a:solidFill>
            <a:srgbClr val="4A2FC5"/>
          </a:solidFill>
          <a:ln/>
        </p:spPr>
      </p:sp>
      <p:sp>
        <p:nvSpPr>
          <p:cNvPr id="12" name="Shape 10"/>
          <p:cNvSpPr/>
          <p:nvPr/>
        </p:nvSpPr>
        <p:spPr>
          <a:xfrm>
            <a:off x="548640" y="2977515"/>
            <a:ext cx="5464912" cy="67008"/>
          </a:xfrm>
          <a:prstGeom prst="rect">
            <a:avLst/>
          </a:prstGeom>
          <a:solidFill>
            <a:srgbClr val="4930C6"/>
          </a:solidFill>
          <a:ln/>
        </p:spPr>
      </p:sp>
      <p:sp>
        <p:nvSpPr>
          <p:cNvPr id="13" name="Shape 11"/>
          <p:cNvSpPr/>
          <p:nvPr/>
        </p:nvSpPr>
        <p:spPr>
          <a:xfrm>
            <a:off x="548640" y="3035379"/>
            <a:ext cx="5464912" cy="67008"/>
          </a:xfrm>
          <a:prstGeom prst="rect">
            <a:avLst/>
          </a:prstGeom>
          <a:solidFill>
            <a:srgbClr val="4831C6"/>
          </a:solidFill>
          <a:ln/>
        </p:spPr>
      </p:sp>
      <p:sp>
        <p:nvSpPr>
          <p:cNvPr id="14" name="Shape 12"/>
          <p:cNvSpPr/>
          <p:nvPr/>
        </p:nvSpPr>
        <p:spPr>
          <a:xfrm>
            <a:off x="548640" y="3093244"/>
            <a:ext cx="5464912" cy="67008"/>
          </a:xfrm>
          <a:prstGeom prst="rect">
            <a:avLst/>
          </a:prstGeom>
          <a:solidFill>
            <a:srgbClr val="4732C6"/>
          </a:solidFill>
          <a:ln/>
        </p:spPr>
      </p:sp>
      <p:sp>
        <p:nvSpPr>
          <p:cNvPr id="15" name="Shape 13"/>
          <p:cNvSpPr/>
          <p:nvPr/>
        </p:nvSpPr>
        <p:spPr>
          <a:xfrm>
            <a:off x="548640" y="3151108"/>
            <a:ext cx="5464912" cy="67008"/>
          </a:xfrm>
          <a:prstGeom prst="rect">
            <a:avLst/>
          </a:prstGeom>
          <a:solidFill>
            <a:srgbClr val="4733C7"/>
          </a:solidFill>
          <a:ln/>
        </p:spPr>
      </p:sp>
      <p:sp>
        <p:nvSpPr>
          <p:cNvPr id="16" name="Shape 14"/>
          <p:cNvSpPr/>
          <p:nvPr/>
        </p:nvSpPr>
        <p:spPr>
          <a:xfrm>
            <a:off x="548640" y="3208973"/>
            <a:ext cx="5464912" cy="67008"/>
          </a:xfrm>
          <a:prstGeom prst="rect">
            <a:avLst/>
          </a:prstGeom>
          <a:solidFill>
            <a:srgbClr val="4634C7"/>
          </a:solidFill>
          <a:ln/>
        </p:spPr>
      </p:sp>
      <p:sp>
        <p:nvSpPr>
          <p:cNvPr id="17" name="Shape 15"/>
          <p:cNvSpPr/>
          <p:nvPr/>
        </p:nvSpPr>
        <p:spPr>
          <a:xfrm>
            <a:off x="548640" y="3266837"/>
            <a:ext cx="5464912" cy="67008"/>
          </a:xfrm>
          <a:prstGeom prst="rect">
            <a:avLst/>
          </a:prstGeom>
          <a:solidFill>
            <a:srgbClr val="4535C8"/>
          </a:solidFill>
          <a:ln/>
        </p:spPr>
      </p:sp>
      <p:sp>
        <p:nvSpPr>
          <p:cNvPr id="18" name="Shape 16"/>
          <p:cNvSpPr/>
          <p:nvPr/>
        </p:nvSpPr>
        <p:spPr>
          <a:xfrm>
            <a:off x="548640" y="3324701"/>
            <a:ext cx="5464912" cy="67008"/>
          </a:xfrm>
          <a:prstGeom prst="rect">
            <a:avLst/>
          </a:prstGeom>
          <a:solidFill>
            <a:srgbClr val="4436C8"/>
          </a:solidFill>
          <a:ln/>
        </p:spPr>
      </p:sp>
      <p:sp>
        <p:nvSpPr>
          <p:cNvPr id="19" name="Shape 17"/>
          <p:cNvSpPr/>
          <p:nvPr/>
        </p:nvSpPr>
        <p:spPr>
          <a:xfrm>
            <a:off x="548640" y="3382566"/>
            <a:ext cx="5464912" cy="67008"/>
          </a:xfrm>
          <a:prstGeom prst="rect">
            <a:avLst/>
          </a:prstGeom>
          <a:solidFill>
            <a:srgbClr val="4337C9"/>
          </a:solidFill>
          <a:ln/>
        </p:spPr>
      </p:sp>
      <p:sp>
        <p:nvSpPr>
          <p:cNvPr id="20" name="Shape 18"/>
          <p:cNvSpPr/>
          <p:nvPr/>
        </p:nvSpPr>
        <p:spPr>
          <a:xfrm>
            <a:off x="548640" y="3440430"/>
            <a:ext cx="5464912" cy="67008"/>
          </a:xfrm>
          <a:prstGeom prst="rect">
            <a:avLst/>
          </a:prstGeom>
          <a:solidFill>
            <a:srgbClr val="4238C9"/>
          </a:solidFill>
          <a:ln/>
        </p:spPr>
      </p:sp>
      <p:sp>
        <p:nvSpPr>
          <p:cNvPr id="21" name="Shape 19"/>
          <p:cNvSpPr/>
          <p:nvPr/>
        </p:nvSpPr>
        <p:spPr>
          <a:xfrm>
            <a:off x="548640" y="3498294"/>
            <a:ext cx="5464912" cy="67008"/>
          </a:xfrm>
          <a:prstGeom prst="rect">
            <a:avLst/>
          </a:prstGeom>
          <a:solidFill>
            <a:srgbClr val="4139CA"/>
          </a:solidFill>
          <a:ln/>
        </p:spPr>
      </p:sp>
      <p:sp>
        <p:nvSpPr>
          <p:cNvPr id="22" name="Shape 20"/>
          <p:cNvSpPr/>
          <p:nvPr/>
        </p:nvSpPr>
        <p:spPr>
          <a:xfrm>
            <a:off x="548640" y="3556159"/>
            <a:ext cx="5464912" cy="67008"/>
          </a:xfrm>
          <a:prstGeom prst="rect">
            <a:avLst/>
          </a:prstGeom>
          <a:solidFill>
            <a:srgbClr val="413ACA"/>
          </a:solidFill>
          <a:ln/>
        </p:spPr>
      </p:sp>
      <p:sp>
        <p:nvSpPr>
          <p:cNvPr id="23" name="Shape 21"/>
          <p:cNvSpPr/>
          <p:nvPr/>
        </p:nvSpPr>
        <p:spPr>
          <a:xfrm>
            <a:off x="548640" y="3614023"/>
            <a:ext cx="5464912" cy="67008"/>
          </a:xfrm>
          <a:prstGeom prst="rect">
            <a:avLst/>
          </a:prstGeom>
          <a:solidFill>
            <a:srgbClr val="403BCA"/>
          </a:solidFill>
          <a:ln/>
        </p:spPr>
      </p:sp>
      <p:sp>
        <p:nvSpPr>
          <p:cNvPr id="24" name="Shape 22"/>
          <p:cNvSpPr/>
          <p:nvPr/>
        </p:nvSpPr>
        <p:spPr>
          <a:xfrm>
            <a:off x="548640" y="3671888"/>
            <a:ext cx="5464912" cy="67008"/>
          </a:xfrm>
          <a:prstGeom prst="rect">
            <a:avLst/>
          </a:prstGeom>
          <a:solidFill>
            <a:srgbClr val="3F3CCB"/>
          </a:solidFill>
          <a:ln/>
        </p:spPr>
      </p:sp>
      <p:sp>
        <p:nvSpPr>
          <p:cNvPr id="25" name="Shape 23"/>
          <p:cNvSpPr/>
          <p:nvPr/>
        </p:nvSpPr>
        <p:spPr>
          <a:xfrm>
            <a:off x="548640" y="3729752"/>
            <a:ext cx="5464912" cy="67008"/>
          </a:xfrm>
          <a:prstGeom prst="rect">
            <a:avLst/>
          </a:prstGeom>
          <a:solidFill>
            <a:srgbClr val="3E3DCB"/>
          </a:solidFill>
          <a:ln/>
        </p:spPr>
      </p:sp>
      <p:sp>
        <p:nvSpPr>
          <p:cNvPr id="26" name="Shape 24"/>
          <p:cNvSpPr/>
          <p:nvPr/>
        </p:nvSpPr>
        <p:spPr>
          <a:xfrm>
            <a:off x="548640" y="3787616"/>
            <a:ext cx="5464912" cy="67008"/>
          </a:xfrm>
          <a:prstGeom prst="rect">
            <a:avLst/>
          </a:prstGeom>
          <a:solidFill>
            <a:srgbClr val="3D3ECC"/>
          </a:solidFill>
          <a:ln/>
        </p:spPr>
      </p:sp>
      <p:sp>
        <p:nvSpPr>
          <p:cNvPr id="27" name="Shape 25"/>
          <p:cNvSpPr/>
          <p:nvPr/>
        </p:nvSpPr>
        <p:spPr>
          <a:xfrm>
            <a:off x="548640" y="3845481"/>
            <a:ext cx="5464912" cy="67008"/>
          </a:xfrm>
          <a:prstGeom prst="rect">
            <a:avLst/>
          </a:prstGeom>
          <a:solidFill>
            <a:srgbClr val="3C3FCC"/>
          </a:solidFill>
          <a:ln/>
        </p:spPr>
      </p:sp>
      <p:sp>
        <p:nvSpPr>
          <p:cNvPr id="28" name="Shape 26"/>
          <p:cNvSpPr/>
          <p:nvPr/>
        </p:nvSpPr>
        <p:spPr>
          <a:xfrm>
            <a:off x="548640" y="3903345"/>
            <a:ext cx="5464912" cy="67008"/>
          </a:xfrm>
          <a:prstGeom prst="rect">
            <a:avLst/>
          </a:prstGeom>
          <a:solidFill>
            <a:srgbClr val="3B40CD"/>
          </a:solidFill>
          <a:ln/>
        </p:spPr>
      </p:sp>
      <p:sp>
        <p:nvSpPr>
          <p:cNvPr id="29" name="Shape 27"/>
          <p:cNvSpPr/>
          <p:nvPr/>
        </p:nvSpPr>
        <p:spPr>
          <a:xfrm>
            <a:off x="548640" y="3961209"/>
            <a:ext cx="5464912" cy="67008"/>
          </a:xfrm>
          <a:prstGeom prst="rect">
            <a:avLst/>
          </a:prstGeom>
          <a:solidFill>
            <a:srgbClr val="3B41CD"/>
          </a:solidFill>
          <a:ln/>
        </p:spPr>
      </p:sp>
      <p:sp>
        <p:nvSpPr>
          <p:cNvPr id="30" name="Shape 28"/>
          <p:cNvSpPr/>
          <p:nvPr/>
        </p:nvSpPr>
        <p:spPr>
          <a:xfrm>
            <a:off x="548640" y="4019074"/>
            <a:ext cx="5464912" cy="67008"/>
          </a:xfrm>
          <a:prstGeom prst="rect">
            <a:avLst/>
          </a:prstGeom>
          <a:solidFill>
            <a:srgbClr val="3A42CE"/>
          </a:solidFill>
          <a:ln/>
        </p:spPr>
      </p:sp>
      <p:sp>
        <p:nvSpPr>
          <p:cNvPr id="31" name="Shape 29"/>
          <p:cNvSpPr/>
          <p:nvPr/>
        </p:nvSpPr>
        <p:spPr>
          <a:xfrm>
            <a:off x="548640" y="4076938"/>
            <a:ext cx="5464912" cy="67008"/>
          </a:xfrm>
          <a:prstGeom prst="rect">
            <a:avLst/>
          </a:prstGeom>
          <a:solidFill>
            <a:srgbClr val="3943CE"/>
          </a:solidFill>
          <a:ln/>
        </p:spPr>
      </p:sp>
      <p:sp>
        <p:nvSpPr>
          <p:cNvPr id="32" name="Shape 30"/>
          <p:cNvSpPr/>
          <p:nvPr/>
        </p:nvSpPr>
        <p:spPr>
          <a:xfrm>
            <a:off x="548640" y="4134802"/>
            <a:ext cx="5464912" cy="67008"/>
          </a:xfrm>
          <a:prstGeom prst="rect">
            <a:avLst/>
          </a:prstGeom>
          <a:solidFill>
            <a:srgbClr val="3844CE"/>
          </a:solidFill>
          <a:ln/>
        </p:spPr>
      </p:sp>
      <p:sp>
        <p:nvSpPr>
          <p:cNvPr id="33" name="Shape 31"/>
          <p:cNvSpPr/>
          <p:nvPr/>
        </p:nvSpPr>
        <p:spPr>
          <a:xfrm>
            <a:off x="548640" y="4192667"/>
            <a:ext cx="5464912" cy="67008"/>
          </a:xfrm>
          <a:prstGeom prst="rect">
            <a:avLst/>
          </a:prstGeom>
          <a:solidFill>
            <a:srgbClr val="3745CF"/>
          </a:solidFill>
          <a:ln/>
        </p:spPr>
      </p:sp>
      <p:sp>
        <p:nvSpPr>
          <p:cNvPr id="34" name="Shape 32"/>
          <p:cNvSpPr/>
          <p:nvPr/>
        </p:nvSpPr>
        <p:spPr>
          <a:xfrm>
            <a:off x="548640" y="4250531"/>
            <a:ext cx="5464912" cy="67008"/>
          </a:xfrm>
          <a:prstGeom prst="rect">
            <a:avLst/>
          </a:prstGeom>
          <a:solidFill>
            <a:srgbClr val="3646CF"/>
          </a:solidFill>
          <a:ln/>
        </p:spPr>
      </p:sp>
      <p:sp>
        <p:nvSpPr>
          <p:cNvPr id="35" name="Shape 33"/>
          <p:cNvSpPr/>
          <p:nvPr/>
        </p:nvSpPr>
        <p:spPr>
          <a:xfrm>
            <a:off x="548640" y="4308396"/>
            <a:ext cx="5464912" cy="67008"/>
          </a:xfrm>
          <a:prstGeom prst="rect">
            <a:avLst/>
          </a:prstGeom>
          <a:solidFill>
            <a:srgbClr val="3547D0"/>
          </a:solidFill>
          <a:ln/>
        </p:spPr>
      </p:sp>
      <p:sp>
        <p:nvSpPr>
          <p:cNvPr id="36" name="Shape 34"/>
          <p:cNvSpPr/>
          <p:nvPr/>
        </p:nvSpPr>
        <p:spPr>
          <a:xfrm>
            <a:off x="548640" y="4366260"/>
            <a:ext cx="5464912" cy="67008"/>
          </a:xfrm>
          <a:prstGeom prst="rect">
            <a:avLst/>
          </a:prstGeom>
          <a:solidFill>
            <a:srgbClr val="3549D0"/>
          </a:solidFill>
          <a:ln/>
        </p:spPr>
      </p:sp>
      <p:sp>
        <p:nvSpPr>
          <p:cNvPr id="37" name="Shape 35"/>
          <p:cNvSpPr/>
          <p:nvPr/>
        </p:nvSpPr>
        <p:spPr>
          <a:xfrm>
            <a:off x="548640" y="4424124"/>
            <a:ext cx="5464912" cy="67008"/>
          </a:xfrm>
          <a:prstGeom prst="rect">
            <a:avLst/>
          </a:prstGeom>
          <a:solidFill>
            <a:srgbClr val="344ACF"/>
          </a:solidFill>
          <a:ln/>
        </p:spPr>
      </p:sp>
      <p:sp>
        <p:nvSpPr>
          <p:cNvPr id="38" name="Shape 36"/>
          <p:cNvSpPr/>
          <p:nvPr/>
        </p:nvSpPr>
        <p:spPr>
          <a:xfrm>
            <a:off x="548640" y="4481989"/>
            <a:ext cx="5464912" cy="67008"/>
          </a:xfrm>
          <a:prstGeom prst="rect">
            <a:avLst/>
          </a:prstGeom>
          <a:solidFill>
            <a:srgbClr val="334BCF"/>
          </a:solidFill>
          <a:ln/>
        </p:spPr>
      </p:sp>
      <p:sp>
        <p:nvSpPr>
          <p:cNvPr id="39" name="Shape 37"/>
          <p:cNvSpPr/>
          <p:nvPr/>
        </p:nvSpPr>
        <p:spPr>
          <a:xfrm>
            <a:off x="548640" y="4539853"/>
            <a:ext cx="5464912" cy="67008"/>
          </a:xfrm>
          <a:prstGeom prst="rect">
            <a:avLst/>
          </a:prstGeom>
          <a:solidFill>
            <a:srgbClr val="324CCE"/>
          </a:solidFill>
          <a:ln/>
        </p:spPr>
      </p:sp>
      <p:sp>
        <p:nvSpPr>
          <p:cNvPr id="40" name="Shape 38"/>
          <p:cNvSpPr/>
          <p:nvPr/>
        </p:nvSpPr>
        <p:spPr>
          <a:xfrm>
            <a:off x="548640" y="4597717"/>
            <a:ext cx="5464912" cy="67008"/>
          </a:xfrm>
          <a:prstGeom prst="rect">
            <a:avLst/>
          </a:prstGeom>
          <a:solidFill>
            <a:srgbClr val="314ECD"/>
          </a:solidFill>
          <a:ln/>
        </p:spPr>
      </p:sp>
      <p:sp>
        <p:nvSpPr>
          <p:cNvPr id="41" name="Shape 39"/>
          <p:cNvSpPr/>
          <p:nvPr/>
        </p:nvSpPr>
        <p:spPr>
          <a:xfrm>
            <a:off x="548640" y="4655582"/>
            <a:ext cx="5464912" cy="67008"/>
          </a:xfrm>
          <a:prstGeom prst="rect">
            <a:avLst/>
          </a:prstGeom>
          <a:solidFill>
            <a:srgbClr val="304FCD"/>
          </a:solidFill>
          <a:ln/>
        </p:spPr>
      </p:sp>
      <p:sp>
        <p:nvSpPr>
          <p:cNvPr id="42" name="Shape 40"/>
          <p:cNvSpPr/>
          <p:nvPr/>
        </p:nvSpPr>
        <p:spPr>
          <a:xfrm>
            <a:off x="548640" y="4713446"/>
            <a:ext cx="5464912" cy="67008"/>
          </a:xfrm>
          <a:prstGeom prst="rect">
            <a:avLst/>
          </a:prstGeom>
          <a:solidFill>
            <a:srgbClr val="2F50CC"/>
          </a:solidFill>
          <a:ln/>
        </p:spPr>
      </p:sp>
      <p:sp>
        <p:nvSpPr>
          <p:cNvPr id="43" name="Shape 41"/>
          <p:cNvSpPr/>
          <p:nvPr/>
        </p:nvSpPr>
        <p:spPr>
          <a:xfrm>
            <a:off x="548640" y="4771311"/>
            <a:ext cx="5464912" cy="67008"/>
          </a:xfrm>
          <a:prstGeom prst="rect">
            <a:avLst/>
          </a:prstGeom>
          <a:solidFill>
            <a:srgbClr val="2F51CC"/>
          </a:solidFill>
          <a:ln/>
        </p:spPr>
      </p:sp>
      <p:sp>
        <p:nvSpPr>
          <p:cNvPr id="44" name="Shape 42"/>
          <p:cNvSpPr/>
          <p:nvPr/>
        </p:nvSpPr>
        <p:spPr>
          <a:xfrm>
            <a:off x="548640" y="4829175"/>
            <a:ext cx="5464912" cy="67008"/>
          </a:xfrm>
          <a:prstGeom prst="rect">
            <a:avLst/>
          </a:prstGeom>
          <a:solidFill>
            <a:srgbClr val="2E53CB"/>
          </a:solidFill>
          <a:ln/>
        </p:spPr>
      </p:sp>
      <p:sp>
        <p:nvSpPr>
          <p:cNvPr id="45" name="Shape 43"/>
          <p:cNvSpPr/>
          <p:nvPr/>
        </p:nvSpPr>
        <p:spPr>
          <a:xfrm>
            <a:off x="548640" y="4887039"/>
            <a:ext cx="5464912" cy="67008"/>
          </a:xfrm>
          <a:prstGeom prst="rect">
            <a:avLst/>
          </a:prstGeom>
          <a:solidFill>
            <a:srgbClr val="2D54CB"/>
          </a:solidFill>
          <a:ln/>
        </p:spPr>
      </p:sp>
      <p:sp>
        <p:nvSpPr>
          <p:cNvPr id="46" name="Shape 44"/>
          <p:cNvSpPr/>
          <p:nvPr/>
        </p:nvSpPr>
        <p:spPr>
          <a:xfrm>
            <a:off x="548640" y="4944904"/>
            <a:ext cx="5464912" cy="67008"/>
          </a:xfrm>
          <a:prstGeom prst="rect">
            <a:avLst/>
          </a:prstGeom>
          <a:solidFill>
            <a:srgbClr val="2C55CA"/>
          </a:solidFill>
          <a:ln/>
        </p:spPr>
      </p:sp>
      <p:sp>
        <p:nvSpPr>
          <p:cNvPr id="47" name="Shape 45"/>
          <p:cNvSpPr/>
          <p:nvPr/>
        </p:nvSpPr>
        <p:spPr>
          <a:xfrm>
            <a:off x="548640" y="5002768"/>
            <a:ext cx="5464912" cy="67008"/>
          </a:xfrm>
          <a:prstGeom prst="rect">
            <a:avLst/>
          </a:prstGeom>
          <a:solidFill>
            <a:srgbClr val="2B56C9"/>
          </a:solidFill>
          <a:ln/>
        </p:spPr>
      </p:sp>
      <p:sp>
        <p:nvSpPr>
          <p:cNvPr id="48" name="Shape 46"/>
          <p:cNvSpPr/>
          <p:nvPr/>
        </p:nvSpPr>
        <p:spPr>
          <a:xfrm>
            <a:off x="548640" y="5060633"/>
            <a:ext cx="5464912" cy="67008"/>
          </a:xfrm>
          <a:prstGeom prst="rect">
            <a:avLst/>
          </a:prstGeom>
          <a:solidFill>
            <a:srgbClr val="2A57C9"/>
          </a:solidFill>
          <a:ln/>
        </p:spPr>
      </p:sp>
      <p:sp>
        <p:nvSpPr>
          <p:cNvPr id="49" name="Shape 47"/>
          <p:cNvSpPr/>
          <p:nvPr/>
        </p:nvSpPr>
        <p:spPr>
          <a:xfrm>
            <a:off x="548640" y="5118497"/>
            <a:ext cx="5464912" cy="67008"/>
          </a:xfrm>
          <a:prstGeom prst="rect">
            <a:avLst/>
          </a:prstGeom>
          <a:solidFill>
            <a:srgbClr val="2959C8"/>
          </a:solidFill>
          <a:ln/>
        </p:spPr>
      </p:sp>
      <p:sp>
        <p:nvSpPr>
          <p:cNvPr id="50" name="Shape 48"/>
          <p:cNvSpPr/>
          <p:nvPr/>
        </p:nvSpPr>
        <p:spPr>
          <a:xfrm>
            <a:off x="548640" y="5176361"/>
            <a:ext cx="5464912" cy="67008"/>
          </a:xfrm>
          <a:prstGeom prst="rect">
            <a:avLst/>
          </a:prstGeom>
          <a:solidFill>
            <a:srgbClr val="295AC8"/>
          </a:solidFill>
          <a:ln/>
        </p:spPr>
      </p:sp>
      <p:sp>
        <p:nvSpPr>
          <p:cNvPr id="51" name="Shape 49"/>
          <p:cNvSpPr/>
          <p:nvPr/>
        </p:nvSpPr>
        <p:spPr>
          <a:xfrm>
            <a:off x="548640" y="5234226"/>
            <a:ext cx="5464912" cy="67008"/>
          </a:xfrm>
          <a:prstGeom prst="rect">
            <a:avLst/>
          </a:prstGeom>
          <a:solidFill>
            <a:srgbClr val="285BC7"/>
          </a:solidFill>
          <a:ln/>
        </p:spPr>
      </p:sp>
      <p:sp>
        <p:nvSpPr>
          <p:cNvPr id="52" name="Shape 50"/>
          <p:cNvSpPr/>
          <p:nvPr/>
        </p:nvSpPr>
        <p:spPr>
          <a:xfrm>
            <a:off x="548640" y="5292090"/>
            <a:ext cx="5464912" cy="67008"/>
          </a:xfrm>
          <a:prstGeom prst="rect">
            <a:avLst/>
          </a:prstGeom>
          <a:solidFill>
            <a:srgbClr val="275CC7"/>
          </a:solidFill>
          <a:ln/>
        </p:spPr>
      </p:sp>
      <p:sp>
        <p:nvSpPr>
          <p:cNvPr id="53" name="Shape 51"/>
          <p:cNvSpPr/>
          <p:nvPr/>
        </p:nvSpPr>
        <p:spPr>
          <a:xfrm>
            <a:off x="548640" y="5349954"/>
            <a:ext cx="5464912" cy="67008"/>
          </a:xfrm>
          <a:prstGeom prst="rect">
            <a:avLst/>
          </a:prstGeom>
          <a:solidFill>
            <a:srgbClr val="265EC6"/>
          </a:solidFill>
          <a:ln/>
        </p:spPr>
      </p:sp>
      <p:sp>
        <p:nvSpPr>
          <p:cNvPr id="54" name="Shape 52"/>
          <p:cNvSpPr/>
          <p:nvPr/>
        </p:nvSpPr>
        <p:spPr>
          <a:xfrm>
            <a:off x="548640" y="5407819"/>
            <a:ext cx="5464912" cy="67008"/>
          </a:xfrm>
          <a:prstGeom prst="rect">
            <a:avLst/>
          </a:prstGeom>
          <a:solidFill>
            <a:srgbClr val="255FC5"/>
          </a:solidFill>
          <a:ln/>
        </p:spPr>
      </p:sp>
      <p:sp>
        <p:nvSpPr>
          <p:cNvPr id="55" name="Shape 53"/>
          <p:cNvSpPr/>
          <p:nvPr/>
        </p:nvSpPr>
        <p:spPr>
          <a:xfrm>
            <a:off x="548640" y="5465683"/>
            <a:ext cx="5464912" cy="67008"/>
          </a:xfrm>
          <a:prstGeom prst="rect">
            <a:avLst/>
          </a:prstGeom>
          <a:solidFill>
            <a:srgbClr val="2460C5"/>
          </a:solidFill>
          <a:ln/>
        </p:spPr>
      </p:sp>
      <p:sp>
        <p:nvSpPr>
          <p:cNvPr id="56" name="Shape 54"/>
          <p:cNvSpPr/>
          <p:nvPr/>
        </p:nvSpPr>
        <p:spPr>
          <a:xfrm>
            <a:off x="548640" y="5523548"/>
            <a:ext cx="5464912" cy="67008"/>
          </a:xfrm>
          <a:prstGeom prst="rect">
            <a:avLst/>
          </a:prstGeom>
          <a:solidFill>
            <a:srgbClr val="2361C4"/>
          </a:solidFill>
          <a:ln/>
        </p:spPr>
      </p:sp>
      <p:sp>
        <p:nvSpPr>
          <p:cNvPr id="57" name="Shape 55"/>
          <p:cNvSpPr/>
          <p:nvPr/>
        </p:nvSpPr>
        <p:spPr>
          <a:xfrm>
            <a:off x="548640" y="5581412"/>
            <a:ext cx="5464912" cy="67008"/>
          </a:xfrm>
          <a:prstGeom prst="rect">
            <a:avLst/>
          </a:prstGeom>
          <a:solidFill>
            <a:srgbClr val="2363C4"/>
          </a:solidFill>
          <a:ln/>
        </p:spPr>
      </p:sp>
      <p:sp>
        <p:nvSpPr>
          <p:cNvPr id="58" name="Shape 56"/>
          <p:cNvSpPr/>
          <p:nvPr/>
        </p:nvSpPr>
        <p:spPr>
          <a:xfrm>
            <a:off x="548640" y="5639276"/>
            <a:ext cx="5464912" cy="67008"/>
          </a:xfrm>
          <a:prstGeom prst="rect">
            <a:avLst/>
          </a:prstGeom>
          <a:solidFill>
            <a:srgbClr val="2264C3"/>
          </a:solidFill>
          <a:ln/>
        </p:spPr>
      </p:sp>
      <p:sp>
        <p:nvSpPr>
          <p:cNvPr id="59" name="Shape 57"/>
          <p:cNvSpPr/>
          <p:nvPr/>
        </p:nvSpPr>
        <p:spPr>
          <a:xfrm>
            <a:off x="548640" y="5697141"/>
            <a:ext cx="5464912" cy="67008"/>
          </a:xfrm>
          <a:prstGeom prst="rect">
            <a:avLst/>
          </a:prstGeom>
          <a:solidFill>
            <a:srgbClr val="2165C3"/>
          </a:solidFill>
          <a:ln/>
        </p:spPr>
      </p:sp>
      <p:sp>
        <p:nvSpPr>
          <p:cNvPr id="60" name="Shape 58"/>
          <p:cNvSpPr/>
          <p:nvPr/>
        </p:nvSpPr>
        <p:spPr>
          <a:xfrm>
            <a:off x="548640" y="5755005"/>
            <a:ext cx="5464912" cy="67008"/>
          </a:xfrm>
          <a:prstGeom prst="rect">
            <a:avLst/>
          </a:prstGeom>
          <a:solidFill>
            <a:srgbClr val="2066C2"/>
          </a:solidFill>
          <a:ln/>
        </p:spPr>
      </p:sp>
      <p:sp>
        <p:nvSpPr>
          <p:cNvPr id="61" name="Shape 59"/>
          <p:cNvSpPr/>
          <p:nvPr/>
        </p:nvSpPr>
        <p:spPr>
          <a:xfrm>
            <a:off x="548640" y="5812869"/>
            <a:ext cx="5464912" cy="67008"/>
          </a:xfrm>
          <a:prstGeom prst="rect">
            <a:avLst/>
          </a:prstGeom>
          <a:solidFill>
            <a:srgbClr val="1F68C1"/>
          </a:solidFill>
          <a:ln/>
        </p:spPr>
      </p:sp>
      <p:sp>
        <p:nvSpPr>
          <p:cNvPr id="62" name="Shape 60"/>
          <p:cNvSpPr/>
          <p:nvPr/>
        </p:nvSpPr>
        <p:spPr>
          <a:xfrm>
            <a:off x="548640" y="5870734"/>
            <a:ext cx="5464912" cy="67008"/>
          </a:xfrm>
          <a:prstGeom prst="rect">
            <a:avLst/>
          </a:prstGeom>
          <a:solidFill>
            <a:srgbClr val="1E69C1"/>
          </a:solidFill>
          <a:ln/>
        </p:spPr>
      </p:sp>
      <p:sp>
        <p:nvSpPr>
          <p:cNvPr id="63" name="Shape 61"/>
          <p:cNvSpPr/>
          <p:nvPr/>
        </p:nvSpPr>
        <p:spPr>
          <a:xfrm>
            <a:off x="548640" y="5928598"/>
            <a:ext cx="5464912" cy="67008"/>
          </a:xfrm>
          <a:prstGeom prst="rect">
            <a:avLst/>
          </a:prstGeom>
          <a:solidFill>
            <a:srgbClr val="1D6AC0"/>
          </a:solidFill>
          <a:ln/>
        </p:spPr>
      </p:sp>
      <p:sp>
        <p:nvSpPr>
          <p:cNvPr id="64" name="Shape 62"/>
          <p:cNvSpPr/>
          <p:nvPr/>
        </p:nvSpPr>
        <p:spPr>
          <a:xfrm>
            <a:off x="548640" y="5986463"/>
            <a:ext cx="5464912" cy="67008"/>
          </a:xfrm>
          <a:prstGeom prst="rect">
            <a:avLst/>
          </a:prstGeom>
          <a:solidFill>
            <a:srgbClr val="1D6BC0"/>
          </a:solidFill>
          <a:ln/>
        </p:spPr>
      </p:sp>
      <p:sp>
        <p:nvSpPr>
          <p:cNvPr id="65" name="Shape 63"/>
          <p:cNvSpPr/>
          <p:nvPr/>
        </p:nvSpPr>
        <p:spPr>
          <a:xfrm>
            <a:off x="548640" y="6044327"/>
            <a:ext cx="5464912" cy="67008"/>
          </a:xfrm>
          <a:prstGeom prst="rect">
            <a:avLst/>
          </a:prstGeom>
          <a:solidFill>
            <a:srgbClr val="1C6DBF"/>
          </a:solidFill>
          <a:ln/>
        </p:spPr>
      </p:sp>
      <p:sp>
        <p:nvSpPr>
          <p:cNvPr id="66" name="Shape 64"/>
          <p:cNvSpPr/>
          <p:nvPr/>
        </p:nvSpPr>
        <p:spPr>
          <a:xfrm>
            <a:off x="548640" y="6102191"/>
            <a:ext cx="5464912" cy="67008"/>
          </a:xfrm>
          <a:prstGeom prst="rect">
            <a:avLst/>
          </a:prstGeom>
          <a:solidFill>
            <a:srgbClr val="1B6EBF"/>
          </a:solidFill>
          <a:ln/>
        </p:spPr>
      </p:sp>
      <p:sp>
        <p:nvSpPr>
          <p:cNvPr id="67" name="Shape 65"/>
          <p:cNvSpPr/>
          <p:nvPr/>
        </p:nvSpPr>
        <p:spPr>
          <a:xfrm>
            <a:off x="548640" y="6160056"/>
            <a:ext cx="5464912" cy="67008"/>
          </a:xfrm>
          <a:prstGeom prst="rect">
            <a:avLst/>
          </a:prstGeom>
          <a:solidFill>
            <a:srgbClr val="1A6FBE"/>
          </a:solidFill>
          <a:ln/>
        </p:spPr>
      </p:sp>
      <p:sp>
        <p:nvSpPr>
          <p:cNvPr id="68" name="Text 66"/>
          <p:cNvSpPr/>
          <p:nvPr/>
        </p:nvSpPr>
        <p:spPr>
          <a:xfrm>
            <a:off x="914400" y="2880360"/>
            <a:ext cx="4733392" cy="914400"/>
          </a:xfrm>
          <a:prstGeom prst="rect">
            <a:avLst/>
          </a:prstGeom>
          <a:noFill/>
          <a:ln/>
        </p:spPr>
        <p:txBody>
          <a:bodyPr wrap="square" lIns="0" tIns="0" rIns="0" bIns="0" rtlCol="0" anchor="t"/>
          <a:lstStyle/>
          <a:p>
            <a:pPr algn="l" indent="0" marL="0">
              <a:buNone/>
            </a:pPr>
            <a:r>
              <a:rPr lang="en-US" sz="1100" b="1" spc="300" kern="0" dirty="0">
                <a:solidFill>
                  <a:srgbClr val="FFFFFF"/>
                </a:solidFill>
                <a:latin typeface="Calibri" pitchFamily="34" charset="0"/>
                <a:ea typeface="Calibri" pitchFamily="34" charset="-122"/>
                <a:cs typeface="Calibri" pitchFamily="34" charset="-120"/>
              </a:rPr>
              <a:t>TRUST POSTURE</a:t>
            </a:r>
            <a:endParaRPr lang="en-US" sz="1100" dirty="0"/>
          </a:p>
        </p:txBody>
      </p:sp>
      <p:sp>
        <p:nvSpPr>
          <p:cNvPr id="69" name="Text 67"/>
          <p:cNvSpPr/>
          <p:nvPr/>
        </p:nvSpPr>
        <p:spPr>
          <a:xfrm>
            <a:off x="914400" y="3383280"/>
            <a:ext cx="4733392" cy="2011680"/>
          </a:xfrm>
          <a:prstGeom prst="rect">
            <a:avLst/>
          </a:prstGeom>
          <a:noFill/>
          <a:ln/>
        </p:spPr>
        <p:txBody>
          <a:bodyPr wrap="square" lIns="0" tIns="0" rIns="0" bIns="0" rtlCol="0" anchor="t"/>
          <a:lstStyle/>
          <a:p>
            <a:pPr algn="l" indent="0" marL="0">
              <a:buNone/>
            </a:pPr>
            <a:r>
              <a:rPr lang="en-US" sz="3200" b="1" spc="-50" kern="0" dirty="0">
                <a:solidFill>
                  <a:srgbClr val="FFFFFF"/>
                </a:solidFill>
                <a:latin typeface="Calibri" pitchFamily="34" charset="0"/>
                <a:ea typeface="Calibri" pitchFamily="34" charset="-122"/>
                <a:cs typeface="Calibri" pitchFamily="34" charset="-120"/>
              </a:rPr>
              <a:t>Built like a Series B. At v1.0.</a:t>
            </a:r>
            <a:endParaRPr lang="en-US" sz="3200" dirty="0"/>
          </a:p>
        </p:txBody>
      </p:sp>
      <p:sp>
        <p:nvSpPr>
          <p:cNvPr id="70" name="Text 68"/>
          <p:cNvSpPr/>
          <p:nvPr/>
        </p:nvSpPr>
        <p:spPr>
          <a:xfrm>
            <a:off x="914400" y="5166360"/>
            <a:ext cx="4733392" cy="109728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Privacy laws covered. DPAs signed. Internal policies documented. Everything downloadable as PDF or Word for legal review. Procurement deals close faster because the paperwork is ready.</a:t>
            </a:r>
            <a:endParaRPr lang="en-US" sz="1300" dirty="0"/>
          </a:p>
        </p:txBody>
      </p:sp>
      <p:sp>
        <p:nvSpPr>
          <p:cNvPr id="71" name="Shape 69"/>
          <p:cNvSpPr/>
          <p:nvPr/>
        </p:nvSpPr>
        <p:spPr>
          <a:xfrm>
            <a:off x="6178144" y="2514600"/>
            <a:ext cx="5464912" cy="1124712"/>
          </a:xfrm>
          <a:prstGeom prst="roundRect">
            <a:avLst>
              <a:gd name="adj" fmla="val 9756"/>
            </a:avLst>
          </a:prstGeom>
          <a:solidFill>
            <a:srgbClr val="FFFFFF"/>
          </a:solidFill>
          <a:ln w="9525">
            <a:solidFill>
              <a:srgbClr val="E5E7F0"/>
            </a:solidFill>
            <a:prstDash val="solid"/>
          </a:ln>
        </p:spPr>
      </p:sp>
      <p:sp>
        <p:nvSpPr>
          <p:cNvPr id="72" name="Shape 70"/>
          <p:cNvSpPr/>
          <p:nvPr/>
        </p:nvSpPr>
        <p:spPr>
          <a:xfrm>
            <a:off x="6178144" y="2514600"/>
            <a:ext cx="73152" cy="1124712"/>
          </a:xfrm>
          <a:prstGeom prst="rect">
            <a:avLst/>
          </a:prstGeom>
          <a:solidFill>
            <a:srgbClr val="5028C2"/>
          </a:solidFill>
          <a:ln/>
        </p:spPr>
      </p:sp>
      <p:sp>
        <p:nvSpPr>
          <p:cNvPr id="73" name="Text 71"/>
          <p:cNvSpPr/>
          <p:nvPr/>
        </p:nvSpPr>
        <p:spPr>
          <a:xfrm>
            <a:off x="6434176" y="2697480"/>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Privacy law</a:t>
            </a:r>
            <a:endParaRPr lang="en-US" sz="1600" dirty="0"/>
          </a:p>
        </p:txBody>
      </p:sp>
      <p:sp>
        <p:nvSpPr>
          <p:cNvPr id="74" name="Text 72"/>
          <p:cNvSpPr/>
          <p:nvPr/>
        </p:nvSpPr>
        <p:spPr>
          <a:xfrm>
            <a:off x="6434176" y="3081528"/>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GDPR, CCPA, 11 US state laws.</a:t>
            </a:r>
            <a:endParaRPr lang="en-US" sz="1200" dirty="0"/>
          </a:p>
        </p:txBody>
      </p:sp>
      <p:sp>
        <p:nvSpPr>
          <p:cNvPr id="75" name="Shape 73"/>
          <p:cNvSpPr/>
          <p:nvPr/>
        </p:nvSpPr>
        <p:spPr>
          <a:xfrm>
            <a:off x="6178144" y="3803904"/>
            <a:ext cx="5464912" cy="1124712"/>
          </a:xfrm>
          <a:prstGeom prst="roundRect">
            <a:avLst>
              <a:gd name="adj" fmla="val 9756"/>
            </a:avLst>
          </a:prstGeom>
          <a:solidFill>
            <a:srgbClr val="FFFFFF"/>
          </a:solidFill>
          <a:ln w="9525">
            <a:solidFill>
              <a:srgbClr val="E5E7F0"/>
            </a:solidFill>
            <a:prstDash val="solid"/>
          </a:ln>
        </p:spPr>
      </p:sp>
      <p:sp>
        <p:nvSpPr>
          <p:cNvPr id="76" name="Shape 74"/>
          <p:cNvSpPr/>
          <p:nvPr/>
        </p:nvSpPr>
        <p:spPr>
          <a:xfrm>
            <a:off x="6178144" y="3803904"/>
            <a:ext cx="73152" cy="1124712"/>
          </a:xfrm>
          <a:prstGeom prst="rect">
            <a:avLst/>
          </a:prstGeom>
          <a:solidFill>
            <a:srgbClr val="3548D0"/>
          </a:solidFill>
          <a:ln/>
        </p:spPr>
      </p:sp>
      <p:sp>
        <p:nvSpPr>
          <p:cNvPr id="77" name="Text 75"/>
          <p:cNvSpPr/>
          <p:nvPr/>
        </p:nvSpPr>
        <p:spPr>
          <a:xfrm>
            <a:off x="6434176" y="3986784"/>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DPAs signed</a:t>
            </a:r>
            <a:endParaRPr lang="en-US" sz="1600" dirty="0"/>
          </a:p>
        </p:txBody>
      </p:sp>
      <p:sp>
        <p:nvSpPr>
          <p:cNvPr id="78" name="Text 76"/>
          <p:cNvSpPr/>
          <p:nvPr/>
        </p:nvSpPr>
        <p:spPr>
          <a:xfrm>
            <a:off x="6434176" y="4370832"/>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Unipile, Anthropic, Stripe, Vercel.</a:t>
            </a:r>
            <a:endParaRPr lang="en-US" sz="1200" dirty="0"/>
          </a:p>
        </p:txBody>
      </p:sp>
      <p:sp>
        <p:nvSpPr>
          <p:cNvPr id="79" name="Shape 77"/>
          <p:cNvSpPr/>
          <p:nvPr/>
        </p:nvSpPr>
        <p:spPr>
          <a:xfrm>
            <a:off x="6178144" y="5093208"/>
            <a:ext cx="5464912" cy="1124712"/>
          </a:xfrm>
          <a:prstGeom prst="roundRect">
            <a:avLst>
              <a:gd name="adj" fmla="val 9756"/>
            </a:avLst>
          </a:prstGeom>
          <a:solidFill>
            <a:srgbClr val="FFFFFF"/>
          </a:solidFill>
          <a:ln w="9525">
            <a:solidFill>
              <a:srgbClr val="E5E7F0"/>
            </a:solidFill>
            <a:prstDash val="solid"/>
          </a:ln>
        </p:spPr>
      </p:sp>
      <p:sp>
        <p:nvSpPr>
          <p:cNvPr id="80" name="Shape 78"/>
          <p:cNvSpPr/>
          <p:nvPr/>
        </p:nvSpPr>
        <p:spPr>
          <a:xfrm>
            <a:off x="6178144" y="5093208"/>
            <a:ext cx="73152" cy="1124712"/>
          </a:xfrm>
          <a:prstGeom prst="rect">
            <a:avLst/>
          </a:prstGeom>
          <a:solidFill>
            <a:srgbClr val="1A6FBE"/>
          </a:solidFill>
          <a:ln/>
        </p:spPr>
      </p:sp>
      <p:sp>
        <p:nvSpPr>
          <p:cNvPr id="81" name="Text 79"/>
          <p:cNvSpPr/>
          <p:nvPr/>
        </p:nvSpPr>
        <p:spPr>
          <a:xfrm>
            <a:off x="6434176" y="5276088"/>
            <a:ext cx="5007712" cy="365760"/>
          </a:xfrm>
          <a:prstGeom prst="rect">
            <a:avLst/>
          </a:prstGeom>
          <a:noFill/>
          <a:ln/>
        </p:spPr>
        <p:txBody>
          <a:bodyPr wrap="square" lIns="0" tIns="0" rIns="0" bIns="0" rtlCol="0" anchor="t"/>
          <a:lstStyle/>
          <a:p>
            <a:pPr algn="l" indent="0" marL="0">
              <a:buNone/>
            </a:pPr>
            <a:r>
              <a:rPr lang="en-US" sz="1600" b="1" dirty="0">
                <a:solidFill>
                  <a:srgbClr val="0F1733"/>
                </a:solidFill>
                <a:latin typeface="Calibri" pitchFamily="34" charset="0"/>
                <a:ea typeface="Calibri" pitchFamily="34" charset="-122"/>
                <a:cs typeface="Calibri" pitchFamily="34" charset="-120"/>
              </a:rPr>
              <a:t>Policies</a:t>
            </a:r>
            <a:endParaRPr lang="en-US" sz="1600" dirty="0"/>
          </a:p>
        </p:txBody>
      </p:sp>
      <p:sp>
        <p:nvSpPr>
          <p:cNvPr id="82" name="Text 80"/>
          <p:cNvSpPr/>
          <p:nvPr/>
        </p:nvSpPr>
        <p:spPr>
          <a:xfrm>
            <a:off x="6434176" y="5660136"/>
            <a:ext cx="5007712" cy="484632"/>
          </a:xfrm>
          <a:prstGeom prst="rect">
            <a:avLst/>
          </a:prstGeom>
          <a:noFill/>
          <a:ln/>
        </p:spPr>
        <p:txBody>
          <a:bodyPr wrap="square" lIns="0" tIns="0" rIns="0" bIns="0" rtlCol="0" anchor="t"/>
          <a:lstStyle/>
          <a:p>
            <a:pPr algn="l" indent="0" marL="0">
              <a:buNone/>
            </a:pPr>
            <a:r>
              <a:rPr lang="en-US" sz="1200" dirty="0">
                <a:solidFill>
                  <a:srgbClr val="2A3358"/>
                </a:solidFill>
                <a:latin typeface="Calibri" pitchFamily="34" charset="0"/>
                <a:ea typeface="Calibri" pitchFamily="34" charset="-122"/>
                <a:cs typeface="Calibri" pitchFamily="34" charset="-120"/>
              </a:rPr>
              <a:t>8 internal policies. PDF + Word.</a:t>
            </a:r>
            <a:endParaRPr lang="en-US" sz="1200" dirty="0"/>
          </a:p>
        </p:txBody>
      </p:sp>
      <p:sp>
        <p:nvSpPr>
          <p:cNvPr id="83" name="Shape 81"/>
          <p:cNvSpPr/>
          <p:nvPr/>
        </p:nvSpPr>
        <p:spPr>
          <a:xfrm>
            <a:off x="548640" y="502920"/>
            <a:ext cx="292608" cy="292608"/>
          </a:xfrm>
          <a:prstGeom prst="roundRect">
            <a:avLst>
              <a:gd name="adj" fmla="val 25000"/>
            </a:avLst>
          </a:prstGeom>
          <a:solidFill>
            <a:srgbClr val="5028C2"/>
          </a:solidFill>
          <a:ln/>
        </p:spPr>
      </p:sp>
      <p:sp>
        <p:nvSpPr>
          <p:cNvPr id="84" name="Shape 82"/>
          <p:cNvSpPr/>
          <p:nvPr/>
        </p:nvSpPr>
        <p:spPr>
          <a:xfrm>
            <a:off x="548640" y="502920"/>
            <a:ext cx="292608" cy="292608"/>
          </a:xfrm>
          <a:prstGeom prst="roundRect">
            <a:avLst>
              <a:gd name="adj" fmla="val 25000"/>
            </a:avLst>
          </a:prstGeom>
          <a:solidFill>
            <a:srgbClr val="1A6FBE">
              <a:alpha val="50000"/>
            </a:srgbClr>
          </a:solidFill>
          <a:ln/>
        </p:spPr>
      </p:sp>
      <p:sp>
        <p:nvSpPr>
          <p:cNvPr id="85" name="Text 83"/>
          <p:cNvSpPr/>
          <p:nvPr/>
        </p:nvSpPr>
        <p:spPr>
          <a:xfrm>
            <a:off x="548640" y="502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86" name="Text 84"/>
          <p:cNvSpPr/>
          <p:nvPr/>
        </p:nvSpPr>
        <p:spPr>
          <a:xfrm>
            <a:off x="950976" y="521208"/>
            <a:ext cx="2194560" cy="256032"/>
          </a:xfrm>
          <a:prstGeom prst="rect">
            <a:avLst/>
          </a:prstGeom>
          <a:noFill/>
          <a:ln/>
        </p:spPr>
        <p:txBody>
          <a:bodyPr wrap="square" lIns="0" tIns="0" rIns="0" bIns="0" rtlCol="0" anchor="ctr"/>
          <a:lstStyle/>
          <a:p>
            <a:pPr indent="0" marL="0">
              <a:buNone/>
            </a:pPr>
            <a:r>
              <a:rPr lang="en-US" sz="1300" b="1" spc="-20" kern="0" dirty="0">
                <a:solidFill>
                  <a:srgbClr val="0F1733"/>
                </a:solidFill>
                <a:latin typeface="Calibri" pitchFamily="34" charset="0"/>
                <a:ea typeface="Calibri" pitchFamily="34" charset="-122"/>
                <a:cs typeface="Calibri" pitchFamily="34" charset="-120"/>
              </a:rPr>
              <a:t>Creator Outreach</a:t>
            </a:r>
            <a:endParaRPr lang="en-US" sz="1300" dirty="0"/>
          </a:p>
        </p:txBody>
      </p:sp>
      <p:sp>
        <p:nvSpPr>
          <p:cNvPr id="87" name="Text 85"/>
          <p:cNvSpPr/>
          <p:nvPr/>
        </p:nvSpPr>
        <p:spPr>
          <a:xfrm>
            <a:off x="7528255" y="502920"/>
            <a:ext cx="4114800" cy="320040"/>
          </a:xfrm>
          <a:prstGeom prst="rect">
            <a:avLst/>
          </a:prstGeom>
          <a:noFill/>
          <a:ln/>
        </p:spPr>
        <p:txBody>
          <a:bodyPr wrap="square" lIns="0" tIns="0" rIns="0" bIns="0" rtlCol="0" anchor="ctr"/>
          <a:lstStyle/>
          <a:p>
            <a:pPr algn="r" indent="0" marL="0">
              <a:buNone/>
            </a:pPr>
            <a:r>
              <a:rPr lang="en-US" sz="900" spc="100" kern="0" dirty="0">
                <a:solidFill>
                  <a:srgbClr val="6B7493"/>
                </a:solidFill>
                <a:latin typeface="Calibri" pitchFamily="34" charset="0"/>
                <a:ea typeface="Calibri" pitchFamily="34" charset="-122"/>
                <a:cs typeface="Calibri" pitchFamily="34" charset="-120"/>
              </a:rPr>
              <a:t>18 · Trust &amp; compliance  ·  vG</a:t>
            </a:r>
            <a:endParaRPr lang="en-US" sz="900" dirty="0"/>
          </a:p>
        </p:txBody>
      </p:sp>
      <p:sp>
        <p:nvSpPr>
          <p:cNvPr id="88" name="Text 86"/>
          <p:cNvSpPr/>
          <p:nvPr/>
        </p:nvSpPr>
        <p:spPr>
          <a:xfrm>
            <a:off x="548640" y="6492240"/>
            <a:ext cx="7315200" cy="228600"/>
          </a:xfrm>
          <a:prstGeom prst="rect">
            <a:avLst/>
          </a:prstGeom>
          <a:noFill/>
          <a:ln/>
        </p:spPr>
        <p:txBody>
          <a:bodyPr wrap="square" lIns="0" tIns="0" rIns="0" bIns="0" rtlCol="0" anchor="ctr"/>
          <a:lstStyle/>
          <a:p>
            <a:pPr algn="l" indent="0" marL="0">
              <a:buNone/>
            </a:pPr>
            <a:r>
              <a:rPr lang="en-US" sz="900" spc="50" kern="0" dirty="0">
                <a:solidFill>
                  <a:srgbClr val="6B7493"/>
                </a:solidFill>
                <a:latin typeface="Calibri" pitchFamily="34" charset="0"/>
                <a:ea typeface="Calibri" pitchFamily="34" charset="-122"/>
                <a:cs typeface="Calibri" pitchFamily="34" charset="-120"/>
              </a:rPr>
              <a:t>Creator Outreach  ·  Gaynor Media LLC  ·  creatoroutreach.net</a:t>
            </a:r>
            <a:endParaRPr lang="en-US" sz="900" dirty="0"/>
          </a:p>
        </p:txBody>
      </p:sp>
      <p:sp>
        <p:nvSpPr>
          <p:cNvPr id="89" name="Text 87"/>
          <p:cNvSpPr/>
          <p:nvPr/>
        </p:nvSpPr>
        <p:spPr>
          <a:xfrm>
            <a:off x="10180015" y="6492240"/>
            <a:ext cx="1463040" cy="228600"/>
          </a:xfrm>
          <a:prstGeom prst="rect">
            <a:avLst/>
          </a:prstGeom>
          <a:noFill/>
          <a:ln/>
        </p:spPr>
        <p:txBody>
          <a:bodyPr wrap="square" lIns="0" tIns="0" rIns="0" bIns="0" rtlCol="0" anchor="ctr"/>
          <a:lstStyle/>
          <a:p>
            <a:pPr algn="r" indent="0" marL="0">
              <a:buNone/>
            </a:pPr>
            <a:r>
              <a:rPr lang="en-US" sz="900" dirty="0">
                <a:solidFill>
                  <a:srgbClr val="6B7493"/>
                </a:solidFill>
                <a:latin typeface="Consolas" pitchFamily="34" charset="0"/>
                <a:ea typeface="Consolas" pitchFamily="34" charset="-122"/>
                <a:cs typeface="Consolas" pitchFamily="34" charset="-120"/>
              </a:rPr>
              <a:t>126 / 126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126</Slides>
  <Notes>126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126</vt:i4>
      </vt:variant>
    </vt:vector>
  </HeadingPairs>
  <TitlesOfParts>
    <vt:vector size="1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vector>
  </TitlesOfParts>
  <Company>Gaynor Media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Creator Outreach — Pitch Deck</dc:title>
  <dc:subject>Creator Outreach (Gaynor Media LLC) — Pitch Deck · May 2026</dc:subject>
  <dc:creator>Dylan Meehan</dc:creator>
  <cp:lastModifiedBy>Dylan Meehan</cp:lastModifiedBy>
  <cp:revision>1</cp:revision>
  <dcterms:created xsi:type="dcterms:W3CDTF">2026-05-13T18:48:24Z</dcterms:created>
  <dcterms:modified xsi:type="dcterms:W3CDTF">2026-05-13T18:48:24Z</dcterms:modified>
</cp:coreProperties>
</file>